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19628" r:id="rId5"/>
    <p:sldId id="19621" r:id="rId6"/>
    <p:sldId id="19665" r:id="rId7"/>
    <p:sldId id="2731" r:id="rId8"/>
    <p:sldId id="2694" r:id="rId9"/>
    <p:sldId id="2745" r:id="rId10"/>
    <p:sldId id="19612" r:id="rId11"/>
    <p:sldId id="2145708156" r:id="rId12"/>
    <p:sldId id="2758" r:id="rId13"/>
    <p:sldId id="19615" r:id="rId14"/>
    <p:sldId id="19616" r:id="rId15"/>
    <p:sldId id="19590" r:id="rId16"/>
    <p:sldId id="19664" r:id="rId17"/>
    <p:sldId id="19623" r:id="rId18"/>
    <p:sldId id="19587" r:id="rId19"/>
    <p:sldId id="19593" r:id="rId20"/>
    <p:sldId id="19594" r:id="rId21"/>
    <p:sldId id="19588" r:id="rId22"/>
    <p:sldId id="2145708144" r:id="rId23"/>
  </p:sldIdLst>
  <p:sldSz cx="9144000" cy="5143500" type="screen16x9"/>
  <p:notesSz cx="6865938" cy="90471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y 1 Intro (5min)" id="{3FD90219-2FB5-4A0C-888B-736C3637EBF0}">
          <p14:sldIdLst/>
        </p14:section>
        <p14:section name="Data types (22min)" id="{2559A92C-2BAD-4220-B869-651668A45C9E}">
          <p14:sldIdLst/>
        </p14:section>
        <p14:section name="NNT and NNH (12min)" id="{97773DEE-88EA-4174-9B48-50759666DC48}">
          <p14:sldIdLst/>
        </p14:section>
        <p14:section name="Signficance testing (18min)" id="{9F60E464-46FD-4111-86B5-10DD1FD9D48E}">
          <p14:sldIdLst/>
        </p14:section>
        <p14:section name="Uncertainty (22min/15min)" id="{D5649482-5C0E-4FCE-9237-12A795FE360D}">
          <p14:sldIdLst/>
        </p14:section>
        <p14:section name="Adjusted vs Unadjusted (14min)" id="{8C04CADD-B6B7-43AB-8B4B-3E4257CE8B4F}">
          <p14:sldIdLst/>
        </p14:section>
        <p14:section name="Day 2 Intro" id="{D1639E2D-CB00-461F-A813-83038DEB90E5}">
          <p14:sldIdLst/>
        </p14:section>
        <p14:section name="Missing Data (25-30mins)" id="{1699B0CF-CAF4-4878-8065-D329560DF856}">
          <p14:sldIdLst/>
        </p14:section>
        <p14:section name="Multiplicity (23mins)" id="{81BA755E-B6C8-4751-B927-FDB8A8C372A8}">
          <p14:sldIdLst>
            <p14:sldId id="19628"/>
            <p14:sldId id="19621"/>
            <p14:sldId id="19665"/>
            <p14:sldId id="2731"/>
            <p14:sldId id="2694"/>
            <p14:sldId id="2745"/>
            <p14:sldId id="19612"/>
            <p14:sldId id="2145708156"/>
            <p14:sldId id="2758"/>
            <p14:sldId id="19615"/>
            <p14:sldId id="19616"/>
            <p14:sldId id="19590"/>
            <p14:sldId id="19664"/>
            <p14:sldId id="19623"/>
            <p14:sldId id="19587"/>
            <p14:sldId id="19593"/>
            <p14:sldId id="19594"/>
            <p14:sldId id="19588"/>
            <p14:sldId id="2145708144"/>
          </p14:sldIdLst>
        </p14:section>
        <p14:section name="Subgroup Analysis" id="{FE2359E8-8B55-4020-B15A-1DF57AAB9C5B}">
          <p14:sldIdLst/>
        </p14:section>
        <p14:section name="Case Study" id="{E8E3C5D2-EEB0-4893-9F0C-6F74FAA4B1E5}">
          <p14:sldIdLst/>
        </p14:section>
        <p14:section name="Day 3 Core Claims" id="{0666949B-A69F-4A9D-837A-4C842BECDAF7}">
          <p14:sldIdLst/>
        </p14:section>
      </p14:sectionLst>
    </p:ext>
    <p:ext uri="{EFAFB233-063F-42B5-8137-9DF3F51BA10A}">
      <p15:sldGuideLst xmlns:p15="http://schemas.microsoft.com/office/powerpoint/2012/main">
        <p15:guide id="1" orient="horz" pos="752">
          <p15:clr>
            <a:srgbClr val="A4A3A4"/>
          </p15:clr>
        </p15:guide>
        <p15:guide id="2" orient="horz" pos="2685">
          <p15:clr>
            <a:srgbClr val="A4A3A4"/>
          </p15:clr>
        </p15:guide>
        <p15:guide id="3" pos="2879">
          <p15:clr>
            <a:srgbClr val="A4A3A4"/>
          </p15:clr>
        </p15:guide>
        <p15:guide id="4" pos="3027">
          <p15:clr>
            <a:srgbClr val="A4A3A4"/>
          </p15:clr>
        </p15:guide>
        <p15:guide id="5" pos="5533">
          <p15:clr>
            <a:srgbClr val="A4A3A4"/>
          </p15:clr>
        </p15:guide>
        <p15:guide id="6" pos="2733">
          <p15:clr>
            <a:srgbClr val="A4A3A4"/>
          </p15:clr>
        </p15:guide>
        <p15:guide id="7" pos="22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ich Davies" initials="RD" lastIdx="5" clrIdx="6">
    <p:extLst>
      <p:ext uri="{19B8F6BF-5375-455C-9EA6-DF929625EA0E}">
        <p15:presenceInfo xmlns:p15="http://schemas.microsoft.com/office/powerpoint/2012/main" userId="S::richard.y.davies@gsk.com::8b5f16ec-b0bb-430c-9137-91526ccc0ab4" providerId="AD"/>
      </p:ext>
    </p:extLst>
  </p:cmAuthor>
  <p:cmAuthor id="1" name="Zelie Bailes" initials="ZB" lastIdx="119" clrIdx="0">
    <p:extLst>
      <p:ext uri="{19B8F6BF-5375-455C-9EA6-DF929625EA0E}">
        <p15:presenceInfo xmlns:p15="http://schemas.microsoft.com/office/powerpoint/2012/main" userId="Zelie Bailes" providerId="None"/>
      </p:ext>
    </p:extLst>
  </p:cmAuthor>
  <p:cmAuthor id="8" name="Nigel Dallow" initials="ND" lastIdx="6" clrIdx="7">
    <p:extLst>
      <p:ext uri="{19B8F6BF-5375-455C-9EA6-DF929625EA0E}">
        <p15:presenceInfo xmlns:p15="http://schemas.microsoft.com/office/powerpoint/2012/main" userId="S::nigel.s.dallow@gsk.com::22126230-7899-40dc-9c70-c90d97679fcc" providerId="AD"/>
      </p:ext>
    </p:extLst>
  </p:cmAuthor>
  <p:cmAuthor id="2" name="Zelie Bailes" initials="ZB [2]" lastIdx="4" clrIdx="1">
    <p:extLst>
      <p:ext uri="{19B8F6BF-5375-455C-9EA6-DF929625EA0E}">
        <p15:presenceInfo xmlns:p15="http://schemas.microsoft.com/office/powerpoint/2012/main" userId="S::zelie.a.bailes@gsk.com::016fc419-2509-4044-b219-254c2702790b" providerId="AD"/>
      </p:ext>
    </p:extLst>
  </p:cmAuthor>
  <p:cmAuthor id="9" name="Nigel Dallow" initials="ND [2]" lastIdx="5" clrIdx="8">
    <p:extLst>
      <p:ext uri="{19B8F6BF-5375-455C-9EA6-DF929625EA0E}">
        <p15:presenceInfo xmlns:p15="http://schemas.microsoft.com/office/powerpoint/2012/main" userId="Nigel Dallow" providerId="None"/>
      </p:ext>
    </p:extLst>
  </p:cmAuthor>
  <p:cmAuthor id="3" name="Katie Thorn" initials="KT" lastIdx="126" clrIdx="2">
    <p:extLst>
      <p:ext uri="{19B8F6BF-5375-455C-9EA6-DF929625EA0E}">
        <p15:presenceInfo xmlns:p15="http://schemas.microsoft.com/office/powerpoint/2012/main" userId="Katie Thorn" providerId="None"/>
      </p:ext>
    </p:extLst>
  </p:cmAuthor>
  <p:cmAuthor id="10" name="Dawn Midwinter" initials="DM [2]" lastIdx="21" clrIdx="9">
    <p:extLst>
      <p:ext uri="{19B8F6BF-5375-455C-9EA6-DF929625EA0E}">
        <p15:presenceInfo xmlns:p15="http://schemas.microsoft.com/office/powerpoint/2012/main" userId="Dawn Midwinter" providerId="None"/>
      </p:ext>
    </p:extLst>
  </p:cmAuthor>
  <p:cmAuthor id="4" name="Agne Zarankaite" initials="AZ" lastIdx="129" clrIdx="3">
    <p:extLst>
      <p:ext uri="{19B8F6BF-5375-455C-9EA6-DF929625EA0E}">
        <p15:presenceInfo xmlns:p15="http://schemas.microsoft.com/office/powerpoint/2012/main" userId="Agne Zarankaite" providerId="None"/>
      </p:ext>
    </p:extLst>
  </p:cmAuthor>
  <p:cmAuthor id="11" name="Alisa Urbano" initials="AU" lastIdx="6" clrIdx="10">
    <p:extLst>
      <p:ext uri="{19B8F6BF-5375-455C-9EA6-DF929625EA0E}">
        <p15:presenceInfo xmlns:p15="http://schemas.microsoft.com/office/powerpoint/2012/main" userId="Alisa Urbano" providerId="None"/>
      </p:ext>
    </p:extLst>
  </p:cmAuthor>
  <p:cmAuthor id="5" name="Dawn Midwinter" initials="DM" lastIdx="18" clrIdx="4">
    <p:extLst>
      <p:ext uri="{19B8F6BF-5375-455C-9EA6-DF929625EA0E}">
        <p15:presenceInfo xmlns:p15="http://schemas.microsoft.com/office/powerpoint/2012/main" userId="S::dawn.a.midwinter@gsk.com::12e9609d-3428-473d-a14d-db946382f5a8" providerId="AD"/>
      </p:ext>
    </p:extLst>
  </p:cmAuthor>
  <p:cmAuthor id="12" name="Zoe Guy" initials="ZG" lastIdx="7" clrIdx="11">
    <p:extLst>
      <p:ext uri="{19B8F6BF-5375-455C-9EA6-DF929625EA0E}">
        <p15:presenceInfo xmlns:p15="http://schemas.microsoft.com/office/powerpoint/2012/main" userId="Zoe Guy" providerId="None"/>
      </p:ext>
    </p:extLst>
  </p:cmAuthor>
  <p:cmAuthor id="6" name="Anny Stari" initials="AS" lastIdx="1" clrIdx="5">
    <p:extLst>
      <p:ext uri="{19B8F6BF-5375-455C-9EA6-DF929625EA0E}">
        <p15:presenceInfo xmlns:p15="http://schemas.microsoft.com/office/powerpoint/2012/main" userId="S::anny.x.stari@gsk.com::db1607f0-112a-4109-a9d7-c266bb6f20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152C56"/>
    <a:srgbClr val="2F81A6"/>
    <a:srgbClr val="0F2842"/>
    <a:srgbClr val="163E51"/>
    <a:srgbClr val="D5D7EC"/>
    <a:srgbClr val="F9C6BE"/>
    <a:srgbClr val="BC1077"/>
    <a:srgbClr val="9E0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326" autoAdjust="0"/>
    <p:restoredTop sz="67215" autoAdjust="0"/>
  </p:normalViewPr>
  <p:slideViewPr>
    <p:cSldViewPr snapToGrid="0">
      <p:cViewPr varScale="1">
        <p:scale>
          <a:sx n="96" d="100"/>
          <a:sy n="96" d="100"/>
        </p:scale>
        <p:origin x="1584" y="78"/>
      </p:cViewPr>
      <p:guideLst>
        <p:guide orient="horz" pos="752"/>
        <p:guide orient="horz" pos="2685"/>
        <p:guide pos="2879"/>
        <p:guide pos="3027"/>
        <p:guide pos="5533"/>
        <p:guide pos="2733"/>
        <p:guide pos="2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79DD1E-E31A-4F2B-8604-8C2A5C245B96}" type="doc">
      <dgm:prSet loTypeId="urn:microsoft.com/office/officeart/2005/8/layout/process1" loCatId="process" qsTypeId="urn:microsoft.com/office/officeart/2005/8/quickstyle/simple1" qsCatId="simple" csTypeId="urn:microsoft.com/office/officeart/2005/8/colors/accent1_2" csCatId="accent1" phldr="1"/>
      <dgm:spPr/>
    </dgm:pt>
    <dgm:pt modelId="{EBA8EC89-9899-48D1-AB6D-75440671032E}">
      <dgm:prSet phldrT="[Text]" custT="1"/>
      <dgm:spPr/>
      <dgm:t>
        <a:bodyPr/>
        <a:lstStyle/>
        <a:p>
          <a:r>
            <a:rPr lang="en-GB" sz="1400"/>
            <a:t>Change from baseline in FEV1 at Week 24:</a:t>
          </a:r>
        </a:p>
        <a:p>
          <a:r>
            <a:rPr lang="en-GB" sz="1400" b="1"/>
            <a:t>UMEC 62.5 </a:t>
          </a:r>
          <a:r>
            <a:rPr lang="en-GB" sz="1400"/>
            <a:t>vs Placebo</a:t>
          </a:r>
        </a:p>
        <a:p>
          <a:r>
            <a:rPr lang="el-GR" sz="1400"/>
            <a:t>α</a:t>
          </a:r>
          <a:r>
            <a:rPr lang="en-GB" sz="1400"/>
            <a:t>=0.05</a:t>
          </a:r>
        </a:p>
      </dgm:t>
    </dgm:pt>
    <dgm:pt modelId="{AD347C5A-AACB-4FF2-AF2A-2E9EB7C1FD19}" type="parTrans" cxnId="{9CA47FED-2932-40FE-9FAB-F216E467A20D}">
      <dgm:prSet/>
      <dgm:spPr/>
      <dgm:t>
        <a:bodyPr/>
        <a:lstStyle/>
        <a:p>
          <a:endParaRPr lang="en-GB"/>
        </a:p>
      </dgm:t>
    </dgm:pt>
    <dgm:pt modelId="{211F78D8-93F3-4860-B799-44D2B519BFD1}" type="sibTrans" cxnId="{9CA47FED-2932-40FE-9FAB-F216E467A20D}">
      <dgm:prSet/>
      <dgm:spPr/>
      <dgm:t>
        <a:bodyPr/>
        <a:lstStyle/>
        <a:p>
          <a:endParaRPr lang="en-GB"/>
        </a:p>
      </dgm:t>
    </dgm:pt>
    <dgm:pt modelId="{65605067-CC3F-4FAE-8B01-7CB097D0CC27}">
      <dgm:prSet phldrT="[Text]" custT="1"/>
      <dgm:spPr/>
      <dgm:t>
        <a:bodyPr/>
        <a:lstStyle/>
        <a:p>
          <a:r>
            <a:rPr lang="en-GB" sz="1400"/>
            <a:t>Change from baseline in FEV1 at Week 24:</a:t>
          </a:r>
        </a:p>
        <a:p>
          <a:r>
            <a:rPr lang="en-GB" sz="1400" b="1"/>
            <a:t>UMEC 31.25 </a:t>
          </a:r>
          <a:r>
            <a:rPr lang="en-GB" sz="1400"/>
            <a:t>vs Placebo</a:t>
          </a:r>
        </a:p>
        <a:p>
          <a:r>
            <a:rPr lang="el-GR" sz="1400"/>
            <a:t>α</a:t>
          </a:r>
          <a:r>
            <a:rPr lang="en-GB" sz="1400"/>
            <a:t>=0.05</a:t>
          </a:r>
        </a:p>
      </dgm:t>
    </dgm:pt>
    <dgm:pt modelId="{D79A9EB7-9653-464A-B81A-2D5E48A9F1B1}" type="parTrans" cxnId="{52E4CC52-B304-4043-9E60-3F28280B04AA}">
      <dgm:prSet/>
      <dgm:spPr/>
      <dgm:t>
        <a:bodyPr/>
        <a:lstStyle/>
        <a:p>
          <a:endParaRPr lang="en-GB"/>
        </a:p>
      </dgm:t>
    </dgm:pt>
    <dgm:pt modelId="{38CCF8AF-0E33-49B9-A32B-664C00E38F71}" type="sibTrans" cxnId="{52E4CC52-B304-4043-9E60-3F28280B04AA}">
      <dgm:prSet/>
      <dgm:spPr/>
      <dgm:t>
        <a:bodyPr/>
        <a:lstStyle/>
        <a:p>
          <a:endParaRPr lang="en-GB"/>
        </a:p>
      </dgm:t>
    </dgm:pt>
    <dgm:pt modelId="{BAA1EF29-9CB0-4FFB-BAC6-BB708E57CD9F}" type="pres">
      <dgm:prSet presAssocID="{4479DD1E-E31A-4F2B-8604-8C2A5C245B96}" presName="Name0" presStyleCnt="0">
        <dgm:presLayoutVars>
          <dgm:dir/>
          <dgm:resizeHandles val="exact"/>
        </dgm:presLayoutVars>
      </dgm:prSet>
      <dgm:spPr/>
    </dgm:pt>
    <dgm:pt modelId="{F71E2298-7655-41CB-896A-095B33AC9379}" type="pres">
      <dgm:prSet presAssocID="{EBA8EC89-9899-48D1-AB6D-75440671032E}" presName="node" presStyleLbl="node1" presStyleIdx="0" presStyleCnt="2" custScaleX="182983" custScaleY="106351">
        <dgm:presLayoutVars>
          <dgm:bulletEnabled val="1"/>
        </dgm:presLayoutVars>
      </dgm:prSet>
      <dgm:spPr/>
    </dgm:pt>
    <dgm:pt modelId="{D41F6068-99D6-4C4A-B9AA-00CA95CCDDFB}" type="pres">
      <dgm:prSet presAssocID="{211F78D8-93F3-4860-B799-44D2B519BFD1}" presName="sibTrans" presStyleLbl="sibTrans2D1" presStyleIdx="0" presStyleCnt="1"/>
      <dgm:spPr/>
    </dgm:pt>
    <dgm:pt modelId="{183AF43B-DF39-47D1-9F34-27FE00DB7A8B}" type="pres">
      <dgm:prSet presAssocID="{211F78D8-93F3-4860-B799-44D2B519BFD1}" presName="connectorText" presStyleLbl="sibTrans2D1" presStyleIdx="0" presStyleCnt="1"/>
      <dgm:spPr/>
    </dgm:pt>
    <dgm:pt modelId="{8FD0E27F-345F-4D37-878C-2D23DF6E25BA}" type="pres">
      <dgm:prSet presAssocID="{65605067-CC3F-4FAE-8B01-7CB097D0CC27}" presName="node" presStyleLbl="node1" presStyleIdx="1" presStyleCnt="2" custScaleX="182107" custScaleY="109886" custLinFactNeighborY="0">
        <dgm:presLayoutVars>
          <dgm:bulletEnabled val="1"/>
        </dgm:presLayoutVars>
      </dgm:prSet>
      <dgm:spPr/>
    </dgm:pt>
  </dgm:ptLst>
  <dgm:cxnLst>
    <dgm:cxn modelId="{56E50B0D-7A33-4D59-94E8-44CAC88E8235}" type="presOf" srcId="{211F78D8-93F3-4860-B799-44D2B519BFD1}" destId="{183AF43B-DF39-47D1-9F34-27FE00DB7A8B}" srcOrd="1" destOrd="0" presId="urn:microsoft.com/office/officeart/2005/8/layout/process1"/>
    <dgm:cxn modelId="{D989A114-D770-4D2D-A66B-1FD42D58C57C}" type="presOf" srcId="{65605067-CC3F-4FAE-8B01-7CB097D0CC27}" destId="{8FD0E27F-345F-4D37-878C-2D23DF6E25BA}" srcOrd="0" destOrd="0" presId="urn:microsoft.com/office/officeart/2005/8/layout/process1"/>
    <dgm:cxn modelId="{1C841765-B9D4-4F4E-9F1F-064AE6FDB2E1}" type="presOf" srcId="{4479DD1E-E31A-4F2B-8604-8C2A5C245B96}" destId="{BAA1EF29-9CB0-4FFB-BAC6-BB708E57CD9F}" srcOrd="0" destOrd="0" presId="urn:microsoft.com/office/officeart/2005/8/layout/process1"/>
    <dgm:cxn modelId="{1F08C16B-2FD1-41B2-8B50-869CC85B8DB6}" type="presOf" srcId="{211F78D8-93F3-4860-B799-44D2B519BFD1}" destId="{D41F6068-99D6-4C4A-B9AA-00CA95CCDDFB}" srcOrd="0" destOrd="0" presId="urn:microsoft.com/office/officeart/2005/8/layout/process1"/>
    <dgm:cxn modelId="{52E4CC52-B304-4043-9E60-3F28280B04AA}" srcId="{4479DD1E-E31A-4F2B-8604-8C2A5C245B96}" destId="{65605067-CC3F-4FAE-8B01-7CB097D0CC27}" srcOrd="1" destOrd="0" parTransId="{D79A9EB7-9653-464A-B81A-2D5E48A9F1B1}" sibTransId="{38CCF8AF-0E33-49B9-A32B-664C00E38F71}"/>
    <dgm:cxn modelId="{4C1DD6E0-4283-41F1-A9BE-2BC46ED5E8CE}" type="presOf" srcId="{EBA8EC89-9899-48D1-AB6D-75440671032E}" destId="{F71E2298-7655-41CB-896A-095B33AC9379}" srcOrd="0" destOrd="0" presId="urn:microsoft.com/office/officeart/2005/8/layout/process1"/>
    <dgm:cxn modelId="{9CA47FED-2932-40FE-9FAB-F216E467A20D}" srcId="{4479DD1E-E31A-4F2B-8604-8C2A5C245B96}" destId="{EBA8EC89-9899-48D1-AB6D-75440671032E}" srcOrd="0" destOrd="0" parTransId="{AD347C5A-AACB-4FF2-AF2A-2E9EB7C1FD19}" sibTransId="{211F78D8-93F3-4860-B799-44D2B519BFD1}"/>
    <dgm:cxn modelId="{A6AC850F-934F-4BB9-A0A1-C1A8EE0D492E}" type="presParOf" srcId="{BAA1EF29-9CB0-4FFB-BAC6-BB708E57CD9F}" destId="{F71E2298-7655-41CB-896A-095B33AC9379}" srcOrd="0" destOrd="0" presId="urn:microsoft.com/office/officeart/2005/8/layout/process1"/>
    <dgm:cxn modelId="{4C7B2D19-E20B-40A7-87DD-C7595EA717C2}" type="presParOf" srcId="{BAA1EF29-9CB0-4FFB-BAC6-BB708E57CD9F}" destId="{D41F6068-99D6-4C4A-B9AA-00CA95CCDDFB}" srcOrd="1" destOrd="0" presId="urn:microsoft.com/office/officeart/2005/8/layout/process1"/>
    <dgm:cxn modelId="{CA3C8A34-B4BA-4929-B83B-8597CB9B06BA}" type="presParOf" srcId="{D41F6068-99D6-4C4A-B9AA-00CA95CCDDFB}" destId="{183AF43B-DF39-47D1-9F34-27FE00DB7A8B}" srcOrd="0" destOrd="0" presId="urn:microsoft.com/office/officeart/2005/8/layout/process1"/>
    <dgm:cxn modelId="{6358FD63-784A-4278-B3AA-9A874558F246}" type="presParOf" srcId="{BAA1EF29-9CB0-4FFB-BAC6-BB708E57CD9F}" destId="{8FD0E27F-345F-4D37-878C-2D23DF6E25BA}" srcOrd="2"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79DD1E-E31A-4F2B-8604-8C2A5C245B96}" type="doc">
      <dgm:prSet loTypeId="urn:microsoft.com/office/officeart/2005/8/layout/process1" loCatId="process" qsTypeId="urn:microsoft.com/office/officeart/2005/8/quickstyle/simple1" qsCatId="simple" csTypeId="urn:microsoft.com/office/officeart/2005/8/colors/accent1_2" csCatId="accent1" phldr="1"/>
      <dgm:spPr/>
    </dgm:pt>
    <dgm:pt modelId="{EBA8EC89-9899-48D1-AB6D-75440671032E}">
      <dgm:prSet phldrT="[Text]" custT="1"/>
      <dgm:spPr/>
      <dgm:t>
        <a:bodyPr/>
        <a:lstStyle/>
        <a:p>
          <a:r>
            <a:rPr lang="en-GB" sz="1000"/>
            <a:t>Change from baseline in FEV1 at Week 24:</a:t>
          </a:r>
        </a:p>
        <a:p>
          <a:r>
            <a:rPr lang="en-GB" sz="1000"/>
            <a:t>UMEC 62.5 vs Placebo</a:t>
          </a:r>
        </a:p>
        <a:p>
          <a:r>
            <a:rPr lang="el-GR" sz="1000"/>
            <a:t>α</a:t>
          </a:r>
          <a:r>
            <a:rPr lang="en-GB" sz="1000"/>
            <a:t>=0.05</a:t>
          </a:r>
        </a:p>
      </dgm:t>
    </dgm:pt>
    <dgm:pt modelId="{AD347C5A-AACB-4FF2-AF2A-2E9EB7C1FD19}" type="parTrans" cxnId="{9CA47FED-2932-40FE-9FAB-F216E467A20D}">
      <dgm:prSet/>
      <dgm:spPr/>
      <dgm:t>
        <a:bodyPr/>
        <a:lstStyle/>
        <a:p>
          <a:endParaRPr lang="en-GB"/>
        </a:p>
      </dgm:t>
    </dgm:pt>
    <dgm:pt modelId="{211F78D8-93F3-4860-B799-44D2B519BFD1}" type="sibTrans" cxnId="{9CA47FED-2932-40FE-9FAB-F216E467A20D}">
      <dgm:prSet/>
      <dgm:spPr/>
      <dgm:t>
        <a:bodyPr/>
        <a:lstStyle/>
        <a:p>
          <a:endParaRPr lang="en-GB"/>
        </a:p>
      </dgm:t>
    </dgm:pt>
    <dgm:pt modelId="{65605067-CC3F-4FAE-8B01-7CB097D0CC27}">
      <dgm:prSet phldrT="[Text]" custT="1"/>
      <dgm:spPr/>
      <dgm:t>
        <a:bodyPr/>
        <a:lstStyle/>
        <a:p>
          <a:r>
            <a:rPr lang="en-GB" sz="1000"/>
            <a:t>Change from baseline in FEV1 at Week 24:</a:t>
          </a:r>
        </a:p>
        <a:p>
          <a:r>
            <a:rPr lang="en-GB" sz="1000"/>
            <a:t>UMEC 31.25 vs Placebo</a:t>
          </a:r>
        </a:p>
        <a:p>
          <a:r>
            <a:rPr lang="el-GR" sz="1000"/>
            <a:t>α</a:t>
          </a:r>
          <a:r>
            <a:rPr lang="en-GB" sz="1000"/>
            <a:t>=0.05</a:t>
          </a:r>
        </a:p>
      </dgm:t>
    </dgm:pt>
    <dgm:pt modelId="{D79A9EB7-9653-464A-B81A-2D5E48A9F1B1}" type="parTrans" cxnId="{52E4CC52-B304-4043-9E60-3F28280B04AA}">
      <dgm:prSet/>
      <dgm:spPr/>
      <dgm:t>
        <a:bodyPr/>
        <a:lstStyle/>
        <a:p>
          <a:endParaRPr lang="en-GB"/>
        </a:p>
      </dgm:t>
    </dgm:pt>
    <dgm:pt modelId="{38CCF8AF-0E33-49B9-A32B-664C00E38F71}" type="sibTrans" cxnId="{52E4CC52-B304-4043-9E60-3F28280B04AA}">
      <dgm:prSet/>
      <dgm:spPr/>
      <dgm:t>
        <a:bodyPr/>
        <a:lstStyle/>
        <a:p>
          <a:endParaRPr lang="en-GB"/>
        </a:p>
      </dgm:t>
    </dgm:pt>
    <dgm:pt modelId="{BAA1EF29-9CB0-4FFB-BAC6-BB708E57CD9F}" type="pres">
      <dgm:prSet presAssocID="{4479DD1E-E31A-4F2B-8604-8C2A5C245B96}" presName="Name0" presStyleCnt="0">
        <dgm:presLayoutVars>
          <dgm:dir/>
          <dgm:resizeHandles val="exact"/>
        </dgm:presLayoutVars>
      </dgm:prSet>
      <dgm:spPr/>
    </dgm:pt>
    <dgm:pt modelId="{F71E2298-7655-41CB-896A-095B33AC9379}" type="pres">
      <dgm:prSet presAssocID="{EBA8EC89-9899-48D1-AB6D-75440671032E}" presName="node" presStyleLbl="node1" presStyleIdx="0" presStyleCnt="2" custScaleX="182983" custScaleY="69991" custLinFactNeighborX="2521" custLinFactNeighborY="1869">
        <dgm:presLayoutVars>
          <dgm:bulletEnabled val="1"/>
        </dgm:presLayoutVars>
      </dgm:prSet>
      <dgm:spPr/>
    </dgm:pt>
    <dgm:pt modelId="{D41F6068-99D6-4C4A-B9AA-00CA95CCDDFB}" type="pres">
      <dgm:prSet presAssocID="{211F78D8-93F3-4860-B799-44D2B519BFD1}" presName="sibTrans" presStyleLbl="sibTrans2D1" presStyleIdx="0" presStyleCnt="1"/>
      <dgm:spPr/>
    </dgm:pt>
    <dgm:pt modelId="{183AF43B-DF39-47D1-9F34-27FE00DB7A8B}" type="pres">
      <dgm:prSet presAssocID="{211F78D8-93F3-4860-B799-44D2B519BFD1}" presName="connectorText" presStyleLbl="sibTrans2D1" presStyleIdx="0" presStyleCnt="1"/>
      <dgm:spPr/>
    </dgm:pt>
    <dgm:pt modelId="{8FD0E27F-345F-4D37-878C-2D23DF6E25BA}" type="pres">
      <dgm:prSet presAssocID="{65605067-CC3F-4FAE-8B01-7CB097D0CC27}" presName="node" presStyleLbl="node1" presStyleIdx="1" presStyleCnt="2" custScaleX="182107" custScaleY="71527" custLinFactNeighborX="-3400" custLinFactNeighborY="1843">
        <dgm:presLayoutVars>
          <dgm:bulletEnabled val="1"/>
        </dgm:presLayoutVars>
      </dgm:prSet>
      <dgm:spPr/>
    </dgm:pt>
  </dgm:ptLst>
  <dgm:cxnLst>
    <dgm:cxn modelId="{56E50B0D-7A33-4D59-94E8-44CAC88E8235}" type="presOf" srcId="{211F78D8-93F3-4860-B799-44D2B519BFD1}" destId="{183AF43B-DF39-47D1-9F34-27FE00DB7A8B}" srcOrd="1" destOrd="0" presId="urn:microsoft.com/office/officeart/2005/8/layout/process1"/>
    <dgm:cxn modelId="{D989A114-D770-4D2D-A66B-1FD42D58C57C}" type="presOf" srcId="{65605067-CC3F-4FAE-8B01-7CB097D0CC27}" destId="{8FD0E27F-345F-4D37-878C-2D23DF6E25BA}" srcOrd="0" destOrd="0" presId="urn:microsoft.com/office/officeart/2005/8/layout/process1"/>
    <dgm:cxn modelId="{1C841765-B9D4-4F4E-9F1F-064AE6FDB2E1}" type="presOf" srcId="{4479DD1E-E31A-4F2B-8604-8C2A5C245B96}" destId="{BAA1EF29-9CB0-4FFB-BAC6-BB708E57CD9F}" srcOrd="0" destOrd="0" presId="urn:microsoft.com/office/officeart/2005/8/layout/process1"/>
    <dgm:cxn modelId="{1F08C16B-2FD1-41B2-8B50-869CC85B8DB6}" type="presOf" srcId="{211F78D8-93F3-4860-B799-44D2B519BFD1}" destId="{D41F6068-99D6-4C4A-B9AA-00CA95CCDDFB}" srcOrd="0" destOrd="0" presId="urn:microsoft.com/office/officeart/2005/8/layout/process1"/>
    <dgm:cxn modelId="{52E4CC52-B304-4043-9E60-3F28280B04AA}" srcId="{4479DD1E-E31A-4F2B-8604-8C2A5C245B96}" destId="{65605067-CC3F-4FAE-8B01-7CB097D0CC27}" srcOrd="1" destOrd="0" parTransId="{D79A9EB7-9653-464A-B81A-2D5E48A9F1B1}" sibTransId="{38CCF8AF-0E33-49B9-A32B-664C00E38F71}"/>
    <dgm:cxn modelId="{4C1DD6E0-4283-41F1-A9BE-2BC46ED5E8CE}" type="presOf" srcId="{EBA8EC89-9899-48D1-AB6D-75440671032E}" destId="{F71E2298-7655-41CB-896A-095B33AC9379}" srcOrd="0" destOrd="0" presId="urn:microsoft.com/office/officeart/2005/8/layout/process1"/>
    <dgm:cxn modelId="{9CA47FED-2932-40FE-9FAB-F216E467A20D}" srcId="{4479DD1E-E31A-4F2B-8604-8C2A5C245B96}" destId="{EBA8EC89-9899-48D1-AB6D-75440671032E}" srcOrd="0" destOrd="0" parTransId="{AD347C5A-AACB-4FF2-AF2A-2E9EB7C1FD19}" sibTransId="{211F78D8-93F3-4860-B799-44D2B519BFD1}"/>
    <dgm:cxn modelId="{A6AC850F-934F-4BB9-A0A1-C1A8EE0D492E}" type="presParOf" srcId="{BAA1EF29-9CB0-4FFB-BAC6-BB708E57CD9F}" destId="{F71E2298-7655-41CB-896A-095B33AC9379}" srcOrd="0" destOrd="0" presId="urn:microsoft.com/office/officeart/2005/8/layout/process1"/>
    <dgm:cxn modelId="{4C7B2D19-E20B-40A7-87DD-C7595EA717C2}" type="presParOf" srcId="{BAA1EF29-9CB0-4FFB-BAC6-BB708E57CD9F}" destId="{D41F6068-99D6-4C4A-B9AA-00CA95CCDDFB}" srcOrd="1" destOrd="0" presId="urn:microsoft.com/office/officeart/2005/8/layout/process1"/>
    <dgm:cxn modelId="{CA3C8A34-B4BA-4929-B83B-8597CB9B06BA}" type="presParOf" srcId="{D41F6068-99D6-4C4A-B9AA-00CA95CCDDFB}" destId="{183AF43B-DF39-47D1-9F34-27FE00DB7A8B}" srcOrd="0" destOrd="0" presId="urn:microsoft.com/office/officeart/2005/8/layout/process1"/>
    <dgm:cxn modelId="{6358FD63-784A-4278-B3AA-9A874558F246}" type="presParOf" srcId="{BAA1EF29-9CB0-4FFB-BAC6-BB708E57CD9F}" destId="{8FD0E27F-345F-4D37-878C-2D23DF6E25BA}"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79DD1E-E31A-4F2B-8604-8C2A5C245B96}" type="doc">
      <dgm:prSet loTypeId="urn:microsoft.com/office/officeart/2005/8/layout/process1" loCatId="process" qsTypeId="urn:microsoft.com/office/officeart/2005/8/quickstyle/simple1" qsCatId="simple" csTypeId="urn:microsoft.com/office/officeart/2005/8/colors/accent5_2" csCatId="accent5" phldr="1"/>
      <dgm:spPr/>
    </dgm:pt>
    <dgm:pt modelId="{EBA8EC89-9899-48D1-AB6D-75440671032E}">
      <dgm:prSet phldrT="[Text]" custT="1"/>
      <dgm:spPr/>
      <dgm:t>
        <a:bodyPr/>
        <a:lstStyle/>
        <a:p>
          <a:r>
            <a:rPr lang="en-GB" sz="1000"/>
            <a:t>Change from baseline in FEV1 at Week 24:</a:t>
          </a:r>
        </a:p>
        <a:p>
          <a:r>
            <a:rPr lang="en-GB" sz="1000"/>
            <a:t>UMEC 62.5 vs Placebo</a:t>
          </a:r>
        </a:p>
        <a:p>
          <a:r>
            <a:rPr lang="en-GB" sz="1000"/>
            <a:t>P&lt;0.001</a:t>
          </a:r>
        </a:p>
      </dgm:t>
    </dgm:pt>
    <dgm:pt modelId="{AD347C5A-AACB-4FF2-AF2A-2E9EB7C1FD19}" type="parTrans" cxnId="{9CA47FED-2932-40FE-9FAB-F216E467A20D}">
      <dgm:prSet/>
      <dgm:spPr/>
      <dgm:t>
        <a:bodyPr/>
        <a:lstStyle/>
        <a:p>
          <a:endParaRPr lang="en-GB"/>
        </a:p>
      </dgm:t>
    </dgm:pt>
    <dgm:pt modelId="{211F78D8-93F3-4860-B799-44D2B519BFD1}" type="sibTrans" cxnId="{9CA47FED-2932-40FE-9FAB-F216E467A20D}">
      <dgm:prSet/>
      <dgm:spPr/>
      <dgm:t>
        <a:bodyPr/>
        <a:lstStyle/>
        <a:p>
          <a:endParaRPr lang="en-GB"/>
        </a:p>
      </dgm:t>
    </dgm:pt>
    <dgm:pt modelId="{65605067-CC3F-4FAE-8B01-7CB097D0CC27}">
      <dgm:prSet phldrT="[Text]" custT="1"/>
      <dgm:spPr/>
      <dgm:t>
        <a:bodyPr/>
        <a:lstStyle/>
        <a:p>
          <a:r>
            <a:rPr lang="en-GB" sz="1000"/>
            <a:t>Change from baseline in FEV1 at Week 24:</a:t>
          </a:r>
        </a:p>
        <a:p>
          <a:r>
            <a:rPr lang="en-GB" sz="1000"/>
            <a:t>UMEC 31.25 vs Placebo</a:t>
          </a:r>
        </a:p>
        <a:p>
          <a:r>
            <a:rPr lang="en-GB" sz="1000"/>
            <a:t>P=0.074</a:t>
          </a:r>
        </a:p>
      </dgm:t>
    </dgm:pt>
    <dgm:pt modelId="{D79A9EB7-9653-464A-B81A-2D5E48A9F1B1}" type="parTrans" cxnId="{52E4CC52-B304-4043-9E60-3F28280B04AA}">
      <dgm:prSet/>
      <dgm:spPr/>
      <dgm:t>
        <a:bodyPr/>
        <a:lstStyle/>
        <a:p>
          <a:endParaRPr lang="en-GB"/>
        </a:p>
      </dgm:t>
    </dgm:pt>
    <dgm:pt modelId="{38CCF8AF-0E33-49B9-A32B-664C00E38F71}" type="sibTrans" cxnId="{52E4CC52-B304-4043-9E60-3F28280B04AA}">
      <dgm:prSet/>
      <dgm:spPr/>
      <dgm:t>
        <a:bodyPr/>
        <a:lstStyle/>
        <a:p>
          <a:endParaRPr lang="en-GB"/>
        </a:p>
      </dgm:t>
    </dgm:pt>
    <dgm:pt modelId="{BAA1EF29-9CB0-4FFB-BAC6-BB708E57CD9F}" type="pres">
      <dgm:prSet presAssocID="{4479DD1E-E31A-4F2B-8604-8C2A5C245B96}" presName="Name0" presStyleCnt="0">
        <dgm:presLayoutVars>
          <dgm:dir/>
          <dgm:resizeHandles val="exact"/>
        </dgm:presLayoutVars>
      </dgm:prSet>
      <dgm:spPr/>
    </dgm:pt>
    <dgm:pt modelId="{F71E2298-7655-41CB-896A-095B33AC9379}" type="pres">
      <dgm:prSet presAssocID="{EBA8EC89-9899-48D1-AB6D-75440671032E}" presName="node" presStyleLbl="node1" presStyleIdx="0" presStyleCnt="2" custScaleX="182983" custScaleY="64749">
        <dgm:presLayoutVars>
          <dgm:bulletEnabled val="1"/>
        </dgm:presLayoutVars>
      </dgm:prSet>
      <dgm:spPr/>
    </dgm:pt>
    <dgm:pt modelId="{D41F6068-99D6-4C4A-B9AA-00CA95CCDDFB}" type="pres">
      <dgm:prSet presAssocID="{211F78D8-93F3-4860-B799-44D2B519BFD1}" presName="sibTrans" presStyleLbl="sibTrans2D1" presStyleIdx="0" presStyleCnt="1"/>
      <dgm:spPr/>
    </dgm:pt>
    <dgm:pt modelId="{183AF43B-DF39-47D1-9F34-27FE00DB7A8B}" type="pres">
      <dgm:prSet presAssocID="{211F78D8-93F3-4860-B799-44D2B519BFD1}" presName="connectorText" presStyleLbl="sibTrans2D1" presStyleIdx="0" presStyleCnt="1"/>
      <dgm:spPr/>
    </dgm:pt>
    <dgm:pt modelId="{8FD0E27F-345F-4D37-878C-2D23DF6E25BA}" type="pres">
      <dgm:prSet presAssocID="{65605067-CC3F-4FAE-8B01-7CB097D0CC27}" presName="node" presStyleLbl="node1" presStyleIdx="1" presStyleCnt="2" custScaleX="182107" custScaleY="66860" custLinFactNeighborY="0">
        <dgm:presLayoutVars>
          <dgm:bulletEnabled val="1"/>
        </dgm:presLayoutVars>
      </dgm:prSet>
      <dgm:spPr/>
    </dgm:pt>
  </dgm:ptLst>
  <dgm:cxnLst>
    <dgm:cxn modelId="{56E50B0D-7A33-4D59-94E8-44CAC88E8235}" type="presOf" srcId="{211F78D8-93F3-4860-B799-44D2B519BFD1}" destId="{183AF43B-DF39-47D1-9F34-27FE00DB7A8B}" srcOrd="1" destOrd="0" presId="urn:microsoft.com/office/officeart/2005/8/layout/process1"/>
    <dgm:cxn modelId="{D989A114-D770-4D2D-A66B-1FD42D58C57C}" type="presOf" srcId="{65605067-CC3F-4FAE-8B01-7CB097D0CC27}" destId="{8FD0E27F-345F-4D37-878C-2D23DF6E25BA}" srcOrd="0" destOrd="0" presId="urn:microsoft.com/office/officeart/2005/8/layout/process1"/>
    <dgm:cxn modelId="{1C841765-B9D4-4F4E-9F1F-064AE6FDB2E1}" type="presOf" srcId="{4479DD1E-E31A-4F2B-8604-8C2A5C245B96}" destId="{BAA1EF29-9CB0-4FFB-BAC6-BB708E57CD9F}" srcOrd="0" destOrd="0" presId="urn:microsoft.com/office/officeart/2005/8/layout/process1"/>
    <dgm:cxn modelId="{1F08C16B-2FD1-41B2-8B50-869CC85B8DB6}" type="presOf" srcId="{211F78D8-93F3-4860-B799-44D2B519BFD1}" destId="{D41F6068-99D6-4C4A-B9AA-00CA95CCDDFB}" srcOrd="0" destOrd="0" presId="urn:microsoft.com/office/officeart/2005/8/layout/process1"/>
    <dgm:cxn modelId="{52E4CC52-B304-4043-9E60-3F28280B04AA}" srcId="{4479DD1E-E31A-4F2B-8604-8C2A5C245B96}" destId="{65605067-CC3F-4FAE-8B01-7CB097D0CC27}" srcOrd="1" destOrd="0" parTransId="{D79A9EB7-9653-464A-B81A-2D5E48A9F1B1}" sibTransId="{38CCF8AF-0E33-49B9-A32B-664C00E38F71}"/>
    <dgm:cxn modelId="{4C1DD6E0-4283-41F1-A9BE-2BC46ED5E8CE}" type="presOf" srcId="{EBA8EC89-9899-48D1-AB6D-75440671032E}" destId="{F71E2298-7655-41CB-896A-095B33AC9379}" srcOrd="0" destOrd="0" presId="urn:microsoft.com/office/officeart/2005/8/layout/process1"/>
    <dgm:cxn modelId="{9CA47FED-2932-40FE-9FAB-F216E467A20D}" srcId="{4479DD1E-E31A-4F2B-8604-8C2A5C245B96}" destId="{EBA8EC89-9899-48D1-AB6D-75440671032E}" srcOrd="0" destOrd="0" parTransId="{AD347C5A-AACB-4FF2-AF2A-2E9EB7C1FD19}" sibTransId="{211F78D8-93F3-4860-B799-44D2B519BFD1}"/>
    <dgm:cxn modelId="{A6AC850F-934F-4BB9-A0A1-C1A8EE0D492E}" type="presParOf" srcId="{BAA1EF29-9CB0-4FFB-BAC6-BB708E57CD9F}" destId="{F71E2298-7655-41CB-896A-095B33AC9379}" srcOrd="0" destOrd="0" presId="urn:microsoft.com/office/officeart/2005/8/layout/process1"/>
    <dgm:cxn modelId="{4C7B2D19-E20B-40A7-87DD-C7595EA717C2}" type="presParOf" srcId="{BAA1EF29-9CB0-4FFB-BAC6-BB708E57CD9F}" destId="{D41F6068-99D6-4C4A-B9AA-00CA95CCDDFB}" srcOrd="1" destOrd="0" presId="urn:microsoft.com/office/officeart/2005/8/layout/process1"/>
    <dgm:cxn modelId="{CA3C8A34-B4BA-4929-B83B-8597CB9B06BA}" type="presParOf" srcId="{D41F6068-99D6-4C4A-B9AA-00CA95CCDDFB}" destId="{183AF43B-DF39-47D1-9F34-27FE00DB7A8B}" srcOrd="0" destOrd="0" presId="urn:microsoft.com/office/officeart/2005/8/layout/process1"/>
    <dgm:cxn modelId="{6358FD63-784A-4278-B3AA-9A874558F246}" type="presParOf" srcId="{BAA1EF29-9CB0-4FFB-BAC6-BB708E57CD9F}" destId="{8FD0E27F-345F-4D37-878C-2D23DF6E25BA}" srcOrd="2"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79DD1E-E31A-4F2B-8604-8C2A5C245B96}" type="doc">
      <dgm:prSet loTypeId="urn:microsoft.com/office/officeart/2005/8/layout/process1" loCatId="process" qsTypeId="urn:microsoft.com/office/officeart/2005/8/quickstyle/simple1" qsCatId="simple" csTypeId="urn:microsoft.com/office/officeart/2005/8/colors/accent5_2" csCatId="accent5" phldr="1"/>
      <dgm:spPr/>
    </dgm:pt>
    <dgm:pt modelId="{EBA8EC89-9899-48D1-AB6D-75440671032E}">
      <dgm:prSet phldrT="[Text]" custT="1"/>
      <dgm:spPr/>
      <dgm:t>
        <a:bodyPr/>
        <a:lstStyle/>
        <a:p>
          <a:r>
            <a:rPr lang="en-GB" sz="1000"/>
            <a:t>Change from baseline in FEV1 at Week 24:</a:t>
          </a:r>
        </a:p>
        <a:p>
          <a:r>
            <a:rPr lang="en-GB" sz="1000"/>
            <a:t>UMEC 62.5 vs Placebo</a:t>
          </a:r>
        </a:p>
        <a:p>
          <a:r>
            <a:rPr lang="en-GB" sz="1000"/>
            <a:t>P&lt;0.001</a:t>
          </a:r>
        </a:p>
      </dgm:t>
    </dgm:pt>
    <dgm:pt modelId="{AD347C5A-AACB-4FF2-AF2A-2E9EB7C1FD19}" type="parTrans" cxnId="{9CA47FED-2932-40FE-9FAB-F216E467A20D}">
      <dgm:prSet/>
      <dgm:spPr/>
      <dgm:t>
        <a:bodyPr/>
        <a:lstStyle/>
        <a:p>
          <a:endParaRPr lang="en-GB"/>
        </a:p>
      </dgm:t>
    </dgm:pt>
    <dgm:pt modelId="{211F78D8-93F3-4860-B799-44D2B519BFD1}" type="sibTrans" cxnId="{9CA47FED-2932-40FE-9FAB-F216E467A20D}">
      <dgm:prSet/>
      <dgm:spPr/>
      <dgm:t>
        <a:bodyPr/>
        <a:lstStyle/>
        <a:p>
          <a:endParaRPr lang="en-GB"/>
        </a:p>
      </dgm:t>
    </dgm:pt>
    <dgm:pt modelId="{65605067-CC3F-4FAE-8B01-7CB097D0CC27}">
      <dgm:prSet phldrT="[Text]" custT="1"/>
      <dgm:spPr/>
      <dgm:t>
        <a:bodyPr/>
        <a:lstStyle/>
        <a:p>
          <a:r>
            <a:rPr lang="en-GB" sz="1000"/>
            <a:t>Change from baseline in FEV1 at Week 24:</a:t>
          </a:r>
        </a:p>
        <a:p>
          <a:r>
            <a:rPr lang="en-GB" sz="1000"/>
            <a:t>UMEC 31.25 vs Placebo</a:t>
          </a:r>
        </a:p>
        <a:p>
          <a:r>
            <a:rPr lang="en-GB" sz="1000"/>
            <a:t>P&lt;0.001</a:t>
          </a:r>
        </a:p>
      </dgm:t>
    </dgm:pt>
    <dgm:pt modelId="{D79A9EB7-9653-464A-B81A-2D5E48A9F1B1}" type="parTrans" cxnId="{52E4CC52-B304-4043-9E60-3F28280B04AA}">
      <dgm:prSet/>
      <dgm:spPr/>
      <dgm:t>
        <a:bodyPr/>
        <a:lstStyle/>
        <a:p>
          <a:endParaRPr lang="en-GB"/>
        </a:p>
      </dgm:t>
    </dgm:pt>
    <dgm:pt modelId="{38CCF8AF-0E33-49B9-A32B-664C00E38F71}" type="sibTrans" cxnId="{52E4CC52-B304-4043-9E60-3F28280B04AA}">
      <dgm:prSet/>
      <dgm:spPr/>
      <dgm:t>
        <a:bodyPr/>
        <a:lstStyle/>
        <a:p>
          <a:endParaRPr lang="en-GB"/>
        </a:p>
      </dgm:t>
    </dgm:pt>
    <dgm:pt modelId="{BAA1EF29-9CB0-4FFB-BAC6-BB708E57CD9F}" type="pres">
      <dgm:prSet presAssocID="{4479DD1E-E31A-4F2B-8604-8C2A5C245B96}" presName="Name0" presStyleCnt="0">
        <dgm:presLayoutVars>
          <dgm:dir/>
          <dgm:resizeHandles val="exact"/>
        </dgm:presLayoutVars>
      </dgm:prSet>
      <dgm:spPr/>
    </dgm:pt>
    <dgm:pt modelId="{F71E2298-7655-41CB-896A-095B33AC9379}" type="pres">
      <dgm:prSet presAssocID="{EBA8EC89-9899-48D1-AB6D-75440671032E}" presName="node" presStyleLbl="node1" presStyleIdx="0" presStyleCnt="2" custScaleX="182983" custScaleY="64749">
        <dgm:presLayoutVars>
          <dgm:bulletEnabled val="1"/>
        </dgm:presLayoutVars>
      </dgm:prSet>
      <dgm:spPr/>
    </dgm:pt>
    <dgm:pt modelId="{D41F6068-99D6-4C4A-B9AA-00CA95CCDDFB}" type="pres">
      <dgm:prSet presAssocID="{211F78D8-93F3-4860-B799-44D2B519BFD1}" presName="sibTrans" presStyleLbl="sibTrans2D1" presStyleIdx="0" presStyleCnt="1"/>
      <dgm:spPr/>
    </dgm:pt>
    <dgm:pt modelId="{183AF43B-DF39-47D1-9F34-27FE00DB7A8B}" type="pres">
      <dgm:prSet presAssocID="{211F78D8-93F3-4860-B799-44D2B519BFD1}" presName="connectorText" presStyleLbl="sibTrans2D1" presStyleIdx="0" presStyleCnt="1"/>
      <dgm:spPr/>
    </dgm:pt>
    <dgm:pt modelId="{8FD0E27F-345F-4D37-878C-2D23DF6E25BA}" type="pres">
      <dgm:prSet presAssocID="{65605067-CC3F-4FAE-8B01-7CB097D0CC27}" presName="node" presStyleLbl="node1" presStyleIdx="1" presStyleCnt="2" custScaleX="182107" custScaleY="66860" custLinFactNeighborY="0">
        <dgm:presLayoutVars>
          <dgm:bulletEnabled val="1"/>
        </dgm:presLayoutVars>
      </dgm:prSet>
      <dgm:spPr/>
    </dgm:pt>
  </dgm:ptLst>
  <dgm:cxnLst>
    <dgm:cxn modelId="{56E50B0D-7A33-4D59-94E8-44CAC88E8235}" type="presOf" srcId="{211F78D8-93F3-4860-B799-44D2B519BFD1}" destId="{183AF43B-DF39-47D1-9F34-27FE00DB7A8B}" srcOrd="1" destOrd="0" presId="urn:microsoft.com/office/officeart/2005/8/layout/process1"/>
    <dgm:cxn modelId="{D989A114-D770-4D2D-A66B-1FD42D58C57C}" type="presOf" srcId="{65605067-CC3F-4FAE-8B01-7CB097D0CC27}" destId="{8FD0E27F-345F-4D37-878C-2D23DF6E25BA}" srcOrd="0" destOrd="0" presId="urn:microsoft.com/office/officeart/2005/8/layout/process1"/>
    <dgm:cxn modelId="{1C841765-B9D4-4F4E-9F1F-064AE6FDB2E1}" type="presOf" srcId="{4479DD1E-E31A-4F2B-8604-8C2A5C245B96}" destId="{BAA1EF29-9CB0-4FFB-BAC6-BB708E57CD9F}" srcOrd="0" destOrd="0" presId="urn:microsoft.com/office/officeart/2005/8/layout/process1"/>
    <dgm:cxn modelId="{1F08C16B-2FD1-41B2-8B50-869CC85B8DB6}" type="presOf" srcId="{211F78D8-93F3-4860-B799-44D2B519BFD1}" destId="{D41F6068-99D6-4C4A-B9AA-00CA95CCDDFB}" srcOrd="0" destOrd="0" presId="urn:microsoft.com/office/officeart/2005/8/layout/process1"/>
    <dgm:cxn modelId="{52E4CC52-B304-4043-9E60-3F28280B04AA}" srcId="{4479DD1E-E31A-4F2B-8604-8C2A5C245B96}" destId="{65605067-CC3F-4FAE-8B01-7CB097D0CC27}" srcOrd="1" destOrd="0" parTransId="{D79A9EB7-9653-464A-B81A-2D5E48A9F1B1}" sibTransId="{38CCF8AF-0E33-49B9-A32B-664C00E38F71}"/>
    <dgm:cxn modelId="{4C1DD6E0-4283-41F1-A9BE-2BC46ED5E8CE}" type="presOf" srcId="{EBA8EC89-9899-48D1-AB6D-75440671032E}" destId="{F71E2298-7655-41CB-896A-095B33AC9379}" srcOrd="0" destOrd="0" presId="urn:microsoft.com/office/officeart/2005/8/layout/process1"/>
    <dgm:cxn modelId="{9CA47FED-2932-40FE-9FAB-F216E467A20D}" srcId="{4479DD1E-E31A-4F2B-8604-8C2A5C245B96}" destId="{EBA8EC89-9899-48D1-AB6D-75440671032E}" srcOrd="0" destOrd="0" parTransId="{AD347C5A-AACB-4FF2-AF2A-2E9EB7C1FD19}" sibTransId="{211F78D8-93F3-4860-B799-44D2B519BFD1}"/>
    <dgm:cxn modelId="{A6AC850F-934F-4BB9-A0A1-C1A8EE0D492E}" type="presParOf" srcId="{BAA1EF29-9CB0-4FFB-BAC6-BB708E57CD9F}" destId="{F71E2298-7655-41CB-896A-095B33AC9379}" srcOrd="0" destOrd="0" presId="urn:microsoft.com/office/officeart/2005/8/layout/process1"/>
    <dgm:cxn modelId="{4C7B2D19-E20B-40A7-87DD-C7595EA717C2}" type="presParOf" srcId="{BAA1EF29-9CB0-4FFB-BAC6-BB708E57CD9F}" destId="{D41F6068-99D6-4C4A-B9AA-00CA95CCDDFB}" srcOrd="1" destOrd="0" presId="urn:microsoft.com/office/officeart/2005/8/layout/process1"/>
    <dgm:cxn modelId="{CA3C8A34-B4BA-4929-B83B-8597CB9B06BA}" type="presParOf" srcId="{D41F6068-99D6-4C4A-B9AA-00CA95CCDDFB}" destId="{183AF43B-DF39-47D1-9F34-27FE00DB7A8B}" srcOrd="0" destOrd="0" presId="urn:microsoft.com/office/officeart/2005/8/layout/process1"/>
    <dgm:cxn modelId="{6358FD63-784A-4278-B3AA-9A874558F246}" type="presParOf" srcId="{BAA1EF29-9CB0-4FFB-BAC6-BB708E57CD9F}" destId="{8FD0E27F-345F-4D37-878C-2D23DF6E25BA}" srcOrd="2"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479DD1E-E31A-4F2B-8604-8C2A5C245B96}" type="doc">
      <dgm:prSet loTypeId="urn:microsoft.com/office/officeart/2005/8/layout/process1" loCatId="process" qsTypeId="urn:microsoft.com/office/officeart/2005/8/quickstyle/simple1" qsCatId="simple" csTypeId="urn:microsoft.com/office/officeart/2005/8/colors/accent5_2" csCatId="accent5" phldr="1"/>
      <dgm:spPr/>
    </dgm:pt>
    <dgm:pt modelId="{EBA8EC89-9899-48D1-AB6D-75440671032E}">
      <dgm:prSet phldrT="[Text]" custT="1"/>
      <dgm:spPr/>
      <dgm:t>
        <a:bodyPr/>
        <a:lstStyle/>
        <a:p>
          <a:r>
            <a:rPr lang="en-GB" sz="1000"/>
            <a:t>Change from baseline in FEV1 at Week 24:</a:t>
          </a:r>
        </a:p>
        <a:p>
          <a:r>
            <a:rPr lang="en-GB" sz="1000"/>
            <a:t>UMEC 62.5 vs Placebo</a:t>
          </a:r>
        </a:p>
        <a:p>
          <a:r>
            <a:rPr lang="en-GB" sz="1000"/>
            <a:t>P=0.074</a:t>
          </a:r>
        </a:p>
      </dgm:t>
    </dgm:pt>
    <dgm:pt modelId="{AD347C5A-AACB-4FF2-AF2A-2E9EB7C1FD19}" type="parTrans" cxnId="{9CA47FED-2932-40FE-9FAB-F216E467A20D}">
      <dgm:prSet/>
      <dgm:spPr/>
      <dgm:t>
        <a:bodyPr/>
        <a:lstStyle/>
        <a:p>
          <a:endParaRPr lang="en-GB"/>
        </a:p>
      </dgm:t>
    </dgm:pt>
    <dgm:pt modelId="{211F78D8-93F3-4860-B799-44D2B519BFD1}" type="sibTrans" cxnId="{9CA47FED-2932-40FE-9FAB-F216E467A20D}">
      <dgm:prSet/>
      <dgm:spPr/>
      <dgm:t>
        <a:bodyPr/>
        <a:lstStyle/>
        <a:p>
          <a:endParaRPr lang="en-GB"/>
        </a:p>
      </dgm:t>
    </dgm:pt>
    <dgm:pt modelId="{65605067-CC3F-4FAE-8B01-7CB097D0CC27}">
      <dgm:prSet phldrT="[Text]" custT="1"/>
      <dgm:spPr/>
      <dgm:t>
        <a:bodyPr/>
        <a:lstStyle/>
        <a:p>
          <a:r>
            <a:rPr lang="en-GB" sz="1000"/>
            <a:t>Change from baseline in FEV1 at Week 24:</a:t>
          </a:r>
        </a:p>
        <a:p>
          <a:r>
            <a:rPr lang="en-GB" sz="1000"/>
            <a:t>UMEC 31.25 vs Placebo</a:t>
          </a:r>
        </a:p>
        <a:p>
          <a:r>
            <a:rPr lang="en-GB" sz="1000"/>
            <a:t>P&lt;0.001</a:t>
          </a:r>
        </a:p>
      </dgm:t>
    </dgm:pt>
    <dgm:pt modelId="{D79A9EB7-9653-464A-B81A-2D5E48A9F1B1}" type="parTrans" cxnId="{52E4CC52-B304-4043-9E60-3F28280B04AA}">
      <dgm:prSet/>
      <dgm:spPr/>
      <dgm:t>
        <a:bodyPr/>
        <a:lstStyle/>
        <a:p>
          <a:endParaRPr lang="en-GB"/>
        </a:p>
      </dgm:t>
    </dgm:pt>
    <dgm:pt modelId="{38CCF8AF-0E33-49B9-A32B-664C00E38F71}" type="sibTrans" cxnId="{52E4CC52-B304-4043-9E60-3F28280B04AA}">
      <dgm:prSet/>
      <dgm:spPr/>
      <dgm:t>
        <a:bodyPr/>
        <a:lstStyle/>
        <a:p>
          <a:endParaRPr lang="en-GB"/>
        </a:p>
      </dgm:t>
    </dgm:pt>
    <dgm:pt modelId="{BAA1EF29-9CB0-4FFB-BAC6-BB708E57CD9F}" type="pres">
      <dgm:prSet presAssocID="{4479DD1E-E31A-4F2B-8604-8C2A5C245B96}" presName="Name0" presStyleCnt="0">
        <dgm:presLayoutVars>
          <dgm:dir/>
          <dgm:resizeHandles val="exact"/>
        </dgm:presLayoutVars>
      </dgm:prSet>
      <dgm:spPr/>
    </dgm:pt>
    <dgm:pt modelId="{F71E2298-7655-41CB-896A-095B33AC9379}" type="pres">
      <dgm:prSet presAssocID="{EBA8EC89-9899-48D1-AB6D-75440671032E}" presName="node" presStyleLbl="node1" presStyleIdx="0" presStyleCnt="2" custScaleX="182983" custScaleY="64749">
        <dgm:presLayoutVars>
          <dgm:bulletEnabled val="1"/>
        </dgm:presLayoutVars>
      </dgm:prSet>
      <dgm:spPr/>
    </dgm:pt>
    <dgm:pt modelId="{D41F6068-99D6-4C4A-B9AA-00CA95CCDDFB}" type="pres">
      <dgm:prSet presAssocID="{211F78D8-93F3-4860-B799-44D2B519BFD1}" presName="sibTrans" presStyleLbl="sibTrans2D1" presStyleIdx="0" presStyleCnt="1"/>
      <dgm:spPr/>
    </dgm:pt>
    <dgm:pt modelId="{183AF43B-DF39-47D1-9F34-27FE00DB7A8B}" type="pres">
      <dgm:prSet presAssocID="{211F78D8-93F3-4860-B799-44D2B519BFD1}" presName="connectorText" presStyleLbl="sibTrans2D1" presStyleIdx="0" presStyleCnt="1"/>
      <dgm:spPr/>
    </dgm:pt>
    <dgm:pt modelId="{8FD0E27F-345F-4D37-878C-2D23DF6E25BA}" type="pres">
      <dgm:prSet presAssocID="{65605067-CC3F-4FAE-8B01-7CB097D0CC27}" presName="node" presStyleLbl="node1" presStyleIdx="1" presStyleCnt="2" custScaleX="182107" custScaleY="66860" custLinFactNeighborY="0">
        <dgm:presLayoutVars>
          <dgm:bulletEnabled val="1"/>
        </dgm:presLayoutVars>
      </dgm:prSet>
      <dgm:spPr/>
    </dgm:pt>
  </dgm:ptLst>
  <dgm:cxnLst>
    <dgm:cxn modelId="{56E50B0D-7A33-4D59-94E8-44CAC88E8235}" type="presOf" srcId="{211F78D8-93F3-4860-B799-44D2B519BFD1}" destId="{183AF43B-DF39-47D1-9F34-27FE00DB7A8B}" srcOrd="1" destOrd="0" presId="urn:microsoft.com/office/officeart/2005/8/layout/process1"/>
    <dgm:cxn modelId="{D989A114-D770-4D2D-A66B-1FD42D58C57C}" type="presOf" srcId="{65605067-CC3F-4FAE-8B01-7CB097D0CC27}" destId="{8FD0E27F-345F-4D37-878C-2D23DF6E25BA}" srcOrd="0" destOrd="0" presId="urn:microsoft.com/office/officeart/2005/8/layout/process1"/>
    <dgm:cxn modelId="{1C841765-B9D4-4F4E-9F1F-064AE6FDB2E1}" type="presOf" srcId="{4479DD1E-E31A-4F2B-8604-8C2A5C245B96}" destId="{BAA1EF29-9CB0-4FFB-BAC6-BB708E57CD9F}" srcOrd="0" destOrd="0" presId="urn:microsoft.com/office/officeart/2005/8/layout/process1"/>
    <dgm:cxn modelId="{1F08C16B-2FD1-41B2-8B50-869CC85B8DB6}" type="presOf" srcId="{211F78D8-93F3-4860-B799-44D2B519BFD1}" destId="{D41F6068-99D6-4C4A-B9AA-00CA95CCDDFB}" srcOrd="0" destOrd="0" presId="urn:microsoft.com/office/officeart/2005/8/layout/process1"/>
    <dgm:cxn modelId="{52E4CC52-B304-4043-9E60-3F28280B04AA}" srcId="{4479DD1E-E31A-4F2B-8604-8C2A5C245B96}" destId="{65605067-CC3F-4FAE-8B01-7CB097D0CC27}" srcOrd="1" destOrd="0" parTransId="{D79A9EB7-9653-464A-B81A-2D5E48A9F1B1}" sibTransId="{38CCF8AF-0E33-49B9-A32B-664C00E38F71}"/>
    <dgm:cxn modelId="{4C1DD6E0-4283-41F1-A9BE-2BC46ED5E8CE}" type="presOf" srcId="{EBA8EC89-9899-48D1-AB6D-75440671032E}" destId="{F71E2298-7655-41CB-896A-095B33AC9379}" srcOrd="0" destOrd="0" presId="urn:microsoft.com/office/officeart/2005/8/layout/process1"/>
    <dgm:cxn modelId="{9CA47FED-2932-40FE-9FAB-F216E467A20D}" srcId="{4479DD1E-E31A-4F2B-8604-8C2A5C245B96}" destId="{EBA8EC89-9899-48D1-AB6D-75440671032E}" srcOrd="0" destOrd="0" parTransId="{AD347C5A-AACB-4FF2-AF2A-2E9EB7C1FD19}" sibTransId="{211F78D8-93F3-4860-B799-44D2B519BFD1}"/>
    <dgm:cxn modelId="{A6AC850F-934F-4BB9-A0A1-C1A8EE0D492E}" type="presParOf" srcId="{BAA1EF29-9CB0-4FFB-BAC6-BB708E57CD9F}" destId="{F71E2298-7655-41CB-896A-095B33AC9379}" srcOrd="0" destOrd="0" presId="urn:microsoft.com/office/officeart/2005/8/layout/process1"/>
    <dgm:cxn modelId="{4C7B2D19-E20B-40A7-87DD-C7595EA717C2}" type="presParOf" srcId="{BAA1EF29-9CB0-4FFB-BAC6-BB708E57CD9F}" destId="{D41F6068-99D6-4C4A-B9AA-00CA95CCDDFB}" srcOrd="1" destOrd="0" presId="urn:microsoft.com/office/officeart/2005/8/layout/process1"/>
    <dgm:cxn modelId="{CA3C8A34-B4BA-4929-B83B-8597CB9B06BA}" type="presParOf" srcId="{D41F6068-99D6-4C4A-B9AA-00CA95CCDDFB}" destId="{183AF43B-DF39-47D1-9F34-27FE00DB7A8B}" srcOrd="0" destOrd="0" presId="urn:microsoft.com/office/officeart/2005/8/layout/process1"/>
    <dgm:cxn modelId="{6358FD63-784A-4278-B3AA-9A874558F246}" type="presParOf" srcId="{BAA1EF29-9CB0-4FFB-BAC6-BB708E57CD9F}" destId="{8FD0E27F-345F-4D37-878C-2D23DF6E25BA}" srcOrd="2"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D868100-A827-4FE3-9864-B647363FCE2D}"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2056CD91-C582-45FE-8ECE-BA2F9DB795BF}">
      <dgm:prSet phldrT="[Text]"/>
      <dgm:spPr/>
      <dgm:t>
        <a:bodyPr/>
        <a:lstStyle/>
        <a:p>
          <a:r>
            <a:rPr lang="en-GB"/>
            <a:t>Type I error=0.05</a:t>
          </a:r>
        </a:p>
      </dgm:t>
    </dgm:pt>
    <dgm:pt modelId="{6AF801BD-0E15-4DB4-980A-6E206D3F5384}" type="parTrans" cxnId="{06B5E87B-2839-4DC5-932B-85E7EF033F3E}">
      <dgm:prSet/>
      <dgm:spPr/>
      <dgm:t>
        <a:bodyPr/>
        <a:lstStyle/>
        <a:p>
          <a:endParaRPr lang="en-GB"/>
        </a:p>
      </dgm:t>
    </dgm:pt>
    <dgm:pt modelId="{E9066B2B-CD1F-4B2B-A89F-6A6A42457B85}" type="sibTrans" cxnId="{06B5E87B-2839-4DC5-932B-85E7EF033F3E}">
      <dgm:prSet/>
      <dgm:spPr/>
      <dgm:t>
        <a:bodyPr/>
        <a:lstStyle/>
        <a:p>
          <a:endParaRPr lang="en-GB"/>
        </a:p>
      </dgm:t>
    </dgm:pt>
    <dgm:pt modelId="{310E8961-48F6-43AB-93E3-04E478E5FFF7}">
      <dgm:prSet phldrT="[Text]"/>
      <dgm:spPr/>
      <dgm:t>
        <a:bodyPr/>
        <a:lstStyle/>
        <a:p>
          <a:r>
            <a:rPr lang="en-GB"/>
            <a:t>Endpoint 1:</a:t>
          </a:r>
        </a:p>
        <a:p>
          <a:r>
            <a:rPr lang="en-GB"/>
            <a:t>Treatment vs Placebo</a:t>
          </a:r>
        </a:p>
        <a:p>
          <a:r>
            <a:rPr lang="en-GB"/>
            <a:t>Type I error=0.025</a:t>
          </a:r>
        </a:p>
      </dgm:t>
    </dgm:pt>
    <dgm:pt modelId="{5634038B-AE4C-483F-9F28-1EE4CAD73224}" type="parTrans" cxnId="{B75ABEBD-61E3-4D6B-92F7-B6C85FE5E822}">
      <dgm:prSet/>
      <dgm:spPr/>
      <dgm:t>
        <a:bodyPr/>
        <a:lstStyle/>
        <a:p>
          <a:endParaRPr lang="en-GB"/>
        </a:p>
      </dgm:t>
    </dgm:pt>
    <dgm:pt modelId="{1CB45A4C-AC14-46B6-85FE-9352F2099E9A}" type="sibTrans" cxnId="{B75ABEBD-61E3-4D6B-92F7-B6C85FE5E822}">
      <dgm:prSet/>
      <dgm:spPr/>
      <dgm:t>
        <a:bodyPr/>
        <a:lstStyle/>
        <a:p>
          <a:endParaRPr lang="en-GB"/>
        </a:p>
      </dgm:t>
    </dgm:pt>
    <dgm:pt modelId="{FBBA90CB-9973-4251-8F34-1986C99CD9B7}">
      <dgm:prSet phldrT="[Text]"/>
      <dgm:spPr/>
      <dgm:t>
        <a:bodyPr/>
        <a:lstStyle/>
        <a:p>
          <a:r>
            <a:rPr lang="en-GB"/>
            <a:t>Endpoint 2:</a:t>
          </a:r>
        </a:p>
        <a:p>
          <a:r>
            <a:rPr lang="en-GB"/>
            <a:t>Treatment vs Placebo</a:t>
          </a:r>
        </a:p>
        <a:p>
          <a:r>
            <a:rPr lang="en-GB"/>
            <a:t>Type I error=0.025</a:t>
          </a:r>
        </a:p>
      </dgm:t>
    </dgm:pt>
    <dgm:pt modelId="{662BEAFE-5077-4303-8C8D-DC11A38E95F4}" type="parTrans" cxnId="{B2904FFB-5B71-4D26-8A18-F866D40C3E58}">
      <dgm:prSet/>
      <dgm:spPr/>
      <dgm:t>
        <a:bodyPr/>
        <a:lstStyle/>
        <a:p>
          <a:endParaRPr lang="en-GB"/>
        </a:p>
      </dgm:t>
    </dgm:pt>
    <dgm:pt modelId="{0E6DA8B4-8E16-46B3-81A0-E5A21E5EE87A}" type="sibTrans" cxnId="{B2904FFB-5B71-4D26-8A18-F866D40C3E58}">
      <dgm:prSet/>
      <dgm:spPr/>
      <dgm:t>
        <a:bodyPr/>
        <a:lstStyle/>
        <a:p>
          <a:endParaRPr lang="en-GB"/>
        </a:p>
      </dgm:t>
    </dgm:pt>
    <dgm:pt modelId="{2AB4D8B0-CAF4-4881-A040-5665E9B5DC0B}" type="pres">
      <dgm:prSet presAssocID="{2D868100-A827-4FE3-9864-B647363FCE2D}" presName="diagram" presStyleCnt="0">
        <dgm:presLayoutVars>
          <dgm:chPref val="1"/>
          <dgm:dir/>
          <dgm:animOne val="branch"/>
          <dgm:animLvl val="lvl"/>
          <dgm:resizeHandles val="exact"/>
        </dgm:presLayoutVars>
      </dgm:prSet>
      <dgm:spPr/>
    </dgm:pt>
    <dgm:pt modelId="{237A523A-3900-4DDD-9832-372B0053C884}" type="pres">
      <dgm:prSet presAssocID="{2056CD91-C582-45FE-8ECE-BA2F9DB795BF}" presName="root1" presStyleCnt="0"/>
      <dgm:spPr/>
    </dgm:pt>
    <dgm:pt modelId="{C8C7AD8B-FBC1-4523-95B5-8A9CD0FF9D87}" type="pres">
      <dgm:prSet presAssocID="{2056CD91-C582-45FE-8ECE-BA2F9DB795BF}" presName="LevelOneTextNode" presStyleLbl="node0" presStyleIdx="0" presStyleCnt="1" custLinFactNeighborX="-3125" custLinFactNeighborY="20908">
        <dgm:presLayoutVars>
          <dgm:chPref val="3"/>
        </dgm:presLayoutVars>
      </dgm:prSet>
      <dgm:spPr/>
    </dgm:pt>
    <dgm:pt modelId="{6987F927-06FF-4FFD-8B06-BBAA3D2363EF}" type="pres">
      <dgm:prSet presAssocID="{2056CD91-C582-45FE-8ECE-BA2F9DB795BF}" presName="level2hierChild" presStyleCnt="0"/>
      <dgm:spPr/>
    </dgm:pt>
    <dgm:pt modelId="{0E97F491-53F6-48E7-8381-AC085BE945DC}" type="pres">
      <dgm:prSet presAssocID="{5634038B-AE4C-483F-9F28-1EE4CAD73224}" presName="conn2-1" presStyleLbl="parChTrans1D2" presStyleIdx="0" presStyleCnt="2"/>
      <dgm:spPr/>
    </dgm:pt>
    <dgm:pt modelId="{E1CB68A7-5C74-4FB4-A1D3-BA65C76BCB29}" type="pres">
      <dgm:prSet presAssocID="{5634038B-AE4C-483F-9F28-1EE4CAD73224}" presName="connTx" presStyleLbl="parChTrans1D2" presStyleIdx="0" presStyleCnt="2"/>
      <dgm:spPr/>
    </dgm:pt>
    <dgm:pt modelId="{525C3456-6F1F-4775-81A6-B000E8A7D487}" type="pres">
      <dgm:prSet presAssocID="{310E8961-48F6-43AB-93E3-04E478E5FFF7}" presName="root2" presStyleCnt="0"/>
      <dgm:spPr/>
    </dgm:pt>
    <dgm:pt modelId="{A1845C9D-C6EE-440F-AC0F-7B1BF6B12EF4}" type="pres">
      <dgm:prSet presAssocID="{310E8961-48F6-43AB-93E3-04E478E5FFF7}" presName="LevelTwoTextNode" presStyleLbl="node2" presStyleIdx="0" presStyleCnt="2" custLinFactNeighborX="765" custLinFactNeighborY="4093">
        <dgm:presLayoutVars>
          <dgm:chPref val="3"/>
        </dgm:presLayoutVars>
      </dgm:prSet>
      <dgm:spPr/>
    </dgm:pt>
    <dgm:pt modelId="{640901B0-E8AB-4849-B6C8-D12F601FA17B}" type="pres">
      <dgm:prSet presAssocID="{310E8961-48F6-43AB-93E3-04E478E5FFF7}" presName="level3hierChild" presStyleCnt="0"/>
      <dgm:spPr/>
    </dgm:pt>
    <dgm:pt modelId="{CDE9F337-029A-4570-9008-6DDF414FC1FE}" type="pres">
      <dgm:prSet presAssocID="{662BEAFE-5077-4303-8C8D-DC11A38E95F4}" presName="conn2-1" presStyleLbl="parChTrans1D2" presStyleIdx="1" presStyleCnt="2"/>
      <dgm:spPr/>
    </dgm:pt>
    <dgm:pt modelId="{3FADBE52-D704-42E3-B6ED-7CE2CAF33207}" type="pres">
      <dgm:prSet presAssocID="{662BEAFE-5077-4303-8C8D-DC11A38E95F4}" presName="connTx" presStyleLbl="parChTrans1D2" presStyleIdx="1" presStyleCnt="2"/>
      <dgm:spPr/>
    </dgm:pt>
    <dgm:pt modelId="{DA9EE264-8E1D-4DF1-B74D-A62D13084E12}" type="pres">
      <dgm:prSet presAssocID="{FBBA90CB-9973-4251-8F34-1986C99CD9B7}" presName="root2" presStyleCnt="0"/>
      <dgm:spPr/>
    </dgm:pt>
    <dgm:pt modelId="{219ED3E2-91CD-4B64-9F2A-3C331773D73F}" type="pres">
      <dgm:prSet presAssocID="{FBBA90CB-9973-4251-8F34-1986C99CD9B7}" presName="LevelTwoTextNode" presStyleLbl="node2" presStyleIdx="1" presStyleCnt="2" custLinFactNeighborX="-838" custLinFactNeighborY="40390">
        <dgm:presLayoutVars>
          <dgm:chPref val="3"/>
        </dgm:presLayoutVars>
      </dgm:prSet>
      <dgm:spPr/>
    </dgm:pt>
    <dgm:pt modelId="{8307BC9D-F693-45C5-B51F-EB195AD6EF1A}" type="pres">
      <dgm:prSet presAssocID="{FBBA90CB-9973-4251-8F34-1986C99CD9B7}" presName="level3hierChild" presStyleCnt="0"/>
      <dgm:spPr/>
    </dgm:pt>
  </dgm:ptLst>
  <dgm:cxnLst>
    <dgm:cxn modelId="{B05D680C-A7A4-45AF-A3DD-56F142236ABD}" type="presOf" srcId="{FBBA90CB-9973-4251-8F34-1986C99CD9B7}" destId="{219ED3E2-91CD-4B64-9F2A-3C331773D73F}" srcOrd="0" destOrd="0" presId="urn:microsoft.com/office/officeart/2005/8/layout/hierarchy2"/>
    <dgm:cxn modelId="{5A190C35-6318-485A-B02F-1BA58AC63600}" type="presOf" srcId="{662BEAFE-5077-4303-8C8D-DC11A38E95F4}" destId="{3FADBE52-D704-42E3-B6ED-7CE2CAF33207}" srcOrd="1" destOrd="0" presId="urn:microsoft.com/office/officeart/2005/8/layout/hierarchy2"/>
    <dgm:cxn modelId="{C52D2B65-8E18-4532-BFDD-6521C149CE40}" type="presOf" srcId="{310E8961-48F6-43AB-93E3-04E478E5FFF7}" destId="{A1845C9D-C6EE-440F-AC0F-7B1BF6B12EF4}" srcOrd="0" destOrd="0" presId="urn:microsoft.com/office/officeart/2005/8/layout/hierarchy2"/>
    <dgm:cxn modelId="{06B5E87B-2839-4DC5-932B-85E7EF033F3E}" srcId="{2D868100-A827-4FE3-9864-B647363FCE2D}" destId="{2056CD91-C582-45FE-8ECE-BA2F9DB795BF}" srcOrd="0" destOrd="0" parTransId="{6AF801BD-0E15-4DB4-980A-6E206D3F5384}" sibTransId="{E9066B2B-CD1F-4B2B-A89F-6A6A42457B85}"/>
    <dgm:cxn modelId="{0A79C28C-77F2-45F7-8349-D51AE5A55116}" type="presOf" srcId="{2056CD91-C582-45FE-8ECE-BA2F9DB795BF}" destId="{C8C7AD8B-FBC1-4523-95B5-8A9CD0FF9D87}" srcOrd="0" destOrd="0" presId="urn:microsoft.com/office/officeart/2005/8/layout/hierarchy2"/>
    <dgm:cxn modelId="{285B6EB7-099B-458F-A2D5-6230557445B8}" type="presOf" srcId="{2D868100-A827-4FE3-9864-B647363FCE2D}" destId="{2AB4D8B0-CAF4-4881-A040-5665E9B5DC0B}" srcOrd="0" destOrd="0" presId="urn:microsoft.com/office/officeart/2005/8/layout/hierarchy2"/>
    <dgm:cxn modelId="{B75ABEBD-61E3-4D6B-92F7-B6C85FE5E822}" srcId="{2056CD91-C582-45FE-8ECE-BA2F9DB795BF}" destId="{310E8961-48F6-43AB-93E3-04E478E5FFF7}" srcOrd="0" destOrd="0" parTransId="{5634038B-AE4C-483F-9F28-1EE4CAD73224}" sibTransId="{1CB45A4C-AC14-46B6-85FE-9352F2099E9A}"/>
    <dgm:cxn modelId="{FDAD6BC1-C794-4398-B719-1C2CDFAEC5D6}" type="presOf" srcId="{5634038B-AE4C-483F-9F28-1EE4CAD73224}" destId="{E1CB68A7-5C74-4FB4-A1D3-BA65C76BCB29}" srcOrd="1" destOrd="0" presId="urn:microsoft.com/office/officeart/2005/8/layout/hierarchy2"/>
    <dgm:cxn modelId="{220FEED4-4988-420C-BD91-436E94C644FE}" type="presOf" srcId="{662BEAFE-5077-4303-8C8D-DC11A38E95F4}" destId="{CDE9F337-029A-4570-9008-6DDF414FC1FE}" srcOrd="0" destOrd="0" presId="urn:microsoft.com/office/officeart/2005/8/layout/hierarchy2"/>
    <dgm:cxn modelId="{69CDFAE4-3A9D-4076-83D0-240855A14E46}" type="presOf" srcId="{5634038B-AE4C-483F-9F28-1EE4CAD73224}" destId="{0E97F491-53F6-48E7-8381-AC085BE945DC}" srcOrd="0" destOrd="0" presId="urn:microsoft.com/office/officeart/2005/8/layout/hierarchy2"/>
    <dgm:cxn modelId="{B2904FFB-5B71-4D26-8A18-F866D40C3E58}" srcId="{2056CD91-C582-45FE-8ECE-BA2F9DB795BF}" destId="{FBBA90CB-9973-4251-8F34-1986C99CD9B7}" srcOrd="1" destOrd="0" parTransId="{662BEAFE-5077-4303-8C8D-DC11A38E95F4}" sibTransId="{0E6DA8B4-8E16-46B3-81A0-E5A21E5EE87A}"/>
    <dgm:cxn modelId="{67BAB8E7-982D-4F84-975C-9885C6DD03FF}" type="presParOf" srcId="{2AB4D8B0-CAF4-4881-A040-5665E9B5DC0B}" destId="{237A523A-3900-4DDD-9832-372B0053C884}" srcOrd="0" destOrd="0" presId="urn:microsoft.com/office/officeart/2005/8/layout/hierarchy2"/>
    <dgm:cxn modelId="{4BA9BEF0-33DB-45CC-9470-EA3E44EE8A93}" type="presParOf" srcId="{237A523A-3900-4DDD-9832-372B0053C884}" destId="{C8C7AD8B-FBC1-4523-95B5-8A9CD0FF9D87}" srcOrd="0" destOrd="0" presId="urn:microsoft.com/office/officeart/2005/8/layout/hierarchy2"/>
    <dgm:cxn modelId="{BF8B7DCB-6521-4DFF-AC03-A9278985501A}" type="presParOf" srcId="{237A523A-3900-4DDD-9832-372B0053C884}" destId="{6987F927-06FF-4FFD-8B06-BBAA3D2363EF}" srcOrd="1" destOrd="0" presId="urn:microsoft.com/office/officeart/2005/8/layout/hierarchy2"/>
    <dgm:cxn modelId="{89549E20-6DDD-4D85-A802-2CA74701BB61}" type="presParOf" srcId="{6987F927-06FF-4FFD-8B06-BBAA3D2363EF}" destId="{0E97F491-53F6-48E7-8381-AC085BE945DC}" srcOrd="0" destOrd="0" presId="urn:microsoft.com/office/officeart/2005/8/layout/hierarchy2"/>
    <dgm:cxn modelId="{449048F1-69D5-4DC1-A55D-8C5B239C0A1C}" type="presParOf" srcId="{0E97F491-53F6-48E7-8381-AC085BE945DC}" destId="{E1CB68A7-5C74-4FB4-A1D3-BA65C76BCB29}" srcOrd="0" destOrd="0" presId="urn:microsoft.com/office/officeart/2005/8/layout/hierarchy2"/>
    <dgm:cxn modelId="{4ACBC558-3517-4D00-A0E7-3CAD8F3F36B3}" type="presParOf" srcId="{6987F927-06FF-4FFD-8B06-BBAA3D2363EF}" destId="{525C3456-6F1F-4775-81A6-B000E8A7D487}" srcOrd="1" destOrd="0" presId="urn:microsoft.com/office/officeart/2005/8/layout/hierarchy2"/>
    <dgm:cxn modelId="{6488CE43-91E3-4CB5-8419-6EAC4231A8AA}" type="presParOf" srcId="{525C3456-6F1F-4775-81A6-B000E8A7D487}" destId="{A1845C9D-C6EE-440F-AC0F-7B1BF6B12EF4}" srcOrd="0" destOrd="0" presId="urn:microsoft.com/office/officeart/2005/8/layout/hierarchy2"/>
    <dgm:cxn modelId="{B6A5AFEC-7CBE-4352-A9F4-1394D982E0F3}" type="presParOf" srcId="{525C3456-6F1F-4775-81A6-B000E8A7D487}" destId="{640901B0-E8AB-4849-B6C8-D12F601FA17B}" srcOrd="1" destOrd="0" presId="urn:microsoft.com/office/officeart/2005/8/layout/hierarchy2"/>
    <dgm:cxn modelId="{39F41B01-7E39-482F-9759-A758E52A419B}" type="presParOf" srcId="{6987F927-06FF-4FFD-8B06-BBAA3D2363EF}" destId="{CDE9F337-029A-4570-9008-6DDF414FC1FE}" srcOrd="2" destOrd="0" presId="urn:microsoft.com/office/officeart/2005/8/layout/hierarchy2"/>
    <dgm:cxn modelId="{89C5357F-F338-4553-B272-B282CCFE4BE5}" type="presParOf" srcId="{CDE9F337-029A-4570-9008-6DDF414FC1FE}" destId="{3FADBE52-D704-42E3-B6ED-7CE2CAF33207}" srcOrd="0" destOrd="0" presId="urn:microsoft.com/office/officeart/2005/8/layout/hierarchy2"/>
    <dgm:cxn modelId="{7464ECBE-53E9-423F-A0C3-E9BEC8DC45C3}" type="presParOf" srcId="{6987F927-06FF-4FFD-8B06-BBAA3D2363EF}" destId="{DA9EE264-8E1D-4DF1-B74D-A62D13084E12}" srcOrd="3" destOrd="0" presId="urn:microsoft.com/office/officeart/2005/8/layout/hierarchy2"/>
    <dgm:cxn modelId="{BBE4C2EC-C659-4E1F-A0BB-A8F23442E570}" type="presParOf" srcId="{DA9EE264-8E1D-4DF1-B74D-A62D13084E12}" destId="{219ED3E2-91CD-4B64-9F2A-3C331773D73F}" srcOrd="0" destOrd="0" presId="urn:microsoft.com/office/officeart/2005/8/layout/hierarchy2"/>
    <dgm:cxn modelId="{F3F8A85F-647F-4E0A-B94E-CEFE05F75AD3}" type="presParOf" srcId="{DA9EE264-8E1D-4DF1-B74D-A62D13084E12}" destId="{8307BC9D-F693-45C5-B51F-EB195AD6EF1A}"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31EFFB9-BD04-49BD-9694-02B3F4A9B724}"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396139CA-4DC3-48EA-8CBA-B1D44B8C690F}">
      <dgm:prSet phldrT="[Text]" custT="1"/>
      <dgm:spPr>
        <a:solidFill>
          <a:srgbClr val="40488D"/>
        </a:solidFill>
      </dgm:spPr>
      <dgm:t>
        <a:bodyPr/>
        <a:lstStyle/>
        <a:p>
          <a:r>
            <a:rPr lang="en-GB" sz="1800"/>
            <a:t>Multiplicity</a:t>
          </a:r>
        </a:p>
      </dgm:t>
    </dgm:pt>
    <dgm:pt modelId="{00854F48-D91F-47A1-A7C3-A30C6A2A49EE}" type="parTrans" cxnId="{B18F193B-40D0-4EE1-B589-7EEBB126A3FD}">
      <dgm:prSet/>
      <dgm:spPr/>
      <dgm:t>
        <a:bodyPr/>
        <a:lstStyle/>
        <a:p>
          <a:endParaRPr lang="en-GB" sz="1400"/>
        </a:p>
      </dgm:t>
    </dgm:pt>
    <dgm:pt modelId="{47620660-F6FA-4B08-8C3A-723AD425FCDA}" type="sibTrans" cxnId="{B18F193B-40D0-4EE1-B589-7EEBB126A3FD}">
      <dgm:prSet/>
      <dgm:spPr/>
      <dgm:t>
        <a:bodyPr/>
        <a:lstStyle/>
        <a:p>
          <a:endParaRPr lang="en-GB" sz="1400"/>
        </a:p>
      </dgm:t>
    </dgm:pt>
    <dgm:pt modelId="{46A9294B-E955-4C66-AD7A-00C623529141}">
      <dgm:prSet phldrT="[Text]" custT="1"/>
      <dgm:spPr>
        <a:solidFill>
          <a:schemeClr val="bg2"/>
        </a:solidFill>
      </dgm:spPr>
      <dgm:t>
        <a:bodyPr/>
        <a:lstStyle/>
        <a:p>
          <a:r>
            <a:rPr lang="en-GB" sz="1800"/>
            <a:t>What do you need to do?</a:t>
          </a:r>
        </a:p>
      </dgm:t>
    </dgm:pt>
    <dgm:pt modelId="{FDD06839-9DBC-4ADE-8ECC-4C4F2CF9C7B1}" type="parTrans" cxnId="{A309F978-F6B4-44F2-BD7D-05515C54CDB8}">
      <dgm:prSet/>
      <dgm:spPr/>
      <dgm:t>
        <a:bodyPr/>
        <a:lstStyle/>
        <a:p>
          <a:endParaRPr lang="en-GB" sz="1400"/>
        </a:p>
      </dgm:t>
    </dgm:pt>
    <dgm:pt modelId="{556F560E-2545-477C-B18D-D4DD7C002CAD}" type="sibTrans" cxnId="{A309F978-F6B4-44F2-BD7D-05515C54CDB8}">
      <dgm:prSet/>
      <dgm:spPr/>
      <dgm:t>
        <a:bodyPr/>
        <a:lstStyle/>
        <a:p>
          <a:endParaRPr lang="en-GB" sz="1400"/>
        </a:p>
      </dgm:t>
    </dgm:pt>
    <dgm:pt modelId="{2B2C975A-7242-4C45-A126-4F76B97155E3}">
      <dgm:prSet/>
      <dgm:spPr>
        <a:ln>
          <a:solidFill>
            <a:schemeClr val="bg2"/>
          </a:solidFill>
        </a:ln>
      </dgm:spPr>
      <dgm:t>
        <a:bodyPr/>
        <a:lstStyle/>
        <a:p>
          <a:r>
            <a:rPr lang="en-GB">
              <a:solidFill>
                <a:schemeClr val="bg2"/>
              </a:solidFill>
            </a:rPr>
            <a:t>Transparency</a:t>
          </a:r>
          <a:r>
            <a:rPr lang="en-GB"/>
            <a:t> is needed when presenting our results</a:t>
          </a:r>
        </a:p>
      </dgm:t>
    </dgm:pt>
    <dgm:pt modelId="{221732C5-2D94-4F66-9A46-D2BB7AA0761F}" type="parTrans" cxnId="{53BD0953-655C-4CFD-AE22-7F0C74A70F6A}">
      <dgm:prSet/>
      <dgm:spPr/>
      <dgm:t>
        <a:bodyPr/>
        <a:lstStyle/>
        <a:p>
          <a:endParaRPr lang="en-GB"/>
        </a:p>
      </dgm:t>
    </dgm:pt>
    <dgm:pt modelId="{C3649512-A06A-403D-8C7F-5B13E93D71E4}" type="sibTrans" cxnId="{53BD0953-655C-4CFD-AE22-7F0C74A70F6A}">
      <dgm:prSet/>
      <dgm:spPr/>
      <dgm:t>
        <a:bodyPr/>
        <a:lstStyle/>
        <a:p>
          <a:endParaRPr lang="en-GB"/>
        </a:p>
      </dgm:t>
    </dgm:pt>
    <dgm:pt modelId="{B26A3B7F-672F-4664-89F7-E0BDC793B07A}">
      <dgm:prSet/>
      <dgm:spPr>
        <a:ln>
          <a:solidFill>
            <a:schemeClr val="accent5"/>
          </a:solidFill>
        </a:ln>
      </dgm:spPr>
      <dgm:t>
        <a:bodyPr/>
        <a:lstStyle/>
        <a:p>
          <a:pPr>
            <a:buFont typeface="Wingdings" panose="05000000000000000000" pitchFamily="2" charset="2"/>
            <a:buChar char="Ø"/>
          </a:pPr>
          <a:r>
            <a:rPr lang="en-GB">
              <a:latin typeface="+mn-lt"/>
            </a:rPr>
            <a:t> It has to be tackled </a:t>
          </a:r>
          <a:r>
            <a:rPr lang="en-GB">
              <a:solidFill>
                <a:srgbClr val="40488D"/>
              </a:solidFill>
              <a:latin typeface="+mn-lt"/>
            </a:rPr>
            <a:t>early</a:t>
          </a:r>
          <a:r>
            <a:rPr lang="en-GB">
              <a:latin typeface="+mn-lt"/>
            </a:rPr>
            <a:t> on in study design</a:t>
          </a:r>
        </a:p>
      </dgm:t>
    </dgm:pt>
    <dgm:pt modelId="{CDB84E74-B760-4B5F-9234-A789258CE6C3}" type="parTrans" cxnId="{3F238631-AF94-4811-A0C7-442D7F4EA0A5}">
      <dgm:prSet/>
      <dgm:spPr/>
    </dgm:pt>
    <dgm:pt modelId="{A64D9C5F-E613-45C1-9F5A-BFD8DEECEE67}" type="sibTrans" cxnId="{3F238631-AF94-4811-A0C7-442D7F4EA0A5}">
      <dgm:prSet/>
      <dgm:spPr/>
    </dgm:pt>
    <dgm:pt modelId="{05D8247C-E7D3-4F8C-B4BA-C026F9602734}">
      <dgm:prSet/>
      <dgm:spPr>
        <a:ln>
          <a:solidFill>
            <a:schemeClr val="accent5"/>
          </a:solidFill>
        </a:ln>
      </dgm:spPr>
      <dgm:t>
        <a:bodyPr/>
        <a:lstStyle/>
        <a:p>
          <a:pPr>
            <a:buFont typeface="Wingdings" panose="05000000000000000000" pitchFamily="2" charset="2"/>
            <a:buChar char="Ø"/>
          </a:pPr>
          <a:r>
            <a:rPr lang="en-GB">
              <a:latin typeface="+mn-lt"/>
            </a:rPr>
            <a:t> It has to be tackled </a:t>
          </a:r>
          <a:r>
            <a:rPr lang="en-GB">
              <a:solidFill>
                <a:srgbClr val="40488D"/>
              </a:solidFill>
              <a:latin typeface="+mn-lt"/>
            </a:rPr>
            <a:t>as a team</a:t>
          </a:r>
        </a:p>
      </dgm:t>
    </dgm:pt>
    <dgm:pt modelId="{9ECEB088-E5CC-4CA0-AD47-EC96CB7E240B}" type="parTrans" cxnId="{0B4B015C-B8A9-4F5D-AFA6-D2E68FDB4EE6}">
      <dgm:prSet/>
      <dgm:spPr/>
    </dgm:pt>
    <dgm:pt modelId="{EDF962BE-A04C-4E49-A644-F65ABA017E14}" type="sibTrans" cxnId="{0B4B015C-B8A9-4F5D-AFA6-D2E68FDB4EE6}">
      <dgm:prSet/>
      <dgm:spPr/>
    </dgm:pt>
    <dgm:pt modelId="{77CB48BA-9AF4-4862-85A8-443EAABAB29F}">
      <dgm:prSet/>
      <dgm:spPr>
        <a:ln>
          <a:solidFill>
            <a:schemeClr val="accent5"/>
          </a:solidFill>
        </a:ln>
      </dgm:spPr>
      <dgm:t>
        <a:bodyPr/>
        <a:lstStyle/>
        <a:p>
          <a:r>
            <a:rPr lang="en-GB">
              <a:latin typeface="+mn-lt"/>
              <a:ea typeface="Calibri" panose="020F0502020204030204" pitchFamily="34" charset="0"/>
              <a:cs typeface="Calibri"/>
            </a:rPr>
            <a:t>Multiplicity issues </a:t>
          </a:r>
          <a:r>
            <a:rPr lang="en-GB">
              <a:solidFill>
                <a:srgbClr val="40488D"/>
              </a:solidFill>
              <a:latin typeface="+mn-lt"/>
              <a:ea typeface="Calibri" panose="020F0502020204030204" pitchFamily="34" charset="0"/>
              <a:cs typeface="Calibri"/>
            </a:rPr>
            <a:t>exist in almost every study</a:t>
          </a:r>
          <a:endParaRPr lang="en-GB">
            <a:solidFill>
              <a:srgbClr val="40488D"/>
            </a:solidFill>
            <a:latin typeface="+mn-lt"/>
          </a:endParaRPr>
        </a:p>
      </dgm:t>
    </dgm:pt>
    <dgm:pt modelId="{1384A6CD-0A24-4FA2-861B-F03047FED186}" type="parTrans" cxnId="{3A652F41-52BA-4355-8CAA-87EC34EC390A}">
      <dgm:prSet/>
      <dgm:spPr/>
    </dgm:pt>
    <dgm:pt modelId="{E13FACCE-6D49-4859-B899-BB635C69DCA9}" type="sibTrans" cxnId="{3A652F41-52BA-4355-8CAA-87EC34EC390A}">
      <dgm:prSet/>
      <dgm:spPr/>
    </dgm:pt>
    <dgm:pt modelId="{B6659728-DCC2-4CDA-8A88-82092F5BC58A}">
      <dgm:prSet/>
      <dgm:spPr>
        <a:ln>
          <a:solidFill>
            <a:schemeClr val="accent5"/>
          </a:solidFill>
        </a:ln>
      </dgm:spPr>
      <dgm:t>
        <a:bodyPr/>
        <a:lstStyle/>
        <a:p>
          <a:r>
            <a:rPr lang="en-GB">
              <a:latin typeface="+mn-lt"/>
            </a:rPr>
            <a:t>Multiplicity is </a:t>
          </a:r>
          <a:r>
            <a:rPr lang="en-GB">
              <a:solidFill>
                <a:srgbClr val="40488D"/>
              </a:solidFill>
              <a:latin typeface="+mn-lt"/>
            </a:rPr>
            <a:t>not just a statistical problem</a:t>
          </a:r>
          <a:r>
            <a:rPr lang="en-GB">
              <a:latin typeface="+mn-lt"/>
            </a:rPr>
            <a:t>, it impacts what you claim, what data is in the label and what data you can promote on</a:t>
          </a:r>
        </a:p>
      </dgm:t>
    </dgm:pt>
    <dgm:pt modelId="{7F8142C8-C38A-407A-BF1D-941485645913}" type="parTrans" cxnId="{E1DFD849-511A-4AED-8BB2-64A5C97DCEF3}">
      <dgm:prSet/>
      <dgm:spPr/>
    </dgm:pt>
    <dgm:pt modelId="{55C60706-0DBC-4734-A6C3-266D4DBA44FF}" type="sibTrans" cxnId="{E1DFD849-511A-4AED-8BB2-64A5C97DCEF3}">
      <dgm:prSet/>
      <dgm:spPr/>
    </dgm:pt>
    <dgm:pt modelId="{D9AB26B9-BF60-49BB-8D27-27F9A3002679}">
      <dgm:prSet/>
      <dgm:spPr>
        <a:ln>
          <a:solidFill>
            <a:schemeClr val="accent5"/>
          </a:solidFill>
        </a:ln>
      </dgm:spPr>
      <dgm:t>
        <a:bodyPr/>
        <a:lstStyle/>
        <a:p>
          <a:pPr>
            <a:buFont typeface="Wingdings" panose="05000000000000000000" pitchFamily="2" charset="2"/>
            <a:buChar char="Ø"/>
          </a:pPr>
          <a:r>
            <a:rPr lang="en-GB">
              <a:latin typeface="+mn-lt"/>
            </a:rPr>
            <a:t>It has to be </a:t>
          </a:r>
          <a:r>
            <a:rPr lang="en-GB">
              <a:solidFill>
                <a:srgbClr val="40488D"/>
              </a:solidFill>
              <a:latin typeface="+mn-lt"/>
            </a:rPr>
            <a:t>considered</a:t>
          </a:r>
          <a:r>
            <a:rPr lang="en-GB">
              <a:latin typeface="+mn-lt"/>
            </a:rPr>
            <a:t> when </a:t>
          </a:r>
          <a:r>
            <a:rPr lang="en-GB">
              <a:solidFill>
                <a:srgbClr val="40488D"/>
              </a:solidFill>
              <a:latin typeface="+mn-lt"/>
            </a:rPr>
            <a:t>interpreting and communicating data</a:t>
          </a:r>
        </a:p>
      </dgm:t>
    </dgm:pt>
    <dgm:pt modelId="{634C9BB4-760B-4554-818C-79D0931609B8}" type="parTrans" cxnId="{E8A614F5-192E-4677-ACB5-D858C6D4DC2C}">
      <dgm:prSet/>
      <dgm:spPr/>
    </dgm:pt>
    <dgm:pt modelId="{E29DCEDC-C469-4618-AB2A-2BC0F2F072C4}" type="sibTrans" cxnId="{E8A614F5-192E-4677-ACB5-D858C6D4DC2C}">
      <dgm:prSet/>
      <dgm:spPr/>
    </dgm:pt>
    <dgm:pt modelId="{E7A0FBFE-A50E-4701-96A1-0673F75BAD0A}">
      <dgm:prSet/>
      <dgm:spPr>
        <a:ln>
          <a:solidFill>
            <a:schemeClr val="accent5"/>
          </a:solidFill>
        </a:ln>
      </dgm:spPr>
      <dgm:t>
        <a:bodyPr/>
        <a:lstStyle/>
        <a:p>
          <a:pPr>
            <a:buFont typeface="Wingdings" panose="05000000000000000000" pitchFamily="2" charset="2"/>
            <a:buChar char="Ø"/>
          </a:pPr>
          <a:r>
            <a:rPr lang="en-GB">
              <a:latin typeface="+mn-lt"/>
            </a:rPr>
            <a:t>There is </a:t>
          </a:r>
          <a:r>
            <a:rPr lang="en-GB">
              <a:solidFill>
                <a:srgbClr val="40488D"/>
              </a:solidFill>
              <a:latin typeface="+mn-lt"/>
            </a:rPr>
            <a:t>not one single best strategy</a:t>
          </a:r>
        </a:p>
      </dgm:t>
    </dgm:pt>
    <dgm:pt modelId="{4B2E658D-0FA4-4B7C-80F8-EE6C050D04F8}" type="parTrans" cxnId="{432C56C4-DA0E-4DE2-92A6-40AACB063679}">
      <dgm:prSet/>
      <dgm:spPr/>
    </dgm:pt>
    <dgm:pt modelId="{D050109E-6921-4371-86F1-B3555FCB0D50}" type="sibTrans" cxnId="{432C56C4-DA0E-4DE2-92A6-40AACB063679}">
      <dgm:prSet/>
      <dgm:spPr/>
    </dgm:pt>
    <dgm:pt modelId="{1FD40F29-FE3C-41AD-B85A-8E2CFCFB6A61}">
      <dgm:prSet/>
      <dgm:spPr>
        <a:ln>
          <a:solidFill>
            <a:schemeClr val="bg2"/>
          </a:solidFill>
        </a:ln>
      </dgm:spPr>
      <dgm:t>
        <a:bodyPr/>
        <a:lstStyle/>
        <a:p>
          <a:r>
            <a:rPr lang="en-GB"/>
            <a:t>Be </a:t>
          </a:r>
          <a:r>
            <a:rPr lang="en-GB">
              <a:solidFill>
                <a:schemeClr val="bg2"/>
              </a:solidFill>
            </a:rPr>
            <a:t>aware</a:t>
          </a:r>
          <a:r>
            <a:rPr lang="en-GB"/>
            <a:t> of multiplicity when interpreting competitor data</a:t>
          </a:r>
        </a:p>
      </dgm:t>
    </dgm:pt>
    <dgm:pt modelId="{AA8123AD-0D90-4A8C-9AFE-1BBCDCF922DA}" type="parTrans" cxnId="{0BEBA73C-6A3A-4114-8171-22688F9F1B13}">
      <dgm:prSet/>
      <dgm:spPr/>
    </dgm:pt>
    <dgm:pt modelId="{987BAAD9-9CAA-4BFB-89F4-ECA2D9EA432A}" type="sibTrans" cxnId="{0BEBA73C-6A3A-4114-8171-22688F9F1B13}">
      <dgm:prSet/>
      <dgm:spPr/>
    </dgm:pt>
    <dgm:pt modelId="{B8360650-100A-4199-9ECA-422F01B07C0F}">
      <dgm:prSet/>
      <dgm:spPr>
        <a:ln>
          <a:solidFill>
            <a:schemeClr val="bg2"/>
          </a:solidFill>
        </a:ln>
      </dgm:spPr>
      <dgm:t>
        <a:bodyPr/>
        <a:lstStyle/>
        <a:p>
          <a:r>
            <a:rPr lang="en-GB">
              <a:solidFill>
                <a:schemeClr val="bg2"/>
              </a:solidFill>
            </a:rPr>
            <a:t>If in doubt: Talk to your statistician!</a:t>
          </a:r>
        </a:p>
      </dgm:t>
    </dgm:pt>
    <dgm:pt modelId="{0C100551-EED0-426D-B40C-57654A4BE04D}" type="parTrans" cxnId="{7D0B0D81-07B4-4503-8B44-A531A86A5B5A}">
      <dgm:prSet/>
      <dgm:spPr/>
    </dgm:pt>
    <dgm:pt modelId="{0261BFFA-ED1F-466E-B528-E30C3A990162}" type="sibTrans" cxnId="{7D0B0D81-07B4-4503-8B44-A531A86A5B5A}">
      <dgm:prSet/>
      <dgm:spPr/>
    </dgm:pt>
    <dgm:pt modelId="{447DD49A-06A4-4E6D-8A8C-3BCE2337070F}" type="pres">
      <dgm:prSet presAssocID="{931EFFB9-BD04-49BD-9694-02B3F4A9B724}" presName="linear" presStyleCnt="0">
        <dgm:presLayoutVars>
          <dgm:dir/>
          <dgm:animLvl val="lvl"/>
          <dgm:resizeHandles val="exact"/>
        </dgm:presLayoutVars>
      </dgm:prSet>
      <dgm:spPr/>
    </dgm:pt>
    <dgm:pt modelId="{7ADD2E8F-30C1-42D1-ACE9-C545D2B2866D}" type="pres">
      <dgm:prSet presAssocID="{396139CA-4DC3-48EA-8CBA-B1D44B8C690F}" presName="parentLin" presStyleCnt="0"/>
      <dgm:spPr/>
    </dgm:pt>
    <dgm:pt modelId="{347990ED-8D0C-4161-B372-9B025C95341E}" type="pres">
      <dgm:prSet presAssocID="{396139CA-4DC3-48EA-8CBA-B1D44B8C690F}" presName="parentLeftMargin" presStyleLbl="node1" presStyleIdx="0" presStyleCnt="2"/>
      <dgm:spPr/>
    </dgm:pt>
    <dgm:pt modelId="{C08FE6A4-AFAA-401F-8788-5B2EF4404F28}" type="pres">
      <dgm:prSet presAssocID="{396139CA-4DC3-48EA-8CBA-B1D44B8C690F}" presName="parentText" presStyleLbl="node1" presStyleIdx="0" presStyleCnt="2" custScaleX="107889" custScaleY="81813">
        <dgm:presLayoutVars>
          <dgm:chMax val="0"/>
          <dgm:bulletEnabled val="1"/>
        </dgm:presLayoutVars>
      </dgm:prSet>
      <dgm:spPr/>
    </dgm:pt>
    <dgm:pt modelId="{33E3D091-0F1F-4AD1-9244-AF479C03FFCB}" type="pres">
      <dgm:prSet presAssocID="{396139CA-4DC3-48EA-8CBA-B1D44B8C690F}" presName="negativeSpace" presStyleCnt="0"/>
      <dgm:spPr/>
    </dgm:pt>
    <dgm:pt modelId="{E312D576-2262-4902-9BB8-7378FCFD3F79}" type="pres">
      <dgm:prSet presAssocID="{396139CA-4DC3-48EA-8CBA-B1D44B8C690F}" presName="childText" presStyleLbl="conFgAcc1" presStyleIdx="0" presStyleCnt="2" custLinFactNeighborX="4" custLinFactNeighborY="-5390">
        <dgm:presLayoutVars>
          <dgm:bulletEnabled val="1"/>
        </dgm:presLayoutVars>
      </dgm:prSet>
      <dgm:spPr/>
    </dgm:pt>
    <dgm:pt modelId="{FFE15786-8A0D-4C7A-BEFF-0A1922236FC7}" type="pres">
      <dgm:prSet presAssocID="{47620660-F6FA-4B08-8C3A-723AD425FCDA}" presName="spaceBetweenRectangles" presStyleCnt="0"/>
      <dgm:spPr/>
    </dgm:pt>
    <dgm:pt modelId="{631A932B-AD3F-4429-B224-2EA951F396FE}" type="pres">
      <dgm:prSet presAssocID="{46A9294B-E955-4C66-AD7A-00C623529141}" presName="parentLin" presStyleCnt="0"/>
      <dgm:spPr/>
    </dgm:pt>
    <dgm:pt modelId="{5F222D84-7399-4696-AF3C-EA782BD12598}" type="pres">
      <dgm:prSet presAssocID="{46A9294B-E955-4C66-AD7A-00C623529141}" presName="parentLeftMargin" presStyleLbl="node1" presStyleIdx="0" presStyleCnt="2"/>
      <dgm:spPr/>
    </dgm:pt>
    <dgm:pt modelId="{DBB2BA91-92B9-4D59-9135-38B4B0DBFBFE}" type="pres">
      <dgm:prSet presAssocID="{46A9294B-E955-4C66-AD7A-00C623529141}" presName="parentText" presStyleLbl="node1" presStyleIdx="1" presStyleCnt="2" custScaleY="81813">
        <dgm:presLayoutVars>
          <dgm:chMax val="0"/>
          <dgm:bulletEnabled val="1"/>
        </dgm:presLayoutVars>
      </dgm:prSet>
      <dgm:spPr/>
    </dgm:pt>
    <dgm:pt modelId="{36D1AE16-5482-47F7-AF7E-D3B6ECEA8328}" type="pres">
      <dgm:prSet presAssocID="{46A9294B-E955-4C66-AD7A-00C623529141}" presName="negativeSpace" presStyleCnt="0"/>
      <dgm:spPr/>
    </dgm:pt>
    <dgm:pt modelId="{E9878A77-7479-4CA0-90B1-B049D97040E7}" type="pres">
      <dgm:prSet presAssocID="{46A9294B-E955-4C66-AD7A-00C623529141}" presName="childText" presStyleLbl="conFgAcc1" presStyleIdx="1" presStyleCnt="2">
        <dgm:presLayoutVars>
          <dgm:bulletEnabled val="1"/>
        </dgm:presLayoutVars>
      </dgm:prSet>
      <dgm:spPr/>
    </dgm:pt>
  </dgm:ptLst>
  <dgm:cxnLst>
    <dgm:cxn modelId="{E8945C0E-13FD-4B75-8FEC-C7F39224AC4C}" type="presOf" srcId="{E7A0FBFE-A50E-4701-96A1-0673F75BAD0A}" destId="{E312D576-2262-4902-9BB8-7378FCFD3F79}" srcOrd="0" destOrd="5" presId="urn:microsoft.com/office/officeart/2005/8/layout/list1"/>
    <dgm:cxn modelId="{C9085010-FD0A-4E69-B78A-6AC5CF8BD346}" type="presOf" srcId="{46A9294B-E955-4C66-AD7A-00C623529141}" destId="{DBB2BA91-92B9-4D59-9135-38B4B0DBFBFE}" srcOrd="1" destOrd="0" presId="urn:microsoft.com/office/officeart/2005/8/layout/list1"/>
    <dgm:cxn modelId="{FCF5A112-E0EC-416E-AD14-955723583FB3}" type="presOf" srcId="{396139CA-4DC3-48EA-8CBA-B1D44B8C690F}" destId="{347990ED-8D0C-4161-B372-9B025C95341E}" srcOrd="0" destOrd="0" presId="urn:microsoft.com/office/officeart/2005/8/layout/list1"/>
    <dgm:cxn modelId="{6145511F-D239-4D98-8D53-6884AEE4DBC6}" type="presOf" srcId="{B8360650-100A-4199-9ECA-422F01B07C0F}" destId="{E9878A77-7479-4CA0-90B1-B049D97040E7}" srcOrd="0" destOrd="2" presId="urn:microsoft.com/office/officeart/2005/8/layout/list1"/>
    <dgm:cxn modelId="{3F238631-AF94-4811-A0C7-442D7F4EA0A5}" srcId="{396139CA-4DC3-48EA-8CBA-B1D44B8C690F}" destId="{B26A3B7F-672F-4664-89F7-E0BDC793B07A}" srcOrd="2" destOrd="0" parTransId="{CDB84E74-B760-4B5F-9234-A789258CE6C3}" sibTransId="{A64D9C5F-E613-45C1-9F5A-BFD8DEECEE67}"/>
    <dgm:cxn modelId="{9EA1E531-92E8-4803-B3A5-370814A54D2E}" type="presOf" srcId="{77CB48BA-9AF4-4862-85A8-443EAABAB29F}" destId="{E312D576-2262-4902-9BB8-7378FCFD3F79}" srcOrd="0" destOrd="0" presId="urn:microsoft.com/office/officeart/2005/8/layout/list1"/>
    <dgm:cxn modelId="{FE552236-D6DD-4875-992F-A8F51AA5CF82}" type="presOf" srcId="{B26A3B7F-672F-4664-89F7-E0BDC793B07A}" destId="{E312D576-2262-4902-9BB8-7378FCFD3F79}" srcOrd="0" destOrd="2" presId="urn:microsoft.com/office/officeart/2005/8/layout/list1"/>
    <dgm:cxn modelId="{B18F193B-40D0-4EE1-B589-7EEBB126A3FD}" srcId="{931EFFB9-BD04-49BD-9694-02B3F4A9B724}" destId="{396139CA-4DC3-48EA-8CBA-B1D44B8C690F}" srcOrd="0" destOrd="0" parTransId="{00854F48-D91F-47A1-A7C3-A30C6A2A49EE}" sibTransId="{47620660-F6FA-4B08-8C3A-723AD425FCDA}"/>
    <dgm:cxn modelId="{0BEBA73C-6A3A-4114-8171-22688F9F1B13}" srcId="{46A9294B-E955-4C66-AD7A-00C623529141}" destId="{1FD40F29-FE3C-41AD-B85A-8E2CFCFB6A61}" srcOrd="1" destOrd="0" parTransId="{AA8123AD-0D90-4A8C-9AFE-1BBCDCF922DA}" sibTransId="{987BAAD9-9CAA-4BFB-89F4-ECA2D9EA432A}"/>
    <dgm:cxn modelId="{0B4B015C-B8A9-4F5D-AFA6-D2E68FDB4EE6}" srcId="{396139CA-4DC3-48EA-8CBA-B1D44B8C690F}" destId="{05D8247C-E7D3-4F8C-B4BA-C026F9602734}" srcOrd="3" destOrd="0" parTransId="{9ECEB088-E5CC-4CA0-AD47-EC96CB7E240B}" sibTransId="{EDF962BE-A04C-4E49-A644-F65ABA017E14}"/>
    <dgm:cxn modelId="{D1ECF65E-4864-404E-B14B-C021716D4D16}" type="presOf" srcId="{396139CA-4DC3-48EA-8CBA-B1D44B8C690F}" destId="{C08FE6A4-AFAA-401F-8788-5B2EF4404F28}" srcOrd="1" destOrd="0" presId="urn:microsoft.com/office/officeart/2005/8/layout/list1"/>
    <dgm:cxn modelId="{3A652F41-52BA-4355-8CAA-87EC34EC390A}" srcId="{396139CA-4DC3-48EA-8CBA-B1D44B8C690F}" destId="{77CB48BA-9AF4-4862-85A8-443EAABAB29F}" srcOrd="0" destOrd="0" parTransId="{1384A6CD-0A24-4FA2-861B-F03047FED186}" sibTransId="{E13FACCE-6D49-4859-B899-BB635C69DCA9}"/>
    <dgm:cxn modelId="{326D1246-C5C3-441D-915A-C27958126986}" type="presOf" srcId="{1FD40F29-FE3C-41AD-B85A-8E2CFCFB6A61}" destId="{E9878A77-7479-4CA0-90B1-B049D97040E7}" srcOrd="0" destOrd="1" presId="urn:microsoft.com/office/officeart/2005/8/layout/list1"/>
    <dgm:cxn modelId="{E1DFD849-511A-4AED-8BB2-64A5C97DCEF3}" srcId="{396139CA-4DC3-48EA-8CBA-B1D44B8C690F}" destId="{B6659728-DCC2-4CDA-8A88-82092F5BC58A}" srcOrd="1" destOrd="0" parTransId="{7F8142C8-C38A-407A-BF1D-941485645913}" sibTransId="{55C60706-0DBC-4734-A6C3-266D4DBA44FF}"/>
    <dgm:cxn modelId="{53BD0953-655C-4CFD-AE22-7F0C74A70F6A}" srcId="{46A9294B-E955-4C66-AD7A-00C623529141}" destId="{2B2C975A-7242-4C45-A126-4F76B97155E3}" srcOrd="0" destOrd="0" parTransId="{221732C5-2D94-4F66-9A46-D2BB7AA0761F}" sibTransId="{C3649512-A06A-403D-8C7F-5B13E93D71E4}"/>
    <dgm:cxn modelId="{A309F978-F6B4-44F2-BD7D-05515C54CDB8}" srcId="{931EFFB9-BD04-49BD-9694-02B3F4A9B724}" destId="{46A9294B-E955-4C66-AD7A-00C623529141}" srcOrd="1" destOrd="0" parTransId="{FDD06839-9DBC-4ADE-8ECC-4C4F2CF9C7B1}" sibTransId="{556F560E-2545-477C-B18D-D4DD7C002CAD}"/>
    <dgm:cxn modelId="{85A63179-2C4D-4B5A-B8B8-6D4B50E77706}" type="presOf" srcId="{46A9294B-E955-4C66-AD7A-00C623529141}" destId="{5F222D84-7399-4696-AF3C-EA782BD12598}" srcOrd="0" destOrd="0" presId="urn:microsoft.com/office/officeart/2005/8/layout/list1"/>
    <dgm:cxn modelId="{7D0B0D81-07B4-4503-8B44-A531A86A5B5A}" srcId="{46A9294B-E955-4C66-AD7A-00C623529141}" destId="{B8360650-100A-4199-9ECA-422F01B07C0F}" srcOrd="2" destOrd="0" parTransId="{0C100551-EED0-426D-B40C-57654A4BE04D}" sibTransId="{0261BFFA-ED1F-466E-B528-E30C3A990162}"/>
    <dgm:cxn modelId="{3D30768F-26A0-4E63-B191-6DD3D105D187}" type="presOf" srcId="{2B2C975A-7242-4C45-A126-4F76B97155E3}" destId="{E9878A77-7479-4CA0-90B1-B049D97040E7}" srcOrd="0" destOrd="0" presId="urn:microsoft.com/office/officeart/2005/8/layout/list1"/>
    <dgm:cxn modelId="{FB207C90-5960-43FD-A78F-D4EA985C4890}" type="presOf" srcId="{B6659728-DCC2-4CDA-8A88-82092F5BC58A}" destId="{E312D576-2262-4902-9BB8-7378FCFD3F79}" srcOrd="0" destOrd="1" presId="urn:microsoft.com/office/officeart/2005/8/layout/list1"/>
    <dgm:cxn modelId="{A98A459D-D84D-4DB6-89CD-2E74E51D85D4}" type="presOf" srcId="{05D8247C-E7D3-4F8C-B4BA-C026F9602734}" destId="{E312D576-2262-4902-9BB8-7378FCFD3F79}" srcOrd="0" destOrd="3" presId="urn:microsoft.com/office/officeart/2005/8/layout/list1"/>
    <dgm:cxn modelId="{432C56C4-DA0E-4DE2-92A6-40AACB063679}" srcId="{396139CA-4DC3-48EA-8CBA-B1D44B8C690F}" destId="{E7A0FBFE-A50E-4701-96A1-0673F75BAD0A}" srcOrd="5" destOrd="0" parTransId="{4B2E658D-0FA4-4B7C-80F8-EE6C050D04F8}" sibTransId="{D050109E-6921-4371-86F1-B3555FCB0D50}"/>
    <dgm:cxn modelId="{D858AEE1-888A-4A09-920E-E3EFE4A1C074}" type="presOf" srcId="{931EFFB9-BD04-49BD-9694-02B3F4A9B724}" destId="{447DD49A-06A4-4E6D-8A8C-3BCE2337070F}" srcOrd="0" destOrd="0" presId="urn:microsoft.com/office/officeart/2005/8/layout/list1"/>
    <dgm:cxn modelId="{BCD06AEA-0F1A-4734-8CED-33E7A6A8C915}" type="presOf" srcId="{D9AB26B9-BF60-49BB-8D27-27F9A3002679}" destId="{E312D576-2262-4902-9BB8-7378FCFD3F79}" srcOrd="0" destOrd="4" presId="urn:microsoft.com/office/officeart/2005/8/layout/list1"/>
    <dgm:cxn modelId="{E8A614F5-192E-4677-ACB5-D858C6D4DC2C}" srcId="{396139CA-4DC3-48EA-8CBA-B1D44B8C690F}" destId="{D9AB26B9-BF60-49BB-8D27-27F9A3002679}" srcOrd="4" destOrd="0" parTransId="{634C9BB4-760B-4554-818C-79D0931609B8}" sibTransId="{E29DCEDC-C469-4618-AB2A-2BC0F2F072C4}"/>
    <dgm:cxn modelId="{0454CE2D-C9BC-4BE9-ABCA-9CBEE81DEA32}" type="presParOf" srcId="{447DD49A-06A4-4E6D-8A8C-3BCE2337070F}" destId="{7ADD2E8F-30C1-42D1-ACE9-C545D2B2866D}" srcOrd="0" destOrd="0" presId="urn:microsoft.com/office/officeart/2005/8/layout/list1"/>
    <dgm:cxn modelId="{8D86E326-658F-4B92-87FC-D5DE2E8AC35E}" type="presParOf" srcId="{7ADD2E8F-30C1-42D1-ACE9-C545D2B2866D}" destId="{347990ED-8D0C-4161-B372-9B025C95341E}" srcOrd="0" destOrd="0" presId="urn:microsoft.com/office/officeart/2005/8/layout/list1"/>
    <dgm:cxn modelId="{ACE9C12D-09CB-4213-9B8D-B1C965B3D280}" type="presParOf" srcId="{7ADD2E8F-30C1-42D1-ACE9-C545D2B2866D}" destId="{C08FE6A4-AFAA-401F-8788-5B2EF4404F28}" srcOrd="1" destOrd="0" presId="urn:microsoft.com/office/officeart/2005/8/layout/list1"/>
    <dgm:cxn modelId="{AFC95DF0-129F-4D85-B26E-7912580A80F8}" type="presParOf" srcId="{447DD49A-06A4-4E6D-8A8C-3BCE2337070F}" destId="{33E3D091-0F1F-4AD1-9244-AF479C03FFCB}" srcOrd="1" destOrd="0" presId="urn:microsoft.com/office/officeart/2005/8/layout/list1"/>
    <dgm:cxn modelId="{A492B2A8-8B18-4299-A7DA-002C1F1931BD}" type="presParOf" srcId="{447DD49A-06A4-4E6D-8A8C-3BCE2337070F}" destId="{E312D576-2262-4902-9BB8-7378FCFD3F79}" srcOrd="2" destOrd="0" presId="urn:microsoft.com/office/officeart/2005/8/layout/list1"/>
    <dgm:cxn modelId="{210CC30D-B3DC-4C69-B04D-98320E47B4CD}" type="presParOf" srcId="{447DD49A-06A4-4E6D-8A8C-3BCE2337070F}" destId="{FFE15786-8A0D-4C7A-BEFF-0A1922236FC7}" srcOrd="3" destOrd="0" presId="urn:microsoft.com/office/officeart/2005/8/layout/list1"/>
    <dgm:cxn modelId="{12E27C0B-7FCD-4E88-8423-5C08940CE565}" type="presParOf" srcId="{447DD49A-06A4-4E6D-8A8C-3BCE2337070F}" destId="{631A932B-AD3F-4429-B224-2EA951F396FE}" srcOrd="4" destOrd="0" presId="urn:microsoft.com/office/officeart/2005/8/layout/list1"/>
    <dgm:cxn modelId="{688B9CE1-7CA6-4919-93D7-44FEE195F7B7}" type="presParOf" srcId="{631A932B-AD3F-4429-B224-2EA951F396FE}" destId="{5F222D84-7399-4696-AF3C-EA782BD12598}" srcOrd="0" destOrd="0" presId="urn:microsoft.com/office/officeart/2005/8/layout/list1"/>
    <dgm:cxn modelId="{3FACF7CA-115D-4C04-B955-775CA2AF6F40}" type="presParOf" srcId="{631A932B-AD3F-4429-B224-2EA951F396FE}" destId="{DBB2BA91-92B9-4D59-9135-38B4B0DBFBFE}" srcOrd="1" destOrd="0" presId="urn:microsoft.com/office/officeart/2005/8/layout/list1"/>
    <dgm:cxn modelId="{88F463C2-AE35-4493-B24B-564A80CD3C77}" type="presParOf" srcId="{447DD49A-06A4-4E6D-8A8C-3BCE2337070F}" destId="{36D1AE16-5482-47F7-AF7E-D3B6ECEA8328}" srcOrd="5" destOrd="0" presId="urn:microsoft.com/office/officeart/2005/8/layout/list1"/>
    <dgm:cxn modelId="{5CB9CF38-103C-4B4B-8256-04385B0C5CF5}" type="presParOf" srcId="{447DD49A-06A4-4E6D-8A8C-3BCE2337070F}" destId="{E9878A77-7479-4CA0-90B1-B049D97040E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E2298-7655-41CB-896A-095B33AC9379}">
      <dsp:nvSpPr>
        <dsp:cNvPr id="0" name=""/>
        <dsp:cNvSpPr/>
      </dsp:nvSpPr>
      <dsp:spPr>
        <a:xfrm>
          <a:off x="3383" y="1024980"/>
          <a:ext cx="2755140" cy="11570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Change from baseline in FEV1 at Week 24:</a:t>
          </a:r>
        </a:p>
        <a:p>
          <a:pPr marL="0" lvl="0" indent="0" algn="ctr" defTabSz="622300">
            <a:lnSpc>
              <a:spcPct val="90000"/>
            </a:lnSpc>
            <a:spcBef>
              <a:spcPct val="0"/>
            </a:spcBef>
            <a:spcAft>
              <a:spcPct val="35000"/>
            </a:spcAft>
            <a:buNone/>
          </a:pPr>
          <a:r>
            <a:rPr lang="en-GB" sz="1400" b="1" kern="1200"/>
            <a:t>UMEC 62.5 </a:t>
          </a:r>
          <a:r>
            <a:rPr lang="en-GB" sz="1400" kern="1200"/>
            <a:t>vs Placebo</a:t>
          </a:r>
        </a:p>
        <a:p>
          <a:pPr marL="0" lvl="0" indent="0" algn="ctr" defTabSz="622300">
            <a:lnSpc>
              <a:spcPct val="90000"/>
            </a:lnSpc>
            <a:spcBef>
              <a:spcPct val="0"/>
            </a:spcBef>
            <a:spcAft>
              <a:spcPct val="35000"/>
            </a:spcAft>
            <a:buNone/>
          </a:pPr>
          <a:r>
            <a:rPr lang="el-GR" sz="1400" kern="1200"/>
            <a:t>α</a:t>
          </a:r>
          <a:r>
            <a:rPr lang="en-GB" sz="1400" kern="1200"/>
            <a:t>=0.05</a:t>
          </a:r>
        </a:p>
      </dsp:txBody>
      <dsp:txXfrm>
        <a:off x="37272" y="1058869"/>
        <a:ext cx="2687362" cy="1089268"/>
      </dsp:txXfrm>
    </dsp:sp>
    <dsp:sp modelId="{D41F6068-99D6-4C4A-B9AA-00CA95CCDDFB}">
      <dsp:nvSpPr>
        <dsp:cNvPr id="0" name=""/>
        <dsp:cNvSpPr/>
      </dsp:nvSpPr>
      <dsp:spPr>
        <a:xfrm>
          <a:off x="2909092" y="1416799"/>
          <a:ext cx="319204" cy="37340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2909092" y="1491481"/>
        <a:ext cx="223443" cy="224044"/>
      </dsp:txXfrm>
    </dsp:sp>
    <dsp:sp modelId="{8FD0E27F-345F-4D37-878C-2D23DF6E25BA}">
      <dsp:nvSpPr>
        <dsp:cNvPr id="0" name=""/>
        <dsp:cNvSpPr/>
      </dsp:nvSpPr>
      <dsp:spPr>
        <a:xfrm>
          <a:off x="3360797" y="1005751"/>
          <a:ext cx="2741951" cy="11955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Change from baseline in FEV1 at Week 24:</a:t>
          </a:r>
        </a:p>
        <a:p>
          <a:pPr marL="0" lvl="0" indent="0" algn="ctr" defTabSz="622300">
            <a:lnSpc>
              <a:spcPct val="90000"/>
            </a:lnSpc>
            <a:spcBef>
              <a:spcPct val="0"/>
            </a:spcBef>
            <a:spcAft>
              <a:spcPct val="35000"/>
            </a:spcAft>
            <a:buNone/>
          </a:pPr>
          <a:r>
            <a:rPr lang="en-GB" sz="1400" b="1" kern="1200"/>
            <a:t>UMEC 31.25 </a:t>
          </a:r>
          <a:r>
            <a:rPr lang="en-GB" sz="1400" kern="1200"/>
            <a:t>vs Placebo</a:t>
          </a:r>
        </a:p>
        <a:p>
          <a:pPr marL="0" lvl="0" indent="0" algn="ctr" defTabSz="622300">
            <a:lnSpc>
              <a:spcPct val="90000"/>
            </a:lnSpc>
            <a:spcBef>
              <a:spcPct val="0"/>
            </a:spcBef>
            <a:spcAft>
              <a:spcPct val="35000"/>
            </a:spcAft>
            <a:buNone/>
          </a:pPr>
          <a:r>
            <a:rPr lang="el-GR" sz="1400" kern="1200"/>
            <a:t>α</a:t>
          </a:r>
          <a:r>
            <a:rPr lang="en-GB" sz="1400" kern="1200"/>
            <a:t>=0.05</a:t>
          </a:r>
        </a:p>
      </dsp:txBody>
      <dsp:txXfrm>
        <a:off x="3395812" y="1040766"/>
        <a:ext cx="2671921" cy="11254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E2298-7655-41CB-896A-095B33AC9379}">
      <dsp:nvSpPr>
        <dsp:cNvPr id="0" name=""/>
        <dsp:cNvSpPr/>
      </dsp:nvSpPr>
      <dsp:spPr>
        <a:xfrm>
          <a:off x="16738" y="1249954"/>
          <a:ext cx="2483808" cy="7469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62.5 vs Placebo</a:t>
          </a:r>
        </a:p>
        <a:p>
          <a:pPr marL="0" lvl="0" indent="0" algn="ctr" defTabSz="444500">
            <a:lnSpc>
              <a:spcPct val="90000"/>
            </a:lnSpc>
            <a:spcBef>
              <a:spcPct val="0"/>
            </a:spcBef>
            <a:spcAft>
              <a:spcPct val="35000"/>
            </a:spcAft>
            <a:buNone/>
          </a:pPr>
          <a:r>
            <a:rPr lang="el-GR" sz="1000" kern="1200"/>
            <a:t>α</a:t>
          </a:r>
          <a:r>
            <a:rPr lang="en-GB" sz="1000" kern="1200"/>
            <a:t>=0.05</a:t>
          </a:r>
        </a:p>
      </dsp:txBody>
      <dsp:txXfrm>
        <a:off x="38617" y="1271833"/>
        <a:ext cx="2440050" cy="703236"/>
      </dsp:txXfrm>
    </dsp:sp>
    <dsp:sp modelId="{D41F6068-99D6-4C4A-B9AA-00CA95CCDDFB}">
      <dsp:nvSpPr>
        <dsp:cNvPr id="0" name=""/>
        <dsp:cNvSpPr/>
      </dsp:nvSpPr>
      <dsp:spPr>
        <a:xfrm rot="21599681">
          <a:off x="2628249" y="1454994"/>
          <a:ext cx="270729" cy="3366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628249" y="1522325"/>
        <a:ext cx="189510" cy="201980"/>
      </dsp:txXfrm>
    </dsp:sp>
    <dsp:sp modelId="{8FD0E27F-345F-4D37-878C-2D23DF6E25BA}">
      <dsp:nvSpPr>
        <dsp:cNvPr id="0" name=""/>
        <dsp:cNvSpPr/>
      </dsp:nvSpPr>
      <dsp:spPr>
        <a:xfrm>
          <a:off x="3011358" y="1241479"/>
          <a:ext cx="2471917" cy="7633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31.25 vs Placebo</a:t>
          </a:r>
        </a:p>
        <a:p>
          <a:pPr marL="0" lvl="0" indent="0" algn="ctr" defTabSz="444500">
            <a:lnSpc>
              <a:spcPct val="90000"/>
            </a:lnSpc>
            <a:spcBef>
              <a:spcPct val="0"/>
            </a:spcBef>
            <a:spcAft>
              <a:spcPct val="35000"/>
            </a:spcAft>
            <a:buNone/>
          </a:pPr>
          <a:r>
            <a:rPr lang="el-GR" sz="1000" kern="1200"/>
            <a:t>α</a:t>
          </a:r>
          <a:r>
            <a:rPr lang="en-GB" sz="1000" kern="1200"/>
            <a:t>=0.05</a:t>
          </a:r>
        </a:p>
      </dsp:txBody>
      <dsp:txXfrm>
        <a:off x="3033717" y="1263838"/>
        <a:ext cx="2427199" cy="7186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E2298-7655-41CB-896A-095B33AC9379}">
      <dsp:nvSpPr>
        <dsp:cNvPr id="0" name=""/>
        <dsp:cNvSpPr/>
      </dsp:nvSpPr>
      <dsp:spPr>
        <a:xfrm>
          <a:off x="3069" y="1249490"/>
          <a:ext cx="2499508" cy="708027"/>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62.5 vs Placebo</a:t>
          </a:r>
        </a:p>
        <a:p>
          <a:pPr marL="0" lvl="0" indent="0" algn="ctr" defTabSz="444500">
            <a:lnSpc>
              <a:spcPct val="90000"/>
            </a:lnSpc>
            <a:spcBef>
              <a:spcPct val="0"/>
            </a:spcBef>
            <a:spcAft>
              <a:spcPct val="35000"/>
            </a:spcAft>
            <a:buNone/>
          </a:pPr>
          <a:r>
            <a:rPr lang="en-GB" sz="1000" kern="1200"/>
            <a:t>P&lt;0.001</a:t>
          </a:r>
        </a:p>
      </dsp:txBody>
      <dsp:txXfrm>
        <a:off x="23806" y="1270227"/>
        <a:ext cx="2458034" cy="666553"/>
      </dsp:txXfrm>
    </dsp:sp>
    <dsp:sp modelId="{D41F6068-99D6-4C4A-B9AA-00CA95CCDDFB}">
      <dsp:nvSpPr>
        <dsp:cNvPr id="0" name=""/>
        <dsp:cNvSpPr/>
      </dsp:nvSpPr>
      <dsp:spPr>
        <a:xfrm>
          <a:off x="2639175" y="1434122"/>
          <a:ext cx="289587" cy="338762"/>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639175" y="1501874"/>
        <a:ext cx="202711" cy="203258"/>
      </dsp:txXfrm>
    </dsp:sp>
    <dsp:sp modelId="{8FD0E27F-345F-4D37-878C-2D23DF6E25BA}">
      <dsp:nvSpPr>
        <dsp:cNvPr id="0" name=""/>
        <dsp:cNvSpPr/>
      </dsp:nvSpPr>
      <dsp:spPr>
        <a:xfrm>
          <a:off x="3048969" y="1237474"/>
          <a:ext cx="2487542" cy="73205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31.25 vs Placebo</a:t>
          </a:r>
        </a:p>
        <a:p>
          <a:pPr marL="0" lvl="0" indent="0" algn="ctr" defTabSz="444500">
            <a:lnSpc>
              <a:spcPct val="90000"/>
            </a:lnSpc>
            <a:spcBef>
              <a:spcPct val="0"/>
            </a:spcBef>
            <a:spcAft>
              <a:spcPct val="35000"/>
            </a:spcAft>
            <a:buNone/>
          </a:pPr>
          <a:r>
            <a:rPr lang="en-GB" sz="1000" kern="1200"/>
            <a:t>P=0.074</a:t>
          </a:r>
        </a:p>
      </dsp:txBody>
      <dsp:txXfrm>
        <a:off x="3070410" y="1258915"/>
        <a:ext cx="2444660" cy="6891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E2298-7655-41CB-896A-095B33AC9379}">
      <dsp:nvSpPr>
        <dsp:cNvPr id="0" name=""/>
        <dsp:cNvSpPr/>
      </dsp:nvSpPr>
      <dsp:spPr>
        <a:xfrm>
          <a:off x="3041" y="1252583"/>
          <a:ext cx="2476256" cy="70184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62.5 vs Placebo</a:t>
          </a:r>
        </a:p>
        <a:p>
          <a:pPr marL="0" lvl="0" indent="0" algn="ctr" defTabSz="444500">
            <a:lnSpc>
              <a:spcPct val="90000"/>
            </a:lnSpc>
            <a:spcBef>
              <a:spcPct val="0"/>
            </a:spcBef>
            <a:spcAft>
              <a:spcPct val="35000"/>
            </a:spcAft>
            <a:buNone/>
          </a:pPr>
          <a:r>
            <a:rPr lang="en-GB" sz="1000" kern="1200"/>
            <a:t>P&lt;0.001</a:t>
          </a:r>
        </a:p>
      </dsp:txBody>
      <dsp:txXfrm>
        <a:off x="23597" y="1273139"/>
        <a:ext cx="2435144" cy="660728"/>
      </dsp:txXfrm>
    </dsp:sp>
    <dsp:sp modelId="{D41F6068-99D6-4C4A-B9AA-00CA95CCDDFB}">
      <dsp:nvSpPr>
        <dsp:cNvPr id="0" name=""/>
        <dsp:cNvSpPr/>
      </dsp:nvSpPr>
      <dsp:spPr>
        <a:xfrm>
          <a:off x="2614624" y="1435698"/>
          <a:ext cx="286893" cy="335611"/>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614624" y="1502820"/>
        <a:ext cx="200825" cy="201367"/>
      </dsp:txXfrm>
    </dsp:sp>
    <dsp:sp modelId="{8FD0E27F-345F-4D37-878C-2D23DF6E25BA}">
      <dsp:nvSpPr>
        <dsp:cNvPr id="0" name=""/>
        <dsp:cNvSpPr/>
      </dsp:nvSpPr>
      <dsp:spPr>
        <a:xfrm>
          <a:off x="3020606" y="1240642"/>
          <a:ext cx="2464401" cy="725723"/>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31.25 vs Placebo</a:t>
          </a:r>
        </a:p>
        <a:p>
          <a:pPr marL="0" lvl="0" indent="0" algn="ctr" defTabSz="444500">
            <a:lnSpc>
              <a:spcPct val="90000"/>
            </a:lnSpc>
            <a:spcBef>
              <a:spcPct val="0"/>
            </a:spcBef>
            <a:spcAft>
              <a:spcPct val="35000"/>
            </a:spcAft>
            <a:buNone/>
          </a:pPr>
          <a:r>
            <a:rPr lang="en-GB" sz="1000" kern="1200"/>
            <a:t>P&lt;0.001</a:t>
          </a:r>
        </a:p>
      </dsp:txBody>
      <dsp:txXfrm>
        <a:off x="3041862" y="1261898"/>
        <a:ext cx="2421889" cy="6832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E2298-7655-41CB-896A-095B33AC9379}">
      <dsp:nvSpPr>
        <dsp:cNvPr id="0" name=""/>
        <dsp:cNvSpPr/>
      </dsp:nvSpPr>
      <dsp:spPr>
        <a:xfrm>
          <a:off x="3076" y="1248765"/>
          <a:ext cx="2504957" cy="709477"/>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62.5 vs Placebo</a:t>
          </a:r>
        </a:p>
        <a:p>
          <a:pPr marL="0" lvl="0" indent="0" algn="ctr" defTabSz="444500">
            <a:lnSpc>
              <a:spcPct val="90000"/>
            </a:lnSpc>
            <a:spcBef>
              <a:spcPct val="0"/>
            </a:spcBef>
            <a:spcAft>
              <a:spcPct val="35000"/>
            </a:spcAft>
            <a:buNone/>
          </a:pPr>
          <a:r>
            <a:rPr lang="en-GB" sz="1000" kern="1200"/>
            <a:t>P=0.074</a:t>
          </a:r>
        </a:p>
      </dsp:txBody>
      <dsp:txXfrm>
        <a:off x="23856" y="1269545"/>
        <a:ext cx="2463397" cy="667917"/>
      </dsp:txXfrm>
    </dsp:sp>
    <dsp:sp modelId="{D41F6068-99D6-4C4A-B9AA-00CA95CCDDFB}">
      <dsp:nvSpPr>
        <dsp:cNvPr id="0" name=""/>
        <dsp:cNvSpPr/>
      </dsp:nvSpPr>
      <dsp:spPr>
        <a:xfrm>
          <a:off x="2644929" y="1433753"/>
          <a:ext cx="290218" cy="339501"/>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644929" y="1501653"/>
        <a:ext cx="203153" cy="203701"/>
      </dsp:txXfrm>
    </dsp:sp>
    <dsp:sp modelId="{8FD0E27F-345F-4D37-878C-2D23DF6E25BA}">
      <dsp:nvSpPr>
        <dsp:cNvPr id="0" name=""/>
        <dsp:cNvSpPr/>
      </dsp:nvSpPr>
      <dsp:spPr>
        <a:xfrm>
          <a:off x="3055616" y="1236731"/>
          <a:ext cx="2492965" cy="733544"/>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t>Change from baseline in FEV1 at Week 24:</a:t>
          </a:r>
        </a:p>
        <a:p>
          <a:pPr marL="0" lvl="0" indent="0" algn="ctr" defTabSz="444500">
            <a:lnSpc>
              <a:spcPct val="90000"/>
            </a:lnSpc>
            <a:spcBef>
              <a:spcPct val="0"/>
            </a:spcBef>
            <a:spcAft>
              <a:spcPct val="35000"/>
            </a:spcAft>
            <a:buNone/>
          </a:pPr>
          <a:r>
            <a:rPr lang="en-GB" sz="1000" kern="1200"/>
            <a:t>UMEC 31.25 vs Placebo</a:t>
          </a:r>
        </a:p>
        <a:p>
          <a:pPr marL="0" lvl="0" indent="0" algn="ctr" defTabSz="444500">
            <a:lnSpc>
              <a:spcPct val="90000"/>
            </a:lnSpc>
            <a:spcBef>
              <a:spcPct val="0"/>
            </a:spcBef>
            <a:spcAft>
              <a:spcPct val="35000"/>
            </a:spcAft>
            <a:buNone/>
          </a:pPr>
          <a:r>
            <a:rPr lang="en-GB" sz="1000" kern="1200"/>
            <a:t>P&lt;0.001</a:t>
          </a:r>
        </a:p>
      </dsp:txBody>
      <dsp:txXfrm>
        <a:off x="3077101" y="1258216"/>
        <a:ext cx="2449995" cy="6905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7AD8B-FBC1-4523-95B5-8A9CD0FF9D87}">
      <dsp:nvSpPr>
        <dsp:cNvPr id="0" name=""/>
        <dsp:cNvSpPr/>
      </dsp:nvSpPr>
      <dsp:spPr>
        <a:xfrm>
          <a:off x="0" y="1662531"/>
          <a:ext cx="2539999"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a:t>Type I error=0.05</a:t>
          </a:r>
        </a:p>
      </dsp:txBody>
      <dsp:txXfrm>
        <a:off x="37197" y="1699728"/>
        <a:ext cx="2465605" cy="1195605"/>
      </dsp:txXfrm>
    </dsp:sp>
    <dsp:sp modelId="{0E97F491-53F6-48E7-8381-AC085BE945DC}">
      <dsp:nvSpPr>
        <dsp:cNvPr id="0" name=""/>
        <dsp:cNvSpPr/>
      </dsp:nvSpPr>
      <dsp:spPr>
        <a:xfrm rot="19026590">
          <a:off x="2354635" y="1797506"/>
          <a:ext cx="1386728" cy="56250"/>
        </a:xfrm>
        <a:custGeom>
          <a:avLst/>
          <a:gdLst/>
          <a:ahLst/>
          <a:cxnLst/>
          <a:rect l="0" t="0" r="0" b="0"/>
          <a:pathLst>
            <a:path>
              <a:moveTo>
                <a:pt x="0" y="28125"/>
              </a:moveTo>
              <a:lnTo>
                <a:pt x="1386728" y="281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013331" y="1790963"/>
        <a:ext cx="69336" cy="69336"/>
      </dsp:txXfrm>
    </dsp:sp>
    <dsp:sp modelId="{A1845C9D-C6EE-440F-AC0F-7B1BF6B12EF4}">
      <dsp:nvSpPr>
        <dsp:cNvPr id="0" name=""/>
        <dsp:cNvSpPr/>
      </dsp:nvSpPr>
      <dsp:spPr>
        <a:xfrm>
          <a:off x="3556000" y="718731"/>
          <a:ext cx="2539999"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a:t>Endpoint 1:</a:t>
          </a:r>
        </a:p>
        <a:p>
          <a:pPr marL="0" lvl="0" indent="0" algn="ctr" defTabSz="844550">
            <a:lnSpc>
              <a:spcPct val="90000"/>
            </a:lnSpc>
            <a:spcBef>
              <a:spcPct val="0"/>
            </a:spcBef>
            <a:spcAft>
              <a:spcPct val="35000"/>
            </a:spcAft>
            <a:buNone/>
          </a:pPr>
          <a:r>
            <a:rPr lang="en-GB" sz="1900" kern="1200"/>
            <a:t>Treatment vs Placebo</a:t>
          </a:r>
        </a:p>
        <a:p>
          <a:pPr marL="0" lvl="0" indent="0" algn="ctr" defTabSz="844550">
            <a:lnSpc>
              <a:spcPct val="90000"/>
            </a:lnSpc>
            <a:spcBef>
              <a:spcPct val="0"/>
            </a:spcBef>
            <a:spcAft>
              <a:spcPct val="35000"/>
            </a:spcAft>
            <a:buNone/>
          </a:pPr>
          <a:r>
            <a:rPr lang="en-GB" sz="1900" kern="1200"/>
            <a:t>Type I error=0.025</a:t>
          </a:r>
        </a:p>
      </dsp:txBody>
      <dsp:txXfrm>
        <a:off x="3593197" y="755928"/>
        <a:ext cx="2465605" cy="1195605"/>
      </dsp:txXfrm>
    </dsp:sp>
    <dsp:sp modelId="{CDE9F337-029A-4570-9008-6DDF414FC1FE}">
      <dsp:nvSpPr>
        <dsp:cNvPr id="0" name=""/>
        <dsp:cNvSpPr/>
      </dsp:nvSpPr>
      <dsp:spPr>
        <a:xfrm rot="2670295">
          <a:off x="2339987" y="2758242"/>
          <a:ext cx="1394739" cy="56250"/>
        </a:xfrm>
        <a:custGeom>
          <a:avLst/>
          <a:gdLst/>
          <a:ahLst/>
          <a:cxnLst/>
          <a:rect l="0" t="0" r="0" b="0"/>
          <a:pathLst>
            <a:path>
              <a:moveTo>
                <a:pt x="0" y="28125"/>
              </a:moveTo>
              <a:lnTo>
                <a:pt x="1394739" y="281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002488" y="2751498"/>
        <a:ext cx="69736" cy="69736"/>
      </dsp:txXfrm>
    </dsp:sp>
    <dsp:sp modelId="{219ED3E2-91CD-4B64-9F2A-3C331773D73F}">
      <dsp:nvSpPr>
        <dsp:cNvPr id="0" name=""/>
        <dsp:cNvSpPr/>
      </dsp:nvSpPr>
      <dsp:spPr>
        <a:xfrm>
          <a:off x="3534714" y="2640203"/>
          <a:ext cx="2539999"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a:t>Endpoint 2:</a:t>
          </a:r>
        </a:p>
        <a:p>
          <a:pPr marL="0" lvl="0" indent="0" algn="ctr" defTabSz="844550">
            <a:lnSpc>
              <a:spcPct val="90000"/>
            </a:lnSpc>
            <a:spcBef>
              <a:spcPct val="0"/>
            </a:spcBef>
            <a:spcAft>
              <a:spcPct val="35000"/>
            </a:spcAft>
            <a:buNone/>
          </a:pPr>
          <a:r>
            <a:rPr lang="en-GB" sz="1900" kern="1200"/>
            <a:t>Treatment vs Placebo</a:t>
          </a:r>
        </a:p>
        <a:p>
          <a:pPr marL="0" lvl="0" indent="0" algn="ctr" defTabSz="844550">
            <a:lnSpc>
              <a:spcPct val="90000"/>
            </a:lnSpc>
            <a:spcBef>
              <a:spcPct val="0"/>
            </a:spcBef>
            <a:spcAft>
              <a:spcPct val="35000"/>
            </a:spcAft>
            <a:buNone/>
          </a:pPr>
          <a:r>
            <a:rPr lang="en-GB" sz="1900" kern="1200"/>
            <a:t>Type I error=0.025</a:t>
          </a:r>
        </a:p>
      </dsp:txBody>
      <dsp:txXfrm>
        <a:off x="3571911" y="2677400"/>
        <a:ext cx="2465605" cy="11956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2D576-2262-4902-9BB8-7378FCFD3F79}">
      <dsp:nvSpPr>
        <dsp:cNvPr id="0" name=""/>
        <dsp:cNvSpPr/>
      </dsp:nvSpPr>
      <dsp:spPr>
        <a:xfrm>
          <a:off x="0" y="153650"/>
          <a:ext cx="8423275" cy="1852200"/>
        </a:xfrm>
        <a:prstGeom prst="rect">
          <a:avLst/>
        </a:prstGeom>
        <a:solidFill>
          <a:schemeClr val="lt1">
            <a:alpha val="90000"/>
            <a:hueOff val="0"/>
            <a:satOff val="0"/>
            <a:lumOff val="0"/>
            <a:alphaOff val="0"/>
          </a:schemeClr>
        </a:solid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291592" rIns="65374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latin typeface="+mn-lt"/>
              <a:ea typeface="Calibri" panose="020F0502020204030204" pitchFamily="34" charset="0"/>
              <a:cs typeface="Calibri"/>
            </a:rPr>
            <a:t>Multiplicity issues </a:t>
          </a:r>
          <a:r>
            <a:rPr lang="en-GB" sz="1400" kern="1200">
              <a:solidFill>
                <a:srgbClr val="40488D"/>
              </a:solidFill>
              <a:latin typeface="+mn-lt"/>
              <a:ea typeface="Calibri" panose="020F0502020204030204" pitchFamily="34" charset="0"/>
              <a:cs typeface="Calibri"/>
            </a:rPr>
            <a:t>exist in almost every study</a:t>
          </a:r>
          <a:endParaRPr lang="en-GB" sz="1400" kern="1200">
            <a:solidFill>
              <a:srgbClr val="40488D"/>
            </a:solidFill>
            <a:latin typeface="+mn-lt"/>
          </a:endParaRPr>
        </a:p>
        <a:p>
          <a:pPr marL="114300" lvl="1" indent="-114300" algn="l" defTabSz="622300">
            <a:lnSpc>
              <a:spcPct val="90000"/>
            </a:lnSpc>
            <a:spcBef>
              <a:spcPct val="0"/>
            </a:spcBef>
            <a:spcAft>
              <a:spcPct val="15000"/>
            </a:spcAft>
            <a:buChar char="•"/>
          </a:pPr>
          <a:r>
            <a:rPr lang="en-GB" sz="1400" kern="1200">
              <a:latin typeface="+mn-lt"/>
            </a:rPr>
            <a:t>Multiplicity is </a:t>
          </a:r>
          <a:r>
            <a:rPr lang="en-GB" sz="1400" kern="1200">
              <a:solidFill>
                <a:srgbClr val="40488D"/>
              </a:solidFill>
              <a:latin typeface="+mn-lt"/>
            </a:rPr>
            <a:t>not just a statistical problem</a:t>
          </a:r>
          <a:r>
            <a:rPr lang="en-GB" sz="1400" kern="1200">
              <a:latin typeface="+mn-lt"/>
            </a:rPr>
            <a:t>, it impacts what you claim, what data is in the label and what data you can promote on</a:t>
          </a:r>
        </a:p>
        <a:p>
          <a:pPr marL="114300" lvl="1" indent="-114300" algn="l" defTabSz="622300">
            <a:lnSpc>
              <a:spcPct val="90000"/>
            </a:lnSpc>
            <a:spcBef>
              <a:spcPct val="0"/>
            </a:spcBef>
            <a:spcAft>
              <a:spcPct val="15000"/>
            </a:spcAft>
            <a:buFont typeface="Wingdings" panose="05000000000000000000" pitchFamily="2" charset="2"/>
            <a:buChar char="Ø"/>
          </a:pPr>
          <a:r>
            <a:rPr lang="en-GB" sz="1400" kern="1200">
              <a:latin typeface="+mn-lt"/>
            </a:rPr>
            <a:t> It has to be tackled </a:t>
          </a:r>
          <a:r>
            <a:rPr lang="en-GB" sz="1400" kern="1200">
              <a:solidFill>
                <a:srgbClr val="40488D"/>
              </a:solidFill>
              <a:latin typeface="+mn-lt"/>
            </a:rPr>
            <a:t>early</a:t>
          </a:r>
          <a:r>
            <a:rPr lang="en-GB" sz="1400" kern="1200">
              <a:latin typeface="+mn-lt"/>
            </a:rPr>
            <a:t> on in study design</a:t>
          </a:r>
        </a:p>
        <a:p>
          <a:pPr marL="114300" lvl="1" indent="-114300" algn="l" defTabSz="622300">
            <a:lnSpc>
              <a:spcPct val="90000"/>
            </a:lnSpc>
            <a:spcBef>
              <a:spcPct val="0"/>
            </a:spcBef>
            <a:spcAft>
              <a:spcPct val="15000"/>
            </a:spcAft>
            <a:buFont typeface="Wingdings" panose="05000000000000000000" pitchFamily="2" charset="2"/>
            <a:buChar char="Ø"/>
          </a:pPr>
          <a:r>
            <a:rPr lang="en-GB" sz="1400" kern="1200">
              <a:latin typeface="+mn-lt"/>
            </a:rPr>
            <a:t> It has to be tackled </a:t>
          </a:r>
          <a:r>
            <a:rPr lang="en-GB" sz="1400" kern="1200">
              <a:solidFill>
                <a:srgbClr val="40488D"/>
              </a:solidFill>
              <a:latin typeface="+mn-lt"/>
            </a:rPr>
            <a:t>as a team</a:t>
          </a:r>
        </a:p>
        <a:p>
          <a:pPr marL="114300" lvl="1" indent="-114300" algn="l" defTabSz="622300">
            <a:lnSpc>
              <a:spcPct val="90000"/>
            </a:lnSpc>
            <a:spcBef>
              <a:spcPct val="0"/>
            </a:spcBef>
            <a:spcAft>
              <a:spcPct val="15000"/>
            </a:spcAft>
            <a:buFont typeface="Wingdings" panose="05000000000000000000" pitchFamily="2" charset="2"/>
            <a:buChar char="Ø"/>
          </a:pPr>
          <a:r>
            <a:rPr lang="en-GB" sz="1400" kern="1200">
              <a:latin typeface="+mn-lt"/>
            </a:rPr>
            <a:t>It has to be </a:t>
          </a:r>
          <a:r>
            <a:rPr lang="en-GB" sz="1400" kern="1200">
              <a:solidFill>
                <a:srgbClr val="40488D"/>
              </a:solidFill>
              <a:latin typeface="+mn-lt"/>
            </a:rPr>
            <a:t>considered</a:t>
          </a:r>
          <a:r>
            <a:rPr lang="en-GB" sz="1400" kern="1200">
              <a:latin typeface="+mn-lt"/>
            </a:rPr>
            <a:t> when </a:t>
          </a:r>
          <a:r>
            <a:rPr lang="en-GB" sz="1400" kern="1200">
              <a:solidFill>
                <a:srgbClr val="40488D"/>
              </a:solidFill>
              <a:latin typeface="+mn-lt"/>
            </a:rPr>
            <a:t>interpreting and communicating data</a:t>
          </a:r>
        </a:p>
        <a:p>
          <a:pPr marL="114300" lvl="1" indent="-114300" algn="l" defTabSz="622300">
            <a:lnSpc>
              <a:spcPct val="90000"/>
            </a:lnSpc>
            <a:spcBef>
              <a:spcPct val="0"/>
            </a:spcBef>
            <a:spcAft>
              <a:spcPct val="15000"/>
            </a:spcAft>
            <a:buFont typeface="Wingdings" panose="05000000000000000000" pitchFamily="2" charset="2"/>
            <a:buChar char="Ø"/>
          </a:pPr>
          <a:r>
            <a:rPr lang="en-GB" sz="1400" kern="1200">
              <a:latin typeface="+mn-lt"/>
            </a:rPr>
            <a:t>There is </a:t>
          </a:r>
          <a:r>
            <a:rPr lang="en-GB" sz="1400" kern="1200">
              <a:solidFill>
                <a:srgbClr val="40488D"/>
              </a:solidFill>
              <a:latin typeface="+mn-lt"/>
            </a:rPr>
            <a:t>not one single best strategy</a:t>
          </a:r>
        </a:p>
      </dsp:txBody>
      <dsp:txXfrm>
        <a:off x="0" y="153650"/>
        <a:ext cx="8423275" cy="1852200"/>
      </dsp:txXfrm>
    </dsp:sp>
    <dsp:sp modelId="{C08FE6A4-AFAA-401F-8788-5B2EF4404F28}">
      <dsp:nvSpPr>
        <dsp:cNvPr id="0" name=""/>
        <dsp:cNvSpPr/>
      </dsp:nvSpPr>
      <dsp:spPr>
        <a:xfrm>
          <a:off x="421163" y="26248"/>
          <a:ext cx="6361451" cy="338116"/>
        </a:xfrm>
        <a:prstGeom prst="roundRect">
          <a:avLst/>
        </a:prstGeom>
        <a:solidFill>
          <a:srgbClr val="40488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00100">
            <a:lnSpc>
              <a:spcPct val="90000"/>
            </a:lnSpc>
            <a:spcBef>
              <a:spcPct val="0"/>
            </a:spcBef>
            <a:spcAft>
              <a:spcPct val="35000"/>
            </a:spcAft>
            <a:buNone/>
          </a:pPr>
          <a:r>
            <a:rPr lang="en-GB" sz="1800" kern="1200"/>
            <a:t>Multiplicity</a:t>
          </a:r>
        </a:p>
      </dsp:txBody>
      <dsp:txXfrm>
        <a:off x="437668" y="42753"/>
        <a:ext cx="6328441" cy="305106"/>
      </dsp:txXfrm>
    </dsp:sp>
    <dsp:sp modelId="{E9878A77-7479-4CA0-90B1-B049D97040E7}">
      <dsp:nvSpPr>
        <dsp:cNvPr id="0" name=""/>
        <dsp:cNvSpPr/>
      </dsp:nvSpPr>
      <dsp:spPr>
        <a:xfrm>
          <a:off x="0" y="2217001"/>
          <a:ext cx="8423275" cy="1014300"/>
        </a:xfrm>
        <a:prstGeom prst="rect">
          <a:avLst/>
        </a:prstGeom>
        <a:solidFill>
          <a:schemeClr val="lt1">
            <a:alpha val="90000"/>
            <a:hueOff val="0"/>
            <a:satOff val="0"/>
            <a:lumOff val="0"/>
            <a:alphaOff val="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291592" rIns="65374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solidFill>
                <a:schemeClr val="bg2"/>
              </a:solidFill>
            </a:rPr>
            <a:t>Transparency</a:t>
          </a:r>
          <a:r>
            <a:rPr lang="en-GB" sz="1400" kern="1200"/>
            <a:t> is needed when presenting our results</a:t>
          </a:r>
        </a:p>
        <a:p>
          <a:pPr marL="114300" lvl="1" indent="-114300" algn="l" defTabSz="622300">
            <a:lnSpc>
              <a:spcPct val="90000"/>
            </a:lnSpc>
            <a:spcBef>
              <a:spcPct val="0"/>
            </a:spcBef>
            <a:spcAft>
              <a:spcPct val="15000"/>
            </a:spcAft>
            <a:buChar char="•"/>
          </a:pPr>
          <a:r>
            <a:rPr lang="en-GB" sz="1400" kern="1200"/>
            <a:t>Be </a:t>
          </a:r>
          <a:r>
            <a:rPr lang="en-GB" sz="1400" kern="1200">
              <a:solidFill>
                <a:schemeClr val="bg2"/>
              </a:solidFill>
            </a:rPr>
            <a:t>aware</a:t>
          </a:r>
          <a:r>
            <a:rPr lang="en-GB" sz="1400" kern="1200"/>
            <a:t> of multiplicity when interpreting competitor data</a:t>
          </a:r>
        </a:p>
        <a:p>
          <a:pPr marL="114300" lvl="1" indent="-114300" algn="l" defTabSz="622300">
            <a:lnSpc>
              <a:spcPct val="90000"/>
            </a:lnSpc>
            <a:spcBef>
              <a:spcPct val="0"/>
            </a:spcBef>
            <a:spcAft>
              <a:spcPct val="15000"/>
            </a:spcAft>
            <a:buChar char="•"/>
          </a:pPr>
          <a:r>
            <a:rPr lang="en-GB" sz="1400" kern="1200">
              <a:solidFill>
                <a:schemeClr val="bg2"/>
              </a:solidFill>
            </a:rPr>
            <a:t>If in doubt: Talk to your statistician!</a:t>
          </a:r>
        </a:p>
      </dsp:txBody>
      <dsp:txXfrm>
        <a:off x="0" y="2217001"/>
        <a:ext cx="8423275" cy="1014300"/>
      </dsp:txXfrm>
    </dsp:sp>
    <dsp:sp modelId="{DBB2BA91-92B9-4D59-9135-38B4B0DBFBFE}">
      <dsp:nvSpPr>
        <dsp:cNvPr id="0" name=""/>
        <dsp:cNvSpPr/>
      </dsp:nvSpPr>
      <dsp:spPr>
        <a:xfrm>
          <a:off x="421163" y="2085525"/>
          <a:ext cx="5896292" cy="33811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00100">
            <a:lnSpc>
              <a:spcPct val="90000"/>
            </a:lnSpc>
            <a:spcBef>
              <a:spcPct val="0"/>
            </a:spcBef>
            <a:spcAft>
              <a:spcPct val="35000"/>
            </a:spcAft>
            <a:buNone/>
          </a:pPr>
          <a:r>
            <a:rPr lang="en-GB" sz="1800" kern="1200"/>
            <a:t>What do you need to do?</a:t>
          </a:r>
        </a:p>
      </dsp:txBody>
      <dsp:txXfrm>
        <a:off x="437668" y="2102030"/>
        <a:ext cx="5863282" cy="30510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5240" cy="45235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9109" y="0"/>
            <a:ext cx="2975240" cy="452358"/>
          </a:xfrm>
          <a:prstGeom prst="rect">
            <a:avLst/>
          </a:prstGeom>
        </p:spPr>
        <p:txBody>
          <a:bodyPr vert="horz" lIns="91440" tIns="45720" rIns="91440" bIns="45720" rtlCol="0"/>
          <a:lstStyle>
            <a:lvl1pPr algn="r">
              <a:defRPr sz="1200"/>
            </a:lvl1pPr>
          </a:lstStyle>
          <a:p>
            <a:fld id="{050A8971-52B8-4C5A-99D8-986A596F2912}" type="datetimeFigureOut">
              <a:rPr lang="en-GB" smtClean="0"/>
              <a:pPr/>
              <a:t>27/11/2025</a:t>
            </a:fld>
            <a:endParaRPr lang="en-GB"/>
          </a:p>
        </p:txBody>
      </p:sp>
      <p:sp>
        <p:nvSpPr>
          <p:cNvPr id="4" name="Slide Image Placeholder 3"/>
          <p:cNvSpPr>
            <a:spLocks noGrp="1" noRot="1" noChangeAspect="1"/>
          </p:cNvSpPr>
          <p:nvPr>
            <p:ph type="sldImg" idx="2"/>
          </p:nvPr>
        </p:nvSpPr>
        <p:spPr>
          <a:xfrm>
            <a:off x="415925" y="677863"/>
            <a:ext cx="6034088" cy="33940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6594" y="4297403"/>
            <a:ext cx="5492750" cy="407122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593235"/>
            <a:ext cx="2975240" cy="45235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9109" y="8593235"/>
            <a:ext cx="2975240" cy="452358"/>
          </a:xfrm>
          <a:prstGeom prst="rect">
            <a:avLst/>
          </a:prstGeom>
        </p:spPr>
        <p:txBody>
          <a:bodyPr vert="horz" lIns="91440" tIns="45720" rIns="91440" bIns="45720" rtlCol="0" anchor="b"/>
          <a:lstStyle>
            <a:lvl1pPr algn="r">
              <a:defRPr sz="1200"/>
            </a:lvl1pPr>
          </a:lstStyle>
          <a:p>
            <a:fld id="{026B53C8-14E4-49A7-A1A5-3BF810B81EBE}" type="slidenum">
              <a:rPr lang="en-GB" smtClean="0"/>
              <a:pPr/>
              <a:t>‹#›</a:t>
            </a:fld>
            <a:endParaRPr lang="en-GB"/>
          </a:p>
        </p:txBody>
      </p:sp>
    </p:spTree>
    <p:extLst>
      <p:ext uri="{BB962C8B-B14F-4D97-AF65-F5344CB8AC3E}">
        <p14:creationId xmlns:p14="http://schemas.microsoft.com/office/powerpoint/2010/main" val="4209032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a:t>
            </a:fld>
            <a:endParaRPr lang="en-GB"/>
          </a:p>
        </p:txBody>
      </p:sp>
    </p:spTree>
    <p:extLst>
      <p:ext uri="{BB962C8B-B14F-4D97-AF65-F5344CB8AC3E}">
        <p14:creationId xmlns:p14="http://schemas.microsoft.com/office/powerpoint/2010/main" val="1827972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a:t>
            </a:fld>
            <a:endParaRPr lang="en-GB"/>
          </a:p>
        </p:txBody>
      </p:sp>
    </p:spTree>
    <p:extLst>
      <p:ext uri="{BB962C8B-B14F-4D97-AF65-F5344CB8AC3E}">
        <p14:creationId xmlns:p14="http://schemas.microsoft.com/office/powerpoint/2010/main" val="412555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3</a:t>
            </a:fld>
            <a:endParaRPr lang="en-GB"/>
          </a:p>
        </p:txBody>
      </p:sp>
    </p:spTree>
    <p:extLst>
      <p:ext uri="{BB962C8B-B14F-4D97-AF65-F5344CB8AC3E}">
        <p14:creationId xmlns:p14="http://schemas.microsoft.com/office/powerpoint/2010/main" val="1758536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4</a:t>
            </a:fld>
            <a:endParaRPr lang="en-GB"/>
          </a:p>
        </p:txBody>
      </p:sp>
    </p:spTree>
    <p:extLst>
      <p:ext uri="{BB962C8B-B14F-4D97-AF65-F5344CB8AC3E}">
        <p14:creationId xmlns:p14="http://schemas.microsoft.com/office/powerpoint/2010/main" val="2015532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5</a:t>
            </a:fld>
            <a:endParaRPr lang="en-GB"/>
          </a:p>
        </p:txBody>
      </p:sp>
    </p:spTree>
    <p:extLst>
      <p:ext uri="{BB962C8B-B14F-4D97-AF65-F5344CB8AC3E}">
        <p14:creationId xmlns:p14="http://schemas.microsoft.com/office/powerpoint/2010/main" val="4160644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6</a:t>
            </a:fld>
            <a:endParaRPr lang="en-GB"/>
          </a:p>
        </p:txBody>
      </p:sp>
    </p:spTree>
    <p:extLst>
      <p:ext uri="{BB962C8B-B14F-4D97-AF65-F5344CB8AC3E}">
        <p14:creationId xmlns:p14="http://schemas.microsoft.com/office/powerpoint/2010/main" val="3309818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7</a:t>
            </a:fld>
            <a:endParaRPr lang="en-GB"/>
          </a:p>
        </p:txBody>
      </p:sp>
    </p:spTree>
    <p:extLst>
      <p:ext uri="{BB962C8B-B14F-4D97-AF65-F5344CB8AC3E}">
        <p14:creationId xmlns:p14="http://schemas.microsoft.com/office/powerpoint/2010/main" val="345756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8</a:t>
            </a:fld>
            <a:endParaRPr lang="en-GB"/>
          </a:p>
        </p:txBody>
      </p:sp>
    </p:spTree>
    <p:extLst>
      <p:ext uri="{BB962C8B-B14F-4D97-AF65-F5344CB8AC3E}">
        <p14:creationId xmlns:p14="http://schemas.microsoft.com/office/powerpoint/2010/main" val="1916166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9</a:t>
            </a:fld>
            <a:endParaRPr lang="en-GB"/>
          </a:p>
        </p:txBody>
      </p:sp>
    </p:spTree>
    <p:extLst>
      <p:ext uri="{BB962C8B-B14F-4D97-AF65-F5344CB8AC3E}">
        <p14:creationId xmlns:p14="http://schemas.microsoft.com/office/powerpoint/2010/main" val="2551442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10</a:t>
            </a:fld>
            <a:endParaRPr lang="en-GB"/>
          </a:p>
        </p:txBody>
      </p:sp>
    </p:spTree>
    <p:extLst>
      <p:ext uri="{BB962C8B-B14F-4D97-AF65-F5344CB8AC3E}">
        <p14:creationId xmlns:p14="http://schemas.microsoft.com/office/powerpoint/2010/main" val="3862032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11</a:t>
            </a:fld>
            <a:endParaRPr lang="en-GB"/>
          </a:p>
        </p:txBody>
      </p:sp>
    </p:spTree>
    <p:extLst>
      <p:ext uri="{BB962C8B-B14F-4D97-AF65-F5344CB8AC3E}">
        <p14:creationId xmlns:p14="http://schemas.microsoft.com/office/powerpoint/2010/main" val="152624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12</a:t>
            </a:fld>
            <a:endParaRPr lang="en-GB"/>
          </a:p>
        </p:txBody>
      </p:sp>
    </p:spTree>
    <p:extLst>
      <p:ext uri="{BB962C8B-B14F-4D97-AF65-F5344CB8AC3E}">
        <p14:creationId xmlns:p14="http://schemas.microsoft.com/office/powerpoint/2010/main" val="3863403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13</a:t>
            </a:fld>
            <a:endParaRPr lang="en-GB"/>
          </a:p>
        </p:txBody>
      </p:sp>
    </p:spTree>
    <p:extLst>
      <p:ext uri="{BB962C8B-B14F-4D97-AF65-F5344CB8AC3E}">
        <p14:creationId xmlns:p14="http://schemas.microsoft.com/office/powerpoint/2010/main" val="1129514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14</a:t>
            </a:fld>
            <a:endParaRPr lang="en-GB"/>
          </a:p>
        </p:txBody>
      </p:sp>
    </p:spTree>
    <p:extLst>
      <p:ext uri="{BB962C8B-B14F-4D97-AF65-F5344CB8AC3E}">
        <p14:creationId xmlns:p14="http://schemas.microsoft.com/office/powerpoint/2010/main" val="2468983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15</a:t>
            </a:fld>
            <a:endParaRPr lang="en-GB"/>
          </a:p>
        </p:txBody>
      </p:sp>
    </p:spTree>
    <p:extLst>
      <p:ext uri="{BB962C8B-B14F-4D97-AF65-F5344CB8AC3E}">
        <p14:creationId xmlns:p14="http://schemas.microsoft.com/office/powerpoint/2010/main" val="256433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16</a:t>
            </a:fld>
            <a:endParaRPr lang="en-GB"/>
          </a:p>
        </p:txBody>
      </p:sp>
    </p:spTree>
    <p:extLst>
      <p:ext uri="{BB962C8B-B14F-4D97-AF65-F5344CB8AC3E}">
        <p14:creationId xmlns:p14="http://schemas.microsoft.com/office/powerpoint/2010/main" val="1876160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17</a:t>
            </a:fld>
            <a:endParaRPr lang="en-GB"/>
          </a:p>
        </p:txBody>
      </p:sp>
    </p:spTree>
    <p:extLst>
      <p:ext uri="{BB962C8B-B14F-4D97-AF65-F5344CB8AC3E}">
        <p14:creationId xmlns:p14="http://schemas.microsoft.com/office/powerpoint/2010/main" val="1916395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6B53C8-14E4-49A7-A1A5-3BF810B81EBE}" type="slidenum">
              <a:rPr lang="en-GB" smtClean="0"/>
              <a:pPr/>
              <a:t>18</a:t>
            </a:fld>
            <a:endParaRPr lang="en-GB"/>
          </a:p>
        </p:txBody>
      </p:sp>
    </p:spTree>
    <p:extLst>
      <p:ext uri="{BB962C8B-B14F-4D97-AF65-F5344CB8AC3E}">
        <p14:creationId xmlns:p14="http://schemas.microsoft.com/office/powerpoint/2010/main" val="2172491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19</a:t>
            </a:fld>
            <a:endParaRPr lang="en-GB"/>
          </a:p>
        </p:txBody>
      </p:sp>
    </p:spTree>
    <p:extLst>
      <p:ext uri="{BB962C8B-B14F-4D97-AF65-F5344CB8AC3E}">
        <p14:creationId xmlns:p14="http://schemas.microsoft.com/office/powerpoint/2010/main" val="37946672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34"/>
          <a:stretch/>
        </p:blipFill>
        <p:spPr>
          <a:xfrm>
            <a:off x="0" y="1065924"/>
            <a:ext cx="4102298" cy="3827396"/>
          </a:xfrm>
          <a:prstGeom prst="rect">
            <a:avLst/>
          </a:prstGeom>
        </p:spPr>
      </p:pic>
      <p:sp>
        <p:nvSpPr>
          <p:cNvPr id="17" name="Title 1"/>
          <p:cNvSpPr>
            <a:spLocks noGrp="1"/>
          </p:cNvSpPr>
          <p:nvPr>
            <p:ph type="ctrTitle" hasCustomPrompt="1"/>
          </p:nvPr>
        </p:nvSpPr>
        <p:spPr>
          <a:xfrm>
            <a:off x="296521" y="2068940"/>
            <a:ext cx="2876985" cy="1000274"/>
          </a:xfrm>
          <a:prstGeom prst="rect">
            <a:avLst/>
          </a:prstGeom>
        </p:spPr>
        <p:txBody>
          <a:bodyPr anchor="b" anchorCtr="0"/>
          <a:lstStyle>
            <a:lvl1pPr>
              <a:lnSpc>
                <a:spcPts val="2600"/>
              </a:lnSpc>
              <a:defRPr sz="2600">
                <a:solidFill>
                  <a:schemeClr val="bg1"/>
                </a:solidFill>
              </a:defRPr>
            </a:lvl1pPr>
          </a:lstStyle>
          <a:p>
            <a:r>
              <a:rPr lang="en-US"/>
              <a:t>Click to edit Master heading style</a:t>
            </a:r>
            <a:endParaRPr lang="en-GB"/>
          </a:p>
        </p:txBody>
      </p:sp>
      <p:sp>
        <p:nvSpPr>
          <p:cNvPr id="20" name="Subtitle 2"/>
          <p:cNvSpPr>
            <a:spLocks noGrp="1"/>
          </p:cNvSpPr>
          <p:nvPr>
            <p:ph type="subTitle" idx="1" hasCustomPrompt="1"/>
          </p:nvPr>
        </p:nvSpPr>
        <p:spPr>
          <a:xfrm>
            <a:off x="296521" y="3427589"/>
            <a:ext cx="2554256" cy="492443"/>
          </a:xfrm>
          <a:prstGeom prst="rect">
            <a:avLst/>
          </a:prstGeom>
        </p:spPr>
        <p:txBody>
          <a:bodyPr wrap="square" lIns="0" tIns="0" rIns="0" bIns="0" anchor="t" anchorCtr="0">
            <a:spAutoFit/>
          </a:bodyPr>
          <a:lstStyle>
            <a:lvl1pPr marL="0" indent="0" algn="l">
              <a:spcAft>
                <a:spcPts val="0"/>
              </a:spcAft>
              <a:buNone/>
              <a:defRPr i="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extLst>
      <p:ext uri="{BB962C8B-B14F-4D97-AF65-F5344CB8AC3E}">
        <p14:creationId xmlns:p14="http://schemas.microsoft.com/office/powerpoint/2010/main" val="201661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Text Only">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96520" y="2402365"/>
            <a:ext cx="5042395" cy="666849"/>
          </a:xfrm>
          <a:prstGeom prst="rect">
            <a:avLst/>
          </a:prstGeom>
        </p:spPr>
        <p:txBody>
          <a:bodyPr anchor="b" anchorCtr="0"/>
          <a:lstStyle>
            <a:lvl1pPr>
              <a:lnSpc>
                <a:spcPts val="2600"/>
              </a:lnSpc>
              <a:defRPr sz="2600">
                <a:solidFill>
                  <a:schemeClr val="bg2"/>
                </a:solidFill>
              </a:defRPr>
            </a:lvl1pPr>
          </a:lstStyle>
          <a:p>
            <a:r>
              <a:rPr lang="en-US"/>
              <a:t>Click to edit Master </a:t>
            </a:r>
            <a:br>
              <a:rPr lang="en-US"/>
            </a:br>
            <a:r>
              <a:rPr lang="en-US"/>
              <a:t>heading style</a:t>
            </a:r>
            <a:endParaRPr lang="en-GB"/>
          </a:p>
        </p:txBody>
      </p:sp>
      <p:sp>
        <p:nvSpPr>
          <p:cNvPr id="10" name="Subtitle 2"/>
          <p:cNvSpPr>
            <a:spLocks noGrp="1"/>
          </p:cNvSpPr>
          <p:nvPr>
            <p:ph type="subTitle" idx="1" hasCustomPrompt="1"/>
          </p:nvPr>
        </p:nvSpPr>
        <p:spPr>
          <a:xfrm>
            <a:off x="296520" y="3427590"/>
            <a:ext cx="5042395" cy="33855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extLst>
      <p:ext uri="{BB962C8B-B14F-4D97-AF65-F5344CB8AC3E}">
        <p14:creationId xmlns:p14="http://schemas.microsoft.com/office/powerpoint/2010/main" val="203222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Text and Table">
    <p:spTree>
      <p:nvGrpSpPr>
        <p:cNvPr id="1" name=""/>
        <p:cNvGrpSpPr/>
        <p:nvPr/>
      </p:nvGrpSpPr>
      <p:grpSpPr>
        <a:xfrm>
          <a:off x="0" y="0"/>
          <a:ext cx="0" cy="0"/>
          <a:chOff x="0" y="0"/>
          <a:chExt cx="0" cy="0"/>
        </a:xfrm>
      </p:grpSpPr>
      <p:sp>
        <p:nvSpPr>
          <p:cNvPr id="21" name="Title 1"/>
          <p:cNvSpPr>
            <a:spLocks noGrp="1"/>
          </p:cNvSpPr>
          <p:nvPr>
            <p:ph type="ctrTitle" hasCustomPrompt="1"/>
          </p:nvPr>
        </p:nvSpPr>
        <p:spPr>
          <a:xfrm>
            <a:off x="296521" y="1109709"/>
            <a:ext cx="5042394" cy="666849"/>
          </a:xfrm>
          <a:prstGeom prst="rect">
            <a:avLst/>
          </a:prstGeom>
        </p:spPr>
        <p:txBody>
          <a:bodyPr anchor="b" anchorCtr="0"/>
          <a:lstStyle>
            <a:lvl1pPr>
              <a:lnSpc>
                <a:spcPts val="2600"/>
              </a:lnSpc>
              <a:defRPr sz="2600">
                <a:solidFill>
                  <a:schemeClr val="bg2"/>
                </a:solidFill>
              </a:defRPr>
            </a:lvl1pPr>
          </a:lstStyle>
          <a:p>
            <a:r>
              <a:rPr lang="en-US"/>
              <a:t>Click to edit Master </a:t>
            </a:r>
            <a:br>
              <a:rPr lang="en-US"/>
            </a:br>
            <a:r>
              <a:rPr lang="en-US"/>
              <a:t>heading style</a:t>
            </a:r>
            <a:endParaRPr lang="en-GB"/>
          </a:p>
        </p:txBody>
      </p:sp>
      <p:sp>
        <p:nvSpPr>
          <p:cNvPr id="22" name="Subtitle 2"/>
          <p:cNvSpPr>
            <a:spLocks noGrp="1"/>
          </p:cNvSpPr>
          <p:nvPr>
            <p:ph type="subTitle" idx="1" hasCustomPrompt="1"/>
          </p:nvPr>
        </p:nvSpPr>
        <p:spPr>
          <a:xfrm>
            <a:off x="296520" y="2134932"/>
            <a:ext cx="5009911" cy="33855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359152" y="1192388"/>
            <a:ext cx="8423275" cy="307005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359152" y="4322020"/>
            <a:ext cx="8424000" cy="123111"/>
          </a:xfrm>
          <a:prstGeom prst="rect">
            <a:avLst/>
          </a:prstGeom>
        </p:spPr>
        <p:txBody>
          <a:bodyPr wrap="square"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4" name="Title 3"/>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7" name="Date Placeholder 6"/>
          <p:cNvSpPr>
            <a:spLocks noGrp="1"/>
          </p:cNvSpPr>
          <p:nvPr>
            <p:ph type="dt" sz="half" idx="19"/>
          </p:nvPr>
        </p:nvSpPr>
        <p:spPr/>
        <p:txBody>
          <a:bodyPr/>
          <a:lstStyle/>
          <a:p>
            <a:pPr algn="ctr"/>
            <a:r>
              <a:rPr lang="en-US"/>
              <a:t>Insert your date / confidentiality text here</a:t>
            </a:r>
            <a:endParaRPr lang="en-GB"/>
          </a:p>
        </p:txBody>
      </p:sp>
      <p:sp>
        <p:nvSpPr>
          <p:cNvPr id="9" name="Footer Placeholder 8"/>
          <p:cNvSpPr>
            <a:spLocks noGrp="1"/>
          </p:cNvSpPr>
          <p:nvPr>
            <p:ph type="ftr" sz="quarter" idx="20"/>
          </p:nvPr>
        </p:nvSpPr>
        <p:spPr/>
        <p:txBody>
          <a:bodyPr/>
          <a:lstStyle>
            <a:lvl1pPr>
              <a:defRPr/>
            </a:lvl1pPr>
          </a:lstStyle>
          <a:p>
            <a:r>
              <a:rPr lang="en-GB"/>
              <a:t>16x9 core template</a:t>
            </a:r>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31405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0" name="Content Placeholder 9"/>
          <p:cNvSpPr>
            <a:spLocks noGrp="1" noChangeAspect="1"/>
          </p:cNvSpPr>
          <p:nvPr>
            <p:ph sz="quarter" idx="19"/>
          </p:nvPr>
        </p:nvSpPr>
        <p:spPr>
          <a:xfrm>
            <a:off x="360000" y="1539685"/>
            <a:ext cx="8418513" cy="272910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2"/>
          <p:cNvSpPr>
            <a:spLocks noGrp="1"/>
          </p:cNvSpPr>
          <p:nvPr>
            <p:ph type="body" sz="quarter" idx="13" hasCustomPrompt="1"/>
          </p:nvPr>
        </p:nvSpPr>
        <p:spPr>
          <a:xfrm>
            <a:off x="359152" y="1191711"/>
            <a:ext cx="8418513" cy="338554"/>
          </a:xfrm>
          <a:prstGeom prst="rect">
            <a:avLst/>
          </a:prstGeom>
        </p:spPr>
        <p:txBody>
          <a:bodyPr lIns="0" anchor="t" anchorCtr="0">
            <a:spAutoFit/>
          </a:bodyPr>
          <a:lstStyle>
            <a:lvl1pPr marL="0" indent="0">
              <a:spcAft>
                <a:spcPts val="0"/>
              </a:spcAft>
              <a:buNone/>
              <a:defRPr sz="1600" b="1">
                <a:solidFill>
                  <a:schemeClr val="accent1"/>
                </a:solidFill>
              </a:defRPr>
            </a:lvl1pPr>
            <a:lvl2pPr marL="271463" indent="0">
              <a:buNone/>
              <a:defRPr/>
            </a:lvl2pPr>
            <a:lvl3pPr marL="533400" indent="0">
              <a:buNone/>
              <a:defRPr/>
            </a:lvl3pPr>
            <a:lvl4pPr marL="815975" indent="0">
              <a:buNone/>
              <a:defRPr/>
            </a:lvl4pPr>
            <a:lvl5pPr marL="1104900" indent="0">
              <a:buNone/>
              <a:defRPr/>
            </a:lvl5pPr>
          </a:lstStyle>
          <a:p>
            <a:pPr lvl="0"/>
            <a:r>
              <a:rPr lang="en-US"/>
              <a:t>Subheading here if required</a:t>
            </a:r>
          </a:p>
        </p:txBody>
      </p:sp>
      <p:sp>
        <p:nvSpPr>
          <p:cNvPr id="14"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6" name="Text Placeholder 5"/>
          <p:cNvSpPr>
            <a:spLocks noGrp="1"/>
          </p:cNvSpPr>
          <p:nvPr>
            <p:ph type="body" sz="quarter" idx="18" hasCustomPrompt="1"/>
          </p:nvPr>
        </p:nvSpPr>
        <p:spPr>
          <a:xfrm>
            <a:off x="359152" y="4322020"/>
            <a:ext cx="8424000" cy="123111"/>
          </a:xfrm>
          <a:prstGeom prst="rect">
            <a:avLst/>
          </a:prstGeom>
        </p:spPr>
        <p:txBody>
          <a:bodyPr wrap="square" anchor="b" anchorCtr="0">
            <a:spAutoFit/>
          </a:bodyPr>
          <a:lstStyle>
            <a:lvl1pPr marL="0" marR="0" indent="0" algn="l" defTabSz="914400" rtl="0" eaLnBrk="1" fontAlgn="auto" latinLnBrk="0" hangingPunct="1">
              <a:lnSpc>
                <a:spcPct val="100000"/>
              </a:lnSpc>
              <a:spcBef>
                <a:spcPts val="0"/>
              </a:spcBef>
              <a:spcAft>
                <a:spcPts val="600"/>
              </a:spcAft>
              <a:buClr>
                <a:schemeClr val="tx1"/>
              </a:buClr>
              <a:buSzTx/>
              <a:buFont typeface="Arial" pitchFamily="34" charset="0"/>
              <a:buNone/>
              <a:tabLst/>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0" name="Title 19"/>
          <p:cNvSpPr>
            <a:spLocks noGrp="1"/>
          </p:cNvSpPr>
          <p:nvPr>
            <p:ph type="title" hasCustomPrompt="1"/>
          </p:nvPr>
        </p:nvSpPr>
        <p:spPr/>
        <p:txBody>
          <a:bodyPr/>
          <a:lstStyle/>
          <a:p>
            <a:r>
              <a:rPr lang="en-US"/>
              <a:t>Click to edit Master heading style</a:t>
            </a:r>
            <a:endParaRPr lang="en-GB"/>
          </a:p>
        </p:txBody>
      </p:sp>
      <p:sp>
        <p:nvSpPr>
          <p:cNvPr id="5" name="Date Placeholder 4"/>
          <p:cNvSpPr>
            <a:spLocks noGrp="1"/>
          </p:cNvSpPr>
          <p:nvPr>
            <p:ph type="dt" sz="half" idx="2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1"/>
          </p:nvPr>
        </p:nvSpPr>
        <p:spPr/>
        <p:txBody>
          <a:bodyPr/>
          <a:lstStyle>
            <a:lvl1pPr>
              <a:defRPr/>
            </a:lvl1pPr>
          </a:lstStyle>
          <a:p>
            <a:r>
              <a:rPr lang="en-GB"/>
              <a:t>16x9 core template</a:t>
            </a:r>
          </a:p>
        </p:txBody>
      </p:sp>
      <p:sp>
        <p:nvSpPr>
          <p:cNvPr id="7" name="Slide Number Placeholder 6"/>
          <p:cNvSpPr>
            <a:spLocks noGrp="1"/>
          </p:cNvSpPr>
          <p:nvPr>
            <p:ph type="sldNum" sz="quarter" idx="2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512332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4"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5" name="Text Placeholder 5"/>
          <p:cNvSpPr>
            <a:spLocks noGrp="1"/>
          </p:cNvSpPr>
          <p:nvPr>
            <p:ph type="body" sz="quarter" idx="18" hasCustomPrompt="1"/>
          </p:nvPr>
        </p:nvSpPr>
        <p:spPr>
          <a:xfrm>
            <a:off x="360000" y="4229687"/>
            <a:ext cx="8424000"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19" name="Title 18"/>
          <p:cNvSpPr>
            <a:spLocks noGrp="1"/>
          </p:cNvSpPr>
          <p:nvPr>
            <p:ph type="title" hasCustomPrompt="1"/>
          </p:nvPr>
        </p:nvSpPr>
        <p:spPr>
          <a:xfrm>
            <a:off x="360000" y="288639"/>
            <a:ext cx="7577139" cy="338554"/>
          </a:xfrm>
        </p:spPr>
        <p:txBody>
          <a:bodyPr/>
          <a:lstStyle/>
          <a:p>
            <a:r>
              <a:rPr lang="en-US"/>
              <a:t>Click to edit Master heading style</a:t>
            </a:r>
            <a:endParaRPr lang="en-GB"/>
          </a:p>
        </p:txBody>
      </p:sp>
      <p:sp>
        <p:nvSpPr>
          <p:cNvPr id="5" name="Date Placeholder 4"/>
          <p:cNvSpPr>
            <a:spLocks noGrp="1"/>
          </p:cNvSpPr>
          <p:nvPr>
            <p:ph type="dt" sz="half" idx="19"/>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0"/>
          </p:nvPr>
        </p:nvSpPr>
        <p:spPr/>
        <p:txBody>
          <a:bodyPr/>
          <a:lstStyle>
            <a:lvl1pPr>
              <a:defRPr/>
            </a:lvl1pPr>
          </a:lstStyle>
          <a:p>
            <a:r>
              <a:rPr lang="en-GB"/>
              <a:t>16x9 core template</a:t>
            </a:r>
          </a:p>
        </p:txBody>
      </p:sp>
      <p:sp>
        <p:nvSpPr>
          <p:cNvPr id="7" name="Slide Number Placeholder 6"/>
          <p:cNvSpPr>
            <a:spLocks noGrp="1"/>
          </p:cNvSpPr>
          <p:nvPr>
            <p:ph type="sldNum" sz="quarter" idx="21"/>
          </p:nvPr>
        </p:nvSpPr>
        <p:spPr/>
        <p:txBody>
          <a:bodyPr/>
          <a:lstStyle/>
          <a:p>
            <a:fld id="{9F9F533D-B52E-4A2F-BF72-0ADD2D94BD75}" type="slidenum">
              <a:rPr lang="en-GB" smtClean="0"/>
              <a:pPr/>
              <a:t>‹#›</a:t>
            </a:fld>
            <a:endParaRPr lang="en-GB"/>
          </a:p>
        </p:txBody>
      </p:sp>
      <p:sp>
        <p:nvSpPr>
          <p:cNvPr id="9" name="Content Placeholder 12"/>
          <p:cNvSpPr>
            <a:spLocks noGrp="1" noChangeAspect="1"/>
          </p:cNvSpPr>
          <p:nvPr>
            <p:ph sz="quarter" idx="17"/>
          </p:nvPr>
        </p:nvSpPr>
        <p:spPr>
          <a:xfrm>
            <a:off x="360000" y="1192389"/>
            <a:ext cx="8423275" cy="3076400"/>
          </a:xfrm>
          <a:prstGeom prst="rect">
            <a:avLst/>
          </a:prstGeom>
        </p:spPr>
        <p:txBody>
          <a:bodyPr lIns="0"/>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17225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4" name="Content Placeholder 13"/>
          <p:cNvSpPr>
            <a:spLocks noGrp="1" noChangeAspect="1"/>
          </p:cNvSpPr>
          <p:nvPr>
            <p:ph sz="quarter" idx="18"/>
          </p:nvPr>
        </p:nvSpPr>
        <p:spPr>
          <a:xfrm>
            <a:off x="4805363" y="1193800"/>
            <a:ext cx="3978275" cy="3065463"/>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9" name="Text Placeholder 5"/>
          <p:cNvSpPr>
            <a:spLocks noGrp="1"/>
          </p:cNvSpPr>
          <p:nvPr>
            <p:ph type="body" sz="quarter" idx="19" hasCustomPrompt="1"/>
          </p:nvPr>
        </p:nvSpPr>
        <p:spPr>
          <a:xfrm>
            <a:off x="359152" y="4229687"/>
            <a:ext cx="3979486"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0" name="Text Placeholder 5"/>
          <p:cNvSpPr>
            <a:spLocks noGrp="1"/>
          </p:cNvSpPr>
          <p:nvPr>
            <p:ph type="body" sz="quarter" idx="20" hasCustomPrompt="1"/>
          </p:nvPr>
        </p:nvSpPr>
        <p:spPr>
          <a:xfrm>
            <a:off x="4797217" y="4229687"/>
            <a:ext cx="3996000"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3" name="Date Placeholder 2"/>
          <p:cNvSpPr>
            <a:spLocks noGrp="1"/>
          </p:cNvSpPr>
          <p:nvPr>
            <p:ph type="dt" sz="half" idx="21"/>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22"/>
          </p:nvPr>
        </p:nvSpPr>
        <p:spPr/>
        <p:txBody>
          <a:bodyPr/>
          <a:lstStyle>
            <a:lvl1pPr>
              <a:defRPr/>
            </a:lvl1pPr>
          </a:lstStyle>
          <a:p>
            <a:r>
              <a:rPr lang="en-GB"/>
              <a:t>16x9 core template</a:t>
            </a:r>
          </a:p>
        </p:txBody>
      </p:sp>
      <p:sp>
        <p:nvSpPr>
          <p:cNvPr id="5" name="Slide Number Placeholder 4"/>
          <p:cNvSpPr>
            <a:spLocks noGrp="1"/>
          </p:cNvSpPr>
          <p:nvPr>
            <p:ph type="sldNum" sz="quarter" idx="23"/>
          </p:nvPr>
        </p:nvSpPr>
        <p:spPr/>
        <p:txBody>
          <a:bodyPr/>
          <a:lstStyle/>
          <a:p>
            <a:fld id="{9F9F533D-B52E-4A2F-BF72-0ADD2D94BD75}" type="slidenum">
              <a:rPr lang="en-GB" smtClean="0"/>
              <a:pPr/>
              <a:t>‹#›</a:t>
            </a:fld>
            <a:endParaRPr lang="en-GB"/>
          </a:p>
        </p:txBody>
      </p:sp>
      <p:sp>
        <p:nvSpPr>
          <p:cNvPr id="11" name="Content Placeholder 11"/>
          <p:cNvSpPr>
            <a:spLocks noGrp="1" noChangeAspect="1"/>
          </p:cNvSpPr>
          <p:nvPr>
            <p:ph sz="quarter" idx="17"/>
          </p:nvPr>
        </p:nvSpPr>
        <p:spPr>
          <a:xfrm>
            <a:off x="360000" y="1193800"/>
            <a:ext cx="3973875" cy="3065463"/>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0605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8" name="Text Placeholder 2"/>
          <p:cNvSpPr>
            <a:spLocks noGrp="1"/>
          </p:cNvSpPr>
          <p:nvPr>
            <p:ph type="body" idx="19" hasCustomPrompt="1"/>
          </p:nvPr>
        </p:nvSpPr>
        <p:spPr>
          <a:xfrm>
            <a:off x="360000" y="1194204"/>
            <a:ext cx="3973875" cy="338554"/>
          </a:xfrm>
          <a:prstGeom prst="rect">
            <a:avLst/>
          </a:prstGeom>
        </p:spPr>
        <p:txBody>
          <a:bodyPr wrap="square" lIns="0" anchor="t" anchorCtr="0">
            <a:spAutoFit/>
          </a:bodyPr>
          <a:lstStyle>
            <a:lvl1pPr marL="0" indent="0">
              <a:buNone/>
              <a:defRPr sz="1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Subheading here if required</a:t>
            </a:r>
          </a:p>
        </p:txBody>
      </p:sp>
      <p:sp>
        <p:nvSpPr>
          <p:cNvPr id="20" name="Text Placeholder 2"/>
          <p:cNvSpPr>
            <a:spLocks noGrp="1"/>
          </p:cNvSpPr>
          <p:nvPr>
            <p:ph type="body" idx="21" hasCustomPrompt="1"/>
          </p:nvPr>
        </p:nvSpPr>
        <p:spPr>
          <a:xfrm>
            <a:off x="4805363" y="1194204"/>
            <a:ext cx="3978275" cy="246221"/>
          </a:xfrm>
          <a:prstGeom prst="rect">
            <a:avLst/>
          </a:prstGeom>
        </p:spPr>
        <p:txBody>
          <a:bodyPr wrap="square" anchor="t" anchorCtr="0">
            <a:spAutoFit/>
          </a:bodyPr>
          <a:lstStyle>
            <a:lvl1pPr marL="0" indent="0">
              <a:buNone/>
              <a:defRPr sz="1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Subheading here if required</a:t>
            </a:r>
          </a:p>
        </p:txBody>
      </p:sp>
      <p:sp>
        <p:nvSpPr>
          <p:cNvPr id="2" name="Title 1"/>
          <p:cNvSpPr>
            <a:spLocks noGrp="1"/>
          </p:cNvSpPr>
          <p:nvPr>
            <p:ph type="title" hasCustomPrompt="1"/>
          </p:nvPr>
        </p:nvSpPr>
        <p:spPr>
          <a:xfrm>
            <a:off x="360000" y="288639"/>
            <a:ext cx="7577139" cy="338554"/>
          </a:xfrm>
        </p:spPr>
        <p:txBody>
          <a:bodyPr/>
          <a:lstStyle/>
          <a:p>
            <a:r>
              <a:rPr lang="en-US"/>
              <a:t>Click to edit Master heading style</a:t>
            </a:r>
            <a:endParaRPr lang="en-GB"/>
          </a:p>
        </p:txBody>
      </p:sp>
      <p:sp>
        <p:nvSpPr>
          <p:cNvPr id="17" name="Content Placeholder 11"/>
          <p:cNvSpPr>
            <a:spLocks noGrp="1" noChangeAspect="1"/>
          </p:cNvSpPr>
          <p:nvPr>
            <p:ph sz="quarter" idx="17"/>
          </p:nvPr>
        </p:nvSpPr>
        <p:spPr>
          <a:xfrm>
            <a:off x="360000" y="1516484"/>
            <a:ext cx="3973875" cy="2742779"/>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13"/>
          <p:cNvSpPr>
            <a:spLocks noGrp="1" noChangeAspect="1"/>
          </p:cNvSpPr>
          <p:nvPr>
            <p:ph sz="quarter" idx="18"/>
          </p:nvPr>
        </p:nvSpPr>
        <p:spPr>
          <a:xfrm>
            <a:off x="4805363" y="1516484"/>
            <a:ext cx="3978275" cy="274595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360000" y="4229687"/>
            <a:ext cx="3973875"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4" name="Text Placeholder 5"/>
          <p:cNvSpPr>
            <a:spLocks noGrp="1"/>
          </p:cNvSpPr>
          <p:nvPr>
            <p:ph type="body" sz="quarter" idx="20" hasCustomPrompt="1"/>
          </p:nvPr>
        </p:nvSpPr>
        <p:spPr>
          <a:xfrm>
            <a:off x="4798800" y="4229687"/>
            <a:ext cx="3984838"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2"/>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3"/>
          </p:nvPr>
        </p:nvSpPr>
        <p:spPr/>
        <p:txBody>
          <a:bodyPr/>
          <a:lstStyle>
            <a:lvl1pPr>
              <a:defRPr/>
            </a:lvl1pPr>
          </a:lstStyle>
          <a:p>
            <a:r>
              <a:rPr lang="en-GB"/>
              <a:t>16x9 core template</a:t>
            </a:r>
          </a:p>
        </p:txBody>
      </p:sp>
      <p:sp>
        <p:nvSpPr>
          <p:cNvPr id="8" name="Slide Number Placeholder 7"/>
          <p:cNvSpPr>
            <a:spLocks noGrp="1"/>
          </p:cNvSpPr>
          <p:nvPr>
            <p:ph type="sldNum" sz="quarter" idx="34"/>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618036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Standard (4x3)">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363400" y="1193800"/>
            <a:ext cx="4417200" cy="3311525"/>
          </a:xfrm>
          <a:prstGeom prst="rect">
            <a:avLst/>
          </a:prstGeom>
        </p:spPr>
        <p:txBody>
          <a:bodyPr lIns="108000" tIns="108000"/>
          <a:lstStyle>
            <a:lvl1pPr marL="0" indent="0">
              <a:buNone/>
              <a:defRPr baseline="0">
                <a:solidFill>
                  <a:schemeClr val="tx1"/>
                </a:solidFill>
              </a:defRPr>
            </a:lvl1pPr>
          </a:lstStyle>
          <a:p>
            <a:r>
              <a:rPr lang="en-GB"/>
              <a:t>Click on the film icon to insert your Standard (4x3 video)</a:t>
            </a:r>
          </a:p>
        </p:txBody>
      </p:sp>
      <p:sp>
        <p:nvSpPr>
          <p:cNvPr id="2" name="Title 1"/>
          <p:cNvSpPr>
            <a:spLocks noGrp="1"/>
          </p:cNvSpPr>
          <p:nvPr>
            <p:ph type="title" hasCustomPrompt="1"/>
          </p:nvPr>
        </p:nvSpPr>
        <p:spPr/>
        <p:txBody>
          <a:bodyPr/>
          <a:lstStyle/>
          <a:p>
            <a:r>
              <a:rPr lang="en-US"/>
              <a:t>Click to edit Master heading style</a:t>
            </a:r>
            <a:endParaRPr lang="en-GB"/>
          </a:p>
        </p:txBody>
      </p:sp>
      <p:sp>
        <p:nvSpPr>
          <p:cNvPr id="3" name="Date Placeholder 2"/>
          <p:cNvSpPr>
            <a:spLocks noGrp="1"/>
          </p:cNvSpPr>
          <p:nvPr>
            <p:ph type="dt" sz="half" idx="15"/>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16"/>
          </p:nvPr>
        </p:nvSpPr>
        <p:spPr/>
        <p:txBody>
          <a:bodyPr/>
          <a:lstStyle>
            <a:lvl1pPr>
              <a:defRPr/>
            </a:lvl1pPr>
          </a:lstStyle>
          <a:p>
            <a:r>
              <a:rPr lang="en-GB"/>
              <a:t>16x9 core template</a:t>
            </a:r>
          </a:p>
        </p:txBody>
      </p:sp>
      <p:sp>
        <p:nvSpPr>
          <p:cNvPr id="9" name="Slide Number Placeholder 8"/>
          <p:cNvSpPr>
            <a:spLocks noGrp="1"/>
          </p:cNvSpPr>
          <p:nvPr>
            <p:ph type="sldNum" sz="quarter" idx="17"/>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851349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1627200" y="1193800"/>
            <a:ext cx="5889600" cy="3312000"/>
          </a:xfrm>
          <a:prstGeom prst="rect">
            <a:avLst/>
          </a:prstGeom>
        </p:spPr>
        <p:txBody>
          <a:bodyPr lIns="108000" tIns="108000"/>
          <a:lstStyle>
            <a:lvl1pPr marL="0" indent="0">
              <a:buNone/>
              <a:defRPr baseline="0">
                <a:solidFill>
                  <a:schemeClr val="tx1"/>
                </a:solidFill>
              </a:defRPr>
            </a:lvl1pPr>
          </a:lstStyle>
          <a:p>
            <a:r>
              <a:rPr lang="en-GB"/>
              <a:t>Click on the film icon to insert your widescreen (16x9)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2" name="Date Placeholder 1"/>
          <p:cNvSpPr>
            <a:spLocks noGrp="1"/>
          </p:cNvSpPr>
          <p:nvPr>
            <p:ph type="dt" sz="half" idx="17"/>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18"/>
          </p:nvPr>
        </p:nvSpPr>
        <p:spPr/>
        <p:txBody>
          <a:bodyPr/>
          <a:lstStyle>
            <a:lvl1pPr>
              <a:defRPr/>
            </a:lvl1pPr>
          </a:lstStyle>
          <a:p>
            <a:r>
              <a:rPr lang="en-GB"/>
              <a:t>16x9 core template</a:t>
            </a:r>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59932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nd Non Bulleted Text">
    <p:spTree>
      <p:nvGrpSpPr>
        <p:cNvPr id="1" name=""/>
        <p:cNvGrpSpPr/>
        <p:nvPr/>
      </p:nvGrpSpPr>
      <p:grpSpPr>
        <a:xfrm>
          <a:off x="0" y="0"/>
          <a:ext cx="0" cy="0"/>
          <a:chOff x="0" y="0"/>
          <a:chExt cx="0" cy="0"/>
        </a:xfrm>
      </p:grpSpPr>
      <p:sp>
        <p:nvSpPr>
          <p:cNvPr id="16" name="Text Placeholder 6"/>
          <p:cNvSpPr>
            <a:spLocks noGrp="1"/>
          </p:cNvSpPr>
          <p:nvPr>
            <p:ph type="body" sz="quarter" idx="13"/>
          </p:nvPr>
        </p:nvSpPr>
        <p:spPr>
          <a:xfrm>
            <a:off x="359153" y="1193239"/>
            <a:ext cx="3979484" cy="3310128"/>
          </a:xfrm>
          <a:prstGeom prst="rect">
            <a:avLst/>
          </a:prstGeom>
        </p:spPr>
        <p:txBody>
          <a:bodyPr lIns="0"/>
          <a:lstStyle>
            <a:lvl1pPr marL="0" indent="0">
              <a:buNone/>
              <a:defRPr/>
            </a:lvl1pPr>
          </a:lstStyle>
          <a:p>
            <a:pPr lvl="0"/>
            <a:r>
              <a:rPr lang="en-US"/>
              <a:t>Click to edit Master text styles</a:t>
            </a:r>
          </a:p>
        </p:txBody>
      </p:sp>
      <p:sp>
        <p:nvSpPr>
          <p:cNvPr id="6" name="Title 5"/>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4798800" y="1193799"/>
            <a:ext cx="3982697" cy="3309567"/>
          </a:xfrm>
          <a:prstGeom prst="rect">
            <a:avLst/>
          </a:prstGeom>
        </p:spPr>
        <p:txBody>
          <a:bodyPr lIns="0" tIns="0"/>
          <a:lstStyle>
            <a:lvl1pPr marL="0" indent="0">
              <a:buNone/>
              <a:defRPr sz="1100" baseline="0"/>
            </a:lvl1pPr>
          </a:lstStyle>
          <a:p>
            <a:r>
              <a:rPr lang="en-GB"/>
              <a:t>Click on the picture icon to insert your picture</a:t>
            </a:r>
          </a:p>
        </p:txBody>
      </p:sp>
    </p:spTree>
    <p:extLst>
      <p:ext uri="{BB962C8B-B14F-4D97-AF65-F5344CB8AC3E}">
        <p14:creationId xmlns:p14="http://schemas.microsoft.com/office/powerpoint/2010/main" val="41240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4798800" y="1193799"/>
            <a:ext cx="3982697" cy="3309567"/>
          </a:xfrm>
          <a:prstGeom prst="rect">
            <a:avLst/>
          </a:prstGeom>
        </p:spPr>
        <p:txBody>
          <a:bodyPr lIns="0" tIns="0"/>
          <a:lstStyle>
            <a:lvl1pPr marL="0" indent="0">
              <a:buNone/>
              <a:defRPr sz="1100" baseline="0"/>
            </a:lvl1pPr>
          </a:lstStyle>
          <a:p>
            <a:r>
              <a:rPr lang="en-GB"/>
              <a:t>Click on the picture icon to insert your picture</a:t>
            </a:r>
          </a:p>
        </p:txBody>
      </p:sp>
      <p:sp>
        <p:nvSpPr>
          <p:cNvPr id="9" name="Text Placeholder 6"/>
          <p:cNvSpPr>
            <a:spLocks noGrp="1"/>
          </p:cNvSpPr>
          <p:nvPr>
            <p:ph type="body" sz="quarter" idx="13"/>
          </p:nvPr>
        </p:nvSpPr>
        <p:spPr>
          <a:xfrm>
            <a:off x="359152" y="1190625"/>
            <a:ext cx="3986213" cy="3312741"/>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90162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p:txBody>
          <a:bodyPr/>
          <a:lstStyle/>
          <a:p>
            <a:r>
              <a:rPr lang="en-US"/>
              <a:t>Click to edit Master heading style</a:t>
            </a:r>
            <a:endParaRPr lang="en-GB"/>
          </a:p>
        </p:txBody>
      </p:sp>
      <p:sp>
        <p:nvSpPr>
          <p:cNvPr id="19" name="Text Placeholder 6"/>
          <p:cNvSpPr>
            <a:spLocks noGrp="1"/>
          </p:cNvSpPr>
          <p:nvPr>
            <p:ph type="body" sz="quarter" idx="13"/>
          </p:nvPr>
        </p:nvSpPr>
        <p:spPr>
          <a:xfrm>
            <a:off x="359152" y="1190625"/>
            <a:ext cx="3986213" cy="3312741"/>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Picture Placeholder 8"/>
          <p:cNvSpPr>
            <a:spLocks noGrp="1" noChangeAspect="1"/>
          </p:cNvSpPr>
          <p:nvPr>
            <p:ph type="pic" sz="quarter" idx="14" hasCustomPrompt="1"/>
          </p:nvPr>
        </p:nvSpPr>
        <p:spPr>
          <a:xfrm>
            <a:off x="4798800" y="1190626"/>
            <a:ext cx="3996794" cy="1228724"/>
          </a:xfrm>
          <a:prstGeom prst="rect">
            <a:avLst/>
          </a:prstGeom>
        </p:spPr>
        <p:txBody>
          <a:bodyPr lIns="0" tIns="0"/>
          <a:lstStyle>
            <a:lvl1pPr marL="0" indent="0">
              <a:buNone/>
              <a:defRPr sz="1100" baseline="0"/>
            </a:lvl1pPr>
          </a:lstStyle>
          <a:p>
            <a:r>
              <a:rPr lang="en-GB"/>
              <a:t>Click on the picture icon to insert your picture</a:t>
            </a:r>
          </a:p>
        </p:txBody>
      </p:sp>
      <p:sp>
        <p:nvSpPr>
          <p:cNvPr id="21" name="Text Placeholder 7"/>
          <p:cNvSpPr>
            <a:spLocks noGrp="1"/>
          </p:cNvSpPr>
          <p:nvPr>
            <p:ph type="body" sz="quarter" idx="26" hasCustomPrompt="1"/>
          </p:nvPr>
        </p:nvSpPr>
        <p:spPr>
          <a:xfrm>
            <a:off x="4798800" y="2517776"/>
            <a:ext cx="3996266" cy="253999"/>
          </a:xfrm>
          <a:prstGeom prst="rect">
            <a:avLst/>
          </a:prstGeom>
        </p:spPr>
        <p:txBody>
          <a:bodyPr lIns="0" tIns="0" rIns="0" bIns="0"/>
          <a:lstStyle>
            <a:lvl1pPr marL="0" indent="0">
              <a:spcAft>
                <a:spcPts val="0"/>
              </a:spcAft>
              <a:buNone/>
              <a:defRPr sz="800">
                <a:solidFill>
                  <a:schemeClr val="accent1"/>
                </a:solidFill>
              </a:defRPr>
            </a:lvl1pPr>
            <a:lvl2pPr marL="268163" indent="0">
              <a:buNone/>
              <a:defRPr sz="800">
                <a:solidFill>
                  <a:schemeClr val="bg2"/>
                </a:solidFill>
              </a:defRPr>
            </a:lvl2pPr>
            <a:lvl3pPr marL="540000" indent="0">
              <a:buNone/>
              <a:defRPr sz="800">
                <a:solidFill>
                  <a:schemeClr val="bg2"/>
                </a:solidFill>
              </a:defRPr>
            </a:lvl3pPr>
            <a:lvl4pPr marL="811088" indent="0">
              <a:buNone/>
              <a:defRPr sz="800">
                <a:solidFill>
                  <a:schemeClr val="bg2"/>
                </a:solidFill>
              </a:defRPr>
            </a:lvl4pPr>
            <a:lvl5pPr marL="1080000" indent="0">
              <a:buNone/>
              <a:defRPr sz="800">
                <a:solidFill>
                  <a:schemeClr val="bg2"/>
                </a:solidFill>
              </a:defRPr>
            </a:lvl5pPr>
          </a:lstStyle>
          <a:p>
            <a:pPr lvl="0"/>
            <a:r>
              <a:rPr lang="en-US"/>
              <a:t>Enter your image caption text here</a:t>
            </a:r>
          </a:p>
        </p:txBody>
      </p:sp>
      <p:sp>
        <p:nvSpPr>
          <p:cNvPr id="35" name="Picture Placeholder 8"/>
          <p:cNvSpPr>
            <a:spLocks noGrp="1" noChangeAspect="1"/>
          </p:cNvSpPr>
          <p:nvPr>
            <p:ph type="pic" sz="quarter" idx="27" hasCustomPrompt="1"/>
          </p:nvPr>
        </p:nvSpPr>
        <p:spPr>
          <a:xfrm>
            <a:off x="4798800" y="2922217"/>
            <a:ext cx="3996794" cy="1228724"/>
          </a:xfrm>
          <a:prstGeom prst="rect">
            <a:avLst/>
          </a:prstGeom>
        </p:spPr>
        <p:txBody>
          <a:bodyPr lIns="0" tIns="0"/>
          <a:lstStyle>
            <a:lvl1pPr marL="0" indent="0">
              <a:buNone/>
              <a:defRPr sz="1100" baseline="0"/>
            </a:lvl1pPr>
          </a:lstStyle>
          <a:p>
            <a:r>
              <a:rPr lang="en-GB"/>
              <a:t>Click on the picture icon to insert your picture</a:t>
            </a:r>
          </a:p>
        </p:txBody>
      </p:sp>
      <p:sp>
        <p:nvSpPr>
          <p:cNvPr id="36" name="Text Placeholder 7"/>
          <p:cNvSpPr>
            <a:spLocks noGrp="1"/>
          </p:cNvSpPr>
          <p:nvPr>
            <p:ph type="body" sz="quarter" idx="28" hasCustomPrompt="1"/>
          </p:nvPr>
        </p:nvSpPr>
        <p:spPr>
          <a:xfrm>
            <a:off x="4798800" y="4249367"/>
            <a:ext cx="3996266" cy="253999"/>
          </a:xfrm>
          <a:prstGeom prst="rect">
            <a:avLst/>
          </a:prstGeom>
        </p:spPr>
        <p:txBody>
          <a:bodyPr lIns="0" tIns="0" rIns="0" bIns="0"/>
          <a:lstStyle>
            <a:lvl1pPr marL="0" indent="0">
              <a:spcAft>
                <a:spcPts val="0"/>
              </a:spcAft>
              <a:buNone/>
              <a:defRPr sz="800">
                <a:solidFill>
                  <a:schemeClr val="accent1"/>
                </a:solidFill>
              </a:defRPr>
            </a:lvl1pPr>
            <a:lvl2pPr marL="268163" indent="0">
              <a:buNone/>
              <a:defRPr sz="800">
                <a:solidFill>
                  <a:schemeClr val="bg2"/>
                </a:solidFill>
              </a:defRPr>
            </a:lvl2pPr>
            <a:lvl3pPr marL="540000" indent="0">
              <a:buNone/>
              <a:defRPr sz="800">
                <a:solidFill>
                  <a:schemeClr val="bg2"/>
                </a:solidFill>
              </a:defRPr>
            </a:lvl3pPr>
            <a:lvl4pPr marL="811088" indent="0">
              <a:buNone/>
              <a:defRPr sz="800">
                <a:solidFill>
                  <a:schemeClr val="bg2"/>
                </a:solidFill>
              </a:defRPr>
            </a:lvl4pPr>
            <a:lvl5pPr marL="1080000" indent="0">
              <a:buNone/>
              <a:defRPr sz="800">
                <a:solidFill>
                  <a:schemeClr val="bg2"/>
                </a:solidFill>
              </a:defRPr>
            </a:lvl5pPr>
          </a:lstStyle>
          <a:p>
            <a:pPr lvl="0"/>
            <a:r>
              <a:rPr lang="en-US"/>
              <a:t>Enter your image caption text here</a:t>
            </a:r>
          </a:p>
        </p:txBody>
      </p:sp>
      <p:sp>
        <p:nvSpPr>
          <p:cNvPr id="37" name="Text Placeholder 2"/>
          <p:cNvSpPr>
            <a:spLocks noGrp="1"/>
          </p:cNvSpPr>
          <p:nvPr>
            <p:ph type="body" sz="quarter" idx="29"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5" name="Date Placeholder 4"/>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127212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769190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cxnSp>
        <p:nvCxnSpPr>
          <p:cNvPr id="12" name="Straight Connector 11"/>
          <p:cNvCxnSpPr/>
          <p:nvPr userDrawn="1"/>
        </p:nvCxnSpPr>
        <p:spPr>
          <a:xfrm>
            <a:off x="359152" y="4599183"/>
            <a:ext cx="842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11"/>
          </p:nvPr>
        </p:nvSpPr>
        <p:spPr/>
        <p:txBody>
          <a:bodyPr/>
          <a:lstStyle>
            <a:lvl1pPr>
              <a:defRPr/>
            </a:lvl1pPr>
          </a:lstStyle>
          <a:p>
            <a:r>
              <a:rPr lang="en-GB"/>
              <a:t>16x9 core template</a:t>
            </a:r>
          </a:p>
        </p:txBody>
      </p:sp>
      <p:sp>
        <p:nvSpPr>
          <p:cNvPr id="7" name="Slide Number Placeholder 6"/>
          <p:cNvSpPr>
            <a:spLocks noGrp="1"/>
          </p:cNvSpPr>
          <p:nvPr>
            <p:ph type="sldNum" sz="quarter" idx="1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448223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ORANGE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360000" y="3743011"/>
            <a:ext cx="8193024" cy="400110"/>
          </a:xfrm>
          <a:prstGeom prst="rect">
            <a:avLst/>
          </a:prstGeom>
        </p:spPr>
        <p:txBody>
          <a:bodyPr lIns="0" anchor="t" anchorCtr="0">
            <a:spAutoFit/>
          </a:bodyPr>
          <a:lstStyle>
            <a:lvl1pPr marL="0" marR="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sz="2200" i="0">
                <a:solidFill>
                  <a:schemeClr val="bg2"/>
                </a:solidFill>
                <a:latin typeface="+mn-lt"/>
              </a:defRPr>
            </a:lvl1pPr>
            <a:lvl2pPr marL="271463" indent="0">
              <a:spcAft>
                <a:spcPts val="0"/>
              </a:spcAft>
              <a:buNone/>
              <a:defRPr>
                <a:solidFill>
                  <a:schemeClr val="bg1"/>
                </a:solidFill>
              </a:defRPr>
            </a:lvl2pPr>
            <a:lvl3pPr marL="533400" indent="0">
              <a:spcAft>
                <a:spcPts val="0"/>
              </a:spcAft>
              <a:buNone/>
              <a:defRPr>
                <a:solidFill>
                  <a:schemeClr val="bg1"/>
                </a:solidFill>
              </a:defRPr>
            </a:lvl3pPr>
            <a:lvl4pPr marL="815975" indent="0">
              <a:spcAft>
                <a:spcPts val="0"/>
              </a:spcAft>
              <a:buNone/>
              <a:defRPr>
                <a:solidFill>
                  <a:schemeClr val="bg1"/>
                </a:solidFill>
              </a:defRPr>
            </a:lvl4pPr>
            <a:lvl5pPr marL="1104900" indent="0">
              <a:spcAft>
                <a:spcPts val="0"/>
              </a:spcAft>
              <a:buNone/>
              <a:defRPr>
                <a:solidFill>
                  <a:schemeClr val="bg1"/>
                </a:solidFill>
              </a:defRPr>
            </a:lvl5pPr>
          </a:lstStyle>
          <a:p>
            <a:pPr marL="0" marR="0" lvl="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360000" y="2840385"/>
            <a:ext cx="8196702" cy="823302"/>
          </a:xfrm>
          <a:prstGeom prst="rect">
            <a:avLst/>
          </a:prstGeom>
        </p:spPr>
        <p:txBody>
          <a:bodyPr wrap="square" lIns="0" anchor="b" anchorCtr="0">
            <a:spAutoFit/>
          </a:bodyPr>
          <a:lstStyle>
            <a:lvl1pPr marL="0" indent="0">
              <a:lnSpc>
                <a:spcPts val="5700"/>
              </a:lnSpc>
              <a:spcAft>
                <a:spcPts val="0"/>
              </a:spcAft>
              <a:buNone/>
              <a:defRPr sz="5500" b="1">
                <a:solidFill>
                  <a:schemeClr val="bg2"/>
                </a:solidFill>
              </a:defRPr>
            </a:lvl1pPr>
            <a:lvl2pPr marL="271463" indent="0">
              <a:buNone/>
              <a:defRPr sz="2600" b="1">
                <a:solidFill>
                  <a:schemeClr val="bg1"/>
                </a:solidFill>
              </a:defRPr>
            </a:lvl2pPr>
            <a:lvl3pPr marL="533400" indent="0">
              <a:buNone/>
              <a:defRPr sz="2600" b="1">
                <a:solidFill>
                  <a:schemeClr val="bg1"/>
                </a:solidFill>
              </a:defRPr>
            </a:lvl3pPr>
            <a:lvl4pPr marL="815975" indent="0">
              <a:buNone/>
              <a:defRPr sz="2600" b="1">
                <a:solidFill>
                  <a:schemeClr val="bg1"/>
                </a:solidFill>
              </a:defRPr>
            </a:lvl4pPr>
            <a:lvl5pPr marL="1104900" indent="0">
              <a:buNone/>
              <a:defRPr sz="2600"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GREY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360000" y="3743011"/>
            <a:ext cx="8193024" cy="400110"/>
          </a:xfrm>
          <a:prstGeom prst="rect">
            <a:avLst/>
          </a:prstGeom>
        </p:spPr>
        <p:txBody>
          <a:bodyPr lIns="0" anchor="t" anchorCtr="0">
            <a:spAutoFit/>
          </a:bodyPr>
          <a:lstStyle>
            <a:lvl1pPr marL="0" marR="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sz="2200" i="0">
                <a:solidFill>
                  <a:schemeClr val="tx1"/>
                </a:solidFill>
                <a:latin typeface="+mn-lt"/>
              </a:defRPr>
            </a:lvl1pPr>
            <a:lvl2pPr marL="271463" indent="0">
              <a:spcAft>
                <a:spcPts val="0"/>
              </a:spcAft>
              <a:buNone/>
              <a:defRPr>
                <a:solidFill>
                  <a:schemeClr val="bg1"/>
                </a:solidFill>
              </a:defRPr>
            </a:lvl2pPr>
            <a:lvl3pPr marL="533400" indent="0">
              <a:spcAft>
                <a:spcPts val="0"/>
              </a:spcAft>
              <a:buNone/>
              <a:defRPr>
                <a:solidFill>
                  <a:schemeClr val="bg1"/>
                </a:solidFill>
              </a:defRPr>
            </a:lvl3pPr>
            <a:lvl4pPr marL="815975" indent="0">
              <a:spcAft>
                <a:spcPts val="0"/>
              </a:spcAft>
              <a:buNone/>
              <a:defRPr>
                <a:solidFill>
                  <a:schemeClr val="bg1"/>
                </a:solidFill>
              </a:defRPr>
            </a:lvl4pPr>
            <a:lvl5pPr marL="1104900" indent="0">
              <a:spcAft>
                <a:spcPts val="0"/>
              </a:spcAft>
              <a:buNone/>
              <a:defRPr>
                <a:solidFill>
                  <a:schemeClr val="bg1"/>
                </a:solidFill>
              </a:defRPr>
            </a:lvl5pPr>
          </a:lstStyle>
          <a:p>
            <a:pPr marL="0" marR="0" lvl="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360000" y="2840385"/>
            <a:ext cx="8196702" cy="823302"/>
          </a:xfrm>
          <a:prstGeom prst="rect">
            <a:avLst/>
          </a:prstGeom>
        </p:spPr>
        <p:txBody>
          <a:bodyPr wrap="square" lIns="0" anchor="b" anchorCtr="0">
            <a:spAutoFit/>
          </a:bodyPr>
          <a:lstStyle>
            <a:lvl1pPr marL="0" indent="0">
              <a:lnSpc>
                <a:spcPts val="5700"/>
              </a:lnSpc>
              <a:spcAft>
                <a:spcPts val="0"/>
              </a:spcAft>
              <a:buNone/>
              <a:defRPr sz="5500" b="1">
                <a:solidFill>
                  <a:schemeClr val="tx1"/>
                </a:solidFill>
              </a:defRPr>
            </a:lvl1pPr>
            <a:lvl2pPr marL="271463" indent="0">
              <a:buNone/>
              <a:defRPr sz="2600" b="1">
                <a:solidFill>
                  <a:schemeClr val="bg1"/>
                </a:solidFill>
              </a:defRPr>
            </a:lvl2pPr>
            <a:lvl3pPr marL="533400" indent="0">
              <a:buNone/>
              <a:defRPr sz="2600" b="1">
                <a:solidFill>
                  <a:schemeClr val="bg1"/>
                </a:solidFill>
              </a:defRPr>
            </a:lvl3pPr>
            <a:lvl4pPr marL="815975" indent="0">
              <a:buNone/>
              <a:defRPr sz="2600" b="1">
                <a:solidFill>
                  <a:schemeClr val="bg1"/>
                </a:solidFill>
              </a:defRPr>
            </a:lvl4pPr>
            <a:lvl5pPr marL="1104900" indent="0">
              <a:buNone/>
              <a:defRPr sz="2600"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510161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INNOVATION White">
    <p:spTree>
      <p:nvGrpSpPr>
        <p:cNvPr id="1" name=""/>
        <p:cNvGrpSpPr/>
        <p:nvPr/>
      </p:nvGrpSpPr>
      <p:grpSpPr>
        <a:xfrm>
          <a:off x="0" y="0"/>
          <a:ext cx="0" cy="0"/>
          <a:chOff x="0" y="0"/>
          <a:chExt cx="0" cy="0"/>
        </a:xfrm>
      </p:grpSpPr>
      <p:sp>
        <p:nvSpPr>
          <p:cNvPr id="6" name="TextBox 5"/>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a:solidFill>
                  <a:schemeClr val="accent5"/>
                </a:solidFill>
              </a:rPr>
              <a:t>Innovation</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1813097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ERFORMANCE White">
    <p:spTree>
      <p:nvGrpSpPr>
        <p:cNvPr id="1" name=""/>
        <p:cNvGrpSpPr/>
        <p:nvPr/>
      </p:nvGrpSpPr>
      <p:grpSpPr>
        <a:xfrm>
          <a:off x="0" y="0"/>
          <a:ext cx="0" cy="0"/>
          <a:chOff x="0" y="0"/>
          <a:chExt cx="0" cy="0"/>
        </a:xfrm>
      </p:grpSpPr>
      <p:sp>
        <p:nvSpPr>
          <p:cNvPr id="8" name="TextBox 7"/>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marL="0" marR="0" lvl="0" indent="0" algn="l" defTabSz="914400" rtl="0" eaLnBrk="1" fontAlgn="auto" latinLnBrk="0" hangingPunct="1">
              <a:lnSpc>
                <a:spcPts val="7200"/>
              </a:lnSpc>
              <a:spcBef>
                <a:spcPts val="0"/>
              </a:spcBef>
              <a:spcAft>
                <a:spcPts val="0"/>
              </a:spcAft>
              <a:buClr>
                <a:schemeClr val="tx1"/>
              </a:buClr>
              <a:buSzTx/>
              <a:buFont typeface="Arial" pitchFamily="34" charset="0"/>
              <a:buNone/>
              <a:tabLst/>
              <a:defRPr/>
            </a:pPr>
            <a:r>
              <a:rPr lang="en-US">
                <a:solidFill>
                  <a:schemeClr val="accent4"/>
                </a:solidFill>
              </a:rPr>
              <a:t>Pe</a:t>
            </a:r>
            <a:r>
              <a:rPr lang="en-US" spc="500" baseline="0">
                <a:solidFill>
                  <a:schemeClr val="accent4"/>
                </a:solidFill>
              </a:rPr>
              <a:t>r</a:t>
            </a:r>
            <a:r>
              <a:rPr lang="en-US">
                <a:solidFill>
                  <a:schemeClr val="accent4"/>
                </a:solidFill>
              </a:rPr>
              <a:t>formance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251056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TRUST White">
    <p:spTree>
      <p:nvGrpSpPr>
        <p:cNvPr id="1" name=""/>
        <p:cNvGrpSpPr/>
        <p:nvPr/>
      </p:nvGrpSpPr>
      <p:grpSpPr>
        <a:xfrm>
          <a:off x="0" y="0"/>
          <a:ext cx="0" cy="0"/>
          <a:chOff x="0" y="0"/>
          <a:chExt cx="0" cy="0"/>
        </a:xfrm>
      </p:grpSpPr>
      <p:sp>
        <p:nvSpPr>
          <p:cNvPr id="6" name="TextBox 5"/>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a:solidFill>
                  <a:schemeClr val="accent3"/>
                </a:solidFill>
              </a:rPr>
              <a:t>Trust</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1477977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359152" y="1192387"/>
            <a:ext cx="8423275" cy="3257559"/>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4" name="Title 3"/>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552729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59152" y="4704001"/>
            <a:ext cx="2565024" cy="273844"/>
          </a:xfrm>
          <a:prstGeom prst="rect">
            <a:avLst/>
          </a:prstGeom>
        </p:spPr>
        <p:txBody>
          <a:bodyPr vert="horz" lIns="0" tIns="0" rIns="0" bIns="0" rtlCol="0" anchor="t" anchorCtr="0"/>
          <a:lstStyle>
            <a:lvl1pPr algn="l">
              <a:defRPr sz="800">
                <a:solidFill>
                  <a:schemeClr val="tx1"/>
                </a:solidFill>
              </a:defRPr>
            </a:lvl1pPr>
          </a:lstStyle>
          <a:p>
            <a:r>
              <a:rPr lang="en-GB"/>
              <a:t>16x9 core template</a:t>
            </a:r>
          </a:p>
        </p:txBody>
      </p:sp>
      <p:sp>
        <p:nvSpPr>
          <p:cNvPr id="6" name="Slide Number Placeholder 5"/>
          <p:cNvSpPr>
            <a:spLocks noGrp="1"/>
          </p:cNvSpPr>
          <p:nvPr>
            <p:ph type="sldNum" sz="quarter" idx="4"/>
          </p:nvPr>
        </p:nvSpPr>
        <p:spPr>
          <a:xfrm>
            <a:off x="7953029" y="4704001"/>
            <a:ext cx="830123" cy="273844"/>
          </a:xfrm>
          <a:prstGeom prst="rect">
            <a:avLst/>
          </a:prstGeom>
        </p:spPr>
        <p:txBody>
          <a:bodyPr vert="horz" lIns="72000" tIns="0" rIns="0" bIns="0" rtlCol="0" anchor="t" anchorCtr="0"/>
          <a:lstStyle>
            <a:lvl1pPr algn="r">
              <a:defRPr sz="8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59152" y="288639"/>
            <a:ext cx="7577139" cy="338554"/>
          </a:xfrm>
          <a:prstGeom prst="rect">
            <a:avLst/>
          </a:prstGeom>
        </p:spPr>
        <p:txBody>
          <a:bodyPr vert="horz" lIns="0" tIns="0" rIns="0" bIns="0" rtlCol="0" anchor="t" anchorCtr="0">
            <a:spAutoFit/>
          </a:bodyPr>
          <a:lstStyle/>
          <a:p>
            <a:r>
              <a:rPr lang="en-US"/>
              <a:t>Click to edit Master heading style</a:t>
            </a:r>
            <a:endParaRPr lang="en-GB"/>
          </a:p>
        </p:txBody>
      </p:sp>
      <p:sp>
        <p:nvSpPr>
          <p:cNvPr id="7" name="Date Placeholder 6"/>
          <p:cNvSpPr>
            <a:spLocks noGrp="1"/>
          </p:cNvSpPr>
          <p:nvPr>
            <p:ph type="dt" sz="half" idx="2"/>
          </p:nvPr>
        </p:nvSpPr>
        <p:spPr>
          <a:xfrm>
            <a:off x="2985247" y="4704001"/>
            <a:ext cx="3164730" cy="273844"/>
          </a:xfrm>
          <a:prstGeom prst="rect">
            <a:avLst/>
          </a:prstGeom>
        </p:spPr>
        <p:txBody>
          <a:bodyPr vert="horz" lIns="72000" tIns="0" rIns="72000" bIns="0" rtlCol="0" anchor="t" anchorCtr="1"/>
          <a:lstStyle>
            <a:lvl1pPr algn="l">
              <a:defRPr sz="800">
                <a:solidFill>
                  <a:schemeClr val="tx1"/>
                </a:solidFill>
              </a:defRPr>
            </a:lvl1pPr>
          </a:lstStyle>
          <a:p>
            <a:pPr algn="ctr"/>
            <a:r>
              <a:rPr lang="en-US"/>
              <a:t>Insert your date / confidentiality text here</a:t>
            </a:r>
            <a:endParaRPr lang="en-GB"/>
          </a:p>
        </p:txBody>
      </p:sp>
      <p:cxnSp>
        <p:nvCxnSpPr>
          <p:cNvPr id="10" name="Straight Connector 9"/>
          <p:cNvCxnSpPr/>
          <p:nvPr userDrawn="1"/>
        </p:nvCxnSpPr>
        <p:spPr>
          <a:xfrm>
            <a:off x="359152" y="4599183"/>
            <a:ext cx="842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359152" y="1078541"/>
            <a:ext cx="8424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4260756284"/>
      </p:ext>
    </p:extLst>
  </p:cSld>
  <p:clrMap bg1="lt1" tx1="dk1" bg2="lt2" tx2="dk2" accent1="accent1" accent2="accent2" accent3="accent3" accent4="accent4" accent5="accent5" accent6="accent6" hlink="hlink" folHlink="folHlink"/>
  <p:sldLayoutIdLst>
    <p:sldLayoutId id="2147483742" r:id="rId1"/>
    <p:sldLayoutId id="2147483741" r:id="rId2"/>
    <p:sldLayoutId id="2147483759" r:id="rId3"/>
    <p:sldLayoutId id="2147483663" r:id="rId4"/>
    <p:sldLayoutId id="2147483665" r:id="rId5"/>
    <p:sldLayoutId id="2147483664" r:id="rId6"/>
    <p:sldLayoutId id="2147483668" r:id="rId7"/>
    <p:sldLayoutId id="2147483669" r:id="rId8"/>
    <p:sldLayoutId id="2147483670" r:id="rId9"/>
    <p:sldLayoutId id="2147483671" r:id="rId10"/>
    <p:sldLayoutId id="2147483730" r:id="rId11"/>
    <p:sldLayoutId id="2147483728" r:id="rId12"/>
    <p:sldLayoutId id="2147483673" r:id="rId13"/>
    <p:sldLayoutId id="2147483674" r:id="rId14"/>
    <p:sldLayoutId id="2147483675" r:id="rId15"/>
    <p:sldLayoutId id="2147483747" r:id="rId16"/>
    <p:sldLayoutId id="2147483760" r:id="rId17"/>
    <p:sldLayoutId id="2147483723" r:id="rId18"/>
    <p:sldLayoutId id="2147483724" r:id="rId19"/>
    <p:sldLayoutId id="2147483725" r:id="rId20"/>
    <p:sldLayoutId id="2147483761" r:id="rId21"/>
  </p:sldLayoutIdLst>
  <p:hf hdr="0"/>
  <p:txStyles>
    <p:titleStyle>
      <a:lvl1pPr algn="l" defTabSz="914400" rtl="0" eaLnBrk="1" latinLnBrk="0" hangingPunct="1">
        <a:lnSpc>
          <a:spcPct val="100000"/>
        </a:lnSpc>
        <a:spcBef>
          <a:spcPct val="0"/>
        </a:spcBef>
        <a:buNone/>
        <a:defRPr sz="2200" b="1" kern="1200">
          <a:solidFill>
            <a:schemeClr val="bg2"/>
          </a:solidFill>
          <a:latin typeface="+mj-lt"/>
          <a:ea typeface="+mj-ea"/>
          <a:cs typeface="+mj-cs"/>
        </a:defRPr>
      </a:lvl1pPr>
    </p:titleStyle>
    <p:body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5.pn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diagramData" Target="../diagrams/data5.xml"/><Relationship Id="rId3" Type="http://schemas.openxmlformats.org/officeDocument/2006/relationships/diagramData" Target="../diagrams/data2.xml"/><Relationship Id="rId21" Type="http://schemas.openxmlformats.org/officeDocument/2006/relationships/diagramColors" Target="../diagrams/colors5.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11.xml"/><Relationship Id="rId16" Type="http://schemas.openxmlformats.org/officeDocument/2006/relationships/diagramColors" Target="../diagrams/colors4.xml"/><Relationship Id="rId20" Type="http://schemas.openxmlformats.org/officeDocument/2006/relationships/diagramQuickStyle" Target="../diagrams/quickStyle5.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19" Type="http://schemas.openxmlformats.org/officeDocument/2006/relationships/diagramLayout" Target="../diagrams/layout5.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 Id="rId22" Type="http://schemas.microsoft.com/office/2007/relationships/diagramDrawing" Target="../diagrams/drawing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endParaRPr lang="en-US"/>
          </a:p>
        </p:txBody>
      </p:sp>
      <p:sp>
        <p:nvSpPr>
          <p:cNvPr id="3" name="Text Placeholder 2"/>
          <p:cNvSpPr>
            <a:spLocks noGrp="1"/>
          </p:cNvSpPr>
          <p:nvPr>
            <p:ph type="body" sz="quarter" idx="10"/>
          </p:nvPr>
        </p:nvSpPr>
        <p:spPr>
          <a:xfrm>
            <a:off x="360000" y="2840385"/>
            <a:ext cx="8196702" cy="823302"/>
          </a:xfrm>
        </p:spPr>
        <p:txBody>
          <a:bodyPr wrap="square" lIns="0" tIns="45720" rIns="91440" bIns="45720" anchor="b" anchorCtr="0">
            <a:spAutoFit/>
          </a:bodyPr>
          <a:lstStyle/>
          <a:p>
            <a:r>
              <a:rPr lang="en-GB">
                <a:solidFill>
                  <a:schemeClr val="bg2"/>
                </a:solidFill>
              </a:rPr>
              <a:t>Multiplicity</a:t>
            </a:r>
          </a:p>
        </p:txBody>
      </p:sp>
    </p:spTree>
    <p:extLst>
      <p:ext uri="{BB962C8B-B14F-4D97-AF65-F5344CB8AC3E}">
        <p14:creationId xmlns:p14="http://schemas.microsoft.com/office/powerpoint/2010/main" val="3317367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E0A412-CA2E-4C97-862D-6A00020F16D1}"/>
              </a:ext>
            </a:extLst>
          </p:cNvPr>
          <p:cNvSpPr>
            <a:spLocks noGrp="1"/>
          </p:cNvSpPr>
          <p:nvPr>
            <p:ph type="body" sz="quarter" idx="14"/>
          </p:nvPr>
        </p:nvSpPr>
        <p:spPr/>
        <p:txBody>
          <a:bodyPr/>
          <a:lstStyle/>
          <a:p>
            <a:endParaRPr lang="en-GB"/>
          </a:p>
        </p:txBody>
      </p:sp>
      <p:sp>
        <p:nvSpPr>
          <p:cNvPr id="4" name="Text Placeholder 3">
            <a:extLst>
              <a:ext uri="{FF2B5EF4-FFF2-40B4-BE49-F238E27FC236}">
                <a16:creationId xmlns:a16="http://schemas.microsoft.com/office/drawing/2014/main" id="{5070BC36-4ADF-410E-9C03-7FA6A2E885DF}"/>
              </a:ext>
            </a:extLst>
          </p:cNvPr>
          <p:cNvSpPr>
            <a:spLocks noGrp="1"/>
          </p:cNvSpPr>
          <p:nvPr>
            <p:ph type="body" sz="quarter" idx="18"/>
          </p:nvPr>
        </p:nvSpPr>
        <p:spPr>
          <a:xfrm>
            <a:off x="355612" y="4313367"/>
            <a:ext cx="8424000" cy="215444"/>
          </a:xfrm>
        </p:spPr>
        <p:txBody>
          <a:bodyPr/>
          <a:lstStyle/>
          <a:p>
            <a:pPr algn="r"/>
            <a:r>
              <a:rPr lang="en-GB"/>
              <a:t>https://xkcd.com/882/</a:t>
            </a:r>
          </a:p>
        </p:txBody>
      </p:sp>
      <p:sp>
        <p:nvSpPr>
          <p:cNvPr id="5" name="Title 4">
            <a:extLst>
              <a:ext uri="{FF2B5EF4-FFF2-40B4-BE49-F238E27FC236}">
                <a16:creationId xmlns:a16="http://schemas.microsoft.com/office/drawing/2014/main" id="{64B68D38-8B91-495D-9614-7E427F6207A2}"/>
              </a:ext>
            </a:extLst>
          </p:cNvPr>
          <p:cNvSpPr>
            <a:spLocks noGrp="1"/>
          </p:cNvSpPr>
          <p:nvPr>
            <p:ph type="title"/>
          </p:nvPr>
        </p:nvSpPr>
        <p:spPr/>
        <p:txBody>
          <a:bodyPr/>
          <a:lstStyle/>
          <a:p>
            <a:r>
              <a:rPr lang="en-GB"/>
              <a:t>Multiplicity – why does it matter?</a:t>
            </a:r>
          </a:p>
        </p:txBody>
      </p:sp>
      <p:sp>
        <p:nvSpPr>
          <p:cNvPr id="8" name="Slide Number Placeholder 7">
            <a:extLst>
              <a:ext uri="{FF2B5EF4-FFF2-40B4-BE49-F238E27FC236}">
                <a16:creationId xmlns:a16="http://schemas.microsoft.com/office/drawing/2014/main" id="{F53FC52A-6F8F-4EA3-A246-42246A04245A}"/>
              </a:ext>
            </a:extLst>
          </p:cNvPr>
          <p:cNvSpPr>
            <a:spLocks noGrp="1"/>
          </p:cNvSpPr>
          <p:nvPr>
            <p:ph type="sldNum" sz="quarter" idx="21"/>
          </p:nvPr>
        </p:nvSpPr>
        <p:spPr/>
        <p:txBody>
          <a:bodyPr/>
          <a:lstStyle/>
          <a:p>
            <a:fld id="{9F9F533D-B52E-4A2F-BF72-0ADD2D94BD75}" type="slidenum">
              <a:rPr lang="en-GB" smtClean="0"/>
              <a:pPr/>
              <a:t>2</a:t>
            </a:fld>
            <a:endParaRPr lang="en-GB"/>
          </a:p>
        </p:txBody>
      </p:sp>
      <p:sp>
        <p:nvSpPr>
          <p:cNvPr id="13" name="Date Placeholder 1">
            <a:extLst>
              <a:ext uri="{FF2B5EF4-FFF2-40B4-BE49-F238E27FC236}">
                <a16:creationId xmlns:a16="http://schemas.microsoft.com/office/drawing/2014/main" id="{000D0124-14F8-4C3A-8E46-528206E46374}"/>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1028" name="Picture 4" descr="See the source image">
            <a:extLst>
              <a:ext uri="{FF2B5EF4-FFF2-40B4-BE49-F238E27FC236}">
                <a16:creationId xmlns:a16="http://schemas.microsoft.com/office/drawing/2014/main" id="{A4AACD47-F6AB-412F-BE8B-9D88192EFB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4587" y="1478246"/>
            <a:ext cx="2686050" cy="26860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e the source image">
            <a:extLst>
              <a:ext uri="{FF2B5EF4-FFF2-40B4-BE49-F238E27FC236}">
                <a16:creationId xmlns:a16="http://schemas.microsoft.com/office/drawing/2014/main" id="{BF302E48-244C-4F69-8749-CF84994E5AD6}"/>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8114520">
            <a:off x="2634231" y="2270358"/>
            <a:ext cx="1416642" cy="140450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ee the source image">
            <a:extLst>
              <a:ext uri="{FF2B5EF4-FFF2-40B4-BE49-F238E27FC236}">
                <a16:creationId xmlns:a16="http://schemas.microsoft.com/office/drawing/2014/main" id="{EDFBC05F-53FA-4C4B-BF02-5837FC3EA4FF}"/>
              </a:ext>
            </a:extLst>
          </p:cNvPr>
          <p:cNvPicPr>
            <a:picLocks noChangeAspect="1" noChangeArrowheads="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3485480" flipH="1">
            <a:off x="4847201" y="2147594"/>
            <a:ext cx="1416642" cy="140450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See the source image">
            <a:extLst>
              <a:ext uri="{FF2B5EF4-FFF2-40B4-BE49-F238E27FC236}">
                <a16:creationId xmlns:a16="http://schemas.microsoft.com/office/drawing/2014/main" id="{7D244082-04C5-4F8E-8742-70E6E1AB3B89}"/>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3485480" flipH="1">
            <a:off x="5323451" y="2438526"/>
            <a:ext cx="1416642" cy="140450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ee the source image">
            <a:extLst>
              <a:ext uri="{FF2B5EF4-FFF2-40B4-BE49-F238E27FC236}">
                <a16:creationId xmlns:a16="http://schemas.microsoft.com/office/drawing/2014/main" id="{3B5DB68D-E1AA-4C17-B1B7-AF7AB79C8472}"/>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3485480" flipH="1">
            <a:off x="4590653" y="1595025"/>
            <a:ext cx="1416642" cy="14045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See the source image">
            <a:extLst>
              <a:ext uri="{FF2B5EF4-FFF2-40B4-BE49-F238E27FC236}">
                <a16:creationId xmlns:a16="http://schemas.microsoft.com/office/drawing/2014/main" id="{2971D896-D0A9-4CEA-8835-2AEA446E1145}"/>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3485480" flipH="1">
            <a:off x="5202316" y="3081804"/>
            <a:ext cx="1416642" cy="140450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See the source image">
            <a:extLst>
              <a:ext uri="{FF2B5EF4-FFF2-40B4-BE49-F238E27FC236}">
                <a16:creationId xmlns:a16="http://schemas.microsoft.com/office/drawing/2014/main" id="{7859C802-F51A-4B0C-83AD-A250D7205D8C}"/>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3485480" flipH="1">
            <a:off x="5204894" y="1885957"/>
            <a:ext cx="1416642" cy="14045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See the source image">
            <a:extLst>
              <a:ext uri="{FF2B5EF4-FFF2-40B4-BE49-F238E27FC236}">
                <a16:creationId xmlns:a16="http://schemas.microsoft.com/office/drawing/2014/main" id="{50F1551D-EC82-4FC8-9AB8-6A0D8CF53E6E}"/>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3485480" flipH="1">
            <a:off x="5626536" y="1202509"/>
            <a:ext cx="1416642" cy="1404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89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 calcmode="lin" valueType="num">
                                      <p:cBhvr additive="base">
                                        <p:cTn id="7" dur="500" fill="hold"/>
                                        <p:tgtEl>
                                          <p:spTgt spid="1030"/>
                                        </p:tgtEl>
                                        <p:attrNameLst>
                                          <p:attrName>ppt_x</p:attrName>
                                        </p:attrNameLst>
                                      </p:cBhvr>
                                      <p:tavLst>
                                        <p:tav tm="0">
                                          <p:val>
                                            <p:strVal val="0-#ppt_w/2"/>
                                          </p:val>
                                        </p:tav>
                                        <p:tav tm="100000">
                                          <p:val>
                                            <p:strVal val="#ppt_x"/>
                                          </p:val>
                                        </p:tav>
                                      </p:tavLst>
                                    </p:anim>
                                    <p:anim calcmode="lin" valueType="num">
                                      <p:cBhvr additive="base">
                                        <p:cTn id="8" dur="500" fill="hold"/>
                                        <p:tgtEl>
                                          <p:spTgt spid="10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1+#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1+#ppt_w/2"/>
                                          </p:val>
                                        </p:tav>
                                        <p:tav tm="100000">
                                          <p:val>
                                            <p:strVal val="#ppt_x"/>
                                          </p:val>
                                        </p:tav>
                                      </p:tavLst>
                                    </p:anim>
                                    <p:anim calcmode="lin" valueType="num">
                                      <p:cBhvr additive="base">
                                        <p:cTn id="26" dur="500" fill="hold"/>
                                        <p:tgtEl>
                                          <p:spTgt spid="20"/>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1+#ppt_w/2"/>
                                          </p:val>
                                        </p:tav>
                                        <p:tav tm="100000">
                                          <p:val>
                                            <p:strVal val="#ppt_x"/>
                                          </p:val>
                                        </p:tav>
                                      </p:tavLst>
                                    </p:anim>
                                    <p:anim calcmode="lin" valueType="num">
                                      <p:cBhvr additive="base">
                                        <p:cTn id="30" dur="500" fill="hold"/>
                                        <p:tgtEl>
                                          <p:spTgt spid="14"/>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1+#ppt_w/2"/>
                                          </p:val>
                                        </p:tav>
                                        <p:tav tm="100000">
                                          <p:val>
                                            <p:strVal val="#ppt_x"/>
                                          </p:val>
                                        </p:tav>
                                      </p:tavLst>
                                    </p:anim>
                                    <p:anim calcmode="lin" valueType="num">
                                      <p:cBhvr additive="base">
                                        <p:cTn id="34"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T6" descr="A screenshot of a cell phone&#10;&#10;Description generated with very high confidence">
            <a:extLst>
              <a:ext uri="{FF2B5EF4-FFF2-40B4-BE49-F238E27FC236}">
                <a16:creationId xmlns:a16="http://schemas.microsoft.com/office/drawing/2014/main" id="{E8CE7EBA-9DF2-4550-B1EE-71606071C0B3}"/>
              </a:ext>
            </a:extLst>
          </p:cNvPr>
          <p:cNvPicPr>
            <a:picLocks noGrp="1" noChangeAspect="1"/>
          </p:cNvPicPr>
          <p:nvPr>
            <p:ph sz="quarter" idx="12"/>
          </p:nvPr>
        </p:nvPicPr>
        <p:blipFill rotWithShape="1">
          <a:blip r:embed="rId3"/>
          <a:srcRect l="57735" t="67924" r="2832" b="1294"/>
          <a:stretch/>
        </p:blipFill>
        <p:spPr>
          <a:xfrm>
            <a:off x="4905619" y="3185458"/>
            <a:ext cx="3284815" cy="1410932"/>
          </a:xfrm>
          <a:prstGeom prst="rect">
            <a:avLst/>
          </a:prstGeom>
          <a:ln>
            <a:noFill/>
          </a:ln>
        </p:spPr>
      </p:pic>
      <p:sp>
        <p:nvSpPr>
          <p:cNvPr id="5" name="Title 4">
            <a:extLst>
              <a:ext uri="{FF2B5EF4-FFF2-40B4-BE49-F238E27FC236}">
                <a16:creationId xmlns:a16="http://schemas.microsoft.com/office/drawing/2014/main" id="{A93315B1-18BB-49D7-9842-B07F06EFAF7C}"/>
              </a:ext>
            </a:extLst>
          </p:cNvPr>
          <p:cNvSpPr>
            <a:spLocks noGrp="1"/>
          </p:cNvSpPr>
          <p:nvPr>
            <p:ph type="title"/>
          </p:nvPr>
        </p:nvSpPr>
        <p:spPr/>
        <p:txBody>
          <a:bodyPr/>
          <a:lstStyle/>
          <a:p>
            <a:r>
              <a:rPr lang="en-GB"/>
              <a:t>             Smart risk-taking</a:t>
            </a:r>
          </a:p>
        </p:txBody>
      </p:sp>
      <p:sp>
        <p:nvSpPr>
          <p:cNvPr id="8" name="Slide Number Placeholder 7">
            <a:extLst>
              <a:ext uri="{FF2B5EF4-FFF2-40B4-BE49-F238E27FC236}">
                <a16:creationId xmlns:a16="http://schemas.microsoft.com/office/drawing/2014/main" id="{C8A7CD01-E7FA-4670-93C6-E005200E191D}"/>
              </a:ext>
            </a:extLst>
          </p:cNvPr>
          <p:cNvSpPr>
            <a:spLocks noGrp="1"/>
          </p:cNvSpPr>
          <p:nvPr>
            <p:ph type="sldNum" sz="quarter" idx="21"/>
          </p:nvPr>
        </p:nvSpPr>
        <p:spPr/>
        <p:txBody>
          <a:bodyPr/>
          <a:lstStyle/>
          <a:p>
            <a:fld id="{9F9F533D-B52E-4A2F-BF72-0ADD2D94BD75}" type="slidenum">
              <a:rPr lang="en-GB" smtClean="0"/>
              <a:pPr/>
              <a:t>3</a:t>
            </a:fld>
            <a:endParaRPr lang="en-GB"/>
          </a:p>
        </p:txBody>
      </p:sp>
      <p:pic>
        <p:nvPicPr>
          <p:cNvPr id="11" name="Picture 10" descr="A screenshot of a cell phone&#10;&#10;Description generated with very high confidence">
            <a:extLst>
              <a:ext uri="{FF2B5EF4-FFF2-40B4-BE49-F238E27FC236}">
                <a16:creationId xmlns:a16="http://schemas.microsoft.com/office/drawing/2014/main" id="{45BE69A8-F0BB-491D-83AE-0097FCF43A19}"/>
              </a:ext>
            </a:extLst>
          </p:cNvPr>
          <p:cNvPicPr>
            <a:picLocks noChangeAspect="1"/>
          </p:cNvPicPr>
          <p:nvPr/>
        </p:nvPicPr>
        <p:blipFill rotWithShape="1">
          <a:blip r:embed="rId3"/>
          <a:srcRect l="3610" t="4807" r="88387" b="81115"/>
          <a:stretch/>
        </p:blipFill>
        <p:spPr>
          <a:xfrm>
            <a:off x="359152" y="123120"/>
            <a:ext cx="953146" cy="923611"/>
          </a:xfrm>
          <a:prstGeom prst="rect">
            <a:avLst/>
          </a:prstGeom>
        </p:spPr>
      </p:pic>
      <p:pic>
        <p:nvPicPr>
          <p:cNvPr id="14" name="Picture 9" descr="A screenshot of a cell phone&#10;&#10;Description generated with very high confidence">
            <a:extLst>
              <a:ext uri="{FF2B5EF4-FFF2-40B4-BE49-F238E27FC236}">
                <a16:creationId xmlns:a16="http://schemas.microsoft.com/office/drawing/2014/main" id="{BD4632ED-ACDF-49FA-9782-75242CB4BA23}"/>
              </a:ext>
            </a:extLst>
          </p:cNvPr>
          <p:cNvPicPr>
            <a:picLocks noChangeAspect="1"/>
          </p:cNvPicPr>
          <p:nvPr/>
        </p:nvPicPr>
        <p:blipFill rotWithShape="1">
          <a:blip r:embed="rId3"/>
          <a:srcRect l="3112" t="23082" r="93443" b="72215"/>
          <a:stretch/>
        </p:blipFill>
        <p:spPr>
          <a:xfrm>
            <a:off x="7936291" y="4348506"/>
            <a:ext cx="254143" cy="190959"/>
          </a:xfrm>
          <a:prstGeom prst="rect">
            <a:avLst/>
          </a:prstGeom>
        </p:spPr>
      </p:pic>
      <p:sp>
        <p:nvSpPr>
          <p:cNvPr id="7" name="Date Placeholder 1">
            <a:extLst>
              <a:ext uri="{FF2B5EF4-FFF2-40B4-BE49-F238E27FC236}">
                <a16:creationId xmlns:a16="http://schemas.microsoft.com/office/drawing/2014/main" id="{B791E510-12F2-407D-8712-09FE939CFE26}"/>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13" name="T3" descr="A screenshot of a cell phone&#10;&#10;Description generated with very high confidence">
            <a:extLst>
              <a:ext uri="{FF2B5EF4-FFF2-40B4-BE49-F238E27FC236}">
                <a16:creationId xmlns:a16="http://schemas.microsoft.com/office/drawing/2014/main" id="{D1C01A7D-1888-40A8-9136-AFFC8EE9040C}"/>
              </a:ext>
            </a:extLst>
          </p:cNvPr>
          <p:cNvPicPr>
            <a:picLocks noChangeAspect="1"/>
          </p:cNvPicPr>
          <p:nvPr/>
        </p:nvPicPr>
        <p:blipFill rotWithShape="1">
          <a:blip r:embed="rId3"/>
          <a:srcRect l="22056" t="37789" r="40177" b="31429"/>
          <a:stretch/>
        </p:blipFill>
        <p:spPr>
          <a:xfrm>
            <a:off x="1937189" y="1804217"/>
            <a:ext cx="3146088" cy="1410931"/>
          </a:xfrm>
          <a:prstGeom prst="rect">
            <a:avLst/>
          </a:prstGeom>
          <a:ln>
            <a:noFill/>
          </a:ln>
        </p:spPr>
      </p:pic>
      <p:pic>
        <p:nvPicPr>
          <p:cNvPr id="15" name="T4" descr="A screenshot of a cell phone&#10;&#10;Description generated with very high confidence">
            <a:extLst>
              <a:ext uri="{FF2B5EF4-FFF2-40B4-BE49-F238E27FC236}">
                <a16:creationId xmlns:a16="http://schemas.microsoft.com/office/drawing/2014/main" id="{7ED1B2FC-6A7A-4693-A2ED-138EDB8C4B22}"/>
              </a:ext>
            </a:extLst>
          </p:cNvPr>
          <p:cNvPicPr>
            <a:picLocks noChangeAspect="1"/>
          </p:cNvPicPr>
          <p:nvPr/>
        </p:nvPicPr>
        <p:blipFill rotWithShape="1">
          <a:blip r:embed="rId4"/>
          <a:srcRect l="59823" t="37865" r="2832" b="31353"/>
          <a:stretch/>
        </p:blipFill>
        <p:spPr>
          <a:xfrm>
            <a:off x="5083276" y="1804217"/>
            <a:ext cx="3110943" cy="1410932"/>
          </a:xfrm>
          <a:prstGeom prst="rect">
            <a:avLst/>
          </a:prstGeom>
        </p:spPr>
      </p:pic>
      <p:pic>
        <p:nvPicPr>
          <p:cNvPr id="17" name="T6" descr="A screenshot of a cell phone&#10;&#10;Description generated with very high confidence">
            <a:extLst>
              <a:ext uri="{FF2B5EF4-FFF2-40B4-BE49-F238E27FC236}">
                <a16:creationId xmlns:a16="http://schemas.microsoft.com/office/drawing/2014/main" id="{FD13956B-B55E-40D9-AD12-1F9D07F9F3E1}"/>
              </a:ext>
            </a:extLst>
          </p:cNvPr>
          <p:cNvPicPr>
            <a:picLocks noChangeAspect="1"/>
          </p:cNvPicPr>
          <p:nvPr/>
        </p:nvPicPr>
        <p:blipFill rotWithShape="1">
          <a:blip r:embed="rId3"/>
          <a:srcRect l="22056" t="68572" r="40177" b="1294"/>
          <a:stretch/>
        </p:blipFill>
        <p:spPr>
          <a:xfrm>
            <a:off x="1937187" y="3215148"/>
            <a:ext cx="3146088" cy="1381242"/>
          </a:xfrm>
          <a:prstGeom prst="rect">
            <a:avLst/>
          </a:prstGeom>
        </p:spPr>
      </p:pic>
      <p:grpSp>
        <p:nvGrpSpPr>
          <p:cNvPr id="4" name="Group 3">
            <a:extLst>
              <a:ext uri="{FF2B5EF4-FFF2-40B4-BE49-F238E27FC236}">
                <a16:creationId xmlns:a16="http://schemas.microsoft.com/office/drawing/2014/main" id="{2D2381D2-9216-41BA-A814-3870F136CBD7}"/>
              </a:ext>
            </a:extLst>
          </p:cNvPr>
          <p:cNvGrpSpPr/>
          <p:nvPr/>
        </p:nvGrpSpPr>
        <p:grpSpPr>
          <a:xfrm>
            <a:off x="387724" y="1803217"/>
            <a:ext cx="1543721" cy="2755298"/>
            <a:chOff x="371278" y="1804217"/>
            <a:chExt cx="1543721" cy="2755298"/>
          </a:xfrm>
        </p:grpSpPr>
        <p:sp>
          <p:nvSpPr>
            <p:cNvPr id="2" name="Rectangle 1">
              <a:extLst>
                <a:ext uri="{FF2B5EF4-FFF2-40B4-BE49-F238E27FC236}">
                  <a16:creationId xmlns:a16="http://schemas.microsoft.com/office/drawing/2014/main" id="{475BEB67-DAC3-402A-9867-0DB3ABE97913}"/>
                </a:ext>
              </a:extLst>
            </p:cNvPr>
            <p:cNvSpPr/>
            <p:nvPr/>
          </p:nvSpPr>
          <p:spPr bwMode="auto">
            <a:xfrm>
              <a:off x="371278" y="3205508"/>
              <a:ext cx="1539938" cy="1354007"/>
            </a:xfrm>
            <a:prstGeom prst="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Bad decision</a:t>
              </a:r>
            </a:p>
          </p:txBody>
        </p:sp>
        <p:sp>
          <p:nvSpPr>
            <p:cNvPr id="19" name="Rectangle 18">
              <a:extLst>
                <a:ext uri="{FF2B5EF4-FFF2-40B4-BE49-F238E27FC236}">
                  <a16:creationId xmlns:a16="http://schemas.microsoft.com/office/drawing/2014/main" id="{4BCD7493-E2ED-4C0D-9C08-F82188F0073D}"/>
                </a:ext>
              </a:extLst>
            </p:cNvPr>
            <p:cNvSpPr/>
            <p:nvPr/>
          </p:nvSpPr>
          <p:spPr bwMode="auto">
            <a:xfrm>
              <a:off x="375061" y="1804217"/>
              <a:ext cx="1539938" cy="1354007"/>
            </a:xfrm>
            <a:prstGeom prst="rect">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Good decision</a:t>
              </a:r>
            </a:p>
          </p:txBody>
        </p:sp>
      </p:grpSp>
      <p:grpSp>
        <p:nvGrpSpPr>
          <p:cNvPr id="6" name="Group 5">
            <a:extLst>
              <a:ext uri="{FF2B5EF4-FFF2-40B4-BE49-F238E27FC236}">
                <a16:creationId xmlns:a16="http://schemas.microsoft.com/office/drawing/2014/main" id="{9CC5745C-3A16-460D-A74B-8E8C2AD21BBF}"/>
              </a:ext>
            </a:extLst>
          </p:cNvPr>
          <p:cNvGrpSpPr/>
          <p:nvPr/>
        </p:nvGrpSpPr>
        <p:grpSpPr>
          <a:xfrm>
            <a:off x="1946711" y="1198393"/>
            <a:ext cx="6234198" cy="598401"/>
            <a:chOff x="1937186" y="1198393"/>
            <a:chExt cx="6234198" cy="598401"/>
          </a:xfrm>
        </p:grpSpPr>
        <p:sp>
          <p:nvSpPr>
            <p:cNvPr id="3" name="Rectangle 2">
              <a:extLst>
                <a:ext uri="{FF2B5EF4-FFF2-40B4-BE49-F238E27FC236}">
                  <a16:creationId xmlns:a16="http://schemas.microsoft.com/office/drawing/2014/main" id="{E3A44FE2-37B7-4E33-AE0A-C65E0F3F033A}"/>
                </a:ext>
              </a:extLst>
            </p:cNvPr>
            <p:cNvSpPr/>
            <p:nvPr/>
          </p:nvSpPr>
          <p:spPr bwMode="auto">
            <a:xfrm>
              <a:off x="1937186" y="1198393"/>
              <a:ext cx="3063439" cy="598401"/>
            </a:xfrm>
            <a:prstGeom prst="rect">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Good outcome</a:t>
              </a:r>
            </a:p>
          </p:txBody>
        </p:sp>
        <p:sp>
          <p:nvSpPr>
            <p:cNvPr id="20" name="Rectangle 19">
              <a:extLst>
                <a:ext uri="{FF2B5EF4-FFF2-40B4-BE49-F238E27FC236}">
                  <a16:creationId xmlns:a16="http://schemas.microsoft.com/office/drawing/2014/main" id="{1038C06F-B26A-4F03-8700-323422F502E0}"/>
                </a:ext>
              </a:extLst>
            </p:cNvPr>
            <p:cNvSpPr/>
            <p:nvPr/>
          </p:nvSpPr>
          <p:spPr bwMode="auto">
            <a:xfrm>
              <a:off x="5107945" y="1198393"/>
              <a:ext cx="3063439" cy="598401"/>
            </a:xfrm>
            <a:prstGeom prst="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Bad outcome</a:t>
              </a:r>
            </a:p>
          </p:txBody>
        </p:sp>
      </p:grpSp>
    </p:spTree>
    <p:extLst>
      <p:ext uri="{BB962C8B-B14F-4D97-AF65-F5344CB8AC3E}">
        <p14:creationId xmlns:p14="http://schemas.microsoft.com/office/powerpoint/2010/main" val="393051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 name="T4">
                <a:extLst>
                  <a:ext uri="{FF2B5EF4-FFF2-40B4-BE49-F238E27FC236}">
                    <a16:creationId xmlns:a16="http://schemas.microsoft.com/office/drawing/2014/main" id="{D0DF879A-14F8-4750-B5CE-5DE4882AC6CB}"/>
                  </a:ext>
                </a:extLst>
              </p:cNvPr>
              <p:cNvGraphicFramePr>
                <a:graphicFrameLocks/>
              </p:cNvGraphicFramePr>
              <p:nvPr>
                <p:extLst>
                  <p:ext uri="{D42A27DB-BD31-4B8C-83A1-F6EECF244321}">
                    <p14:modId xmlns:p14="http://schemas.microsoft.com/office/powerpoint/2010/main" val="1746670662"/>
                  </p:ext>
                </p:extLst>
              </p:nvPr>
            </p:nvGraphicFramePr>
            <p:xfrm>
              <a:off x="360362" y="1181966"/>
              <a:ext cx="8423276" cy="20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7813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r>
                            <a:rPr lang="en-GB" sz="1100" b="1">
                              <a:solidFill>
                                <a:schemeClr val="bg1"/>
                              </a:solidFill>
                            </a:rPr>
                            <a:t>Positive test</a:t>
                          </a:r>
                          <a:endParaRPr lang="en-GB" sz="1100" b="1" i="1">
                            <a:solidFill>
                              <a:schemeClr val="bg1"/>
                            </a:solidFill>
                          </a:endParaRPr>
                        </a:p>
                        <a:p>
                          <a:pPr marL="0" indent="0">
                            <a:buFontTx/>
                            <a:buNone/>
                          </a:pPr>
                          <a:r>
                            <a:rPr lang="en-GB" sz="1100" i="1">
                              <a:solidFill>
                                <a:schemeClr val="bg1"/>
                              </a:solidFill>
                            </a:rPr>
                            <a:t>= P-value &lt;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40488D"/>
                        </a:solidFill>
                      </a:tcPr>
                    </a:tc>
                    <a:tc>
                      <a:txBody>
                        <a:bodyPr/>
                        <a:lstStyle/>
                        <a:p>
                          <a:r>
                            <a:rPr lang="en-GB" sz="1100" b="1">
                              <a:solidFill>
                                <a:schemeClr val="bg1"/>
                              </a:solidFill>
                            </a:rPr>
                            <a:t>Negative test</a:t>
                          </a:r>
                          <a:endParaRPr lang="en-GB" sz="1100" b="1" i="1">
                            <a:solidFill>
                              <a:schemeClr val="bg1"/>
                            </a:solidFill>
                          </a:endParaRPr>
                        </a:p>
                        <a:p>
                          <a:pPr marL="0" indent="0">
                            <a:buFontTx/>
                            <a:buNone/>
                          </a:pPr>
                          <a:r>
                            <a:rPr lang="en-GB" sz="1100" i="1">
                              <a:solidFill>
                                <a:schemeClr val="bg1"/>
                              </a:solidFill>
                            </a:rPr>
                            <a:t>=</a:t>
                          </a:r>
                          <a:r>
                            <a:rPr lang="en-GB" sz="1100" i="1" baseline="0">
                              <a:solidFill>
                                <a:schemeClr val="bg1"/>
                              </a:solidFill>
                            </a:rPr>
                            <a:t> </a:t>
                          </a:r>
                          <a:r>
                            <a:rPr lang="en-GB" sz="1100" i="1">
                              <a:solidFill>
                                <a:schemeClr val="bg1"/>
                              </a:solidFill>
                            </a:rPr>
                            <a:t>P-value &gt;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not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chemeClr val="bg2"/>
                        </a:solidFill>
                      </a:tcPr>
                    </a:tc>
                    <a:extLst>
                      <a:ext uri="{0D108BD9-81ED-4DB2-BD59-A6C34878D82A}">
                        <a16:rowId xmlns:a16="http://schemas.microsoft.com/office/drawing/2014/main" val="780964953"/>
                      </a:ext>
                    </a:extLst>
                  </a:tr>
                  <a:tr h="900000">
                    <a:tc>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bl>
              </a:graphicData>
            </a:graphic>
          </p:graphicFrame>
        </mc:Choice>
        <mc:Fallback xmlns="">
          <p:graphicFrame>
            <p:nvGraphicFramePr>
              <p:cNvPr id="10" name="T4">
                <a:extLst>
                  <a:ext uri="{FF2B5EF4-FFF2-40B4-BE49-F238E27FC236}">
                    <a16:creationId xmlns:a16="http://schemas.microsoft.com/office/drawing/2014/main" id="{D0DF879A-14F8-4750-B5CE-5DE4882AC6CB}"/>
                  </a:ext>
                </a:extLst>
              </p:cNvPr>
              <p:cNvGraphicFramePr>
                <a:graphicFrameLocks/>
              </p:cNvGraphicFramePr>
              <p:nvPr>
                <p:extLst>
                  <p:ext uri="{D42A27DB-BD31-4B8C-83A1-F6EECF244321}">
                    <p14:modId xmlns:p14="http://schemas.microsoft.com/office/powerpoint/2010/main" val="1746670662"/>
                  </p:ext>
                </p:extLst>
              </p:nvPr>
            </p:nvGraphicFramePr>
            <p:xfrm>
              <a:off x="360362" y="1181966"/>
              <a:ext cx="8423276" cy="20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8194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3"/>
                          <a:stretch>
                            <a:fillRect l="-126179" t="-32886" r="-101179" b="-100671"/>
                          </a:stretch>
                        </a:blip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3"/>
                          <a:stretch>
                            <a:fillRect l="-226179" t="-32886" r="-1179" b="-100671"/>
                          </a:stretch>
                        </a:blipFill>
                      </a:tcPr>
                    </a:tc>
                    <a:extLst>
                      <a:ext uri="{0D108BD9-81ED-4DB2-BD59-A6C34878D82A}">
                        <a16:rowId xmlns:a16="http://schemas.microsoft.com/office/drawing/2014/main" val="780964953"/>
                      </a:ext>
                    </a:extLst>
                  </a:tr>
                  <a:tr h="900000">
                    <a:tc>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3">
                <a:extLst>
                  <a:ext uri="{FF2B5EF4-FFF2-40B4-BE49-F238E27FC236}">
                    <a16:creationId xmlns:a16="http://schemas.microsoft.com/office/drawing/2014/main" id="{AC3DA1CB-0821-4D85-8A5E-BC847F357C12}"/>
                  </a:ext>
                </a:extLst>
              </p:cNvPr>
              <p:cNvGraphicFramePr>
                <a:graphicFrameLocks/>
              </p:cNvGraphicFramePr>
              <p:nvPr>
                <p:extLst>
                  <p:ext uri="{D42A27DB-BD31-4B8C-83A1-F6EECF244321}">
                    <p14:modId xmlns:p14="http://schemas.microsoft.com/office/powerpoint/2010/main" val="644626739"/>
                  </p:ext>
                </p:extLst>
              </p:nvPr>
            </p:nvGraphicFramePr>
            <p:xfrm>
              <a:off x="360362" y="1181966"/>
              <a:ext cx="5839686" cy="20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tblGrid>
                  <a:tr h="27813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a:txBody>
                        <a:bodyPr/>
                        <a:lstStyle/>
                        <a:p>
                          <a:pPr marL="0" indent="0" algn="ctr">
                            <a:buFontTx/>
                            <a:buNone/>
                          </a:pPr>
                          <a:endParaRPr lang="en-GB" sz="1400" i="0">
                            <a:solidFill>
                              <a:schemeClr val="tx1"/>
                            </a:solidFill>
                          </a:endParaRPr>
                        </a:p>
                      </a:txBody>
                      <a:tcPr marL="91544" marR="91544" marT="34290" marB="34290">
                        <a:solidFill>
                          <a:schemeClr val="bg1"/>
                        </a:solidFill>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r>
                            <a:rPr lang="en-GB" sz="1100" b="1">
                              <a:solidFill>
                                <a:schemeClr val="bg1"/>
                              </a:solidFill>
                            </a:rPr>
                            <a:t>Positive test</a:t>
                          </a:r>
                          <a:endParaRPr lang="en-GB" sz="1100" b="1" i="1">
                            <a:solidFill>
                              <a:schemeClr val="bg1"/>
                            </a:solidFill>
                          </a:endParaRPr>
                        </a:p>
                        <a:p>
                          <a:pPr marL="0" indent="0">
                            <a:buFontTx/>
                            <a:buNone/>
                          </a:pPr>
                          <a:r>
                            <a:rPr lang="en-GB" sz="1100" i="1">
                              <a:solidFill>
                                <a:schemeClr val="bg1"/>
                              </a:solidFill>
                            </a:rPr>
                            <a:t>= P-value &lt;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40488D"/>
                        </a:solidFill>
                      </a:tcPr>
                    </a:tc>
                    <a:extLst>
                      <a:ext uri="{0D108BD9-81ED-4DB2-BD59-A6C34878D82A}">
                        <a16:rowId xmlns:a16="http://schemas.microsoft.com/office/drawing/2014/main" val="780964953"/>
                      </a:ext>
                    </a:extLst>
                  </a:tr>
                  <a:tr h="900000">
                    <a:tc>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bl>
              </a:graphicData>
            </a:graphic>
          </p:graphicFrame>
        </mc:Choice>
        <mc:Fallback xmlns="">
          <p:graphicFrame>
            <p:nvGraphicFramePr>
              <p:cNvPr id="9" name="T3">
                <a:extLst>
                  <a:ext uri="{FF2B5EF4-FFF2-40B4-BE49-F238E27FC236}">
                    <a16:creationId xmlns:a16="http://schemas.microsoft.com/office/drawing/2014/main" id="{AC3DA1CB-0821-4D85-8A5E-BC847F357C12}"/>
                  </a:ext>
                </a:extLst>
              </p:cNvPr>
              <p:cNvGraphicFramePr>
                <a:graphicFrameLocks/>
              </p:cNvGraphicFramePr>
              <p:nvPr>
                <p:extLst>
                  <p:ext uri="{D42A27DB-BD31-4B8C-83A1-F6EECF244321}">
                    <p14:modId xmlns:p14="http://schemas.microsoft.com/office/powerpoint/2010/main" val="644626739"/>
                  </p:ext>
                </p:extLst>
              </p:nvPr>
            </p:nvGraphicFramePr>
            <p:xfrm>
              <a:off x="360362" y="1181966"/>
              <a:ext cx="5839686" cy="20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tblGrid>
                  <a:tr h="28194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a:txBody>
                        <a:bodyPr/>
                        <a:lstStyle/>
                        <a:p>
                          <a:pPr marL="0" indent="0" algn="ctr">
                            <a:buFontTx/>
                            <a:buNone/>
                          </a:pPr>
                          <a:endParaRPr lang="en-GB" sz="1400" i="0">
                            <a:solidFill>
                              <a:schemeClr val="tx1"/>
                            </a:solidFill>
                          </a:endParaRPr>
                        </a:p>
                      </a:txBody>
                      <a:tcPr marL="91544" marR="91544" marT="34290" marB="34290">
                        <a:solidFill>
                          <a:schemeClr val="bg1"/>
                        </a:solidFill>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4"/>
                          <a:stretch>
                            <a:fillRect l="-126415" t="-31544" r="-943" b="-100671"/>
                          </a:stretch>
                        </a:blipFill>
                      </a:tcPr>
                    </a:tc>
                    <a:extLst>
                      <a:ext uri="{0D108BD9-81ED-4DB2-BD59-A6C34878D82A}">
                        <a16:rowId xmlns:a16="http://schemas.microsoft.com/office/drawing/2014/main" val="780964953"/>
                      </a:ext>
                    </a:extLst>
                  </a:tr>
                  <a:tr h="900000">
                    <a:tc>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bl>
              </a:graphicData>
            </a:graphic>
          </p:graphicFrame>
        </mc:Fallback>
      </mc:AlternateContent>
      <p:sp>
        <p:nvSpPr>
          <p:cNvPr id="4" name="Text Placeholder 3">
            <a:extLst>
              <a:ext uri="{FF2B5EF4-FFF2-40B4-BE49-F238E27FC236}">
                <a16:creationId xmlns:a16="http://schemas.microsoft.com/office/drawing/2014/main" id="{000F3BED-2D71-4A08-98BC-D321B455734D}"/>
              </a:ext>
            </a:extLst>
          </p:cNvPr>
          <p:cNvSpPr>
            <a:spLocks noGrp="1"/>
          </p:cNvSpPr>
          <p:nvPr>
            <p:ph type="body" sz="quarter" idx="14"/>
          </p:nvPr>
        </p:nvSpPr>
        <p:spPr/>
        <p:txBody>
          <a:bodyPr/>
          <a:lstStyle/>
          <a:p>
            <a:r>
              <a:rPr lang="en-GB"/>
              <a:t>… so that we all understand each other</a:t>
            </a:r>
          </a:p>
        </p:txBody>
      </p:sp>
      <p:sp>
        <p:nvSpPr>
          <p:cNvPr id="2" name="Title 1">
            <a:extLst>
              <a:ext uri="{FF2B5EF4-FFF2-40B4-BE49-F238E27FC236}">
                <a16:creationId xmlns:a16="http://schemas.microsoft.com/office/drawing/2014/main" id="{C0E81CDA-983E-4690-83E0-E3A2C363C77A}"/>
              </a:ext>
            </a:extLst>
          </p:cNvPr>
          <p:cNvSpPr>
            <a:spLocks noGrp="1"/>
          </p:cNvSpPr>
          <p:nvPr>
            <p:ph type="title"/>
          </p:nvPr>
        </p:nvSpPr>
        <p:spPr/>
        <p:txBody>
          <a:bodyPr/>
          <a:lstStyle/>
          <a:p>
            <a:r>
              <a:rPr lang="en-GB"/>
              <a:t>The language of testing</a:t>
            </a:r>
          </a:p>
        </p:txBody>
      </p:sp>
      <p:sp>
        <p:nvSpPr>
          <p:cNvPr id="6" name="Date Placeholder 5">
            <a:extLst>
              <a:ext uri="{FF2B5EF4-FFF2-40B4-BE49-F238E27FC236}">
                <a16:creationId xmlns:a16="http://schemas.microsoft.com/office/drawing/2014/main" id="{D1127918-010F-4287-87A2-EEAD87DC6AFF}"/>
              </a:ext>
            </a:extLst>
          </p:cNvPr>
          <p:cNvSpPr>
            <a:spLocks noGrp="1"/>
          </p:cNvSpPr>
          <p:nvPr>
            <p:ph type="dt" sz="half" idx="19"/>
          </p:nvPr>
        </p:nvSpPr>
        <p:spPr>
          <a:xfrm>
            <a:off x="2985247" y="4704001"/>
            <a:ext cx="3559244" cy="273844"/>
          </a:xfrm>
        </p:spPr>
        <p:txBody>
          <a:bodyPr/>
          <a:lstStyle/>
          <a:p>
            <a:pPr algn="ctr"/>
            <a:r>
              <a:rPr lang="en-US"/>
              <a:t>FoS: Medical Affairs training</a:t>
            </a:r>
            <a:endParaRPr lang="en-GB"/>
          </a:p>
        </p:txBody>
      </p:sp>
      <p:sp>
        <p:nvSpPr>
          <p:cNvPr id="8" name="Slide Number Placeholder 7">
            <a:extLst>
              <a:ext uri="{FF2B5EF4-FFF2-40B4-BE49-F238E27FC236}">
                <a16:creationId xmlns:a16="http://schemas.microsoft.com/office/drawing/2014/main" id="{B52888AD-64CF-423C-A781-B8053B1F2D2F}"/>
              </a:ext>
            </a:extLst>
          </p:cNvPr>
          <p:cNvSpPr>
            <a:spLocks noGrp="1"/>
          </p:cNvSpPr>
          <p:nvPr>
            <p:ph type="sldNum" sz="quarter" idx="21"/>
          </p:nvPr>
        </p:nvSpPr>
        <p:spPr/>
        <p:txBody>
          <a:bodyPr/>
          <a:lstStyle/>
          <a:p>
            <a:fld id="{9F9F533D-B52E-4A2F-BF72-0ADD2D94BD75}" type="slidenum">
              <a:rPr lang="en-GB" smtClean="0"/>
              <a:pPr/>
              <a:t>4</a:t>
            </a:fld>
            <a:endParaRPr lang="en-GB"/>
          </a:p>
        </p:txBody>
      </p:sp>
      <p:graphicFrame>
        <p:nvGraphicFramePr>
          <p:cNvPr id="21" name="T1">
            <a:extLst>
              <a:ext uri="{FF2B5EF4-FFF2-40B4-BE49-F238E27FC236}">
                <a16:creationId xmlns:a16="http://schemas.microsoft.com/office/drawing/2014/main" id="{E1735E89-943D-46DE-BF06-B615468FF211}"/>
              </a:ext>
            </a:extLst>
          </p:cNvPr>
          <p:cNvGraphicFramePr>
            <a:graphicFrameLocks noGrp="1"/>
          </p:cNvGraphicFramePr>
          <p:nvPr>
            <p:ph sz="quarter" idx="12"/>
            <p:extLst>
              <p:ext uri="{D42A27DB-BD31-4B8C-83A1-F6EECF244321}">
                <p14:modId xmlns:p14="http://schemas.microsoft.com/office/powerpoint/2010/main" val="4204809787"/>
              </p:ext>
            </p:extLst>
          </p:nvPr>
        </p:nvGraphicFramePr>
        <p:xfrm>
          <a:off x="360362" y="1181966"/>
          <a:ext cx="3256096" cy="29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tblGrid>
              <a:tr h="27813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extLst>
                  <a:ext uri="{0D108BD9-81ED-4DB2-BD59-A6C34878D82A}">
                    <a16:rowId xmlns:a16="http://schemas.microsoft.com/office/drawing/2014/main" val="780964953"/>
                  </a:ext>
                </a:extLst>
              </a:tr>
              <a:tr h="900000">
                <a:tc rowSpan="2">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solidFill>
                      <a:schemeClr val="bg2"/>
                    </a:solidFill>
                  </a:tcPr>
                </a:tc>
                <a:extLst>
                  <a:ext uri="{0D108BD9-81ED-4DB2-BD59-A6C34878D82A}">
                    <a16:rowId xmlns:a16="http://schemas.microsoft.com/office/drawing/2014/main" val="18396028"/>
                  </a:ext>
                </a:extLst>
              </a:tr>
            </a:tbl>
          </a:graphicData>
        </a:graphic>
      </p:graphicFrame>
      <mc:AlternateContent xmlns:mc="http://schemas.openxmlformats.org/markup-compatibility/2006" xmlns:a14="http://schemas.microsoft.com/office/drawing/2010/main">
        <mc:Choice Requires="a14">
          <p:graphicFrame>
            <p:nvGraphicFramePr>
              <p:cNvPr id="7" name="T2">
                <a:extLst>
                  <a:ext uri="{FF2B5EF4-FFF2-40B4-BE49-F238E27FC236}">
                    <a16:creationId xmlns:a16="http://schemas.microsoft.com/office/drawing/2014/main" id="{BA037DF2-7D03-4640-892C-0A4B1F6DFEDB}"/>
                  </a:ext>
                </a:extLst>
              </p:cNvPr>
              <p:cNvGraphicFramePr>
                <a:graphicFrameLocks/>
              </p:cNvGraphicFramePr>
              <p:nvPr>
                <p:extLst>
                  <p:ext uri="{D42A27DB-BD31-4B8C-83A1-F6EECF244321}">
                    <p14:modId xmlns:p14="http://schemas.microsoft.com/office/powerpoint/2010/main" val="1366909397"/>
                  </p:ext>
                </p:extLst>
              </p:nvPr>
            </p:nvGraphicFramePr>
            <p:xfrm>
              <a:off x="359152" y="1181966"/>
              <a:ext cx="8423276" cy="11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7813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r>
                            <a:rPr lang="en-GB" sz="1100" b="1">
                              <a:solidFill>
                                <a:schemeClr val="bg1"/>
                              </a:solidFill>
                            </a:rPr>
                            <a:t>Positive test</a:t>
                          </a:r>
                          <a:endParaRPr lang="en-GB" sz="1100" b="1" i="1">
                            <a:solidFill>
                              <a:schemeClr val="bg1"/>
                            </a:solidFill>
                          </a:endParaRPr>
                        </a:p>
                        <a:p>
                          <a:pPr marL="0" indent="0">
                            <a:buFontTx/>
                            <a:buNone/>
                          </a:pPr>
                          <a:r>
                            <a:rPr lang="en-GB" sz="1100" i="1">
                              <a:solidFill>
                                <a:schemeClr val="bg1"/>
                              </a:solidFill>
                            </a:rPr>
                            <a:t>= P-value &lt;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40488D"/>
                        </a:solidFill>
                      </a:tcPr>
                    </a:tc>
                    <a:tc>
                      <a:txBody>
                        <a:bodyPr/>
                        <a:lstStyle/>
                        <a:p>
                          <a:r>
                            <a:rPr lang="en-GB" sz="1100" b="1">
                              <a:solidFill>
                                <a:schemeClr val="bg1"/>
                              </a:solidFill>
                            </a:rPr>
                            <a:t>Negative test</a:t>
                          </a:r>
                          <a:endParaRPr lang="en-GB" sz="1100" b="1" i="1">
                            <a:solidFill>
                              <a:schemeClr val="bg1"/>
                            </a:solidFill>
                          </a:endParaRPr>
                        </a:p>
                        <a:p>
                          <a:pPr marL="0" indent="0">
                            <a:buFontTx/>
                            <a:buNone/>
                          </a:pPr>
                          <a:r>
                            <a:rPr lang="en-GB" sz="1100" i="1">
                              <a:solidFill>
                                <a:schemeClr val="bg1"/>
                              </a:solidFill>
                            </a:rPr>
                            <a:t>=</a:t>
                          </a:r>
                          <a:r>
                            <a:rPr lang="en-GB" sz="1100" i="1" baseline="0">
                              <a:solidFill>
                                <a:schemeClr val="bg1"/>
                              </a:solidFill>
                            </a:rPr>
                            <a:t> </a:t>
                          </a:r>
                          <a:r>
                            <a:rPr lang="en-GB" sz="1100" i="1">
                              <a:solidFill>
                                <a:schemeClr val="bg1"/>
                              </a:solidFill>
                            </a:rPr>
                            <a:t>P-value &gt;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not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chemeClr val="bg2"/>
                        </a:solidFill>
                      </a:tcPr>
                    </a:tc>
                    <a:extLst>
                      <a:ext uri="{0D108BD9-81ED-4DB2-BD59-A6C34878D82A}">
                        <a16:rowId xmlns:a16="http://schemas.microsoft.com/office/drawing/2014/main" val="780964953"/>
                      </a:ext>
                    </a:extLst>
                  </a:tr>
                </a:tbl>
              </a:graphicData>
            </a:graphic>
          </p:graphicFrame>
        </mc:Choice>
        <mc:Fallback xmlns="">
          <p:graphicFrame>
            <p:nvGraphicFramePr>
              <p:cNvPr id="7" name="T2">
                <a:extLst>
                  <a:ext uri="{FF2B5EF4-FFF2-40B4-BE49-F238E27FC236}">
                    <a16:creationId xmlns:a16="http://schemas.microsoft.com/office/drawing/2014/main" id="{BA037DF2-7D03-4640-892C-0A4B1F6DFEDB}"/>
                  </a:ext>
                </a:extLst>
              </p:cNvPr>
              <p:cNvGraphicFramePr>
                <a:graphicFrameLocks/>
              </p:cNvGraphicFramePr>
              <p:nvPr>
                <p:extLst>
                  <p:ext uri="{D42A27DB-BD31-4B8C-83A1-F6EECF244321}">
                    <p14:modId xmlns:p14="http://schemas.microsoft.com/office/powerpoint/2010/main" val="1366909397"/>
                  </p:ext>
                </p:extLst>
              </p:nvPr>
            </p:nvGraphicFramePr>
            <p:xfrm>
              <a:off x="359152" y="1181966"/>
              <a:ext cx="8423276" cy="11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8194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5"/>
                          <a:stretch>
                            <a:fillRect l="-126415" t="-33784" r="-100943" b="-1351"/>
                          </a:stretch>
                        </a:blip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5"/>
                          <a:stretch>
                            <a:fillRect l="-226415" t="-33784" r="-943" b="-1351"/>
                          </a:stretch>
                        </a:blipFill>
                      </a:tcPr>
                    </a:tc>
                    <a:extLst>
                      <a:ext uri="{0D108BD9-81ED-4DB2-BD59-A6C34878D82A}">
                        <a16:rowId xmlns:a16="http://schemas.microsoft.com/office/drawing/2014/main" val="7809649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Content Placeholder 12" hidden="1">
                <a:extLst>
                  <a:ext uri="{FF2B5EF4-FFF2-40B4-BE49-F238E27FC236}">
                    <a16:creationId xmlns:a16="http://schemas.microsoft.com/office/drawing/2014/main" id="{0EA0DA06-10C9-4A48-9F1A-4417104BAE15}"/>
                  </a:ext>
                </a:extLst>
              </p:cNvPr>
              <p:cNvGraphicFramePr>
                <a:graphicFrameLocks/>
              </p:cNvGraphicFramePr>
              <p:nvPr/>
            </p:nvGraphicFramePr>
            <p:xfrm>
              <a:off x="360362" y="1181966"/>
              <a:ext cx="8423276" cy="3097338"/>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7813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r>
                            <a:rPr lang="en-GB" sz="1100" b="1">
                              <a:solidFill>
                                <a:schemeClr val="bg1"/>
                              </a:solidFill>
                            </a:rPr>
                            <a:t>Positive test</a:t>
                          </a:r>
                          <a:endParaRPr lang="en-GB" sz="1100" b="1" i="1">
                            <a:solidFill>
                              <a:schemeClr val="bg1"/>
                            </a:solidFill>
                          </a:endParaRPr>
                        </a:p>
                        <a:p>
                          <a:pPr marL="0" indent="0">
                            <a:buFontTx/>
                            <a:buNone/>
                          </a:pPr>
                          <a:r>
                            <a:rPr lang="en-GB" sz="1100" i="1">
                              <a:solidFill>
                                <a:schemeClr val="bg1"/>
                              </a:solidFill>
                            </a:rPr>
                            <a:t>= P-value &lt;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40488D"/>
                        </a:solidFill>
                      </a:tcPr>
                    </a:tc>
                    <a:tc>
                      <a:txBody>
                        <a:bodyPr/>
                        <a:lstStyle/>
                        <a:p>
                          <a:r>
                            <a:rPr lang="en-GB" sz="1100" b="1">
                              <a:solidFill>
                                <a:schemeClr val="bg1"/>
                              </a:solidFill>
                            </a:rPr>
                            <a:t>Negative test</a:t>
                          </a:r>
                          <a:endParaRPr lang="en-GB" sz="1100" b="1" i="1">
                            <a:solidFill>
                              <a:schemeClr val="bg1"/>
                            </a:solidFill>
                          </a:endParaRPr>
                        </a:p>
                        <a:p>
                          <a:pPr marL="0" indent="0">
                            <a:buFontTx/>
                            <a:buNone/>
                          </a:pPr>
                          <a:r>
                            <a:rPr lang="en-GB" sz="1100" i="1">
                              <a:solidFill>
                                <a:schemeClr val="bg1"/>
                              </a:solidFill>
                            </a:rPr>
                            <a:t>=</a:t>
                          </a:r>
                          <a:r>
                            <a:rPr lang="en-GB" sz="1100" i="1" baseline="0">
                              <a:solidFill>
                                <a:schemeClr val="bg1"/>
                              </a:solidFill>
                            </a:rPr>
                            <a:t> </a:t>
                          </a:r>
                          <a:r>
                            <a:rPr lang="en-GB" sz="1100" i="1">
                              <a:solidFill>
                                <a:schemeClr val="bg1"/>
                              </a:solidFill>
                            </a:rPr>
                            <a:t>P-value &gt;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not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ED003C"/>
                        </a:solidFill>
                      </a:tcPr>
                    </a:tc>
                    <a:extLst>
                      <a:ext uri="{0D108BD9-81ED-4DB2-BD59-A6C34878D82A}">
                        <a16:rowId xmlns:a16="http://schemas.microsoft.com/office/drawing/2014/main" val="780964953"/>
                      </a:ext>
                    </a:extLst>
                  </a:tr>
                  <a:tr h="1015398">
                    <a:tc rowSpan="2">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solidFill>
                          <a:srgbClr val="ED003C"/>
                        </a:solidFill>
                      </a:tcPr>
                    </a:tc>
                    <a:tc>
                      <a:txBody>
                        <a:bodyPr/>
                        <a:lstStyle/>
                        <a:p>
                          <a:pPr algn="ctr"/>
                          <a:endParaRPr lang="en-GB" sz="1200" b="1">
                            <a:solidFill>
                              <a:srgbClr val="FF0000"/>
                            </a:solidFill>
                          </a:endParaRP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b="1">
                              <a:solidFill>
                                <a:srgbClr val="00B050"/>
                              </a:solidFill>
                            </a:rPr>
                            <a:t>True negative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8396028"/>
                      </a:ext>
                    </a:extLst>
                  </a:tr>
                </a:tbl>
              </a:graphicData>
            </a:graphic>
          </p:graphicFrame>
        </mc:Choice>
        <mc:Fallback xmlns="">
          <p:graphicFrame>
            <p:nvGraphicFramePr>
              <p:cNvPr id="11" name="Content Placeholder 12" hidden="1">
                <a:extLst>
                  <a:ext uri="{FF2B5EF4-FFF2-40B4-BE49-F238E27FC236}">
                    <a16:creationId xmlns:a16="http://schemas.microsoft.com/office/drawing/2014/main" id="{0EA0DA06-10C9-4A48-9F1A-4417104BAE15}"/>
                  </a:ext>
                </a:extLst>
              </p:cNvPr>
              <p:cNvGraphicFramePr>
                <a:graphicFrameLocks/>
              </p:cNvGraphicFramePr>
              <p:nvPr/>
            </p:nvGraphicFramePr>
            <p:xfrm>
              <a:off x="360362" y="1181966"/>
              <a:ext cx="8423276" cy="3097338"/>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8194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6"/>
                          <a:stretch>
                            <a:fillRect l="-126179" t="-33108" r="-101179" b="-214865"/>
                          </a:stretch>
                        </a:blip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6"/>
                          <a:stretch>
                            <a:fillRect l="-226179" t="-33108" r="-1179" b="-214865"/>
                          </a:stretch>
                        </a:blipFill>
                      </a:tcPr>
                    </a:tc>
                    <a:extLst>
                      <a:ext uri="{0D108BD9-81ED-4DB2-BD59-A6C34878D82A}">
                        <a16:rowId xmlns:a16="http://schemas.microsoft.com/office/drawing/2014/main" val="780964953"/>
                      </a:ext>
                    </a:extLst>
                  </a:tr>
                  <a:tr h="1015398">
                    <a:tc rowSpan="2">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solidFill>
                          <a:srgbClr val="ED003C"/>
                        </a:solidFill>
                      </a:tcPr>
                    </a:tc>
                    <a:tc>
                      <a:txBody>
                        <a:bodyPr/>
                        <a:lstStyle/>
                        <a:p>
                          <a:pPr algn="ctr"/>
                          <a:endParaRPr lang="en-GB" sz="1200" b="1">
                            <a:solidFill>
                              <a:srgbClr val="FF0000"/>
                            </a:solidFill>
                          </a:endParaRP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b="1">
                              <a:solidFill>
                                <a:srgbClr val="00B050"/>
                              </a:solidFill>
                            </a:rPr>
                            <a:t>True negative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839602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5">
                <a:extLst>
                  <a:ext uri="{FF2B5EF4-FFF2-40B4-BE49-F238E27FC236}">
                    <a16:creationId xmlns:a16="http://schemas.microsoft.com/office/drawing/2014/main" id="{B967983A-F324-438C-8F2D-975437078ECE}"/>
                  </a:ext>
                </a:extLst>
              </p:cNvPr>
              <p:cNvGraphicFramePr>
                <a:graphicFrameLocks/>
              </p:cNvGraphicFramePr>
              <p:nvPr>
                <p:extLst>
                  <p:ext uri="{D42A27DB-BD31-4B8C-83A1-F6EECF244321}">
                    <p14:modId xmlns:p14="http://schemas.microsoft.com/office/powerpoint/2010/main" val="3196673876"/>
                  </p:ext>
                </p:extLst>
              </p:nvPr>
            </p:nvGraphicFramePr>
            <p:xfrm>
              <a:off x="359152" y="1181966"/>
              <a:ext cx="8423276" cy="29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7813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r>
                            <a:rPr lang="en-GB" sz="1100" b="1">
                              <a:solidFill>
                                <a:schemeClr val="bg1"/>
                              </a:solidFill>
                            </a:rPr>
                            <a:t>Positive test</a:t>
                          </a:r>
                          <a:endParaRPr lang="en-GB" sz="1100" b="1" i="1">
                            <a:solidFill>
                              <a:schemeClr val="bg1"/>
                            </a:solidFill>
                          </a:endParaRPr>
                        </a:p>
                        <a:p>
                          <a:pPr marL="0" indent="0">
                            <a:buFontTx/>
                            <a:buNone/>
                          </a:pPr>
                          <a:r>
                            <a:rPr lang="en-GB" sz="1100" i="1">
                              <a:solidFill>
                                <a:schemeClr val="bg1"/>
                              </a:solidFill>
                            </a:rPr>
                            <a:t>= P-value &lt;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40488D"/>
                        </a:solidFill>
                      </a:tcPr>
                    </a:tc>
                    <a:tc>
                      <a:txBody>
                        <a:bodyPr/>
                        <a:lstStyle/>
                        <a:p>
                          <a:r>
                            <a:rPr lang="en-GB" sz="1100" b="1">
                              <a:solidFill>
                                <a:schemeClr val="bg1"/>
                              </a:solidFill>
                            </a:rPr>
                            <a:t>Negative test</a:t>
                          </a:r>
                          <a:endParaRPr lang="en-GB" sz="1100" b="1" i="1">
                            <a:solidFill>
                              <a:schemeClr val="bg1"/>
                            </a:solidFill>
                          </a:endParaRPr>
                        </a:p>
                        <a:p>
                          <a:pPr marL="0" indent="0">
                            <a:buFontTx/>
                            <a:buNone/>
                          </a:pPr>
                          <a:r>
                            <a:rPr lang="en-GB" sz="1100" i="1">
                              <a:solidFill>
                                <a:schemeClr val="bg1"/>
                              </a:solidFill>
                            </a:rPr>
                            <a:t>=</a:t>
                          </a:r>
                          <a:r>
                            <a:rPr lang="en-GB" sz="1100" i="1" baseline="0">
                              <a:solidFill>
                                <a:schemeClr val="bg1"/>
                              </a:solidFill>
                            </a:rPr>
                            <a:t> </a:t>
                          </a:r>
                          <a:r>
                            <a:rPr lang="en-GB" sz="1100" i="1">
                              <a:solidFill>
                                <a:schemeClr val="bg1"/>
                              </a:solidFill>
                            </a:rPr>
                            <a:t>P-value &gt;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not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chemeClr val="bg2"/>
                        </a:solidFill>
                      </a:tcPr>
                    </a:tc>
                    <a:extLst>
                      <a:ext uri="{0D108BD9-81ED-4DB2-BD59-A6C34878D82A}">
                        <a16:rowId xmlns:a16="http://schemas.microsoft.com/office/drawing/2014/main" val="780964953"/>
                      </a:ext>
                    </a:extLst>
                  </a:tr>
                  <a:tr h="900000">
                    <a:tc rowSpan="2">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solidFill>
                          <a:schemeClr val="bg2"/>
                        </a:solidFill>
                      </a:tcPr>
                    </a:tc>
                    <a:tc>
                      <a:txBody>
                        <a:bodyPr/>
                        <a:lstStyle/>
                        <a:p>
                          <a:pPr algn="ctr"/>
                          <a:endParaRPr lang="en-GB" sz="1200" b="1">
                            <a:solidFill>
                              <a:srgbClr val="FF0000"/>
                            </a:solidFill>
                          </a:endParaRP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noFill/>
                          <a:prstDash val="sysDot"/>
                          <a:round/>
                          <a:headEnd type="none" w="med" len="med"/>
                          <a:tailEnd type="none" w="med" len="med"/>
                        </a:lnB>
                        <a:solidFill>
                          <a:schemeClr val="bg1"/>
                        </a:solidFill>
                      </a:tcPr>
                    </a:tc>
                    <a:tc>
                      <a:txBody>
                        <a:bodyPr/>
                        <a:lstStyle/>
                        <a:p>
                          <a:pPr algn="ctr"/>
                          <a:r>
                            <a:rPr lang="en-GB" sz="1200" b="1">
                              <a:solidFill>
                                <a:srgbClr val="00B050"/>
                              </a:solidFill>
                            </a:rPr>
                            <a:t>True negative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8396028"/>
                      </a:ext>
                    </a:extLst>
                  </a:tr>
                </a:tbl>
              </a:graphicData>
            </a:graphic>
          </p:graphicFrame>
        </mc:Choice>
        <mc:Fallback xmlns="">
          <p:graphicFrame>
            <p:nvGraphicFramePr>
              <p:cNvPr id="14" name="T5">
                <a:extLst>
                  <a:ext uri="{FF2B5EF4-FFF2-40B4-BE49-F238E27FC236}">
                    <a16:creationId xmlns:a16="http://schemas.microsoft.com/office/drawing/2014/main" id="{B967983A-F324-438C-8F2D-975437078ECE}"/>
                  </a:ext>
                </a:extLst>
              </p:cNvPr>
              <p:cNvGraphicFramePr>
                <a:graphicFrameLocks/>
              </p:cNvGraphicFramePr>
              <p:nvPr>
                <p:extLst>
                  <p:ext uri="{D42A27DB-BD31-4B8C-83A1-F6EECF244321}">
                    <p14:modId xmlns:p14="http://schemas.microsoft.com/office/powerpoint/2010/main" val="3196673876"/>
                  </p:ext>
                </p:extLst>
              </p:nvPr>
            </p:nvGraphicFramePr>
            <p:xfrm>
              <a:off x="359152" y="1181966"/>
              <a:ext cx="8423276" cy="29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8194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7"/>
                          <a:stretch>
                            <a:fillRect l="-126415" t="-32886" r="-100943" b="-200000"/>
                          </a:stretch>
                        </a:blip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7"/>
                          <a:stretch>
                            <a:fillRect l="-226415" t="-32886" r="-943" b="-200000"/>
                          </a:stretch>
                        </a:blipFill>
                      </a:tcPr>
                    </a:tc>
                    <a:extLst>
                      <a:ext uri="{0D108BD9-81ED-4DB2-BD59-A6C34878D82A}">
                        <a16:rowId xmlns:a16="http://schemas.microsoft.com/office/drawing/2014/main" val="780964953"/>
                      </a:ext>
                    </a:extLst>
                  </a:tr>
                  <a:tr h="900000">
                    <a:tc rowSpan="2">
                      <a:txBody>
                        <a:bodyPr/>
                        <a:lstStyle/>
                        <a:p>
                          <a:r>
                            <a:rPr lang="en-GB" sz="1400" b="1" i="0">
                              <a:solidFill>
                                <a:schemeClr val="tx1"/>
                              </a:solidFill>
                            </a:rPr>
                            <a:t>Truth</a:t>
                          </a:r>
                        </a:p>
                      </a:txBody>
                      <a:tcPr marL="91544" marR="91544" marT="34290" marB="34290" anchor="ctr">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solidFill>
                          <a:schemeClr val="bg2"/>
                        </a:solidFill>
                      </a:tcPr>
                    </a:tc>
                    <a:tc>
                      <a:txBody>
                        <a:bodyPr/>
                        <a:lstStyle/>
                        <a:p>
                          <a:pPr algn="ctr"/>
                          <a:endParaRPr lang="en-GB" sz="1200" b="1">
                            <a:solidFill>
                              <a:srgbClr val="FF0000"/>
                            </a:solidFill>
                          </a:endParaRP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noFill/>
                          <a:prstDash val="sysDot"/>
                          <a:round/>
                          <a:headEnd type="none" w="med" len="med"/>
                          <a:tailEnd type="none" w="med" len="med"/>
                        </a:lnB>
                        <a:solidFill>
                          <a:schemeClr val="bg1"/>
                        </a:solidFill>
                      </a:tcPr>
                    </a:tc>
                    <a:tc>
                      <a:txBody>
                        <a:bodyPr/>
                        <a:lstStyle/>
                        <a:p>
                          <a:pPr algn="ctr"/>
                          <a:r>
                            <a:rPr lang="en-GB" sz="1200" b="1">
                              <a:solidFill>
                                <a:srgbClr val="00B050"/>
                              </a:solidFill>
                            </a:rPr>
                            <a:t>True negative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839602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6">
                <a:extLst>
                  <a:ext uri="{FF2B5EF4-FFF2-40B4-BE49-F238E27FC236}">
                    <a16:creationId xmlns:a16="http://schemas.microsoft.com/office/drawing/2014/main" id="{B97A5D81-7075-451D-B131-56027D8460E1}"/>
                  </a:ext>
                </a:extLst>
              </p:cNvPr>
              <p:cNvGraphicFramePr>
                <a:graphicFrameLocks/>
              </p:cNvGraphicFramePr>
              <p:nvPr>
                <p:extLst>
                  <p:ext uri="{D42A27DB-BD31-4B8C-83A1-F6EECF244321}">
                    <p14:modId xmlns:p14="http://schemas.microsoft.com/office/powerpoint/2010/main" val="516912401"/>
                  </p:ext>
                </p:extLst>
              </p:nvPr>
            </p:nvGraphicFramePr>
            <p:xfrm>
              <a:off x="357942" y="1187929"/>
              <a:ext cx="8423276" cy="29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r>
                            <a:rPr lang="en-GB" sz="1100" b="1">
                              <a:solidFill>
                                <a:schemeClr val="bg1"/>
                              </a:solidFill>
                            </a:rPr>
                            <a:t>Positive test</a:t>
                          </a:r>
                          <a:endParaRPr lang="en-GB" sz="1100" b="1" i="1">
                            <a:solidFill>
                              <a:schemeClr val="bg1"/>
                            </a:solidFill>
                          </a:endParaRPr>
                        </a:p>
                        <a:p>
                          <a:pPr marL="0" indent="0">
                            <a:buFontTx/>
                            <a:buNone/>
                          </a:pPr>
                          <a:r>
                            <a:rPr lang="en-GB" sz="1100" i="1">
                              <a:solidFill>
                                <a:schemeClr val="bg1"/>
                              </a:solidFill>
                            </a:rPr>
                            <a:t>= P-value &lt;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rgbClr val="40488D"/>
                        </a:solidFill>
                      </a:tcPr>
                    </a:tc>
                    <a:tc>
                      <a:txBody>
                        <a:bodyPr/>
                        <a:lstStyle/>
                        <a:p>
                          <a:r>
                            <a:rPr lang="en-GB" sz="1100" b="1">
                              <a:solidFill>
                                <a:schemeClr val="bg1"/>
                              </a:solidFill>
                            </a:rPr>
                            <a:t>Negative test</a:t>
                          </a:r>
                          <a:endParaRPr lang="en-GB" sz="1100" b="1" i="1">
                            <a:solidFill>
                              <a:schemeClr val="bg1"/>
                            </a:solidFill>
                          </a:endParaRPr>
                        </a:p>
                        <a:p>
                          <a:pPr marL="0" indent="0">
                            <a:buFontTx/>
                            <a:buNone/>
                          </a:pPr>
                          <a:r>
                            <a:rPr lang="en-GB" sz="1100" i="1">
                              <a:solidFill>
                                <a:schemeClr val="bg1"/>
                              </a:solidFill>
                            </a:rPr>
                            <a:t>=</a:t>
                          </a:r>
                          <a:r>
                            <a:rPr lang="en-GB" sz="1100" i="1" baseline="0">
                              <a:solidFill>
                                <a:schemeClr val="bg1"/>
                              </a:solidFill>
                            </a:rPr>
                            <a:t> </a:t>
                          </a:r>
                          <a:r>
                            <a:rPr lang="en-GB" sz="1100" i="1">
                              <a:solidFill>
                                <a:schemeClr val="bg1"/>
                              </a:solidFill>
                            </a:rPr>
                            <a:t>P-value &gt; </a:t>
                          </a:r>
                          <a14:m>
                            <m:oMath xmlns:m="http://schemas.openxmlformats.org/officeDocument/2006/math">
                              <m:r>
                                <a:rPr lang="en-GB" sz="1100" i="1" smtClean="0">
                                  <a:solidFill>
                                    <a:schemeClr val="bg1"/>
                                  </a:solidFill>
                                  <a:latin typeface="Cambria Math" panose="02040503050406030204" pitchFamily="18" charset="0"/>
                                  <a:ea typeface="Cambria Math" panose="02040503050406030204" pitchFamily="18" charset="0"/>
                                </a:rPr>
                                <m:t>𝛼</m:t>
                              </m:r>
                            </m:oMath>
                          </a14:m>
                          <a:endParaRPr lang="en-GB" sz="1100" i="1">
                            <a:solidFill>
                              <a:schemeClr val="bg1"/>
                            </a:solidFill>
                          </a:endParaRPr>
                        </a:p>
                        <a:p>
                          <a:pPr marL="0" indent="0">
                            <a:buFontTx/>
                            <a:buNone/>
                          </a:pPr>
                          <a:r>
                            <a:rPr lang="en-GB" sz="1100" i="1">
                              <a:solidFill>
                                <a:schemeClr val="bg1"/>
                              </a:solidFill>
                            </a:rPr>
                            <a:t>= null hypothesis not rejected</a:t>
                          </a:r>
                        </a:p>
                      </a:txBody>
                      <a:tcPr marL="91544" marR="91544" marT="34290" marB="34290">
                        <a:lnB w="12700" cap="flat" cmpd="sng" algn="ctr">
                          <a:solidFill>
                            <a:schemeClr val="bg1">
                              <a:lumMod val="50000"/>
                            </a:schemeClr>
                          </a:solidFill>
                          <a:prstDash val="sysDot"/>
                          <a:round/>
                          <a:headEnd type="none" w="med" len="med"/>
                          <a:tailEnd type="none" w="med" len="med"/>
                        </a:lnB>
                        <a:solidFill>
                          <a:schemeClr val="bg2"/>
                        </a:solidFill>
                      </a:tcPr>
                    </a:tc>
                    <a:extLst>
                      <a:ext uri="{0D108BD9-81ED-4DB2-BD59-A6C34878D82A}">
                        <a16:rowId xmlns:a16="http://schemas.microsoft.com/office/drawing/2014/main" val="780964953"/>
                      </a:ext>
                    </a:extLst>
                  </a:tr>
                  <a:tr h="900000">
                    <a:tc rowSpan="2">
                      <a:txBody>
                        <a:bodyPr/>
                        <a:lstStyle/>
                        <a:p>
                          <a:r>
                            <a:rPr lang="en-GB" sz="1400" b="1" i="0">
                              <a:solidFill>
                                <a:schemeClr val="tx1"/>
                              </a:solidFill>
                            </a:rPr>
                            <a:t>Truth</a:t>
                          </a:r>
                        </a:p>
                      </a:txBody>
                      <a:tcPr marL="91544" marR="91544" marT="34290" marB="34290" anchor="ctr">
                        <a:lnB w="12700" cap="flat" cmpd="sng" algn="ctr">
                          <a:noFill/>
                          <a:prstDash val="sysDot"/>
                          <a:round/>
                          <a:headEnd type="none" w="med" len="med"/>
                          <a:tailEnd type="none" w="med" len="med"/>
                        </a:lnB>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lnB w="12700" cap="flat" cmpd="sng" algn="ctr">
                          <a:noFill/>
                          <a:prstDash val="sysDot"/>
                          <a:round/>
                          <a:headEnd type="none" w="med" len="med"/>
                          <a:tailEnd type="none" w="med" len="med"/>
                        </a:lnB>
                        <a:solidFill>
                          <a:schemeClr val="bg2"/>
                        </a:solidFill>
                      </a:tcPr>
                    </a:tc>
                    <a:tc>
                      <a:txBody>
                        <a:bodyPr/>
                        <a:lstStyle/>
                        <a:p>
                          <a:pPr algn="ctr"/>
                          <a:r>
                            <a:rPr lang="en-GB" sz="1200" b="1">
                              <a:solidFill>
                                <a:srgbClr val="FF0000"/>
                              </a:solidFill>
                            </a:rPr>
                            <a:t>False positive</a:t>
                          </a:r>
                        </a:p>
                        <a:p>
                          <a:pPr algn="ctr"/>
                          <a:r>
                            <a:rPr lang="en-GB" sz="1200" b="1">
                              <a:solidFill>
                                <a:srgbClr val="FF0000"/>
                              </a:solidFill>
                            </a:rPr>
                            <a:t>(Type 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b="1">
                              <a:solidFill>
                                <a:srgbClr val="00B050"/>
                              </a:solidFill>
                            </a:rPr>
                            <a:t>True negative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8396028"/>
                      </a:ext>
                    </a:extLst>
                  </a:tr>
                </a:tbl>
              </a:graphicData>
            </a:graphic>
          </p:graphicFrame>
        </mc:Choice>
        <mc:Fallback xmlns="">
          <p:graphicFrame>
            <p:nvGraphicFramePr>
              <p:cNvPr id="15" name="T6">
                <a:extLst>
                  <a:ext uri="{FF2B5EF4-FFF2-40B4-BE49-F238E27FC236}">
                    <a16:creationId xmlns:a16="http://schemas.microsoft.com/office/drawing/2014/main" id="{B97A5D81-7075-451D-B131-56027D8460E1}"/>
                  </a:ext>
                </a:extLst>
              </p:cNvPr>
              <p:cNvGraphicFramePr>
                <a:graphicFrameLocks/>
              </p:cNvGraphicFramePr>
              <p:nvPr>
                <p:extLst>
                  <p:ext uri="{D42A27DB-BD31-4B8C-83A1-F6EECF244321}">
                    <p14:modId xmlns:p14="http://schemas.microsoft.com/office/powerpoint/2010/main" val="516912401"/>
                  </p:ext>
                </p:extLst>
              </p:nvPr>
            </p:nvGraphicFramePr>
            <p:xfrm>
              <a:off x="357942" y="1187929"/>
              <a:ext cx="8423276" cy="2981940"/>
            </p:xfrm>
            <a:graphic>
              <a:graphicData uri="http://schemas.openxmlformats.org/drawingml/2006/table">
                <a:tbl>
                  <a:tblPr firstRow="1" bandRow="1">
                    <a:tableStyleId>{5C22544A-7EE6-4342-B048-85BDC9FD1C3A}</a:tableStyleId>
                  </a:tblPr>
                  <a:tblGrid>
                    <a:gridCol w="671869">
                      <a:extLst>
                        <a:ext uri="{9D8B030D-6E8A-4147-A177-3AD203B41FA5}">
                          <a16:colId xmlns:a16="http://schemas.microsoft.com/office/drawing/2014/main" val="3569452116"/>
                        </a:ext>
                      </a:extLst>
                    </a:gridCol>
                    <a:gridCol w="2584227">
                      <a:extLst>
                        <a:ext uri="{9D8B030D-6E8A-4147-A177-3AD203B41FA5}">
                          <a16:colId xmlns:a16="http://schemas.microsoft.com/office/drawing/2014/main" val="1272906734"/>
                        </a:ext>
                      </a:extLst>
                    </a:gridCol>
                    <a:gridCol w="2583590">
                      <a:extLst>
                        <a:ext uri="{9D8B030D-6E8A-4147-A177-3AD203B41FA5}">
                          <a16:colId xmlns:a16="http://schemas.microsoft.com/office/drawing/2014/main" val="3936756916"/>
                        </a:ext>
                      </a:extLst>
                    </a:gridCol>
                    <a:gridCol w="2583590">
                      <a:extLst>
                        <a:ext uri="{9D8B030D-6E8A-4147-A177-3AD203B41FA5}">
                          <a16:colId xmlns:a16="http://schemas.microsoft.com/office/drawing/2014/main" val="1153322018"/>
                        </a:ext>
                      </a:extLst>
                    </a:gridCol>
                  </a:tblGrid>
                  <a:tr h="281940">
                    <a:tc>
                      <a:txBody>
                        <a:bodyPr/>
                        <a:lstStyle/>
                        <a:p>
                          <a:endParaRPr lang="en-GB" sz="1400"/>
                        </a:p>
                      </a:txBody>
                      <a:tcPr marL="91544" marR="91544" marT="34290" marB="34290">
                        <a:solidFill>
                          <a:schemeClr val="bg1"/>
                        </a:solidFill>
                      </a:tcPr>
                    </a:tc>
                    <a:tc>
                      <a:txBody>
                        <a:bodyPr/>
                        <a:lstStyle/>
                        <a:p>
                          <a:endParaRPr lang="en-GB" sz="1400"/>
                        </a:p>
                      </a:txBody>
                      <a:tcPr marL="91544" marR="91544" marT="34290" marB="34290">
                        <a:solidFill>
                          <a:schemeClr val="bg1"/>
                        </a:solidFill>
                      </a:tcPr>
                    </a:tc>
                    <a:tc gridSpan="2">
                      <a:txBody>
                        <a:bodyPr/>
                        <a:lstStyle/>
                        <a:p>
                          <a:pPr marL="0" indent="0" algn="ctr">
                            <a:buFontTx/>
                            <a:buNone/>
                          </a:pPr>
                          <a:r>
                            <a:rPr lang="en-GB" sz="1400" i="0">
                              <a:solidFill>
                                <a:schemeClr val="tx1"/>
                              </a:solidFill>
                            </a:rPr>
                            <a:t>Test</a:t>
                          </a:r>
                        </a:p>
                      </a:txBody>
                      <a:tcPr marL="91544" marR="91544" marT="34290" marB="34290">
                        <a:solidFill>
                          <a:schemeClr val="bg1"/>
                        </a:solidFill>
                      </a:tcPr>
                    </a:tc>
                    <a:tc hMerge="1">
                      <a:txBody>
                        <a:bodyPr/>
                        <a:lstStyle/>
                        <a:p>
                          <a:pPr marL="0" indent="0">
                            <a:buFontTx/>
                            <a:buNone/>
                          </a:pPr>
                          <a:endParaRPr lang="en-GB" sz="1200" i="1">
                            <a:solidFill>
                              <a:schemeClr val="bg1"/>
                            </a:solidFill>
                          </a:endParaRPr>
                        </a:p>
                      </a:txBody>
                      <a:tcPr/>
                    </a:tc>
                    <a:extLst>
                      <a:ext uri="{0D108BD9-81ED-4DB2-BD59-A6C34878D82A}">
                        <a16:rowId xmlns:a16="http://schemas.microsoft.com/office/drawing/2014/main" val="777239216"/>
                      </a:ext>
                    </a:extLst>
                  </a:tr>
                  <a:tr h="900000">
                    <a:tc>
                      <a:txBody>
                        <a:bodyPr/>
                        <a:lstStyle/>
                        <a:p>
                          <a:endParaRPr lang="en-GB" sz="1100"/>
                        </a:p>
                      </a:txBody>
                      <a:tcPr marL="91544" marR="91544" marT="34290" marB="34290">
                        <a:solidFill>
                          <a:schemeClr val="bg1"/>
                        </a:solidFill>
                      </a:tcPr>
                    </a:tc>
                    <a:tc>
                      <a:txBody>
                        <a:bodyPr/>
                        <a:lstStyle/>
                        <a:p>
                          <a:endParaRPr lang="en-GB" sz="1100"/>
                        </a:p>
                      </a:txBody>
                      <a:tcPr marL="91544" marR="91544" marT="34290" marB="34290">
                        <a:solidFill>
                          <a:schemeClr val="bg1"/>
                        </a:solid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8"/>
                          <a:stretch>
                            <a:fillRect l="-126415" t="-32886" r="-100943" b="-200000"/>
                          </a:stretch>
                        </a:blipFill>
                      </a:tcPr>
                    </a:tc>
                    <a:tc>
                      <a:txBody>
                        <a:bodyPr/>
                        <a:lstStyle/>
                        <a:p>
                          <a:endParaRPr lang="en-US"/>
                        </a:p>
                      </a:txBody>
                      <a:tcPr marL="91544" marR="91544" marT="34290" marB="34290">
                        <a:lnB w="12700" cap="flat" cmpd="sng" algn="ctr">
                          <a:solidFill>
                            <a:schemeClr val="bg1">
                              <a:lumMod val="50000"/>
                            </a:schemeClr>
                          </a:solidFill>
                          <a:prstDash val="sysDot"/>
                          <a:round/>
                          <a:headEnd type="none" w="med" len="med"/>
                          <a:tailEnd type="none" w="med" len="med"/>
                        </a:lnB>
                        <a:blipFill>
                          <a:blip r:embed="rId8"/>
                          <a:stretch>
                            <a:fillRect l="-226415" t="-32886" r="-943" b="-200000"/>
                          </a:stretch>
                        </a:blipFill>
                      </a:tcPr>
                    </a:tc>
                    <a:extLst>
                      <a:ext uri="{0D108BD9-81ED-4DB2-BD59-A6C34878D82A}">
                        <a16:rowId xmlns:a16="http://schemas.microsoft.com/office/drawing/2014/main" val="780964953"/>
                      </a:ext>
                    </a:extLst>
                  </a:tr>
                  <a:tr h="900000">
                    <a:tc rowSpan="2">
                      <a:txBody>
                        <a:bodyPr/>
                        <a:lstStyle/>
                        <a:p>
                          <a:r>
                            <a:rPr lang="en-GB" sz="1400" b="1" i="0">
                              <a:solidFill>
                                <a:schemeClr val="tx1"/>
                              </a:solidFill>
                            </a:rPr>
                            <a:t>Truth</a:t>
                          </a:r>
                        </a:p>
                      </a:txBody>
                      <a:tcPr marL="91544" marR="91544" marT="34290" marB="34290" anchor="ctr">
                        <a:lnB w="12700" cap="flat" cmpd="sng" algn="ctr">
                          <a:noFill/>
                          <a:prstDash val="sysDot"/>
                          <a:round/>
                          <a:headEnd type="none" w="med" len="med"/>
                          <a:tailEnd type="none" w="med" len="med"/>
                        </a:lnB>
                        <a:solidFill>
                          <a:schemeClr val="bg1"/>
                        </a:solidFill>
                      </a:tcPr>
                    </a:tc>
                    <a:tc>
                      <a:txBody>
                        <a:bodyPr/>
                        <a:lstStyle/>
                        <a:p>
                          <a:r>
                            <a:rPr lang="en-GB" sz="1100" b="1" i="0">
                              <a:solidFill>
                                <a:schemeClr val="bg1"/>
                              </a:solidFill>
                            </a:rPr>
                            <a:t>The null hypothesis is false </a:t>
                          </a:r>
                          <a:br>
                            <a:rPr lang="en-GB" sz="1100" b="1" i="0">
                              <a:solidFill>
                                <a:schemeClr val="bg1"/>
                              </a:solidFill>
                            </a:rPr>
                          </a:br>
                          <a:r>
                            <a:rPr lang="en-GB" sz="1100" i="0">
                              <a:solidFill>
                                <a:schemeClr val="bg1"/>
                              </a:solidFill>
                            </a:rPr>
                            <a:t>(e.g. there is a certain treatment effect)</a:t>
                          </a:r>
                        </a:p>
                      </a:txBody>
                      <a:tcPr marL="91544" marR="91544" marT="34290" marB="34290">
                        <a:lnR w="12700" cap="flat" cmpd="sng" algn="ctr">
                          <a:solidFill>
                            <a:schemeClr val="bg1">
                              <a:lumMod val="50000"/>
                            </a:schemeClr>
                          </a:solidFill>
                          <a:prstDash val="sysDot"/>
                          <a:round/>
                          <a:headEnd type="none" w="med" len="med"/>
                          <a:tailEnd type="none" w="med" len="med"/>
                        </a:lnR>
                        <a:solidFill>
                          <a:srgbClr val="40488D"/>
                        </a:solidFill>
                      </a:tcPr>
                    </a:tc>
                    <a:tc>
                      <a:txBody>
                        <a:bodyPr/>
                        <a:lstStyle/>
                        <a:p>
                          <a:pPr algn="ctr"/>
                          <a:r>
                            <a:rPr lang="en-GB" sz="1200" b="1">
                              <a:solidFill>
                                <a:srgbClr val="00B050"/>
                              </a:solidFill>
                            </a:rPr>
                            <a:t>True positive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a:t>False negative</a:t>
                          </a:r>
                        </a:p>
                        <a:p>
                          <a:pPr algn="ctr"/>
                          <a:r>
                            <a:rPr lang="en-GB" sz="1200"/>
                            <a:t>(Type II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8086699"/>
                      </a:ext>
                    </a:extLst>
                  </a:tr>
                  <a:tr h="900000">
                    <a:tc vMerge="1">
                      <a:txBody>
                        <a:bodyPr/>
                        <a:lstStyle/>
                        <a:p>
                          <a:endParaRPr lang="en-GB" sz="1800" i="0">
                            <a:solidFill>
                              <a:schemeClr val="bg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0">
                              <a:solidFill>
                                <a:schemeClr val="bg1"/>
                              </a:solidFill>
                            </a:rPr>
                            <a:t>The null hypothesis is true </a:t>
                          </a:r>
                          <a:br>
                            <a:rPr lang="en-GB" sz="1100" i="0">
                              <a:solidFill>
                                <a:schemeClr val="bg1"/>
                              </a:solidFill>
                            </a:rPr>
                          </a:br>
                          <a:r>
                            <a:rPr lang="en-GB" sz="1100" i="0">
                              <a:solidFill>
                                <a:schemeClr val="bg1"/>
                              </a:solidFill>
                            </a:rPr>
                            <a:t>(e.g. there is a no treatment effect)</a:t>
                          </a:r>
                        </a:p>
                        <a:p>
                          <a:endParaRPr lang="en-GB" sz="1100" i="0">
                            <a:solidFill>
                              <a:schemeClr val="bg1"/>
                            </a:solidFill>
                          </a:endParaRPr>
                        </a:p>
                      </a:txBody>
                      <a:tcPr marL="91544" marR="91544" marT="34290" marB="34290">
                        <a:lnR w="12700" cap="flat" cmpd="sng" algn="ctr">
                          <a:solidFill>
                            <a:schemeClr val="bg1">
                              <a:lumMod val="50000"/>
                            </a:schemeClr>
                          </a:solidFill>
                          <a:prstDash val="sysDot"/>
                          <a:round/>
                          <a:headEnd type="none" w="med" len="med"/>
                          <a:tailEnd type="none" w="med" len="med"/>
                        </a:lnR>
                        <a:lnB w="12700" cap="flat" cmpd="sng" algn="ctr">
                          <a:noFill/>
                          <a:prstDash val="sysDot"/>
                          <a:round/>
                          <a:headEnd type="none" w="med" len="med"/>
                          <a:tailEnd type="none" w="med" len="med"/>
                        </a:lnB>
                        <a:solidFill>
                          <a:schemeClr val="bg2"/>
                        </a:solidFill>
                      </a:tcPr>
                    </a:tc>
                    <a:tc>
                      <a:txBody>
                        <a:bodyPr/>
                        <a:lstStyle/>
                        <a:p>
                          <a:pPr algn="ctr"/>
                          <a:r>
                            <a:rPr lang="en-GB" sz="1200" b="1">
                              <a:solidFill>
                                <a:srgbClr val="FF0000"/>
                              </a:solidFill>
                            </a:rPr>
                            <a:t>False positive</a:t>
                          </a:r>
                        </a:p>
                        <a:p>
                          <a:pPr algn="ctr"/>
                          <a:r>
                            <a:rPr lang="en-GB" sz="1200" b="1">
                              <a:solidFill>
                                <a:srgbClr val="FF0000"/>
                              </a:solidFill>
                            </a:rPr>
                            <a:t>(Type I error)</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tc>
                      <a:txBody>
                        <a:bodyPr/>
                        <a:lstStyle/>
                        <a:p>
                          <a:pPr algn="ctr"/>
                          <a:r>
                            <a:rPr lang="en-GB" sz="1200" b="1">
                              <a:solidFill>
                                <a:srgbClr val="00B050"/>
                              </a:solidFill>
                            </a:rPr>
                            <a:t>True negative</a:t>
                          </a:r>
                        </a:p>
                      </a:txBody>
                      <a:tcPr marL="91544" marR="91544" marT="34290" marB="3429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bg1">
                              <a:lumMod val="50000"/>
                            </a:schemeClr>
                          </a:solidFill>
                          <a:prstDash val="sysDot"/>
                          <a:round/>
                          <a:headEnd type="none" w="med" len="med"/>
                          <a:tailEnd type="none" w="med" len="med"/>
                        </a:lnT>
                        <a:lnB w="12700" cap="flat" cmpd="sng" algn="ctr">
                          <a:solidFill>
                            <a:schemeClr val="bg1">
                              <a:lumMod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8396028"/>
                      </a:ext>
                    </a:extLst>
                  </a:tr>
                </a:tbl>
              </a:graphicData>
            </a:graphic>
          </p:graphicFrame>
        </mc:Fallback>
      </mc:AlternateContent>
    </p:spTree>
    <p:extLst>
      <p:ext uri="{BB962C8B-B14F-4D97-AF65-F5344CB8AC3E}">
        <p14:creationId xmlns:p14="http://schemas.microsoft.com/office/powerpoint/2010/main" val="4111939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24084E-6CD5-4CBC-8A9C-BC0E7EDDBBA1}"/>
              </a:ext>
            </a:extLst>
          </p:cNvPr>
          <p:cNvSpPr>
            <a:spLocks noGrp="1"/>
          </p:cNvSpPr>
          <p:nvPr>
            <p:ph type="body" sz="quarter" idx="14"/>
          </p:nvPr>
        </p:nvSpPr>
        <p:spPr/>
        <p:txBody>
          <a:bodyPr/>
          <a:lstStyle/>
          <a:p>
            <a:r>
              <a:rPr lang="en-GB"/>
              <a:t>Clinical trials have multiple objectives</a:t>
            </a:r>
          </a:p>
        </p:txBody>
      </p:sp>
      <p:sp>
        <p:nvSpPr>
          <p:cNvPr id="5" name="Title 4">
            <a:extLst>
              <a:ext uri="{FF2B5EF4-FFF2-40B4-BE49-F238E27FC236}">
                <a16:creationId xmlns:a16="http://schemas.microsoft.com/office/drawing/2014/main" id="{0259CA64-9FA7-4EE8-877D-5A4EF6A72D35}"/>
              </a:ext>
            </a:extLst>
          </p:cNvPr>
          <p:cNvSpPr>
            <a:spLocks noGrp="1"/>
          </p:cNvSpPr>
          <p:nvPr>
            <p:ph type="title"/>
          </p:nvPr>
        </p:nvSpPr>
        <p:spPr/>
        <p:txBody>
          <a:bodyPr/>
          <a:lstStyle/>
          <a:p>
            <a:r>
              <a:rPr lang="en-GB"/>
              <a:t>How can multiplicity be introduced?</a:t>
            </a:r>
          </a:p>
        </p:txBody>
      </p:sp>
      <p:sp>
        <p:nvSpPr>
          <p:cNvPr id="7" name="Slide Number Placeholder 6">
            <a:extLst>
              <a:ext uri="{FF2B5EF4-FFF2-40B4-BE49-F238E27FC236}">
                <a16:creationId xmlns:a16="http://schemas.microsoft.com/office/drawing/2014/main" id="{26F0A6ED-556D-4844-BD5C-76C970BCE81E}"/>
              </a:ext>
            </a:extLst>
          </p:cNvPr>
          <p:cNvSpPr>
            <a:spLocks noGrp="1"/>
          </p:cNvSpPr>
          <p:nvPr>
            <p:ph type="sldNum" sz="quarter" idx="21"/>
          </p:nvPr>
        </p:nvSpPr>
        <p:spPr/>
        <p:txBody>
          <a:bodyPr/>
          <a:lstStyle/>
          <a:p>
            <a:fld id="{9F9F533D-B52E-4A2F-BF72-0ADD2D94BD75}" type="slidenum">
              <a:rPr lang="en-GB" smtClean="0"/>
              <a:pPr/>
              <a:t>5</a:t>
            </a:fld>
            <a:endParaRPr lang="en-GB"/>
          </a:p>
        </p:txBody>
      </p:sp>
      <p:grpSp>
        <p:nvGrpSpPr>
          <p:cNvPr id="141" name="Group 140">
            <a:extLst>
              <a:ext uri="{FF2B5EF4-FFF2-40B4-BE49-F238E27FC236}">
                <a16:creationId xmlns:a16="http://schemas.microsoft.com/office/drawing/2014/main" id="{2D4F92AE-121A-4DFF-94DE-39FAB67E8D5E}"/>
              </a:ext>
            </a:extLst>
          </p:cNvPr>
          <p:cNvGrpSpPr/>
          <p:nvPr/>
        </p:nvGrpSpPr>
        <p:grpSpPr>
          <a:xfrm>
            <a:off x="1343399" y="1535888"/>
            <a:ext cx="1928411" cy="1186217"/>
            <a:chOff x="292951" y="1910945"/>
            <a:chExt cx="1928411" cy="1186217"/>
          </a:xfrm>
        </p:grpSpPr>
        <p:sp>
          <p:nvSpPr>
            <p:cNvPr id="8" name="Freeform 397">
              <a:extLst>
                <a:ext uri="{FF2B5EF4-FFF2-40B4-BE49-F238E27FC236}">
                  <a16:creationId xmlns:a16="http://schemas.microsoft.com/office/drawing/2014/main" id="{9ED4E230-6036-445C-A986-3BF69EC5D462}"/>
                </a:ext>
              </a:extLst>
            </p:cNvPr>
            <p:cNvSpPr>
              <a:spLocks noChangeAspect="1" noEditPoints="1"/>
            </p:cNvSpPr>
            <p:nvPr/>
          </p:nvSpPr>
          <p:spPr bwMode="auto">
            <a:xfrm>
              <a:off x="1552392" y="1945283"/>
              <a:ext cx="511984" cy="525600"/>
            </a:xfrm>
            <a:custGeom>
              <a:avLst/>
              <a:gdLst>
                <a:gd name="T0" fmla="*/ 2034 w 2248"/>
                <a:gd name="T1" fmla="*/ 1317 h 2307"/>
                <a:gd name="T2" fmla="*/ 2033 w 2248"/>
                <a:gd name="T3" fmla="*/ 1316 h 2307"/>
                <a:gd name="T4" fmla="*/ 1531 w 2248"/>
                <a:gd name="T5" fmla="*/ 814 h 2307"/>
                <a:gd name="T6" fmla="*/ 1415 w 2248"/>
                <a:gd name="T7" fmla="*/ 814 h 2307"/>
                <a:gd name="T8" fmla="*/ 796 w 2248"/>
                <a:gd name="T9" fmla="*/ 195 h 2307"/>
                <a:gd name="T10" fmla="*/ 136 w 2248"/>
                <a:gd name="T11" fmla="*/ 195 h 2307"/>
                <a:gd name="T12" fmla="*/ 0 w 2248"/>
                <a:gd name="T13" fmla="*/ 525 h 2307"/>
                <a:gd name="T14" fmla="*/ 136 w 2248"/>
                <a:gd name="T15" fmla="*/ 855 h 2307"/>
                <a:gd name="T16" fmla="*/ 755 w 2248"/>
                <a:gd name="T17" fmla="*/ 1474 h 2307"/>
                <a:gd name="T18" fmla="*/ 755 w 2248"/>
                <a:gd name="T19" fmla="*/ 1474 h 2307"/>
                <a:gd name="T20" fmla="*/ 755 w 2248"/>
                <a:gd name="T21" fmla="*/ 1590 h 2307"/>
                <a:gd name="T22" fmla="*/ 1258 w 2248"/>
                <a:gd name="T23" fmla="*/ 2093 h 2307"/>
                <a:gd name="T24" fmla="*/ 2034 w 2248"/>
                <a:gd name="T25" fmla="*/ 2093 h 2307"/>
                <a:gd name="T26" fmla="*/ 2034 w 2248"/>
                <a:gd name="T27" fmla="*/ 1317 h 2307"/>
                <a:gd name="T28" fmla="*/ 1918 w 2248"/>
                <a:gd name="T29" fmla="*/ 1977 h 2307"/>
                <a:gd name="T30" fmla="*/ 1374 w 2248"/>
                <a:gd name="T31" fmla="*/ 1977 h 2307"/>
                <a:gd name="T32" fmla="*/ 814 w 2248"/>
                <a:gd name="T33" fmla="*/ 1416 h 2307"/>
                <a:gd name="T34" fmla="*/ 872 w 2248"/>
                <a:gd name="T35" fmla="*/ 1358 h 2307"/>
                <a:gd name="T36" fmla="*/ 253 w 2248"/>
                <a:gd name="T37" fmla="*/ 739 h 2307"/>
                <a:gd name="T38" fmla="*/ 164 w 2248"/>
                <a:gd name="T39" fmla="*/ 525 h 2307"/>
                <a:gd name="T40" fmla="*/ 253 w 2248"/>
                <a:gd name="T41" fmla="*/ 312 h 2307"/>
                <a:gd name="T42" fmla="*/ 466 w 2248"/>
                <a:gd name="T43" fmla="*/ 223 h 2307"/>
                <a:gd name="T44" fmla="*/ 680 w 2248"/>
                <a:gd name="T45" fmla="*/ 312 h 2307"/>
                <a:gd name="T46" fmla="*/ 1299 w 2248"/>
                <a:gd name="T47" fmla="*/ 931 h 2307"/>
                <a:gd name="T48" fmla="*/ 872 w 2248"/>
                <a:gd name="T49" fmla="*/ 1358 h 2307"/>
                <a:gd name="T50" fmla="*/ 1433 w 2248"/>
                <a:gd name="T51" fmla="*/ 1918 h 2307"/>
                <a:gd name="T52" fmla="*/ 1859 w 2248"/>
                <a:gd name="T53" fmla="*/ 1918 h 2307"/>
                <a:gd name="T54" fmla="*/ 1918 w 2248"/>
                <a:gd name="T55" fmla="*/ 1918 h 2307"/>
                <a:gd name="T56" fmla="*/ 1930 w 2248"/>
                <a:gd name="T57" fmla="*/ 1948 h 2307"/>
                <a:gd name="T58" fmla="*/ 1918 w 2248"/>
                <a:gd name="T59" fmla="*/ 1977 h 2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48" h="2307">
                  <a:moveTo>
                    <a:pt x="2034" y="1317"/>
                  </a:moveTo>
                  <a:cubicBezTo>
                    <a:pt x="2034" y="1317"/>
                    <a:pt x="2033" y="1317"/>
                    <a:pt x="2033" y="1316"/>
                  </a:cubicBezTo>
                  <a:cubicBezTo>
                    <a:pt x="1531" y="814"/>
                    <a:pt x="1531" y="814"/>
                    <a:pt x="1531" y="814"/>
                  </a:cubicBezTo>
                  <a:cubicBezTo>
                    <a:pt x="1499" y="782"/>
                    <a:pt x="1447" y="782"/>
                    <a:pt x="1415" y="814"/>
                  </a:cubicBezTo>
                  <a:cubicBezTo>
                    <a:pt x="796" y="195"/>
                    <a:pt x="796" y="195"/>
                    <a:pt x="796" y="195"/>
                  </a:cubicBezTo>
                  <a:cubicBezTo>
                    <a:pt x="601" y="0"/>
                    <a:pt x="318" y="13"/>
                    <a:pt x="136" y="195"/>
                  </a:cubicBezTo>
                  <a:cubicBezTo>
                    <a:pt x="45" y="286"/>
                    <a:pt x="0" y="406"/>
                    <a:pt x="0" y="525"/>
                  </a:cubicBezTo>
                  <a:cubicBezTo>
                    <a:pt x="0" y="645"/>
                    <a:pt x="45" y="764"/>
                    <a:pt x="136" y="855"/>
                  </a:cubicBezTo>
                  <a:cubicBezTo>
                    <a:pt x="755" y="1474"/>
                    <a:pt x="755" y="1474"/>
                    <a:pt x="755" y="1474"/>
                  </a:cubicBezTo>
                  <a:cubicBezTo>
                    <a:pt x="755" y="1474"/>
                    <a:pt x="755" y="1474"/>
                    <a:pt x="755" y="1474"/>
                  </a:cubicBezTo>
                  <a:cubicBezTo>
                    <a:pt x="723" y="1506"/>
                    <a:pt x="723" y="1558"/>
                    <a:pt x="755" y="1590"/>
                  </a:cubicBezTo>
                  <a:cubicBezTo>
                    <a:pt x="1258" y="2093"/>
                    <a:pt x="1258" y="2093"/>
                    <a:pt x="1258" y="2093"/>
                  </a:cubicBezTo>
                  <a:cubicBezTo>
                    <a:pt x="1472" y="2307"/>
                    <a:pt x="1820" y="2307"/>
                    <a:pt x="2034" y="2093"/>
                  </a:cubicBezTo>
                  <a:cubicBezTo>
                    <a:pt x="2248" y="1879"/>
                    <a:pt x="2248" y="1531"/>
                    <a:pt x="2034" y="1317"/>
                  </a:cubicBezTo>
                  <a:close/>
                  <a:moveTo>
                    <a:pt x="1918" y="1977"/>
                  </a:moveTo>
                  <a:cubicBezTo>
                    <a:pt x="1768" y="2126"/>
                    <a:pt x="1524" y="2126"/>
                    <a:pt x="1374" y="1977"/>
                  </a:cubicBezTo>
                  <a:cubicBezTo>
                    <a:pt x="814" y="1416"/>
                    <a:pt x="814" y="1416"/>
                    <a:pt x="814" y="1416"/>
                  </a:cubicBezTo>
                  <a:cubicBezTo>
                    <a:pt x="872" y="1358"/>
                    <a:pt x="872" y="1358"/>
                    <a:pt x="872" y="1358"/>
                  </a:cubicBezTo>
                  <a:cubicBezTo>
                    <a:pt x="253" y="739"/>
                    <a:pt x="253" y="739"/>
                    <a:pt x="253" y="739"/>
                  </a:cubicBezTo>
                  <a:cubicBezTo>
                    <a:pt x="196" y="682"/>
                    <a:pt x="164" y="606"/>
                    <a:pt x="164" y="525"/>
                  </a:cubicBezTo>
                  <a:cubicBezTo>
                    <a:pt x="164" y="445"/>
                    <a:pt x="196" y="369"/>
                    <a:pt x="253" y="312"/>
                  </a:cubicBezTo>
                  <a:cubicBezTo>
                    <a:pt x="310" y="255"/>
                    <a:pt x="385" y="223"/>
                    <a:pt x="466" y="223"/>
                  </a:cubicBezTo>
                  <a:cubicBezTo>
                    <a:pt x="547" y="223"/>
                    <a:pt x="623" y="255"/>
                    <a:pt x="680" y="312"/>
                  </a:cubicBezTo>
                  <a:cubicBezTo>
                    <a:pt x="1299" y="931"/>
                    <a:pt x="1299" y="931"/>
                    <a:pt x="1299" y="931"/>
                  </a:cubicBezTo>
                  <a:cubicBezTo>
                    <a:pt x="872" y="1358"/>
                    <a:pt x="872" y="1358"/>
                    <a:pt x="872" y="1358"/>
                  </a:cubicBezTo>
                  <a:cubicBezTo>
                    <a:pt x="1433" y="1918"/>
                    <a:pt x="1433" y="1918"/>
                    <a:pt x="1433" y="1918"/>
                  </a:cubicBezTo>
                  <a:cubicBezTo>
                    <a:pt x="1550" y="2036"/>
                    <a:pt x="1742" y="2036"/>
                    <a:pt x="1859" y="1918"/>
                  </a:cubicBezTo>
                  <a:cubicBezTo>
                    <a:pt x="1875" y="1902"/>
                    <a:pt x="1902" y="1902"/>
                    <a:pt x="1918" y="1918"/>
                  </a:cubicBezTo>
                  <a:cubicBezTo>
                    <a:pt x="1926" y="1926"/>
                    <a:pt x="1930" y="1937"/>
                    <a:pt x="1930" y="1948"/>
                  </a:cubicBezTo>
                  <a:cubicBezTo>
                    <a:pt x="1930" y="1958"/>
                    <a:pt x="1926" y="1969"/>
                    <a:pt x="1918" y="197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Freeform 442">
              <a:extLst>
                <a:ext uri="{FF2B5EF4-FFF2-40B4-BE49-F238E27FC236}">
                  <a16:creationId xmlns:a16="http://schemas.microsoft.com/office/drawing/2014/main" id="{B445B363-2EE3-4DD0-91AA-4988A1A2DE74}"/>
                </a:ext>
              </a:extLst>
            </p:cNvPr>
            <p:cNvSpPr>
              <a:spLocks noEditPoints="1"/>
            </p:cNvSpPr>
            <p:nvPr/>
          </p:nvSpPr>
          <p:spPr bwMode="auto">
            <a:xfrm rot="2798196">
              <a:off x="1170876" y="2097280"/>
              <a:ext cx="327786" cy="207417"/>
            </a:xfrm>
            <a:custGeom>
              <a:avLst/>
              <a:gdLst>
                <a:gd name="T0" fmla="*/ 688 w 1375"/>
                <a:gd name="T1" fmla="*/ 0 h 1375"/>
                <a:gd name="T2" fmla="*/ 0 w 1375"/>
                <a:gd name="T3" fmla="*/ 688 h 1375"/>
                <a:gd name="T4" fmla="*/ 688 w 1375"/>
                <a:gd name="T5" fmla="*/ 1375 h 1375"/>
                <a:gd name="T6" fmla="*/ 1375 w 1375"/>
                <a:gd name="T7" fmla="*/ 688 h 1375"/>
                <a:gd name="T8" fmla="*/ 688 w 1375"/>
                <a:gd name="T9" fmla="*/ 0 h 1375"/>
                <a:gd name="T10" fmla="*/ 1045 w 1375"/>
                <a:gd name="T11" fmla="*/ 770 h 1375"/>
                <a:gd name="T12" fmla="*/ 330 w 1375"/>
                <a:gd name="T13" fmla="*/ 770 h 1375"/>
                <a:gd name="T14" fmla="*/ 248 w 1375"/>
                <a:gd name="T15" fmla="*/ 688 h 1375"/>
                <a:gd name="T16" fmla="*/ 330 w 1375"/>
                <a:gd name="T17" fmla="*/ 605 h 1375"/>
                <a:gd name="T18" fmla="*/ 1045 w 1375"/>
                <a:gd name="T19" fmla="*/ 605 h 1375"/>
                <a:gd name="T20" fmla="*/ 1128 w 1375"/>
                <a:gd name="T21" fmla="*/ 688 h 1375"/>
                <a:gd name="T22" fmla="*/ 1045 w 1375"/>
                <a:gd name="T23" fmla="*/ 770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75" h="1375">
                  <a:moveTo>
                    <a:pt x="688" y="0"/>
                  </a:moveTo>
                  <a:cubicBezTo>
                    <a:pt x="308" y="0"/>
                    <a:pt x="0" y="308"/>
                    <a:pt x="0" y="688"/>
                  </a:cubicBezTo>
                  <a:cubicBezTo>
                    <a:pt x="0" y="1067"/>
                    <a:pt x="308" y="1375"/>
                    <a:pt x="688" y="1375"/>
                  </a:cubicBezTo>
                  <a:cubicBezTo>
                    <a:pt x="1068" y="1375"/>
                    <a:pt x="1375" y="1067"/>
                    <a:pt x="1375" y="688"/>
                  </a:cubicBezTo>
                  <a:cubicBezTo>
                    <a:pt x="1375" y="308"/>
                    <a:pt x="1068" y="0"/>
                    <a:pt x="688" y="0"/>
                  </a:cubicBezTo>
                  <a:close/>
                  <a:moveTo>
                    <a:pt x="1045" y="770"/>
                  </a:moveTo>
                  <a:cubicBezTo>
                    <a:pt x="330" y="770"/>
                    <a:pt x="330" y="770"/>
                    <a:pt x="330" y="770"/>
                  </a:cubicBezTo>
                  <a:cubicBezTo>
                    <a:pt x="285" y="770"/>
                    <a:pt x="248" y="733"/>
                    <a:pt x="248" y="688"/>
                  </a:cubicBezTo>
                  <a:cubicBezTo>
                    <a:pt x="248" y="642"/>
                    <a:pt x="285" y="605"/>
                    <a:pt x="330" y="605"/>
                  </a:cubicBezTo>
                  <a:cubicBezTo>
                    <a:pt x="1045" y="605"/>
                    <a:pt x="1045" y="605"/>
                    <a:pt x="1045" y="605"/>
                  </a:cubicBezTo>
                  <a:cubicBezTo>
                    <a:pt x="1091" y="605"/>
                    <a:pt x="1128" y="642"/>
                    <a:pt x="1128" y="688"/>
                  </a:cubicBezTo>
                  <a:cubicBezTo>
                    <a:pt x="1128" y="733"/>
                    <a:pt x="1091" y="770"/>
                    <a:pt x="1045" y="77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456">
              <a:extLst>
                <a:ext uri="{FF2B5EF4-FFF2-40B4-BE49-F238E27FC236}">
                  <a16:creationId xmlns:a16="http://schemas.microsoft.com/office/drawing/2014/main" id="{73801F9F-59F6-4A5A-95F9-9AAAEF243CD9}"/>
                </a:ext>
              </a:extLst>
            </p:cNvPr>
            <p:cNvSpPr>
              <a:spLocks noChangeAspect="1" noEditPoints="1"/>
            </p:cNvSpPr>
            <p:nvPr/>
          </p:nvSpPr>
          <p:spPr bwMode="auto">
            <a:xfrm>
              <a:off x="592264" y="1910945"/>
              <a:ext cx="524884" cy="525600"/>
            </a:xfrm>
            <a:custGeom>
              <a:avLst/>
              <a:gdLst>
                <a:gd name="T0" fmla="*/ 953 w 2232"/>
                <a:gd name="T1" fmla="*/ 64 h 2232"/>
                <a:gd name="T2" fmla="*/ 64 w 2232"/>
                <a:gd name="T3" fmla="*/ 720 h 2232"/>
                <a:gd name="T4" fmla="*/ 1279 w 2232"/>
                <a:gd name="T5" fmla="*/ 2168 h 2232"/>
                <a:gd name="T6" fmla="*/ 2168 w 2232"/>
                <a:gd name="T7" fmla="*/ 1513 h 2232"/>
                <a:gd name="T8" fmla="*/ 1683 w 2232"/>
                <a:gd name="T9" fmla="*/ 1033 h 2232"/>
                <a:gd name="T10" fmla="*/ 1507 w 2232"/>
                <a:gd name="T11" fmla="*/ 1208 h 2232"/>
                <a:gd name="T12" fmla="*/ 1683 w 2232"/>
                <a:gd name="T13" fmla="*/ 1033 h 2232"/>
                <a:gd name="T14" fmla="*/ 1448 w 2232"/>
                <a:gd name="T15" fmla="*/ 973 h 2232"/>
                <a:gd name="T16" fmla="*/ 1270 w 2232"/>
                <a:gd name="T17" fmla="*/ 796 h 2232"/>
                <a:gd name="T18" fmla="*/ 1204 w 2232"/>
                <a:gd name="T19" fmla="*/ 555 h 2232"/>
                <a:gd name="T20" fmla="*/ 1029 w 2232"/>
                <a:gd name="T21" fmla="*/ 730 h 2232"/>
                <a:gd name="T22" fmla="*/ 1204 w 2232"/>
                <a:gd name="T23" fmla="*/ 555 h 2232"/>
                <a:gd name="T24" fmla="*/ 958 w 2232"/>
                <a:gd name="T25" fmla="*/ 309 h 2232"/>
                <a:gd name="T26" fmla="*/ 783 w 2232"/>
                <a:gd name="T27" fmla="*/ 484 h 2232"/>
                <a:gd name="T28" fmla="*/ 308 w 2232"/>
                <a:gd name="T29" fmla="*/ 959 h 2232"/>
                <a:gd name="T30" fmla="*/ 483 w 2232"/>
                <a:gd name="T31" fmla="*/ 784 h 2232"/>
                <a:gd name="T32" fmla="*/ 308 w 2232"/>
                <a:gd name="T33" fmla="*/ 959 h 2232"/>
                <a:gd name="T34" fmla="*/ 554 w 2232"/>
                <a:gd name="T35" fmla="*/ 1030 h 2232"/>
                <a:gd name="T36" fmla="*/ 729 w 2232"/>
                <a:gd name="T37" fmla="*/ 1205 h 2232"/>
                <a:gd name="T38" fmla="*/ 796 w 2232"/>
                <a:gd name="T39" fmla="*/ 1447 h 2232"/>
                <a:gd name="T40" fmla="*/ 971 w 2232"/>
                <a:gd name="T41" fmla="*/ 1272 h 2232"/>
                <a:gd name="T42" fmla="*/ 796 w 2232"/>
                <a:gd name="T43" fmla="*/ 1447 h 2232"/>
                <a:gd name="T44" fmla="*/ 1032 w 2232"/>
                <a:gd name="T45" fmla="*/ 1508 h 2232"/>
                <a:gd name="T46" fmla="*/ 1208 w 2232"/>
                <a:gd name="T47" fmla="*/ 1683 h 2232"/>
                <a:gd name="T48" fmla="*/ 1448 w 2232"/>
                <a:gd name="T49" fmla="*/ 1924 h 2232"/>
                <a:gd name="T50" fmla="*/ 1273 w 2232"/>
                <a:gd name="T51" fmla="*/ 1749 h 2232"/>
                <a:gd name="T52" fmla="*/ 1448 w 2232"/>
                <a:gd name="T53" fmla="*/ 1924 h 2232"/>
                <a:gd name="T54" fmla="*/ 1628 w 2232"/>
                <a:gd name="T55" fmla="*/ 1686 h 2232"/>
                <a:gd name="T56" fmla="*/ 546 w 2232"/>
                <a:gd name="T57" fmla="*/ 546 h 2232"/>
                <a:gd name="T58" fmla="*/ 604 w 2232"/>
                <a:gd name="T59" fmla="*/ 546 h 2232"/>
                <a:gd name="T60" fmla="*/ 1686 w 2232"/>
                <a:gd name="T61" fmla="*/ 1686 h 2232"/>
                <a:gd name="T62" fmla="*/ 1748 w 2232"/>
                <a:gd name="T63" fmla="*/ 1449 h 2232"/>
                <a:gd name="T64" fmla="*/ 1923 w 2232"/>
                <a:gd name="T65" fmla="*/ 1274 h 2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32" h="2232">
                  <a:moveTo>
                    <a:pt x="2168" y="1279"/>
                  </a:moveTo>
                  <a:cubicBezTo>
                    <a:pt x="953" y="64"/>
                    <a:pt x="953" y="64"/>
                    <a:pt x="953" y="64"/>
                  </a:cubicBezTo>
                  <a:cubicBezTo>
                    <a:pt x="888" y="0"/>
                    <a:pt x="783" y="0"/>
                    <a:pt x="719" y="64"/>
                  </a:cubicBezTo>
                  <a:cubicBezTo>
                    <a:pt x="64" y="720"/>
                    <a:pt x="64" y="720"/>
                    <a:pt x="64" y="720"/>
                  </a:cubicBezTo>
                  <a:cubicBezTo>
                    <a:pt x="0" y="784"/>
                    <a:pt x="0" y="889"/>
                    <a:pt x="64" y="953"/>
                  </a:cubicBezTo>
                  <a:cubicBezTo>
                    <a:pt x="1279" y="2168"/>
                    <a:pt x="1279" y="2168"/>
                    <a:pt x="1279" y="2168"/>
                  </a:cubicBezTo>
                  <a:cubicBezTo>
                    <a:pt x="1343" y="2232"/>
                    <a:pt x="1448" y="2232"/>
                    <a:pt x="1512" y="2168"/>
                  </a:cubicBezTo>
                  <a:cubicBezTo>
                    <a:pt x="2168" y="1513"/>
                    <a:pt x="2168" y="1513"/>
                    <a:pt x="2168" y="1513"/>
                  </a:cubicBezTo>
                  <a:cubicBezTo>
                    <a:pt x="2232" y="1449"/>
                    <a:pt x="2232" y="1344"/>
                    <a:pt x="2168" y="1279"/>
                  </a:cubicBezTo>
                  <a:close/>
                  <a:moveTo>
                    <a:pt x="1683" y="1033"/>
                  </a:moveTo>
                  <a:cubicBezTo>
                    <a:pt x="1731" y="1081"/>
                    <a:pt x="1731" y="1160"/>
                    <a:pt x="1682" y="1208"/>
                  </a:cubicBezTo>
                  <a:cubicBezTo>
                    <a:pt x="1634" y="1256"/>
                    <a:pt x="1556" y="1256"/>
                    <a:pt x="1507" y="1208"/>
                  </a:cubicBezTo>
                  <a:cubicBezTo>
                    <a:pt x="1459" y="1160"/>
                    <a:pt x="1459" y="1081"/>
                    <a:pt x="1507" y="1033"/>
                  </a:cubicBezTo>
                  <a:cubicBezTo>
                    <a:pt x="1556" y="985"/>
                    <a:pt x="1634" y="985"/>
                    <a:pt x="1683" y="1033"/>
                  </a:cubicBezTo>
                  <a:close/>
                  <a:moveTo>
                    <a:pt x="1448" y="796"/>
                  </a:moveTo>
                  <a:cubicBezTo>
                    <a:pt x="1497" y="845"/>
                    <a:pt x="1496" y="924"/>
                    <a:pt x="1448" y="973"/>
                  </a:cubicBezTo>
                  <a:cubicBezTo>
                    <a:pt x="1398" y="1022"/>
                    <a:pt x="1319" y="1022"/>
                    <a:pt x="1270" y="973"/>
                  </a:cubicBezTo>
                  <a:cubicBezTo>
                    <a:pt x="1221" y="924"/>
                    <a:pt x="1221" y="845"/>
                    <a:pt x="1270" y="796"/>
                  </a:cubicBezTo>
                  <a:cubicBezTo>
                    <a:pt x="1319" y="746"/>
                    <a:pt x="1398" y="746"/>
                    <a:pt x="1448" y="796"/>
                  </a:cubicBezTo>
                  <a:close/>
                  <a:moveTo>
                    <a:pt x="1204" y="555"/>
                  </a:moveTo>
                  <a:cubicBezTo>
                    <a:pt x="1252" y="603"/>
                    <a:pt x="1252" y="681"/>
                    <a:pt x="1204" y="730"/>
                  </a:cubicBezTo>
                  <a:cubicBezTo>
                    <a:pt x="1156" y="778"/>
                    <a:pt x="1077" y="778"/>
                    <a:pt x="1029" y="730"/>
                  </a:cubicBezTo>
                  <a:cubicBezTo>
                    <a:pt x="981" y="681"/>
                    <a:pt x="981" y="603"/>
                    <a:pt x="1029" y="555"/>
                  </a:cubicBezTo>
                  <a:cubicBezTo>
                    <a:pt x="1077" y="506"/>
                    <a:pt x="1156" y="506"/>
                    <a:pt x="1204" y="555"/>
                  </a:cubicBezTo>
                  <a:close/>
                  <a:moveTo>
                    <a:pt x="783" y="309"/>
                  </a:moveTo>
                  <a:cubicBezTo>
                    <a:pt x="831" y="260"/>
                    <a:pt x="910" y="260"/>
                    <a:pt x="958" y="309"/>
                  </a:cubicBezTo>
                  <a:cubicBezTo>
                    <a:pt x="1006" y="357"/>
                    <a:pt x="1007" y="435"/>
                    <a:pt x="958" y="484"/>
                  </a:cubicBezTo>
                  <a:cubicBezTo>
                    <a:pt x="910" y="532"/>
                    <a:pt x="831" y="532"/>
                    <a:pt x="783" y="484"/>
                  </a:cubicBezTo>
                  <a:cubicBezTo>
                    <a:pt x="735" y="435"/>
                    <a:pt x="735" y="357"/>
                    <a:pt x="783" y="309"/>
                  </a:cubicBezTo>
                  <a:close/>
                  <a:moveTo>
                    <a:pt x="308" y="959"/>
                  </a:moveTo>
                  <a:cubicBezTo>
                    <a:pt x="260" y="910"/>
                    <a:pt x="260" y="832"/>
                    <a:pt x="308" y="784"/>
                  </a:cubicBezTo>
                  <a:cubicBezTo>
                    <a:pt x="356" y="735"/>
                    <a:pt x="435" y="735"/>
                    <a:pt x="483" y="784"/>
                  </a:cubicBezTo>
                  <a:cubicBezTo>
                    <a:pt x="531" y="832"/>
                    <a:pt x="532" y="910"/>
                    <a:pt x="483" y="959"/>
                  </a:cubicBezTo>
                  <a:cubicBezTo>
                    <a:pt x="435" y="1007"/>
                    <a:pt x="356" y="1007"/>
                    <a:pt x="308" y="959"/>
                  </a:cubicBezTo>
                  <a:close/>
                  <a:moveTo>
                    <a:pt x="554" y="1204"/>
                  </a:moveTo>
                  <a:cubicBezTo>
                    <a:pt x="506" y="1156"/>
                    <a:pt x="506" y="1078"/>
                    <a:pt x="554" y="1030"/>
                  </a:cubicBezTo>
                  <a:cubicBezTo>
                    <a:pt x="602" y="981"/>
                    <a:pt x="681" y="981"/>
                    <a:pt x="729" y="1029"/>
                  </a:cubicBezTo>
                  <a:cubicBezTo>
                    <a:pt x="777" y="1078"/>
                    <a:pt x="777" y="1156"/>
                    <a:pt x="729" y="1205"/>
                  </a:cubicBezTo>
                  <a:cubicBezTo>
                    <a:pt x="681" y="1253"/>
                    <a:pt x="602" y="1253"/>
                    <a:pt x="554" y="1204"/>
                  </a:cubicBezTo>
                  <a:close/>
                  <a:moveTo>
                    <a:pt x="796" y="1447"/>
                  </a:moveTo>
                  <a:cubicBezTo>
                    <a:pt x="748" y="1399"/>
                    <a:pt x="748" y="1320"/>
                    <a:pt x="796" y="1272"/>
                  </a:cubicBezTo>
                  <a:cubicBezTo>
                    <a:pt x="845" y="1223"/>
                    <a:pt x="923" y="1223"/>
                    <a:pt x="971" y="1272"/>
                  </a:cubicBezTo>
                  <a:cubicBezTo>
                    <a:pt x="1020" y="1320"/>
                    <a:pt x="1020" y="1398"/>
                    <a:pt x="971" y="1447"/>
                  </a:cubicBezTo>
                  <a:cubicBezTo>
                    <a:pt x="923" y="1495"/>
                    <a:pt x="845" y="1495"/>
                    <a:pt x="796" y="1447"/>
                  </a:cubicBezTo>
                  <a:close/>
                  <a:moveTo>
                    <a:pt x="1032" y="1683"/>
                  </a:moveTo>
                  <a:cubicBezTo>
                    <a:pt x="984" y="1635"/>
                    <a:pt x="984" y="1556"/>
                    <a:pt x="1032" y="1508"/>
                  </a:cubicBezTo>
                  <a:cubicBezTo>
                    <a:pt x="1081" y="1460"/>
                    <a:pt x="1159" y="1460"/>
                    <a:pt x="1207" y="1508"/>
                  </a:cubicBezTo>
                  <a:cubicBezTo>
                    <a:pt x="1256" y="1556"/>
                    <a:pt x="1256" y="1635"/>
                    <a:pt x="1208" y="1683"/>
                  </a:cubicBezTo>
                  <a:cubicBezTo>
                    <a:pt x="1159" y="1731"/>
                    <a:pt x="1081" y="1731"/>
                    <a:pt x="1032" y="1683"/>
                  </a:cubicBezTo>
                  <a:close/>
                  <a:moveTo>
                    <a:pt x="1448" y="1924"/>
                  </a:moveTo>
                  <a:cubicBezTo>
                    <a:pt x="1400" y="1972"/>
                    <a:pt x="1322" y="1972"/>
                    <a:pt x="1273" y="1924"/>
                  </a:cubicBezTo>
                  <a:cubicBezTo>
                    <a:pt x="1225" y="1876"/>
                    <a:pt x="1225" y="1797"/>
                    <a:pt x="1273" y="1749"/>
                  </a:cubicBezTo>
                  <a:cubicBezTo>
                    <a:pt x="1322" y="1701"/>
                    <a:pt x="1400" y="1701"/>
                    <a:pt x="1448" y="1749"/>
                  </a:cubicBezTo>
                  <a:cubicBezTo>
                    <a:pt x="1497" y="1797"/>
                    <a:pt x="1497" y="1875"/>
                    <a:pt x="1448" y="1924"/>
                  </a:cubicBezTo>
                  <a:close/>
                  <a:moveTo>
                    <a:pt x="1686" y="1686"/>
                  </a:moveTo>
                  <a:cubicBezTo>
                    <a:pt x="1670" y="1703"/>
                    <a:pt x="1644" y="1703"/>
                    <a:pt x="1628" y="1686"/>
                  </a:cubicBezTo>
                  <a:cubicBezTo>
                    <a:pt x="546" y="604"/>
                    <a:pt x="546" y="604"/>
                    <a:pt x="546" y="604"/>
                  </a:cubicBezTo>
                  <a:cubicBezTo>
                    <a:pt x="530" y="588"/>
                    <a:pt x="530" y="562"/>
                    <a:pt x="546" y="546"/>
                  </a:cubicBezTo>
                  <a:cubicBezTo>
                    <a:pt x="554" y="538"/>
                    <a:pt x="564" y="534"/>
                    <a:pt x="575" y="534"/>
                  </a:cubicBezTo>
                  <a:cubicBezTo>
                    <a:pt x="585" y="534"/>
                    <a:pt x="596" y="538"/>
                    <a:pt x="604" y="546"/>
                  </a:cubicBezTo>
                  <a:cubicBezTo>
                    <a:pt x="1686" y="1628"/>
                    <a:pt x="1686" y="1628"/>
                    <a:pt x="1686" y="1628"/>
                  </a:cubicBezTo>
                  <a:cubicBezTo>
                    <a:pt x="1702" y="1644"/>
                    <a:pt x="1702" y="1670"/>
                    <a:pt x="1686" y="1686"/>
                  </a:cubicBezTo>
                  <a:close/>
                  <a:moveTo>
                    <a:pt x="1923" y="1449"/>
                  </a:moveTo>
                  <a:cubicBezTo>
                    <a:pt x="1875" y="1497"/>
                    <a:pt x="1797" y="1497"/>
                    <a:pt x="1748" y="1449"/>
                  </a:cubicBezTo>
                  <a:cubicBezTo>
                    <a:pt x="1700" y="1401"/>
                    <a:pt x="1700" y="1322"/>
                    <a:pt x="1748" y="1274"/>
                  </a:cubicBezTo>
                  <a:cubicBezTo>
                    <a:pt x="1797" y="1226"/>
                    <a:pt x="1875" y="1226"/>
                    <a:pt x="1923" y="1274"/>
                  </a:cubicBezTo>
                  <a:cubicBezTo>
                    <a:pt x="1972" y="1322"/>
                    <a:pt x="1972" y="1401"/>
                    <a:pt x="1923" y="144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sp>
          <p:nvSpPr>
            <p:cNvPr id="14" name="Rectangle: Rounded Corners 13">
              <a:extLst>
                <a:ext uri="{FF2B5EF4-FFF2-40B4-BE49-F238E27FC236}">
                  <a16:creationId xmlns:a16="http://schemas.microsoft.com/office/drawing/2014/main" id="{2F77473A-F7BE-4DC8-8D93-C8538B57CF04}"/>
                </a:ext>
              </a:extLst>
            </p:cNvPr>
            <p:cNvSpPr/>
            <p:nvPr/>
          </p:nvSpPr>
          <p:spPr bwMode="auto">
            <a:xfrm>
              <a:off x="292951" y="2488808"/>
              <a:ext cx="1928411" cy="608354"/>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chemeClr val="bg1"/>
                  </a:solidFill>
                  <a:latin typeface="Arial"/>
                </a:rPr>
                <a:t>several treatments or doses</a:t>
              </a:r>
            </a:p>
          </p:txBody>
        </p:sp>
      </p:grpSp>
      <p:grpSp>
        <p:nvGrpSpPr>
          <p:cNvPr id="41" name="Group 40">
            <a:extLst>
              <a:ext uri="{FF2B5EF4-FFF2-40B4-BE49-F238E27FC236}">
                <a16:creationId xmlns:a16="http://schemas.microsoft.com/office/drawing/2014/main" id="{0C88BFCC-F3C9-4EC5-9E87-29AAE11E57EC}"/>
              </a:ext>
            </a:extLst>
          </p:cNvPr>
          <p:cNvGrpSpPr/>
          <p:nvPr/>
        </p:nvGrpSpPr>
        <p:grpSpPr>
          <a:xfrm>
            <a:off x="3656912" y="1426111"/>
            <a:ext cx="1840501" cy="1292224"/>
            <a:chOff x="3259329" y="1447623"/>
            <a:chExt cx="1840501" cy="1292224"/>
          </a:xfrm>
        </p:grpSpPr>
        <p:sp>
          <p:nvSpPr>
            <p:cNvPr id="15" name="Rectangle: Rounded Corners 14">
              <a:extLst>
                <a:ext uri="{FF2B5EF4-FFF2-40B4-BE49-F238E27FC236}">
                  <a16:creationId xmlns:a16="http://schemas.microsoft.com/office/drawing/2014/main" id="{48443044-A07F-44DF-9A26-466F545274E2}"/>
                </a:ext>
              </a:extLst>
            </p:cNvPr>
            <p:cNvSpPr/>
            <p:nvPr/>
          </p:nvSpPr>
          <p:spPr bwMode="auto">
            <a:xfrm>
              <a:off x="3259329" y="2135069"/>
              <a:ext cx="1840501" cy="604778"/>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chemeClr val="bg1"/>
                  </a:solidFill>
                  <a:latin typeface="Arial"/>
                </a:rPr>
                <a:t>several endpoints</a:t>
              </a:r>
            </a:p>
          </p:txBody>
        </p:sp>
        <p:sp>
          <p:nvSpPr>
            <p:cNvPr id="29" name="Freeform 35">
              <a:extLst>
                <a:ext uri="{FF2B5EF4-FFF2-40B4-BE49-F238E27FC236}">
                  <a16:creationId xmlns:a16="http://schemas.microsoft.com/office/drawing/2014/main" id="{A5B51E31-7031-4DF5-A9B7-932776200D17}"/>
                </a:ext>
              </a:extLst>
            </p:cNvPr>
            <p:cNvSpPr>
              <a:spLocks/>
            </p:cNvSpPr>
            <p:nvPr/>
          </p:nvSpPr>
          <p:spPr bwMode="auto">
            <a:xfrm>
              <a:off x="4777487" y="1877409"/>
              <a:ext cx="211350" cy="22040"/>
            </a:xfrm>
            <a:custGeom>
              <a:avLst/>
              <a:gdLst>
                <a:gd name="T0" fmla="*/ 821 w 821"/>
                <a:gd name="T1" fmla="*/ 42 h 83"/>
                <a:gd name="T2" fmla="*/ 779 w 821"/>
                <a:gd name="T3" fmla="*/ 83 h 83"/>
                <a:gd name="T4" fmla="*/ 41 w 821"/>
                <a:gd name="T5" fmla="*/ 83 h 83"/>
                <a:gd name="T6" fmla="*/ 0 w 821"/>
                <a:gd name="T7" fmla="*/ 42 h 83"/>
                <a:gd name="T8" fmla="*/ 41 w 821"/>
                <a:gd name="T9" fmla="*/ 0 h 83"/>
                <a:gd name="T10" fmla="*/ 779 w 821"/>
                <a:gd name="T11" fmla="*/ 0 h 83"/>
                <a:gd name="T12" fmla="*/ 821 w 821"/>
                <a:gd name="T13" fmla="*/ 42 h 83"/>
              </a:gdLst>
              <a:ahLst/>
              <a:cxnLst>
                <a:cxn ang="0">
                  <a:pos x="T0" y="T1"/>
                </a:cxn>
                <a:cxn ang="0">
                  <a:pos x="T2" y="T3"/>
                </a:cxn>
                <a:cxn ang="0">
                  <a:pos x="T4" y="T5"/>
                </a:cxn>
                <a:cxn ang="0">
                  <a:pos x="T6" y="T7"/>
                </a:cxn>
                <a:cxn ang="0">
                  <a:pos x="T8" y="T9"/>
                </a:cxn>
                <a:cxn ang="0">
                  <a:pos x="T10" y="T11"/>
                </a:cxn>
                <a:cxn ang="0">
                  <a:pos x="T12" y="T13"/>
                </a:cxn>
              </a:cxnLst>
              <a:rect l="0" t="0" r="r" b="b"/>
              <a:pathLst>
                <a:path w="821" h="83">
                  <a:moveTo>
                    <a:pt x="821" y="42"/>
                  </a:moveTo>
                  <a:cubicBezTo>
                    <a:pt x="821" y="64"/>
                    <a:pt x="802" y="83"/>
                    <a:pt x="779" y="83"/>
                  </a:cubicBezTo>
                  <a:cubicBezTo>
                    <a:pt x="41" y="83"/>
                    <a:pt x="41" y="83"/>
                    <a:pt x="41" y="83"/>
                  </a:cubicBezTo>
                  <a:cubicBezTo>
                    <a:pt x="19" y="83"/>
                    <a:pt x="0" y="64"/>
                    <a:pt x="0" y="42"/>
                  </a:cubicBezTo>
                  <a:cubicBezTo>
                    <a:pt x="0" y="19"/>
                    <a:pt x="19" y="0"/>
                    <a:pt x="41" y="0"/>
                  </a:cubicBezTo>
                  <a:cubicBezTo>
                    <a:pt x="779" y="0"/>
                    <a:pt x="779" y="0"/>
                    <a:pt x="779" y="0"/>
                  </a:cubicBezTo>
                  <a:cubicBezTo>
                    <a:pt x="802" y="0"/>
                    <a:pt x="821" y="19"/>
                    <a:pt x="821" y="4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36">
              <a:extLst>
                <a:ext uri="{FF2B5EF4-FFF2-40B4-BE49-F238E27FC236}">
                  <a16:creationId xmlns:a16="http://schemas.microsoft.com/office/drawing/2014/main" id="{A4DD42A2-3EE5-4CAF-B656-61935B3F1474}"/>
                </a:ext>
              </a:extLst>
            </p:cNvPr>
            <p:cNvSpPr>
              <a:spLocks/>
            </p:cNvSpPr>
            <p:nvPr/>
          </p:nvSpPr>
          <p:spPr bwMode="auto">
            <a:xfrm>
              <a:off x="4816109" y="1760595"/>
              <a:ext cx="84754" cy="44081"/>
            </a:xfrm>
            <a:custGeom>
              <a:avLst/>
              <a:gdLst>
                <a:gd name="T0" fmla="*/ 0 w 330"/>
                <a:gd name="T1" fmla="*/ 83 h 165"/>
                <a:gd name="T2" fmla="*/ 0 w 330"/>
                <a:gd name="T3" fmla="*/ 0 h 165"/>
                <a:gd name="T4" fmla="*/ 330 w 330"/>
                <a:gd name="T5" fmla="*/ 0 h 165"/>
                <a:gd name="T6" fmla="*/ 330 w 330"/>
                <a:gd name="T7" fmla="*/ 83 h 165"/>
                <a:gd name="T8" fmla="*/ 248 w 330"/>
                <a:gd name="T9" fmla="*/ 165 h 165"/>
                <a:gd name="T10" fmla="*/ 83 w 330"/>
                <a:gd name="T11" fmla="*/ 165 h 165"/>
                <a:gd name="T12" fmla="*/ 0 w 330"/>
                <a:gd name="T13" fmla="*/ 83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0" y="83"/>
                  </a:moveTo>
                  <a:cubicBezTo>
                    <a:pt x="0" y="0"/>
                    <a:pt x="0" y="0"/>
                    <a:pt x="0" y="0"/>
                  </a:cubicBezTo>
                  <a:cubicBezTo>
                    <a:pt x="330" y="0"/>
                    <a:pt x="330" y="0"/>
                    <a:pt x="330" y="0"/>
                  </a:cubicBezTo>
                  <a:cubicBezTo>
                    <a:pt x="330" y="83"/>
                    <a:pt x="330" y="83"/>
                    <a:pt x="330" y="83"/>
                  </a:cubicBezTo>
                  <a:cubicBezTo>
                    <a:pt x="330" y="128"/>
                    <a:pt x="293" y="165"/>
                    <a:pt x="248" y="165"/>
                  </a:cubicBezTo>
                  <a:cubicBezTo>
                    <a:pt x="83" y="165"/>
                    <a:pt x="83" y="165"/>
                    <a:pt x="83" y="165"/>
                  </a:cubicBezTo>
                  <a:cubicBezTo>
                    <a:pt x="38" y="165"/>
                    <a:pt x="0" y="128"/>
                    <a:pt x="0" y="83"/>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7">
              <a:extLst>
                <a:ext uri="{FF2B5EF4-FFF2-40B4-BE49-F238E27FC236}">
                  <a16:creationId xmlns:a16="http://schemas.microsoft.com/office/drawing/2014/main" id="{79C8AE07-AD0B-4215-8E79-446DDE258C30}"/>
                </a:ext>
              </a:extLst>
            </p:cNvPr>
            <p:cNvSpPr>
              <a:spLocks/>
            </p:cNvSpPr>
            <p:nvPr/>
          </p:nvSpPr>
          <p:spPr bwMode="auto">
            <a:xfrm>
              <a:off x="4816105" y="1447623"/>
              <a:ext cx="84753" cy="22040"/>
            </a:xfrm>
            <a:custGeom>
              <a:avLst/>
              <a:gdLst>
                <a:gd name="T0" fmla="*/ 42 w 330"/>
                <a:gd name="T1" fmla="*/ 0 h 82"/>
                <a:gd name="T2" fmla="*/ 289 w 330"/>
                <a:gd name="T3" fmla="*/ 0 h 82"/>
                <a:gd name="T4" fmla="*/ 330 w 330"/>
                <a:gd name="T5" fmla="*/ 41 h 82"/>
                <a:gd name="T6" fmla="*/ 289 w 330"/>
                <a:gd name="T7" fmla="*/ 82 h 82"/>
                <a:gd name="T8" fmla="*/ 42 w 330"/>
                <a:gd name="T9" fmla="*/ 82 h 82"/>
                <a:gd name="T10" fmla="*/ 0 w 330"/>
                <a:gd name="T11" fmla="*/ 41 h 82"/>
                <a:gd name="T12" fmla="*/ 42 w 330"/>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330" h="82">
                  <a:moveTo>
                    <a:pt x="42" y="0"/>
                  </a:moveTo>
                  <a:cubicBezTo>
                    <a:pt x="289" y="0"/>
                    <a:pt x="289" y="0"/>
                    <a:pt x="289" y="0"/>
                  </a:cubicBezTo>
                  <a:cubicBezTo>
                    <a:pt x="312" y="0"/>
                    <a:pt x="330" y="18"/>
                    <a:pt x="330" y="41"/>
                  </a:cubicBezTo>
                  <a:cubicBezTo>
                    <a:pt x="330" y="64"/>
                    <a:pt x="312" y="82"/>
                    <a:pt x="289" y="82"/>
                  </a:cubicBezTo>
                  <a:cubicBezTo>
                    <a:pt x="42" y="82"/>
                    <a:pt x="42" y="82"/>
                    <a:pt x="42" y="82"/>
                  </a:cubicBezTo>
                  <a:cubicBezTo>
                    <a:pt x="19" y="82"/>
                    <a:pt x="0" y="64"/>
                    <a:pt x="0" y="41"/>
                  </a:cubicBezTo>
                  <a:cubicBezTo>
                    <a:pt x="0" y="18"/>
                    <a:pt x="19" y="0"/>
                    <a:pt x="42"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8">
              <a:extLst>
                <a:ext uri="{FF2B5EF4-FFF2-40B4-BE49-F238E27FC236}">
                  <a16:creationId xmlns:a16="http://schemas.microsoft.com/office/drawing/2014/main" id="{17329DCE-BFBD-4265-9C51-7A5049385ED7}"/>
                </a:ext>
              </a:extLst>
            </p:cNvPr>
            <p:cNvSpPr>
              <a:spLocks/>
            </p:cNvSpPr>
            <p:nvPr/>
          </p:nvSpPr>
          <p:spPr bwMode="auto">
            <a:xfrm>
              <a:off x="4610122" y="1491706"/>
              <a:ext cx="396951" cy="538886"/>
            </a:xfrm>
            <a:custGeom>
              <a:avLst/>
              <a:gdLst>
                <a:gd name="T0" fmla="*/ 385 w 1540"/>
                <a:gd name="T1" fmla="*/ 2035 h 2035"/>
                <a:gd name="T2" fmla="*/ 550 w 1540"/>
                <a:gd name="T3" fmla="*/ 1870 h 2035"/>
                <a:gd name="T4" fmla="*/ 797 w 1540"/>
                <a:gd name="T5" fmla="*/ 1870 h 2035"/>
                <a:gd name="T6" fmla="*/ 797 w 1540"/>
                <a:gd name="T7" fmla="*/ 1787 h 2035"/>
                <a:gd name="T8" fmla="*/ 687 w 1540"/>
                <a:gd name="T9" fmla="*/ 1787 h 2035"/>
                <a:gd name="T10" fmla="*/ 0 w 1540"/>
                <a:gd name="T11" fmla="*/ 1086 h 2035"/>
                <a:gd name="T12" fmla="*/ 687 w 1540"/>
                <a:gd name="T13" fmla="*/ 385 h 2035"/>
                <a:gd name="T14" fmla="*/ 687 w 1540"/>
                <a:gd name="T15" fmla="*/ 79 h 2035"/>
                <a:gd name="T16" fmla="*/ 766 w 1540"/>
                <a:gd name="T17" fmla="*/ 0 h 2035"/>
                <a:gd name="T18" fmla="*/ 1159 w 1540"/>
                <a:gd name="T19" fmla="*/ 0 h 2035"/>
                <a:gd name="T20" fmla="*/ 1237 w 1540"/>
                <a:gd name="T21" fmla="*/ 79 h 2035"/>
                <a:gd name="T22" fmla="*/ 1237 w 1540"/>
                <a:gd name="T23" fmla="*/ 856 h 2035"/>
                <a:gd name="T24" fmla="*/ 1159 w 1540"/>
                <a:gd name="T25" fmla="*/ 935 h 2035"/>
                <a:gd name="T26" fmla="*/ 766 w 1540"/>
                <a:gd name="T27" fmla="*/ 935 h 2035"/>
                <a:gd name="T28" fmla="*/ 687 w 1540"/>
                <a:gd name="T29" fmla="*/ 856 h 2035"/>
                <a:gd name="T30" fmla="*/ 687 w 1540"/>
                <a:gd name="T31" fmla="*/ 550 h 2035"/>
                <a:gd name="T32" fmla="*/ 165 w 1540"/>
                <a:gd name="T33" fmla="*/ 1086 h 2035"/>
                <a:gd name="T34" fmla="*/ 687 w 1540"/>
                <a:gd name="T35" fmla="*/ 1622 h 2035"/>
                <a:gd name="T36" fmla="*/ 1237 w 1540"/>
                <a:gd name="T37" fmla="*/ 1622 h 2035"/>
                <a:gd name="T38" fmla="*/ 1320 w 1540"/>
                <a:gd name="T39" fmla="*/ 1705 h 2035"/>
                <a:gd name="T40" fmla="*/ 1237 w 1540"/>
                <a:gd name="T41" fmla="*/ 1787 h 2035"/>
                <a:gd name="T42" fmla="*/ 1127 w 1540"/>
                <a:gd name="T43" fmla="*/ 1787 h 2035"/>
                <a:gd name="T44" fmla="*/ 1127 w 1540"/>
                <a:gd name="T45" fmla="*/ 1870 h 2035"/>
                <a:gd name="T46" fmla="*/ 1375 w 1540"/>
                <a:gd name="T47" fmla="*/ 1870 h 2035"/>
                <a:gd name="T48" fmla="*/ 1540 w 1540"/>
                <a:gd name="T49" fmla="*/ 2035 h 2035"/>
                <a:gd name="T50" fmla="*/ 385 w 1540"/>
                <a:gd name="T51" fmla="*/ 203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40" h="2035">
                  <a:moveTo>
                    <a:pt x="385" y="2035"/>
                  </a:moveTo>
                  <a:cubicBezTo>
                    <a:pt x="385" y="1944"/>
                    <a:pt x="459" y="1870"/>
                    <a:pt x="550" y="1870"/>
                  </a:cubicBezTo>
                  <a:cubicBezTo>
                    <a:pt x="797" y="1870"/>
                    <a:pt x="797" y="1870"/>
                    <a:pt x="797" y="1870"/>
                  </a:cubicBezTo>
                  <a:cubicBezTo>
                    <a:pt x="797" y="1787"/>
                    <a:pt x="797" y="1787"/>
                    <a:pt x="797" y="1787"/>
                  </a:cubicBezTo>
                  <a:cubicBezTo>
                    <a:pt x="687" y="1787"/>
                    <a:pt x="687" y="1787"/>
                    <a:pt x="687" y="1787"/>
                  </a:cubicBezTo>
                  <a:cubicBezTo>
                    <a:pt x="308" y="1787"/>
                    <a:pt x="0" y="1473"/>
                    <a:pt x="0" y="1086"/>
                  </a:cubicBezTo>
                  <a:cubicBezTo>
                    <a:pt x="0" y="700"/>
                    <a:pt x="308" y="385"/>
                    <a:pt x="687" y="385"/>
                  </a:cubicBezTo>
                  <a:cubicBezTo>
                    <a:pt x="687" y="79"/>
                    <a:pt x="687" y="79"/>
                    <a:pt x="687" y="79"/>
                  </a:cubicBezTo>
                  <a:cubicBezTo>
                    <a:pt x="687" y="35"/>
                    <a:pt x="723" y="0"/>
                    <a:pt x="766" y="0"/>
                  </a:cubicBezTo>
                  <a:cubicBezTo>
                    <a:pt x="1159" y="0"/>
                    <a:pt x="1159" y="0"/>
                    <a:pt x="1159" y="0"/>
                  </a:cubicBezTo>
                  <a:cubicBezTo>
                    <a:pt x="1202" y="0"/>
                    <a:pt x="1237" y="35"/>
                    <a:pt x="1237" y="79"/>
                  </a:cubicBezTo>
                  <a:cubicBezTo>
                    <a:pt x="1237" y="856"/>
                    <a:pt x="1237" y="856"/>
                    <a:pt x="1237" y="856"/>
                  </a:cubicBezTo>
                  <a:cubicBezTo>
                    <a:pt x="1237" y="900"/>
                    <a:pt x="1202" y="935"/>
                    <a:pt x="1159" y="935"/>
                  </a:cubicBezTo>
                  <a:cubicBezTo>
                    <a:pt x="766" y="935"/>
                    <a:pt x="766" y="935"/>
                    <a:pt x="766" y="935"/>
                  </a:cubicBezTo>
                  <a:cubicBezTo>
                    <a:pt x="723" y="935"/>
                    <a:pt x="687" y="900"/>
                    <a:pt x="687" y="856"/>
                  </a:cubicBezTo>
                  <a:cubicBezTo>
                    <a:pt x="687" y="550"/>
                    <a:pt x="687" y="550"/>
                    <a:pt x="687" y="550"/>
                  </a:cubicBezTo>
                  <a:cubicBezTo>
                    <a:pt x="399" y="550"/>
                    <a:pt x="165" y="791"/>
                    <a:pt x="165" y="1086"/>
                  </a:cubicBezTo>
                  <a:cubicBezTo>
                    <a:pt x="165" y="1382"/>
                    <a:pt x="399" y="1622"/>
                    <a:pt x="687" y="1622"/>
                  </a:cubicBezTo>
                  <a:cubicBezTo>
                    <a:pt x="1237" y="1622"/>
                    <a:pt x="1237" y="1622"/>
                    <a:pt x="1237" y="1622"/>
                  </a:cubicBezTo>
                  <a:cubicBezTo>
                    <a:pt x="1283" y="1622"/>
                    <a:pt x="1320" y="1659"/>
                    <a:pt x="1320" y="1705"/>
                  </a:cubicBezTo>
                  <a:cubicBezTo>
                    <a:pt x="1320" y="1750"/>
                    <a:pt x="1283" y="1787"/>
                    <a:pt x="1237" y="1787"/>
                  </a:cubicBezTo>
                  <a:cubicBezTo>
                    <a:pt x="1127" y="1787"/>
                    <a:pt x="1127" y="1787"/>
                    <a:pt x="1127" y="1787"/>
                  </a:cubicBezTo>
                  <a:cubicBezTo>
                    <a:pt x="1127" y="1870"/>
                    <a:pt x="1127" y="1870"/>
                    <a:pt x="1127" y="1870"/>
                  </a:cubicBezTo>
                  <a:cubicBezTo>
                    <a:pt x="1375" y="1870"/>
                    <a:pt x="1375" y="1870"/>
                    <a:pt x="1375" y="1870"/>
                  </a:cubicBezTo>
                  <a:cubicBezTo>
                    <a:pt x="1466" y="1870"/>
                    <a:pt x="1540" y="1944"/>
                    <a:pt x="1540" y="2035"/>
                  </a:cubicBezTo>
                  <a:lnTo>
                    <a:pt x="385" y="203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2363">
              <a:extLst>
                <a:ext uri="{FF2B5EF4-FFF2-40B4-BE49-F238E27FC236}">
                  <a16:creationId xmlns:a16="http://schemas.microsoft.com/office/drawing/2014/main" id="{2252A73D-DDC9-4B46-BAAD-586CB06E11BB}"/>
                </a:ext>
              </a:extLst>
            </p:cNvPr>
            <p:cNvSpPr>
              <a:spLocks noChangeAspect="1"/>
            </p:cNvSpPr>
            <p:nvPr/>
          </p:nvSpPr>
          <p:spPr bwMode="auto">
            <a:xfrm>
              <a:off x="3399643" y="1496514"/>
              <a:ext cx="507729" cy="495073"/>
            </a:xfrm>
            <a:custGeom>
              <a:avLst/>
              <a:gdLst>
                <a:gd name="T0" fmla="*/ 2071 w 2086"/>
                <a:gd name="T1" fmla="*/ 1752 h 1975"/>
                <a:gd name="T2" fmla="*/ 1954 w 2086"/>
                <a:gd name="T3" fmla="*/ 1928 h 1975"/>
                <a:gd name="T4" fmla="*/ 1803 w 2086"/>
                <a:gd name="T5" fmla="*/ 1938 h 1975"/>
                <a:gd name="T6" fmla="*/ 1296 w 2086"/>
                <a:gd name="T7" fmla="*/ 1648 h 1975"/>
                <a:gd name="T8" fmla="*/ 1129 w 2086"/>
                <a:gd name="T9" fmla="*/ 1260 h 1975"/>
                <a:gd name="T10" fmla="*/ 1139 w 2086"/>
                <a:gd name="T11" fmla="*/ 856 h 1975"/>
                <a:gd name="T12" fmla="*/ 1130 w 2086"/>
                <a:gd name="T13" fmla="*/ 812 h 1975"/>
                <a:gd name="T14" fmla="*/ 1051 w 2086"/>
                <a:gd name="T15" fmla="*/ 737 h 1975"/>
                <a:gd name="T16" fmla="*/ 974 w 2086"/>
                <a:gd name="T17" fmla="*/ 806 h 1975"/>
                <a:gd name="T18" fmla="*/ 945 w 2086"/>
                <a:gd name="T19" fmla="*/ 867 h 1975"/>
                <a:gd name="T20" fmla="*/ 955 w 2086"/>
                <a:gd name="T21" fmla="*/ 1263 h 1975"/>
                <a:gd name="T22" fmla="*/ 897 w 2086"/>
                <a:gd name="T23" fmla="*/ 1498 h 1975"/>
                <a:gd name="T24" fmla="*/ 265 w 2086"/>
                <a:gd name="T25" fmla="*/ 1948 h 1975"/>
                <a:gd name="T26" fmla="*/ 16 w 2086"/>
                <a:gd name="T27" fmla="*/ 1777 h 1975"/>
                <a:gd name="T28" fmla="*/ 0 w 2086"/>
                <a:gd name="T29" fmla="*/ 1690 h 1975"/>
                <a:gd name="T30" fmla="*/ 0 w 2086"/>
                <a:gd name="T31" fmla="*/ 1249 h 1975"/>
                <a:gd name="T32" fmla="*/ 23 w 2086"/>
                <a:gd name="T33" fmla="*/ 1126 h 1975"/>
                <a:gd name="T34" fmla="*/ 331 w 2086"/>
                <a:gd name="T35" fmla="*/ 540 h 1975"/>
                <a:gd name="T36" fmla="*/ 576 w 2086"/>
                <a:gd name="T37" fmla="*/ 328 h 1975"/>
                <a:gd name="T38" fmla="*/ 856 w 2086"/>
                <a:gd name="T39" fmla="*/ 417 h 1975"/>
                <a:gd name="T40" fmla="*/ 898 w 2086"/>
                <a:gd name="T41" fmla="*/ 531 h 1975"/>
                <a:gd name="T42" fmla="*/ 921 w 2086"/>
                <a:gd name="T43" fmla="*/ 619 h 1975"/>
                <a:gd name="T44" fmla="*/ 936 w 2086"/>
                <a:gd name="T45" fmla="*/ 621 h 1975"/>
                <a:gd name="T46" fmla="*/ 959 w 2086"/>
                <a:gd name="T47" fmla="*/ 531 h 1975"/>
                <a:gd name="T48" fmla="*/ 960 w 2086"/>
                <a:gd name="T49" fmla="*/ 119 h 1975"/>
                <a:gd name="T50" fmla="*/ 1013 w 2086"/>
                <a:gd name="T51" fmla="*/ 0 h 1975"/>
                <a:gd name="T52" fmla="*/ 1070 w 2086"/>
                <a:gd name="T53" fmla="*/ 0 h 1975"/>
                <a:gd name="T54" fmla="*/ 1126 w 2086"/>
                <a:gd name="T55" fmla="*/ 118 h 1975"/>
                <a:gd name="T56" fmla="*/ 1125 w 2086"/>
                <a:gd name="T57" fmla="*/ 526 h 1975"/>
                <a:gd name="T58" fmla="*/ 1165 w 2086"/>
                <a:gd name="T59" fmla="*/ 603 h 1975"/>
                <a:gd name="T60" fmla="*/ 1194 w 2086"/>
                <a:gd name="T61" fmla="*/ 494 h 1975"/>
                <a:gd name="T62" fmla="*/ 1240 w 2086"/>
                <a:gd name="T63" fmla="*/ 390 h 1975"/>
                <a:gd name="T64" fmla="*/ 1473 w 2086"/>
                <a:gd name="T65" fmla="*/ 306 h 1975"/>
                <a:gd name="T66" fmla="*/ 1569 w 2086"/>
                <a:gd name="T67" fmla="*/ 359 h 1975"/>
                <a:gd name="T68" fmla="*/ 1875 w 2086"/>
                <a:gd name="T69" fmla="*/ 699 h 1975"/>
                <a:gd name="T70" fmla="*/ 2075 w 2086"/>
                <a:gd name="T71" fmla="*/ 1210 h 1975"/>
                <a:gd name="T72" fmla="*/ 2071 w 2086"/>
                <a:gd name="T73" fmla="*/ 1752 h 1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86" h="1975">
                  <a:moveTo>
                    <a:pt x="2071" y="1752"/>
                  </a:moveTo>
                  <a:cubicBezTo>
                    <a:pt x="2068" y="1827"/>
                    <a:pt x="2036" y="1902"/>
                    <a:pt x="1954" y="1928"/>
                  </a:cubicBezTo>
                  <a:cubicBezTo>
                    <a:pt x="1907" y="1943"/>
                    <a:pt x="1852" y="1946"/>
                    <a:pt x="1803" y="1938"/>
                  </a:cubicBezTo>
                  <a:cubicBezTo>
                    <a:pt x="1600" y="1902"/>
                    <a:pt x="1434" y="1796"/>
                    <a:pt x="1296" y="1648"/>
                  </a:cubicBezTo>
                  <a:cubicBezTo>
                    <a:pt x="1194" y="1539"/>
                    <a:pt x="1129" y="1412"/>
                    <a:pt x="1129" y="1260"/>
                  </a:cubicBezTo>
                  <a:cubicBezTo>
                    <a:pt x="1129" y="1126"/>
                    <a:pt x="1136" y="991"/>
                    <a:pt x="1139" y="856"/>
                  </a:cubicBezTo>
                  <a:cubicBezTo>
                    <a:pt x="1139" y="841"/>
                    <a:pt x="1139" y="822"/>
                    <a:pt x="1130" y="812"/>
                  </a:cubicBezTo>
                  <a:cubicBezTo>
                    <a:pt x="1106" y="785"/>
                    <a:pt x="1077" y="762"/>
                    <a:pt x="1051" y="737"/>
                  </a:cubicBezTo>
                  <a:cubicBezTo>
                    <a:pt x="1024" y="761"/>
                    <a:pt x="1001" y="786"/>
                    <a:pt x="974" y="806"/>
                  </a:cubicBezTo>
                  <a:cubicBezTo>
                    <a:pt x="951" y="822"/>
                    <a:pt x="944" y="840"/>
                    <a:pt x="945" y="867"/>
                  </a:cubicBezTo>
                  <a:cubicBezTo>
                    <a:pt x="950" y="999"/>
                    <a:pt x="953" y="1131"/>
                    <a:pt x="955" y="1263"/>
                  </a:cubicBezTo>
                  <a:cubicBezTo>
                    <a:pt x="956" y="1346"/>
                    <a:pt x="938" y="1426"/>
                    <a:pt x="897" y="1498"/>
                  </a:cubicBezTo>
                  <a:cubicBezTo>
                    <a:pt x="757" y="1745"/>
                    <a:pt x="543" y="1893"/>
                    <a:pt x="265" y="1948"/>
                  </a:cubicBezTo>
                  <a:cubicBezTo>
                    <a:pt x="130" y="1975"/>
                    <a:pt x="44" y="1911"/>
                    <a:pt x="16" y="1777"/>
                  </a:cubicBezTo>
                  <a:cubicBezTo>
                    <a:pt x="11" y="1748"/>
                    <a:pt x="5" y="1719"/>
                    <a:pt x="0" y="1690"/>
                  </a:cubicBezTo>
                  <a:cubicBezTo>
                    <a:pt x="0" y="1249"/>
                    <a:pt x="0" y="1249"/>
                    <a:pt x="0" y="1249"/>
                  </a:cubicBezTo>
                  <a:cubicBezTo>
                    <a:pt x="7" y="1208"/>
                    <a:pt x="13" y="1167"/>
                    <a:pt x="23" y="1126"/>
                  </a:cubicBezTo>
                  <a:cubicBezTo>
                    <a:pt x="77" y="906"/>
                    <a:pt x="187" y="714"/>
                    <a:pt x="331" y="540"/>
                  </a:cubicBezTo>
                  <a:cubicBezTo>
                    <a:pt x="400" y="455"/>
                    <a:pt x="478" y="380"/>
                    <a:pt x="576" y="328"/>
                  </a:cubicBezTo>
                  <a:cubicBezTo>
                    <a:pt x="698" y="263"/>
                    <a:pt x="795" y="293"/>
                    <a:pt x="856" y="417"/>
                  </a:cubicBezTo>
                  <a:cubicBezTo>
                    <a:pt x="874" y="453"/>
                    <a:pt x="886" y="492"/>
                    <a:pt x="898" y="531"/>
                  </a:cubicBezTo>
                  <a:cubicBezTo>
                    <a:pt x="907" y="560"/>
                    <a:pt x="914" y="589"/>
                    <a:pt x="921" y="619"/>
                  </a:cubicBezTo>
                  <a:cubicBezTo>
                    <a:pt x="926" y="619"/>
                    <a:pt x="931" y="620"/>
                    <a:pt x="936" y="621"/>
                  </a:cubicBezTo>
                  <a:cubicBezTo>
                    <a:pt x="944" y="591"/>
                    <a:pt x="959" y="561"/>
                    <a:pt x="959" y="531"/>
                  </a:cubicBezTo>
                  <a:cubicBezTo>
                    <a:pt x="962" y="394"/>
                    <a:pt x="962" y="256"/>
                    <a:pt x="960" y="119"/>
                  </a:cubicBezTo>
                  <a:cubicBezTo>
                    <a:pt x="959" y="70"/>
                    <a:pt x="969" y="28"/>
                    <a:pt x="1013" y="0"/>
                  </a:cubicBezTo>
                  <a:cubicBezTo>
                    <a:pt x="1070" y="0"/>
                    <a:pt x="1070" y="0"/>
                    <a:pt x="1070" y="0"/>
                  </a:cubicBezTo>
                  <a:cubicBezTo>
                    <a:pt x="1113" y="27"/>
                    <a:pt x="1126" y="68"/>
                    <a:pt x="1126" y="118"/>
                  </a:cubicBezTo>
                  <a:cubicBezTo>
                    <a:pt x="1124" y="254"/>
                    <a:pt x="1126" y="390"/>
                    <a:pt x="1125" y="526"/>
                  </a:cubicBezTo>
                  <a:cubicBezTo>
                    <a:pt x="1124" y="560"/>
                    <a:pt x="1138" y="583"/>
                    <a:pt x="1165" y="603"/>
                  </a:cubicBezTo>
                  <a:cubicBezTo>
                    <a:pt x="1175" y="565"/>
                    <a:pt x="1182" y="529"/>
                    <a:pt x="1194" y="494"/>
                  </a:cubicBezTo>
                  <a:cubicBezTo>
                    <a:pt x="1207" y="459"/>
                    <a:pt x="1221" y="423"/>
                    <a:pt x="1240" y="390"/>
                  </a:cubicBezTo>
                  <a:cubicBezTo>
                    <a:pt x="1292" y="295"/>
                    <a:pt x="1373" y="266"/>
                    <a:pt x="1473" y="306"/>
                  </a:cubicBezTo>
                  <a:cubicBezTo>
                    <a:pt x="1507" y="320"/>
                    <a:pt x="1540" y="338"/>
                    <a:pt x="1569" y="359"/>
                  </a:cubicBezTo>
                  <a:cubicBezTo>
                    <a:pt x="1697" y="449"/>
                    <a:pt x="1793" y="569"/>
                    <a:pt x="1875" y="699"/>
                  </a:cubicBezTo>
                  <a:cubicBezTo>
                    <a:pt x="1975" y="856"/>
                    <a:pt x="2064" y="1022"/>
                    <a:pt x="2075" y="1210"/>
                  </a:cubicBezTo>
                  <a:cubicBezTo>
                    <a:pt x="2086" y="1390"/>
                    <a:pt x="2079" y="1571"/>
                    <a:pt x="2071" y="1752"/>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118" name="Group 521">
              <a:extLst>
                <a:ext uri="{FF2B5EF4-FFF2-40B4-BE49-F238E27FC236}">
                  <a16:creationId xmlns:a16="http://schemas.microsoft.com/office/drawing/2014/main" id="{16B377C4-AF97-4156-8B9D-0523533EF470}"/>
                </a:ext>
              </a:extLst>
            </p:cNvPr>
            <p:cNvGrpSpPr>
              <a:grpSpLocks noChangeAspect="1"/>
            </p:cNvGrpSpPr>
            <p:nvPr/>
          </p:nvGrpSpPr>
          <p:grpSpPr bwMode="auto">
            <a:xfrm>
              <a:off x="4036902" y="1470972"/>
              <a:ext cx="384552" cy="560211"/>
              <a:chOff x="2797" y="1221"/>
              <a:chExt cx="729" cy="1062"/>
            </a:xfrm>
            <a:solidFill>
              <a:schemeClr val="bg2"/>
            </a:solidFill>
          </p:grpSpPr>
          <p:sp>
            <p:nvSpPr>
              <p:cNvPr id="122" name="Freeform 525">
                <a:extLst>
                  <a:ext uri="{FF2B5EF4-FFF2-40B4-BE49-F238E27FC236}">
                    <a16:creationId xmlns:a16="http://schemas.microsoft.com/office/drawing/2014/main" id="{FEA754D4-D6D9-42AB-8609-5DF135593383}"/>
                  </a:ext>
                </a:extLst>
              </p:cNvPr>
              <p:cNvSpPr>
                <a:spLocks noEditPoints="1"/>
              </p:cNvSpPr>
              <p:nvPr/>
            </p:nvSpPr>
            <p:spPr bwMode="auto">
              <a:xfrm>
                <a:off x="2940" y="1547"/>
                <a:ext cx="162" cy="163"/>
              </a:xfrm>
              <a:custGeom>
                <a:avLst/>
                <a:gdLst>
                  <a:gd name="T0" fmla="*/ 231 w 231"/>
                  <a:gd name="T1" fmla="*/ 230 h 231"/>
                  <a:gd name="T2" fmla="*/ 1 w 231"/>
                  <a:gd name="T3" fmla="*/ 231 h 231"/>
                  <a:gd name="T4" fmla="*/ 1 w 231"/>
                  <a:gd name="T5" fmla="*/ 231 h 231"/>
                  <a:gd name="T6" fmla="*/ 0 w 231"/>
                  <a:gd name="T7" fmla="*/ 1 h 231"/>
                  <a:gd name="T8" fmla="*/ 0 w 231"/>
                  <a:gd name="T9" fmla="*/ 1 h 231"/>
                  <a:gd name="T10" fmla="*/ 230 w 231"/>
                  <a:gd name="T11" fmla="*/ 0 h 231"/>
                  <a:gd name="T12" fmla="*/ 230 w 231"/>
                  <a:gd name="T13" fmla="*/ 0 h 231"/>
                  <a:gd name="T14" fmla="*/ 231 w 231"/>
                  <a:gd name="T15" fmla="*/ 230 h 231"/>
                  <a:gd name="T16" fmla="*/ 231 w 231"/>
                  <a:gd name="T17" fmla="*/ 230 h 231"/>
                  <a:gd name="T18" fmla="*/ 43 w 231"/>
                  <a:gd name="T19" fmla="*/ 188 h 231"/>
                  <a:gd name="T20" fmla="*/ 188 w 231"/>
                  <a:gd name="T21" fmla="*/ 188 h 231"/>
                  <a:gd name="T22" fmla="*/ 188 w 231"/>
                  <a:gd name="T23" fmla="*/ 188 h 231"/>
                  <a:gd name="T24" fmla="*/ 188 w 231"/>
                  <a:gd name="T25" fmla="*/ 43 h 231"/>
                  <a:gd name="T26" fmla="*/ 188 w 231"/>
                  <a:gd name="T27" fmla="*/ 43 h 231"/>
                  <a:gd name="T28" fmla="*/ 43 w 231"/>
                  <a:gd name="T29" fmla="*/ 43 h 231"/>
                  <a:gd name="T30" fmla="*/ 43 w 231"/>
                  <a:gd name="T31" fmla="*/ 43 h 231"/>
                  <a:gd name="T32" fmla="*/ 43 w 231"/>
                  <a:gd name="T33" fmla="*/ 188 h 231"/>
                  <a:gd name="T34" fmla="*/ 43 w 231"/>
                  <a:gd name="T35" fmla="*/ 188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1" h="231">
                    <a:moveTo>
                      <a:pt x="231" y="230"/>
                    </a:moveTo>
                    <a:cubicBezTo>
                      <a:pt x="1" y="231"/>
                      <a:pt x="1" y="231"/>
                      <a:pt x="1" y="231"/>
                    </a:cubicBezTo>
                    <a:cubicBezTo>
                      <a:pt x="1" y="231"/>
                      <a:pt x="1" y="231"/>
                      <a:pt x="1" y="231"/>
                    </a:cubicBezTo>
                    <a:cubicBezTo>
                      <a:pt x="0" y="1"/>
                      <a:pt x="0" y="1"/>
                      <a:pt x="0" y="1"/>
                    </a:cubicBezTo>
                    <a:cubicBezTo>
                      <a:pt x="0" y="1"/>
                      <a:pt x="0" y="1"/>
                      <a:pt x="0" y="1"/>
                    </a:cubicBezTo>
                    <a:cubicBezTo>
                      <a:pt x="230" y="0"/>
                      <a:pt x="230" y="0"/>
                      <a:pt x="230" y="0"/>
                    </a:cubicBezTo>
                    <a:cubicBezTo>
                      <a:pt x="230" y="0"/>
                      <a:pt x="230" y="0"/>
                      <a:pt x="230" y="0"/>
                    </a:cubicBezTo>
                    <a:cubicBezTo>
                      <a:pt x="231" y="230"/>
                      <a:pt x="231" y="230"/>
                      <a:pt x="231" y="230"/>
                    </a:cubicBezTo>
                    <a:cubicBezTo>
                      <a:pt x="231" y="230"/>
                      <a:pt x="231" y="230"/>
                      <a:pt x="231" y="230"/>
                    </a:cubicBezTo>
                    <a:moveTo>
                      <a:pt x="43" y="188"/>
                    </a:moveTo>
                    <a:cubicBezTo>
                      <a:pt x="188" y="188"/>
                      <a:pt x="188" y="188"/>
                      <a:pt x="188" y="188"/>
                    </a:cubicBezTo>
                    <a:cubicBezTo>
                      <a:pt x="188" y="188"/>
                      <a:pt x="188" y="188"/>
                      <a:pt x="188" y="188"/>
                    </a:cubicBezTo>
                    <a:cubicBezTo>
                      <a:pt x="188" y="43"/>
                      <a:pt x="188" y="43"/>
                      <a:pt x="188" y="43"/>
                    </a:cubicBezTo>
                    <a:cubicBezTo>
                      <a:pt x="188" y="43"/>
                      <a:pt x="188" y="43"/>
                      <a:pt x="188" y="43"/>
                    </a:cubicBezTo>
                    <a:cubicBezTo>
                      <a:pt x="43" y="43"/>
                      <a:pt x="43" y="43"/>
                      <a:pt x="43" y="43"/>
                    </a:cubicBezTo>
                    <a:cubicBezTo>
                      <a:pt x="43" y="43"/>
                      <a:pt x="43" y="43"/>
                      <a:pt x="43" y="43"/>
                    </a:cubicBezTo>
                    <a:cubicBezTo>
                      <a:pt x="43" y="188"/>
                      <a:pt x="43" y="188"/>
                      <a:pt x="43" y="188"/>
                    </a:cubicBezTo>
                    <a:cubicBezTo>
                      <a:pt x="43" y="188"/>
                      <a:pt x="43" y="188"/>
                      <a:pt x="43" y="18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3" name="Freeform 526">
                <a:extLst>
                  <a:ext uri="{FF2B5EF4-FFF2-40B4-BE49-F238E27FC236}">
                    <a16:creationId xmlns:a16="http://schemas.microsoft.com/office/drawing/2014/main" id="{5059FEE0-C6AB-44F6-A82A-45041FCD1460}"/>
                  </a:ext>
                </a:extLst>
              </p:cNvPr>
              <p:cNvSpPr>
                <a:spLocks noEditPoints="1"/>
              </p:cNvSpPr>
              <p:nvPr/>
            </p:nvSpPr>
            <p:spPr bwMode="auto">
              <a:xfrm>
                <a:off x="2939" y="1764"/>
                <a:ext cx="162" cy="163"/>
              </a:xfrm>
              <a:custGeom>
                <a:avLst/>
                <a:gdLst>
                  <a:gd name="T0" fmla="*/ 231 w 231"/>
                  <a:gd name="T1" fmla="*/ 230 h 231"/>
                  <a:gd name="T2" fmla="*/ 1 w 231"/>
                  <a:gd name="T3" fmla="*/ 231 h 231"/>
                  <a:gd name="T4" fmla="*/ 1 w 231"/>
                  <a:gd name="T5" fmla="*/ 231 h 231"/>
                  <a:gd name="T6" fmla="*/ 0 w 231"/>
                  <a:gd name="T7" fmla="*/ 1 h 231"/>
                  <a:gd name="T8" fmla="*/ 0 w 231"/>
                  <a:gd name="T9" fmla="*/ 1 h 231"/>
                  <a:gd name="T10" fmla="*/ 230 w 231"/>
                  <a:gd name="T11" fmla="*/ 0 h 231"/>
                  <a:gd name="T12" fmla="*/ 230 w 231"/>
                  <a:gd name="T13" fmla="*/ 0 h 231"/>
                  <a:gd name="T14" fmla="*/ 231 w 231"/>
                  <a:gd name="T15" fmla="*/ 230 h 231"/>
                  <a:gd name="T16" fmla="*/ 231 w 231"/>
                  <a:gd name="T17" fmla="*/ 230 h 231"/>
                  <a:gd name="T18" fmla="*/ 43 w 231"/>
                  <a:gd name="T19" fmla="*/ 188 h 231"/>
                  <a:gd name="T20" fmla="*/ 188 w 231"/>
                  <a:gd name="T21" fmla="*/ 188 h 231"/>
                  <a:gd name="T22" fmla="*/ 188 w 231"/>
                  <a:gd name="T23" fmla="*/ 188 h 231"/>
                  <a:gd name="T24" fmla="*/ 188 w 231"/>
                  <a:gd name="T25" fmla="*/ 43 h 231"/>
                  <a:gd name="T26" fmla="*/ 188 w 231"/>
                  <a:gd name="T27" fmla="*/ 42 h 231"/>
                  <a:gd name="T28" fmla="*/ 43 w 231"/>
                  <a:gd name="T29" fmla="*/ 43 h 231"/>
                  <a:gd name="T30" fmla="*/ 43 w 231"/>
                  <a:gd name="T31" fmla="*/ 43 h 231"/>
                  <a:gd name="T32" fmla="*/ 43 w 231"/>
                  <a:gd name="T33" fmla="*/ 188 h 231"/>
                  <a:gd name="T34" fmla="*/ 43 w 231"/>
                  <a:gd name="T35" fmla="*/ 188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1" h="231">
                    <a:moveTo>
                      <a:pt x="231" y="230"/>
                    </a:moveTo>
                    <a:cubicBezTo>
                      <a:pt x="1" y="231"/>
                      <a:pt x="1" y="231"/>
                      <a:pt x="1" y="231"/>
                    </a:cubicBezTo>
                    <a:cubicBezTo>
                      <a:pt x="1" y="231"/>
                      <a:pt x="1" y="231"/>
                      <a:pt x="1" y="231"/>
                    </a:cubicBezTo>
                    <a:cubicBezTo>
                      <a:pt x="0" y="1"/>
                      <a:pt x="0" y="1"/>
                      <a:pt x="0" y="1"/>
                    </a:cubicBezTo>
                    <a:cubicBezTo>
                      <a:pt x="0" y="1"/>
                      <a:pt x="0" y="1"/>
                      <a:pt x="0" y="1"/>
                    </a:cubicBezTo>
                    <a:cubicBezTo>
                      <a:pt x="230" y="0"/>
                      <a:pt x="230" y="0"/>
                      <a:pt x="230" y="0"/>
                    </a:cubicBezTo>
                    <a:cubicBezTo>
                      <a:pt x="230" y="0"/>
                      <a:pt x="230" y="0"/>
                      <a:pt x="230" y="0"/>
                    </a:cubicBezTo>
                    <a:cubicBezTo>
                      <a:pt x="231" y="230"/>
                      <a:pt x="231" y="230"/>
                      <a:pt x="231" y="230"/>
                    </a:cubicBezTo>
                    <a:cubicBezTo>
                      <a:pt x="231" y="230"/>
                      <a:pt x="231" y="230"/>
                      <a:pt x="231" y="230"/>
                    </a:cubicBezTo>
                    <a:moveTo>
                      <a:pt x="43" y="188"/>
                    </a:moveTo>
                    <a:cubicBezTo>
                      <a:pt x="188" y="188"/>
                      <a:pt x="188" y="188"/>
                      <a:pt x="188" y="188"/>
                    </a:cubicBezTo>
                    <a:cubicBezTo>
                      <a:pt x="188" y="188"/>
                      <a:pt x="188" y="188"/>
                      <a:pt x="188" y="188"/>
                    </a:cubicBezTo>
                    <a:cubicBezTo>
                      <a:pt x="188" y="43"/>
                      <a:pt x="188" y="43"/>
                      <a:pt x="188" y="43"/>
                    </a:cubicBezTo>
                    <a:cubicBezTo>
                      <a:pt x="188" y="43"/>
                      <a:pt x="188" y="42"/>
                      <a:pt x="188" y="42"/>
                    </a:cubicBezTo>
                    <a:cubicBezTo>
                      <a:pt x="43" y="43"/>
                      <a:pt x="43" y="43"/>
                      <a:pt x="43" y="43"/>
                    </a:cubicBezTo>
                    <a:cubicBezTo>
                      <a:pt x="43" y="43"/>
                      <a:pt x="43" y="43"/>
                      <a:pt x="43" y="43"/>
                    </a:cubicBezTo>
                    <a:cubicBezTo>
                      <a:pt x="43" y="188"/>
                      <a:pt x="43" y="188"/>
                      <a:pt x="43" y="188"/>
                    </a:cubicBezTo>
                    <a:cubicBezTo>
                      <a:pt x="43" y="188"/>
                      <a:pt x="43" y="188"/>
                      <a:pt x="43" y="18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4" name="Freeform 527">
                <a:extLst>
                  <a:ext uri="{FF2B5EF4-FFF2-40B4-BE49-F238E27FC236}">
                    <a16:creationId xmlns:a16="http://schemas.microsoft.com/office/drawing/2014/main" id="{1EF8BEF8-7D1E-463F-88DE-FB580DC4DB0E}"/>
                  </a:ext>
                </a:extLst>
              </p:cNvPr>
              <p:cNvSpPr>
                <a:spLocks noEditPoints="1"/>
              </p:cNvSpPr>
              <p:nvPr/>
            </p:nvSpPr>
            <p:spPr bwMode="auto">
              <a:xfrm>
                <a:off x="2941" y="1982"/>
                <a:ext cx="162" cy="163"/>
              </a:xfrm>
              <a:custGeom>
                <a:avLst/>
                <a:gdLst>
                  <a:gd name="T0" fmla="*/ 231 w 231"/>
                  <a:gd name="T1" fmla="*/ 231 h 231"/>
                  <a:gd name="T2" fmla="*/ 1 w 231"/>
                  <a:gd name="T3" fmla="*/ 231 h 231"/>
                  <a:gd name="T4" fmla="*/ 1 w 231"/>
                  <a:gd name="T5" fmla="*/ 231 h 231"/>
                  <a:gd name="T6" fmla="*/ 0 w 231"/>
                  <a:gd name="T7" fmla="*/ 1 h 231"/>
                  <a:gd name="T8" fmla="*/ 0 w 231"/>
                  <a:gd name="T9" fmla="*/ 1 h 231"/>
                  <a:gd name="T10" fmla="*/ 230 w 231"/>
                  <a:gd name="T11" fmla="*/ 0 h 231"/>
                  <a:gd name="T12" fmla="*/ 230 w 231"/>
                  <a:gd name="T13" fmla="*/ 1 h 231"/>
                  <a:gd name="T14" fmla="*/ 231 w 231"/>
                  <a:gd name="T15" fmla="*/ 230 h 231"/>
                  <a:gd name="T16" fmla="*/ 231 w 231"/>
                  <a:gd name="T17" fmla="*/ 231 h 231"/>
                  <a:gd name="T18" fmla="*/ 43 w 231"/>
                  <a:gd name="T19" fmla="*/ 189 h 231"/>
                  <a:gd name="T20" fmla="*/ 188 w 231"/>
                  <a:gd name="T21" fmla="*/ 188 h 231"/>
                  <a:gd name="T22" fmla="*/ 188 w 231"/>
                  <a:gd name="T23" fmla="*/ 188 h 231"/>
                  <a:gd name="T24" fmla="*/ 188 w 231"/>
                  <a:gd name="T25" fmla="*/ 43 h 231"/>
                  <a:gd name="T26" fmla="*/ 188 w 231"/>
                  <a:gd name="T27" fmla="*/ 43 h 231"/>
                  <a:gd name="T28" fmla="*/ 43 w 231"/>
                  <a:gd name="T29" fmla="*/ 44 h 231"/>
                  <a:gd name="T30" fmla="*/ 43 w 231"/>
                  <a:gd name="T31" fmla="*/ 44 h 231"/>
                  <a:gd name="T32" fmla="*/ 43 w 231"/>
                  <a:gd name="T33" fmla="*/ 189 h 231"/>
                  <a:gd name="T34" fmla="*/ 43 w 231"/>
                  <a:gd name="T35" fmla="*/ 189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1" h="231">
                    <a:moveTo>
                      <a:pt x="231" y="231"/>
                    </a:moveTo>
                    <a:cubicBezTo>
                      <a:pt x="1" y="231"/>
                      <a:pt x="1" y="231"/>
                      <a:pt x="1" y="231"/>
                    </a:cubicBezTo>
                    <a:cubicBezTo>
                      <a:pt x="1" y="231"/>
                      <a:pt x="1" y="231"/>
                      <a:pt x="1" y="231"/>
                    </a:cubicBezTo>
                    <a:cubicBezTo>
                      <a:pt x="0" y="1"/>
                      <a:pt x="0" y="1"/>
                      <a:pt x="0" y="1"/>
                    </a:cubicBezTo>
                    <a:cubicBezTo>
                      <a:pt x="0" y="1"/>
                      <a:pt x="0" y="1"/>
                      <a:pt x="0" y="1"/>
                    </a:cubicBezTo>
                    <a:cubicBezTo>
                      <a:pt x="230" y="0"/>
                      <a:pt x="230" y="0"/>
                      <a:pt x="230" y="0"/>
                    </a:cubicBezTo>
                    <a:cubicBezTo>
                      <a:pt x="230" y="0"/>
                      <a:pt x="230" y="1"/>
                      <a:pt x="230" y="1"/>
                    </a:cubicBezTo>
                    <a:cubicBezTo>
                      <a:pt x="231" y="230"/>
                      <a:pt x="231" y="230"/>
                      <a:pt x="231" y="230"/>
                    </a:cubicBezTo>
                    <a:cubicBezTo>
                      <a:pt x="231" y="230"/>
                      <a:pt x="231" y="231"/>
                      <a:pt x="231" y="231"/>
                    </a:cubicBezTo>
                    <a:moveTo>
                      <a:pt x="43" y="189"/>
                    </a:moveTo>
                    <a:cubicBezTo>
                      <a:pt x="188" y="188"/>
                      <a:pt x="188" y="188"/>
                      <a:pt x="188" y="188"/>
                    </a:cubicBezTo>
                    <a:cubicBezTo>
                      <a:pt x="188" y="188"/>
                      <a:pt x="188" y="188"/>
                      <a:pt x="188" y="188"/>
                    </a:cubicBezTo>
                    <a:cubicBezTo>
                      <a:pt x="188" y="43"/>
                      <a:pt x="188" y="43"/>
                      <a:pt x="188" y="43"/>
                    </a:cubicBezTo>
                    <a:cubicBezTo>
                      <a:pt x="188" y="43"/>
                      <a:pt x="188" y="43"/>
                      <a:pt x="188" y="43"/>
                    </a:cubicBezTo>
                    <a:cubicBezTo>
                      <a:pt x="43" y="44"/>
                      <a:pt x="43" y="44"/>
                      <a:pt x="43" y="44"/>
                    </a:cubicBezTo>
                    <a:cubicBezTo>
                      <a:pt x="43" y="44"/>
                      <a:pt x="43" y="44"/>
                      <a:pt x="43" y="44"/>
                    </a:cubicBezTo>
                    <a:cubicBezTo>
                      <a:pt x="43" y="189"/>
                      <a:pt x="43" y="189"/>
                      <a:pt x="43" y="189"/>
                    </a:cubicBezTo>
                    <a:cubicBezTo>
                      <a:pt x="43" y="189"/>
                      <a:pt x="43" y="189"/>
                      <a:pt x="43" y="1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5" name="Freeform 528">
                <a:extLst>
                  <a:ext uri="{FF2B5EF4-FFF2-40B4-BE49-F238E27FC236}">
                    <a16:creationId xmlns:a16="http://schemas.microsoft.com/office/drawing/2014/main" id="{914848D4-3085-4AA6-B14F-9C7C70A20E53}"/>
                  </a:ext>
                </a:extLst>
              </p:cNvPr>
              <p:cNvSpPr>
                <a:spLocks/>
              </p:cNvSpPr>
              <p:nvPr/>
            </p:nvSpPr>
            <p:spPr bwMode="auto">
              <a:xfrm>
                <a:off x="3193" y="1554"/>
                <a:ext cx="202" cy="145"/>
              </a:xfrm>
              <a:custGeom>
                <a:avLst/>
                <a:gdLst>
                  <a:gd name="T0" fmla="*/ 279 w 288"/>
                  <a:gd name="T1" fmla="*/ 8 h 206"/>
                  <a:gd name="T2" fmla="*/ 247 w 288"/>
                  <a:gd name="T3" fmla="*/ 9 h 206"/>
                  <a:gd name="T4" fmla="*/ 105 w 288"/>
                  <a:gd name="T5" fmla="*/ 152 h 206"/>
                  <a:gd name="T6" fmla="*/ 105 w 288"/>
                  <a:gd name="T7" fmla="*/ 152 h 206"/>
                  <a:gd name="T8" fmla="*/ 41 w 288"/>
                  <a:gd name="T9" fmla="*/ 89 h 206"/>
                  <a:gd name="T10" fmla="*/ 8 w 288"/>
                  <a:gd name="T11" fmla="*/ 90 h 206"/>
                  <a:gd name="T12" fmla="*/ 10 w 288"/>
                  <a:gd name="T13" fmla="*/ 121 h 206"/>
                  <a:gd name="T14" fmla="*/ 89 w 288"/>
                  <a:gd name="T15" fmla="*/ 200 h 206"/>
                  <a:gd name="T16" fmla="*/ 105 w 288"/>
                  <a:gd name="T17" fmla="*/ 206 h 206"/>
                  <a:gd name="T18" fmla="*/ 121 w 288"/>
                  <a:gd name="T19" fmla="*/ 200 h 206"/>
                  <a:gd name="T20" fmla="*/ 279 w 288"/>
                  <a:gd name="T21" fmla="*/ 40 h 206"/>
                  <a:gd name="T22" fmla="*/ 279 w 288"/>
                  <a:gd name="T23" fmla="*/ 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06">
                    <a:moveTo>
                      <a:pt x="279" y="8"/>
                    </a:moveTo>
                    <a:cubicBezTo>
                      <a:pt x="270" y="0"/>
                      <a:pt x="256" y="0"/>
                      <a:pt x="247" y="9"/>
                    </a:cubicBezTo>
                    <a:cubicBezTo>
                      <a:pt x="105" y="152"/>
                      <a:pt x="105" y="152"/>
                      <a:pt x="105" y="152"/>
                    </a:cubicBezTo>
                    <a:cubicBezTo>
                      <a:pt x="105" y="152"/>
                      <a:pt x="105" y="152"/>
                      <a:pt x="105" y="152"/>
                    </a:cubicBezTo>
                    <a:cubicBezTo>
                      <a:pt x="41" y="89"/>
                      <a:pt x="41" y="89"/>
                      <a:pt x="41" y="89"/>
                    </a:cubicBezTo>
                    <a:cubicBezTo>
                      <a:pt x="32" y="79"/>
                      <a:pt x="16" y="80"/>
                      <a:pt x="8" y="90"/>
                    </a:cubicBezTo>
                    <a:cubicBezTo>
                      <a:pt x="0" y="99"/>
                      <a:pt x="2" y="113"/>
                      <a:pt x="10" y="121"/>
                    </a:cubicBezTo>
                    <a:cubicBezTo>
                      <a:pt x="89" y="200"/>
                      <a:pt x="89" y="200"/>
                      <a:pt x="89" y="200"/>
                    </a:cubicBezTo>
                    <a:cubicBezTo>
                      <a:pt x="93" y="204"/>
                      <a:pt x="99" y="206"/>
                      <a:pt x="105" y="206"/>
                    </a:cubicBezTo>
                    <a:cubicBezTo>
                      <a:pt x="111" y="206"/>
                      <a:pt x="116" y="204"/>
                      <a:pt x="121" y="200"/>
                    </a:cubicBezTo>
                    <a:cubicBezTo>
                      <a:pt x="279" y="40"/>
                      <a:pt x="279" y="40"/>
                      <a:pt x="279" y="40"/>
                    </a:cubicBezTo>
                    <a:cubicBezTo>
                      <a:pt x="288" y="31"/>
                      <a:pt x="288" y="17"/>
                      <a:pt x="279"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6" name="Freeform 529">
                <a:extLst>
                  <a:ext uri="{FF2B5EF4-FFF2-40B4-BE49-F238E27FC236}">
                    <a16:creationId xmlns:a16="http://schemas.microsoft.com/office/drawing/2014/main" id="{0E888188-85B0-462F-959B-58F0E30E2166}"/>
                  </a:ext>
                </a:extLst>
              </p:cNvPr>
              <p:cNvSpPr>
                <a:spLocks/>
              </p:cNvSpPr>
              <p:nvPr/>
            </p:nvSpPr>
            <p:spPr bwMode="auto">
              <a:xfrm>
                <a:off x="3194" y="1989"/>
                <a:ext cx="203" cy="146"/>
              </a:xfrm>
              <a:custGeom>
                <a:avLst/>
                <a:gdLst>
                  <a:gd name="T0" fmla="*/ 279 w 288"/>
                  <a:gd name="T1" fmla="*/ 9 h 207"/>
                  <a:gd name="T2" fmla="*/ 247 w 288"/>
                  <a:gd name="T3" fmla="*/ 9 h 207"/>
                  <a:gd name="T4" fmla="*/ 105 w 288"/>
                  <a:gd name="T5" fmla="*/ 152 h 207"/>
                  <a:gd name="T6" fmla="*/ 105 w 288"/>
                  <a:gd name="T7" fmla="*/ 152 h 207"/>
                  <a:gd name="T8" fmla="*/ 41 w 288"/>
                  <a:gd name="T9" fmla="*/ 89 h 207"/>
                  <a:gd name="T10" fmla="*/ 8 w 288"/>
                  <a:gd name="T11" fmla="*/ 91 h 207"/>
                  <a:gd name="T12" fmla="*/ 10 w 288"/>
                  <a:gd name="T13" fmla="*/ 122 h 207"/>
                  <a:gd name="T14" fmla="*/ 89 w 288"/>
                  <a:gd name="T15" fmla="*/ 200 h 207"/>
                  <a:gd name="T16" fmla="*/ 105 w 288"/>
                  <a:gd name="T17" fmla="*/ 207 h 207"/>
                  <a:gd name="T18" fmla="*/ 121 w 288"/>
                  <a:gd name="T19" fmla="*/ 200 h 207"/>
                  <a:gd name="T20" fmla="*/ 279 w 288"/>
                  <a:gd name="T21" fmla="*/ 41 h 207"/>
                  <a:gd name="T22" fmla="*/ 279 w 288"/>
                  <a:gd name="T23" fmla="*/ 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07">
                    <a:moveTo>
                      <a:pt x="279" y="9"/>
                    </a:moveTo>
                    <a:cubicBezTo>
                      <a:pt x="270" y="0"/>
                      <a:pt x="256" y="0"/>
                      <a:pt x="247" y="9"/>
                    </a:cubicBezTo>
                    <a:cubicBezTo>
                      <a:pt x="105" y="152"/>
                      <a:pt x="105" y="152"/>
                      <a:pt x="105" y="152"/>
                    </a:cubicBezTo>
                    <a:cubicBezTo>
                      <a:pt x="105" y="152"/>
                      <a:pt x="105" y="152"/>
                      <a:pt x="105" y="152"/>
                    </a:cubicBezTo>
                    <a:cubicBezTo>
                      <a:pt x="41" y="89"/>
                      <a:pt x="41" y="89"/>
                      <a:pt x="41" y="89"/>
                    </a:cubicBezTo>
                    <a:cubicBezTo>
                      <a:pt x="32" y="80"/>
                      <a:pt x="16" y="80"/>
                      <a:pt x="8" y="91"/>
                    </a:cubicBezTo>
                    <a:cubicBezTo>
                      <a:pt x="0" y="100"/>
                      <a:pt x="2" y="113"/>
                      <a:pt x="10" y="122"/>
                    </a:cubicBezTo>
                    <a:cubicBezTo>
                      <a:pt x="89" y="200"/>
                      <a:pt x="89" y="200"/>
                      <a:pt x="89" y="200"/>
                    </a:cubicBezTo>
                    <a:cubicBezTo>
                      <a:pt x="93" y="204"/>
                      <a:pt x="99" y="207"/>
                      <a:pt x="105" y="207"/>
                    </a:cubicBezTo>
                    <a:cubicBezTo>
                      <a:pt x="111" y="207"/>
                      <a:pt x="116" y="204"/>
                      <a:pt x="121" y="200"/>
                    </a:cubicBezTo>
                    <a:cubicBezTo>
                      <a:pt x="279" y="41"/>
                      <a:pt x="279" y="41"/>
                      <a:pt x="279" y="41"/>
                    </a:cubicBezTo>
                    <a:cubicBezTo>
                      <a:pt x="288" y="32"/>
                      <a:pt x="288" y="18"/>
                      <a:pt x="279"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7" name="Freeform 530">
                <a:extLst>
                  <a:ext uri="{FF2B5EF4-FFF2-40B4-BE49-F238E27FC236}">
                    <a16:creationId xmlns:a16="http://schemas.microsoft.com/office/drawing/2014/main" id="{3045948D-3256-4D46-8F48-113AEBD3A3A0}"/>
                  </a:ext>
                </a:extLst>
              </p:cNvPr>
              <p:cNvSpPr>
                <a:spLocks/>
              </p:cNvSpPr>
              <p:nvPr/>
            </p:nvSpPr>
            <p:spPr bwMode="auto">
              <a:xfrm>
                <a:off x="3223" y="1774"/>
                <a:ext cx="149" cy="149"/>
              </a:xfrm>
              <a:custGeom>
                <a:avLst/>
                <a:gdLst>
                  <a:gd name="T0" fmla="*/ 136 w 212"/>
                  <a:gd name="T1" fmla="*/ 106 h 211"/>
                  <a:gd name="T2" fmla="*/ 204 w 212"/>
                  <a:gd name="T3" fmla="*/ 38 h 211"/>
                  <a:gd name="T4" fmla="*/ 202 w 212"/>
                  <a:gd name="T5" fmla="*/ 7 h 211"/>
                  <a:gd name="T6" fmla="*/ 173 w 212"/>
                  <a:gd name="T7" fmla="*/ 9 h 211"/>
                  <a:gd name="T8" fmla="*/ 106 w 212"/>
                  <a:gd name="T9" fmla="*/ 76 h 211"/>
                  <a:gd name="T10" fmla="*/ 41 w 212"/>
                  <a:gd name="T11" fmla="*/ 12 h 211"/>
                  <a:gd name="T12" fmla="*/ 10 w 212"/>
                  <a:gd name="T13" fmla="*/ 13 h 211"/>
                  <a:gd name="T14" fmla="*/ 12 w 212"/>
                  <a:gd name="T15" fmla="*/ 43 h 211"/>
                  <a:gd name="T16" fmla="*/ 76 w 212"/>
                  <a:gd name="T17" fmla="*/ 106 h 211"/>
                  <a:gd name="T18" fmla="*/ 9 w 212"/>
                  <a:gd name="T19" fmla="*/ 173 h 211"/>
                  <a:gd name="T20" fmla="*/ 9 w 212"/>
                  <a:gd name="T21" fmla="*/ 205 h 211"/>
                  <a:gd name="T22" fmla="*/ 23 w 212"/>
                  <a:gd name="T23" fmla="*/ 211 h 211"/>
                  <a:gd name="T24" fmla="*/ 38 w 212"/>
                  <a:gd name="T25" fmla="*/ 204 h 211"/>
                  <a:gd name="T26" fmla="*/ 106 w 212"/>
                  <a:gd name="T27" fmla="*/ 136 h 211"/>
                  <a:gd name="T28" fmla="*/ 170 w 212"/>
                  <a:gd name="T29" fmla="*/ 201 h 211"/>
                  <a:gd name="T30" fmla="*/ 185 w 212"/>
                  <a:gd name="T31" fmla="*/ 207 h 211"/>
                  <a:gd name="T32" fmla="*/ 200 w 212"/>
                  <a:gd name="T33" fmla="*/ 202 h 211"/>
                  <a:gd name="T34" fmla="*/ 200 w 212"/>
                  <a:gd name="T35" fmla="*/ 170 h 211"/>
                  <a:gd name="T36" fmla="*/ 136 w 212"/>
                  <a:gd name="T37" fmla="*/ 10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1">
                    <a:moveTo>
                      <a:pt x="136" y="106"/>
                    </a:moveTo>
                    <a:cubicBezTo>
                      <a:pt x="204" y="38"/>
                      <a:pt x="204" y="38"/>
                      <a:pt x="204" y="38"/>
                    </a:cubicBezTo>
                    <a:cubicBezTo>
                      <a:pt x="212" y="30"/>
                      <a:pt x="212" y="15"/>
                      <a:pt x="202" y="7"/>
                    </a:cubicBezTo>
                    <a:cubicBezTo>
                      <a:pt x="194" y="0"/>
                      <a:pt x="181" y="1"/>
                      <a:pt x="173" y="9"/>
                    </a:cubicBezTo>
                    <a:cubicBezTo>
                      <a:pt x="106" y="76"/>
                      <a:pt x="106" y="76"/>
                      <a:pt x="106" y="76"/>
                    </a:cubicBezTo>
                    <a:cubicBezTo>
                      <a:pt x="41" y="12"/>
                      <a:pt x="41" y="12"/>
                      <a:pt x="41" y="12"/>
                    </a:cubicBezTo>
                    <a:cubicBezTo>
                      <a:pt x="32" y="3"/>
                      <a:pt x="18" y="3"/>
                      <a:pt x="10" y="13"/>
                    </a:cubicBezTo>
                    <a:cubicBezTo>
                      <a:pt x="3" y="22"/>
                      <a:pt x="4" y="35"/>
                      <a:pt x="12" y="43"/>
                    </a:cubicBezTo>
                    <a:cubicBezTo>
                      <a:pt x="76" y="106"/>
                      <a:pt x="76" y="106"/>
                      <a:pt x="76" y="106"/>
                    </a:cubicBezTo>
                    <a:cubicBezTo>
                      <a:pt x="9" y="173"/>
                      <a:pt x="9" y="173"/>
                      <a:pt x="9" y="173"/>
                    </a:cubicBezTo>
                    <a:cubicBezTo>
                      <a:pt x="0" y="182"/>
                      <a:pt x="0" y="197"/>
                      <a:pt x="9" y="205"/>
                    </a:cubicBezTo>
                    <a:cubicBezTo>
                      <a:pt x="13" y="209"/>
                      <a:pt x="18" y="211"/>
                      <a:pt x="23" y="211"/>
                    </a:cubicBezTo>
                    <a:cubicBezTo>
                      <a:pt x="28" y="211"/>
                      <a:pt x="34" y="208"/>
                      <a:pt x="38" y="204"/>
                    </a:cubicBezTo>
                    <a:cubicBezTo>
                      <a:pt x="106" y="136"/>
                      <a:pt x="106" y="136"/>
                      <a:pt x="106" y="136"/>
                    </a:cubicBezTo>
                    <a:cubicBezTo>
                      <a:pt x="170" y="201"/>
                      <a:pt x="170" y="201"/>
                      <a:pt x="170" y="201"/>
                    </a:cubicBezTo>
                    <a:cubicBezTo>
                      <a:pt x="174" y="205"/>
                      <a:pt x="180" y="207"/>
                      <a:pt x="185" y="207"/>
                    </a:cubicBezTo>
                    <a:cubicBezTo>
                      <a:pt x="191" y="207"/>
                      <a:pt x="196" y="205"/>
                      <a:pt x="200" y="202"/>
                    </a:cubicBezTo>
                    <a:cubicBezTo>
                      <a:pt x="209" y="193"/>
                      <a:pt x="208" y="179"/>
                      <a:pt x="200" y="170"/>
                    </a:cubicBezTo>
                    <a:lnTo>
                      <a:pt x="136"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8" name="Freeform 531">
                <a:extLst>
                  <a:ext uri="{FF2B5EF4-FFF2-40B4-BE49-F238E27FC236}">
                    <a16:creationId xmlns:a16="http://schemas.microsoft.com/office/drawing/2014/main" id="{5D952567-90DA-4995-B0E4-CC1D3E152B11}"/>
                  </a:ext>
                </a:extLst>
              </p:cNvPr>
              <p:cNvSpPr>
                <a:spLocks noEditPoints="1"/>
              </p:cNvSpPr>
              <p:nvPr/>
            </p:nvSpPr>
            <p:spPr bwMode="auto">
              <a:xfrm>
                <a:off x="2797" y="1221"/>
                <a:ext cx="729" cy="1062"/>
              </a:xfrm>
              <a:custGeom>
                <a:avLst/>
                <a:gdLst>
                  <a:gd name="T0" fmla="*/ 1035 w 1037"/>
                  <a:gd name="T1" fmla="*/ 668 h 1509"/>
                  <a:gd name="T2" fmla="*/ 1034 w 1037"/>
                  <a:gd name="T3" fmla="*/ 339 h 1509"/>
                  <a:gd name="T4" fmla="*/ 865 w 1037"/>
                  <a:gd name="T5" fmla="*/ 204 h 1509"/>
                  <a:gd name="T6" fmla="*/ 767 w 1037"/>
                  <a:gd name="T7" fmla="*/ 171 h 1509"/>
                  <a:gd name="T8" fmla="*/ 667 w 1037"/>
                  <a:gd name="T9" fmla="*/ 165 h 1509"/>
                  <a:gd name="T10" fmla="*/ 520 w 1037"/>
                  <a:gd name="T11" fmla="*/ 1 h 1509"/>
                  <a:gd name="T12" fmla="*/ 374 w 1037"/>
                  <a:gd name="T13" fmla="*/ 166 h 1509"/>
                  <a:gd name="T14" fmla="*/ 268 w 1037"/>
                  <a:gd name="T15" fmla="*/ 172 h 1509"/>
                  <a:gd name="T16" fmla="*/ 168 w 1037"/>
                  <a:gd name="T17" fmla="*/ 217 h 1509"/>
                  <a:gd name="T18" fmla="*/ 150 w 1037"/>
                  <a:gd name="T19" fmla="*/ 216 h 1509"/>
                  <a:gd name="T20" fmla="*/ 23 w 1037"/>
                  <a:gd name="T21" fmla="*/ 290 h 1509"/>
                  <a:gd name="T22" fmla="*/ 11 w 1037"/>
                  <a:gd name="T23" fmla="*/ 312 h 1509"/>
                  <a:gd name="T24" fmla="*/ 4 w 1037"/>
                  <a:gd name="T25" fmla="*/ 338 h 1509"/>
                  <a:gd name="T26" fmla="*/ 3 w 1037"/>
                  <a:gd name="T27" fmla="*/ 340 h 1509"/>
                  <a:gd name="T28" fmla="*/ 3 w 1037"/>
                  <a:gd name="T29" fmla="*/ 1044 h 1509"/>
                  <a:gd name="T30" fmla="*/ 4 w 1037"/>
                  <a:gd name="T31" fmla="*/ 1373 h 1509"/>
                  <a:gd name="T32" fmla="*/ 173 w 1037"/>
                  <a:gd name="T33" fmla="*/ 1509 h 1509"/>
                  <a:gd name="T34" fmla="*/ 871 w 1037"/>
                  <a:gd name="T35" fmla="*/ 1502 h 1509"/>
                  <a:gd name="T36" fmla="*/ 901 w 1037"/>
                  <a:gd name="T37" fmla="*/ 1498 h 1509"/>
                  <a:gd name="T38" fmla="*/ 930 w 1037"/>
                  <a:gd name="T39" fmla="*/ 1490 h 1509"/>
                  <a:gd name="T40" fmla="*/ 957 w 1037"/>
                  <a:gd name="T41" fmla="*/ 1477 h 1509"/>
                  <a:gd name="T42" fmla="*/ 982 w 1037"/>
                  <a:gd name="T43" fmla="*/ 1460 h 1509"/>
                  <a:gd name="T44" fmla="*/ 1003 w 1037"/>
                  <a:gd name="T45" fmla="*/ 1438 h 1509"/>
                  <a:gd name="T46" fmla="*/ 1020 w 1037"/>
                  <a:gd name="T47" fmla="*/ 1412 h 1509"/>
                  <a:gd name="T48" fmla="*/ 1031 w 1037"/>
                  <a:gd name="T49" fmla="*/ 1384 h 1509"/>
                  <a:gd name="T50" fmla="*/ 1034 w 1037"/>
                  <a:gd name="T51" fmla="*/ 1374 h 1509"/>
                  <a:gd name="T52" fmla="*/ 1037 w 1037"/>
                  <a:gd name="T53" fmla="*/ 1346 h 1509"/>
                  <a:gd name="T54" fmla="*/ 609 w 1037"/>
                  <a:gd name="T55" fmla="*/ 148 h 1509"/>
                  <a:gd name="T56" fmla="*/ 607 w 1037"/>
                  <a:gd name="T57" fmla="*/ 166 h 1509"/>
                  <a:gd name="T58" fmla="*/ 605 w 1037"/>
                  <a:gd name="T59" fmla="*/ 174 h 1509"/>
                  <a:gd name="T60" fmla="*/ 603 w 1037"/>
                  <a:gd name="T61" fmla="*/ 181 h 1509"/>
                  <a:gd name="T62" fmla="*/ 599 w 1037"/>
                  <a:gd name="T63" fmla="*/ 188 h 1509"/>
                  <a:gd name="T64" fmla="*/ 595 w 1037"/>
                  <a:gd name="T65" fmla="*/ 195 h 1509"/>
                  <a:gd name="T66" fmla="*/ 591 w 1037"/>
                  <a:gd name="T67" fmla="*/ 202 h 1509"/>
                  <a:gd name="T68" fmla="*/ 586 w 1037"/>
                  <a:gd name="T69" fmla="*/ 207 h 1509"/>
                  <a:gd name="T70" fmla="*/ 521 w 1037"/>
                  <a:gd name="T71" fmla="*/ 236 h 1509"/>
                  <a:gd name="T72" fmla="*/ 488 w 1037"/>
                  <a:gd name="T73" fmla="*/ 231 h 1509"/>
                  <a:gd name="T74" fmla="*/ 480 w 1037"/>
                  <a:gd name="T75" fmla="*/ 227 h 1509"/>
                  <a:gd name="T76" fmla="*/ 472 w 1037"/>
                  <a:gd name="T77" fmla="*/ 222 h 1509"/>
                  <a:gd name="T78" fmla="*/ 458 w 1037"/>
                  <a:gd name="T79" fmla="*/ 211 h 1509"/>
                  <a:gd name="T80" fmla="*/ 453 w 1037"/>
                  <a:gd name="T81" fmla="*/ 205 h 1509"/>
                  <a:gd name="T82" fmla="*/ 448 w 1037"/>
                  <a:gd name="T83" fmla="*/ 199 h 1509"/>
                  <a:gd name="T84" fmla="*/ 443 w 1037"/>
                  <a:gd name="T85" fmla="*/ 192 h 1509"/>
                  <a:gd name="T86" fmla="*/ 440 w 1037"/>
                  <a:gd name="T87" fmla="*/ 185 h 1509"/>
                  <a:gd name="T88" fmla="*/ 437 w 1037"/>
                  <a:gd name="T89" fmla="*/ 177 h 1509"/>
                  <a:gd name="T90" fmla="*/ 434 w 1037"/>
                  <a:gd name="T91" fmla="*/ 168 h 1509"/>
                  <a:gd name="T92" fmla="*/ 432 w 1037"/>
                  <a:gd name="T93" fmla="*/ 149 h 1509"/>
                  <a:gd name="T94" fmla="*/ 875 w 1037"/>
                  <a:gd name="T95" fmla="*/ 1414 h 1509"/>
                  <a:gd name="T96" fmla="*/ 172 w 1037"/>
                  <a:gd name="T97" fmla="*/ 1417 h 1509"/>
                  <a:gd name="T98" fmla="*/ 89 w 1037"/>
                  <a:gd name="T99" fmla="*/ 1045 h 1509"/>
                  <a:gd name="T100" fmla="*/ 163 w 1037"/>
                  <a:gd name="T101" fmla="*/ 298 h 1509"/>
                  <a:gd name="T102" fmla="*/ 268 w 1037"/>
                  <a:gd name="T103" fmla="*/ 297 h 1509"/>
                  <a:gd name="T104" fmla="*/ 269 w 1037"/>
                  <a:gd name="T105" fmla="*/ 381 h 1509"/>
                  <a:gd name="T106" fmla="*/ 768 w 1037"/>
                  <a:gd name="T107" fmla="*/ 379 h 1509"/>
                  <a:gd name="T108" fmla="*/ 865 w 1037"/>
                  <a:gd name="T109" fmla="*/ 295 h 1509"/>
                  <a:gd name="T110" fmla="*/ 948 w 1037"/>
                  <a:gd name="T111" fmla="*/ 667 h 1509"/>
                  <a:gd name="T112" fmla="*/ 875 w 1037"/>
                  <a:gd name="T113" fmla="*/ 1414 h 1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37" h="1509">
                    <a:moveTo>
                      <a:pt x="1037" y="1346"/>
                    </a:moveTo>
                    <a:cubicBezTo>
                      <a:pt x="1035" y="668"/>
                      <a:pt x="1035" y="668"/>
                      <a:pt x="1035" y="668"/>
                    </a:cubicBezTo>
                    <a:cubicBezTo>
                      <a:pt x="1034" y="363"/>
                      <a:pt x="1034" y="363"/>
                      <a:pt x="1034" y="363"/>
                    </a:cubicBezTo>
                    <a:cubicBezTo>
                      <a:pt x="1034" y="339"/>
                      <a:pt x="1034" y="339"/>
                      <a:pt x="1034" y="339"/>
                    </a:cubicBezTo>
                    <a:cubicBezTo>
                      <a:pt x="1033" y="254"/>
                      <a:pt x="959" y="204"/>
                      <a:pt x="866" y="204"/>
                    </a:cubicBezTo>
                    <a:cubicBezTo>
                      <a:pt x="865" y="204"/>
                      <a:pt x="865" y="204"/>
                      <a:pt x="865" y="204"/>
                    </a:cubicBezTo>
                    <a:cubicBezTo>
                      <a:pt x="767" y="205"/>
                      <a:pt x="767" y="205"/>
                      <a:pt x="767" y="205"/>
                    </a:cubicBezTo>
                    <a:cubicBezTo>
                      <a:pt x="767" y="171"/>
                      <a:pt x="767" y="171"/>
                      <a:pt x="767" y="171"/>
                    </a:cubicBezTo>
                    <a:cubicBezTo>
                      <a:pt x="767" y="168"/>
                      <a:pt x="765" y="165"/>
                      <a:pt x="762" y="165"/>
                    </a:cubicBezTo>
                    <a:cubicBezTo>
                      <a:pt x="667" y="165"/>
                      <a:pt x="667" y="165"/>
                      <a:pt x="667" y="165"/>
                    </a:cubicBezTo>
                    <a:cubicBezTo>
                      <a:pt x="668" y="160"/>
                      <a:pt x="668" y="154"/>
                      <a:pt x="668" y="148"/>
                    </a:cubicBezTo>
                    <a:cubicBezTo>
                      <a:pt x="668" y="66"/>
                      <a:pt x="602" y="0"/>
                      <a:pt x="520" y="1"/>
                    </a:cubicBezTo>
                    <a:cubicBezTo>
                      <a:pt x="438" y="1"/>
                      <a:pt x="372" y="67"/>
                      <a:pt x="372" y="149"/>
                    </a:cubicBezTo>
                    <a:cubicBezTo>
                      <a:pt x="372" y="155"/>
                      <a:pt x="373" y="161"/>
                      <a:pt x="374" y="166"/>
                    </a:cubicBezTo>
                    <a:cubicBezTo>
                      <a:pt x="274" y="167"/>
                      <a:pt x="274" y="167"/>
                      <a:pt x="274" y="167"/>
                    </a:cubicBezTo>
                    <a:cubicBezTo>
                      <a:pt x="270" y="167"/>
                      <a:pt x="268" y="169"/>
                      <a:pt x="268" y="172"/>
                    </a:cubicBezTo>
                    <a:cubicBezTo>
                      <a:pt x="268" y="216"/>
                      <a:pt x="268" y="216"/>
                      <a:pt x="268" y="216"/>
                    </a:cubicBezTo>
                    <a:cubicBezTo>
                      <a:pt x="168" y="217"/>
                      <a:pt x="168" y="217"/>
                      <a:pt x="168" y="217"/>
                    </a:cubicBezTo>
                    <a:cubicBezTo>
                      <a:pt x="167" y="217"/>
                      <a:pt x="167" y="217"/>
                      <a:pt x="167" y="217"/>
                    </a:cubicBezTo>
                    <a:cubicBezTo>
                      <a:pt x="161" y="217"/>
                      <a:pt x="156" y="216"/>
                      <a:pt x="150" y="216"/>
                    </a:cubicBezTo>
                    <a:cubicBezTo>
                      <a:pt x="146" y="217"/>
                      <a:pt x="142" y="215"/>
                      <a:pt x="137" y="216"/>
                    </a:cubicBezTo>
                    <a:cubicBezTo>
                      <a:pt x="88" y="224"/>
                      <a:pt x="47" y="251"/>
                      <a:pt x="23" y="290"/>
                    </a:cubicBezTo>
                    <a:cubicBezTo>
                      <a:pt x="23" y="291"/>
                      <a:pt x="23" y="291"/>
                      <a:pt x="22" y="291"/>
                    </a:cubicBezTo>
                    <a:cubicBezTo>
                      <a:pt x="18" y="298"/>
                      <a:pt x="14" y="305"/>
                      <a:pt x="11" y="312"/>
                    </a:cubicBezTo>
                    <a:cubicBezTo>
                      <a:pt x="10" y="316"/>
                      <a:pt x="9" y="319"/>
                      <a:pt x="8" y="323"/>
                    </a:cubicBezTo>
                    <a:cubicBezTo>
                      <a:pt x="6" y="328"/>
                      <a:pt x="5" y="333"/>
                      <a:pt x="4" y="338"/>
                    </a:cubicBezTo>
                    <a:cubicBezTo>
                      <a:pt x="3" y="339"/>
                      <a:pt x="3" y="339"/>
                      <a:pt x="3" y="340"/>
                    </a:cubicBezTo>
                    <a:cubicBezTo>
                      <a:pt x="3" y="340"/>
                      <a:pt x="3" y="340"/>
                      <a:pt x="3" y="340"/>
                    </a:cubicBezTo>
                    <a:cubicBezTo>
                      <a:pt x="2" y="349"/>
                      <a:pt x="0" y="357"/>
                      <a:pt x="1" y="366"/>
                    </a:cubicBezTo>
                    <a:cubicBezTo>
                      <a:pt x="3" y="1044"/>
                      <a:pt x="3" y="1044"/>
                      <a:pt x="3" y="1044"/>
                    </a:cubicBezTo>
                    <a:cubicBezTo>
                      <a:pt x="4" y="1349"/>
                      <a:pt x="4" y="1349"/>
                      <a:pt x="4" y="1349"/>
                    </a:cubicBezTo>
                    <a:cubicBezTo>
                      <a:pt x="4" y="1373"/>
                      <a:pt x="4" y="1373"/>
                      <a:pt x="4" y="1373"/>
                    </a:cubicBezTo>
                    <a:cubicBezTo>
                      <a:pt x="4" y="1458"/>
                      <a:pt x="78" y="1509"/>
                      <a:pt x="171" y="1509"/>
                    </a:cubicBezTo>
                    <a:cubicBezTo>
                      <a:pt x="173" y="1509"/>
                      <a:pt x="173" y="1509"/>
                      <a:pt x="173" y="1509"/>
                    </a:cubicBezTo>
                    <a:cubicBezTo>
                      <a:pt x="869" y="1502"/>
                      <a:pt x="869" y="1502"/>
                      <a:pt x="869" y="1502"/>
                    </a:cubicBezTo>
                    <a:cubicBezTo>
                      <a:pt x="871" y="1502"/>
                      <a:pt x="871" y="1502"/>
                      <a:pt x="871" y="1502"/>
                    </a:cubicBezTo>
                    <a:cubicBezTo>
                      <a:pt x="875" y="1502"/>
                      <a:pt x="878" y="1500"/>
                      <a:pt x="882" y="1500"/>
                    </a:cubicBezTo>
                    <a:cubicBezTo>
                      <a:pt x="888" y="1500"/>
                      <a:pt x="895" y="1499"/>
                      <a:pt x="901" y="1498"/>
                    </a:cubicBezTo>
                    <a:cubicBezTo>
                      <a:pt x="908" y="1497"/>
                      <a:pt x="914" y="1495"/>
                      <a:pt x="920" y="1493"/>
                    </a:cubicBezTo>
                    <a:cubicBezTo>
                      <a:pt x="924" y="1492"/>
                      <a:pt x="927" y="1491"/>
                      <a:pt x="930" y="1490"/>
                    </a:cubicBezTo>
                    <a:cubicBezTo>
                      <a:pt x="936" y="1488"/>
                      <a:pt x="942" y="1485"/>
                      <a:pt x="948" y="1482"/>
                    </a:cubicBezTo>
                    <a:cubicBezTo>
                      <a:pt x="951" y="1481"/>
                      <a:pt x="954" y="1479"/>
                      <a:pt x="957" y="1477"/>
                    </a:cubicBezTo>
                    <a:cubicBezTo>
                      <a:pt x="962" y="1474"/>
                      <a:pt x="967" y="1471"/>
                      <a:pt x="972" y="1468"/>
                    </a:cubicBezTo>
                    <a:cubicBezTo>
                      <a:pt x="976" y="1465"/>
                      <a:pt x="979" y="1463"/>
                      <a:pt x="982" y="1460"/>
                    </a:cubicBezTo>
                    <a:cubicBezTo>
                      <a:pt x="986" y="1457"/>
                      <a:pt x="990" y="1453"/>
                      <a:pt x="993" y="1450"/>
                    </a:cubicBezTo>
                    <a:cubicBezTo>
                      <a:pt x="997" y="1446"/>
                      <a:pt x="1000" y="1442"/>
                      <a:pt x="1003" y="1438"/>
                    </a:cubicBezTo>
                    <a:cubicBezTo>
                      <a:pt x="1006" y="1435"/>
                      <a:pt x="1009" y="1432"/>
                      <a:pt x="1011" y="1428"/>
                    </a:cubicBezTo>
                    <a:cubicBezTo>
                      <a:pt x="1015" y="1423"/>
                      <a:pt x="1017" y="1418"/>
                      <a:pt x="1020" y="1412"/>
                    </a:cubicBezTo>
                    <a:cubicBezTo>
                      <a:pt x="1022" y="1409"/>
                      <a:pt x="1024" y="1406"/>
                      <a:pt x="1025" y="1403"/>
                    </a:cubicBezTo>
                    <a:cubicBezTo>
                      <a:pt x="1028" y="1397"/>
                      <a:pt x="1030" y="1390"/>
                      <a:pt x="1031" y="1384"/>
                    </a:cubicBezTo>
                    <a:cubicBezTo>
                      <a:pt x="1032" y="1381"/>
                      <a:pt x="1033" y="1378"/>
                      <a:pt x="1034" y="1375"/>
                    </a:cubicBezTo>
                    <a:cubicBezTo>
                      <a:pt x="1034" y="1375"/>
                      <a:pt x="1034" y="1374"/>
                      <a:pt x="1034" y="1374"/>
                    </a:cubicBezTo>
                    <a:cubicBezTo>
                      <a:pt x="1034" y="1374"/>
                      <a:pt x="1034" y="1374"/>
                      <a:pt x="1034" y="1374"/>
                    </a:cubicBezTo>
                    <a:cubicBezTo>
                      <a:pt x="1036" y="1365"/>
                      <a:pt x="1037" y="1355"/>
                      <a:pt x="1037" y="1346"/>
                    </a:cubicBezTo>
                    <a:close/>
                    <a:moveTo>
                      <a:pt x="520" y="60"/>
                    </a:moveTo>
                    <a:cubicBezTo>
                      <a:pt x="569" y="60"/>
                      <a:pt x="609" y="99"/>
                      <a:pt x="609" y="148"/>
                    </a:cubicBezTo>
                    <a:cubicBezTo>
                      <a:pt x="609" y="154"/>
                      <a:pt x="608" y="160"/>
                      <a:pt x="607" y="166"/>
                    </a:cubicBezTo>
                    <a:cubicBezTo>
                      <a:pt x="607" y="166"/>
                      <a:pt x="607" y="166"/>
                      <a:pt x="607" y="166"/>
                    </a:cubicBezTo>
                    <a:cubicBezTo>
                      <a:pt x="607" y="167"/>
                      <a:pt x="606" y="169"/>
                      <a:pt x="606" y="171"/>
                    </a:cubicBezTo>
                    <a:cubicBezTo>
                      <a:pt x="606" y="172"/>
                      <a:pt x="605" y="173"/>
                      <a:pt x="605" y="174"/>
                    </a:cubicBezTo>
                    <a:cubicBezTo>
                      <a:pt x="605" y="175"/>
                      <a:pt x="604" y="177"/>
                      <a:pt x="604" y="178"/>
                    </a:cubicBezTo>
                    <a:cubicBezTo>
                      <a:pt x="603" y="179"/>
                      <a:pt x="603" y="180"/>
                      <a:pt x="603" y="181"/>
                    </a:cubicBezTo>
                    <a:cubicBezTo>
                      <a:pt x="602" y="183"/>
                      <a:pt x="601" y="184"/>
                      <a:pt x="601" y="186"/>
                    </a:cubicBezTo>
                    <a:cubicBezTo>
                      <a:pt x="600" y="187"/>
                      <a:pt x="600" y="187"/>
                      <a:pt x="599" y="188"/>
                    </a:cubicBezTo>
                    <a:cubicBezTo>
                      <a:pt x="598" y="190"/>
                      <a:pt x="598" y="191"/>
                      <a:pt x="597" y="193"/>
                    </a:cubicBezTo>
                    <a:cubicBezTo>
                      <a:pt x="596" y="194"/>
                      <a:pt x="596" y="194"/>
                      <a:pt x="595" y="195"/>
                    </a:cubicBezTo>
                    <a:cubicBezTo>
                      <a:pt x="594" y="197"/>
                      <a:pt x="594" y="198"/>
                      <a:pt x="593" y="199"/>
                    </a:cubicBezTo>
                    <a:cubicBezTo>
                      <a:pt x="592" y="200"/>
                      <a:pt x="591" y="201"/>
                      <a:pt x="591" y="202"/>
                    </a:cubicBezTo>
                    <a:cubicBezTo>
                      <a:pt x="590" y="203"/>
                      <a:pt x="589" y="204"/>
                      <a:pt x="588" y="206"/>
                    </a:cubicBezTo>
                    <a:cubicBezTo>
                      <a:pt x="587" y="206"/>
                      <a:pt x="587" y="207"/>
                      <a:pt x="586" y="207"/>
                    </a:cubicBezTo>
                    <a:cubicBezTo>
                      <a:pt x="584" y="207"/>
                      <a:pt x="584" y="207"/>
                      <a:pt x="584" y="207"/>
                    </a:cubicBezTo>
                    <a:cubicBezTo>
                      <a:pt x="568" y="224"/>
                      <a:pt x="545" y="235"/>
                      <a:pt x="521" y="236"/>
                    </a:cubicBezTo>
                    <a:cubicBezTo>
                      <a:pt x="510" y="236"/>
                      <a:pt x="500" y="234"/>
                      <a:pt x="491" y="232"/>
                    </a:cubicBezTo>
                    <a:cubicBezTo>
                      <a:pt x="490" y="231"/>
                      <a:pt x="489" y="231"/>
                      <a:pt x="488" y="231"/>
                    </a:cubicBezTo>
                    <a:cubicBezTo>
                      <a:pt x="487" y="230"/>
                      <a:pt x="486" y="230"/>
                      <a:pt x="485" y="230"/>
                    </a:cubicBezTo>
                    <a:cubicBezTo>
                      <a:pt x="483" y="229"/>
                      <a:pt x="482" y="228"/>
                      <a:pt x="480" y="227"/>
                    </a:cubicBezTo>
                    <a:cubicBezTo>
                      <a:pt x="479" y="227"/>
                      <a:pt x="479" y="226"/>
                      <a:pt x="478" y="226"/>
                    </a:cubicBezTo>
                    <a:cubicBezTo>
                      <a:pt x="476" y="225"/>
                      <a:pt x="474" y="224"/>
                      <a:pt x="472" y="222"/>
                    </a:cubicBezTo>
                    <a:cubicBezTo>
                      <a:pt x="472" y="222"/>
                      <a:pt x="471" y="222"/>
                      <a:pt x="471" y="222"/>
                    </a:cubicBezTo>
                    <a:cubicBezTo>
                      <a:pt x="466" y="219"/>
                      <a:pt x="462" y="215"/>
                      <a:pt x="458" y="211"/>
                    </a:cubicBezTo>
                    <a:cubicBezTo>
                      <a:pt x="458" y="211"/>
                      <a:pt x="458" y="211"/>
                      <a:pt x="458" y="211"/>
                    </a:cubicBezTo>
                    <a:cubicBezTo>
                      <a:pt x="456" y="209"/>
                      <a:pt x="454" y="207"/>
                      <a:pt x="453" y="205"/>
                    </a:cubicBezTo>
                    <a:cubicBezTo>
                      <a:pt x="452" y="205"/>
                      <a:pt x="452" y="204"/>
                      <a:pt x="452" y="204"/>
                    </a:cubicBezTo>
                    <a:cubicBezTo>
                      <a:pt x="450" y="202"/>
                      <a:pt x="449" y="201"/>
                      <a:pt x="448" y="199"/>
                    </a:cubicBezTo>
                    <a:cubicBezTo>
                      <a:pt x="447" y="198"/>
                      <a:pt x="447" y="198"/>
                      <a:pt x="447" y="197"/>
                    </a:cubicBezTo>
                    <a:cubicBezTo>
                      <a:pt x="445" y="195"/>
                      <a:pt x="444" y="194"/>
                      <a:pt x="443" y="192"/>
                    </a:cubicBezTo>
                    <a:cubicBezTo>
                      <a:pt x="443" y="191"/>
                      <a:pt x="443" y="191"/>
                      <a:pt x="442" y="190"/>
                    </a:cubicBezTo>
                    <a:cubicBezTo>
                      <a:pt x="441" y="188"/>
                      <a:pt x="441" y="186"/>
                      <a:pt x="440" y="185"/>
                    </a:cubicBezTo>
                    <a:cubicBezTo>
                      <a:pt x="439" y="184"/>
                      <a:pt x="439" y="183"/>
                      <a:pt x="439" y="182"/>
                    </a:cubicBezTo>
                    <a:cubicBezTo>
                      <a:pt x="438" y="181"/>
                      <a:pt x="437" y="179"/>
                      <a:pt x="437" y="177"/>
                    </a:cubicBezTo>
                    <a:cubicBezTo>
                      <a:pt x="436" y="176"/>
                      <a:pt x="436" y="175"/>
                      <a:pt x="436" y="175"/>
                    </a:cubicBezTo>
                    <a:cubicBezTo>
                      <a:pt x="435" y="172"/>
                      <a:pt x="435" y="170"/>
                      <a:pt x="434" y="168"/>
                    </a:cubicBezTo>
                    <a:cubicBezTo>
                      <a:pt x="434" y="167"/>
                      <a:pt x="434" y="167"/>
                      <a:pt x="434" y="166"/>
                    </a:cubicBezTo>
                    <a:cubicBezTo>
                      <a:pt x="433" y="161"/>
                      <a:pt x="432" y="155"/>
                      <a:pt x="432" y="149"/>
                    </a:cubicBezTo>
                    <a:cubicBezTo>
                      <a:pt x="432" y="100"/>
                      <a:pt x="471" y="60"/>
                      <a:pt x="520" y="60"/>
                    </a:cubicBezTo>
                    <a:close/>
                    <a:moveTo>
                      <a:pt x="875" y="1414"/>
                    </a:moveTo>
                    <a:cubicBezTo>
                      <a:pt x="873" y="1414"/>
                      <a:pt x="871" y="1414"/>
                      <a:pt x="869" y="1414"/>
                    </a:cubicBezTo>
                    <a:cubicBezTo>
                      <a:pt x="172" y="1417"/>
                      <a:pt x="172" y="1417"/>
                      <a:pt x="172" y="1417"/>
                    </a:cubicBezTo>
                    <a:cubicBezTo>
                      <a:pt x="131" y="1417"/>
                      <a:pt x="90" y="1386"/>
                      <a:pt x="90" y="1349"/>
                    </a:cubicBezTo>
                    <a:cubicBezTo>
                      <a:pt x="89" y="1045"/>
                      <a:pt x="89" y="1045"/>
                      <a:pt x="89" y="1045"/>
                    </a:cubicBezTo>
                    <a:cubicBezTo>
                      <a:pt x="87" y="366"/>
                      <a:pt x="87" y="366"/>
                      <a:pt x="87" y="366"/>
                    </a:cubicBezTo>
                    <a:cubicBezTo>
                      <a:pt x="87" y="330"/>
                      <a:pt x="123" y="300"/>
                      <a:pt x="163" y="298"/>
                    </a:cubicBezTo>
                    <a:cubicBezTo>
                      <a:pt x="165" y="298"/>
                      <a:pt x="167" y="298"/>
                      <a:pt x="169" y="298"/>
                    </a:cubicBezTo>
                    <a:cubicBezTo>
                      <a:pt x="268" y="297"/>
                      <a:pt x="268" y="297"/>
                      <a:pt x="268" y="297"/>
                    </a:cubicBezTo>
                    <a:cubicBezTo>
                      <a:pt x="269" y="381"/>
                      <a:pt x="269" y="381"/>
                      <a:pt x="269" y="381"/>
                    </a:cubicBezTo>
                    <a:cubicBezTo>
                      <a:pt x="269" y="381"/>
                      <a:pt x="269" y="381"/>
                      <a:pt x="269" y="381"/>
                    </a:cubicBezTo>
                    <a:cubicBezTo>
                      <a:pt x="768" y="379"/>
                      <a:pt x="768" y="379"/>
                      <a:pt x="768" y="379"/>
                    </a:cubicBezTo>
                    <a:cubicBezTo>
                      <a:pt x="768" y="379"/>
                      <a:pt x="768" y="379"/>
                      <a:pt x="768" y="379"/>
                    </a:cubicBezTo>
                    <a:cubicBezTo>
                      <a:pt x="767" y="296"/>
                      <a:pt x="767" y="296"/>
                      <a:pt x="767" y="296"/>
                    </a:cubicBezTo>
                    <a:cubicBezTo>
                      <a:pt x="865" y="295"/>
                      <a:pt x="865" y="295"/>
                      <a:pt x="865" y="295"/>
                    </a:cubicBezTo>
                    <a:cubicBezTo>
                      <a:pt x="906" y="295"/>
                      <a:pt x="947" y="326"/>
                      <a:pt x="948" y="363"/>
                    </a:cubicBezTo>
                    <a:cubicBezTo>
                      <a:pt x="948" y="667"/>
                      <a:pt x="948" y="667"/>
                      <a:pt x="948" y="667"/>
                    </a:cubicBezTo>
                    <a:cubicBezTo>
                      <a:pt x="951" y="1346"/>
                      <a:pt x="951" y="1346"/>
                      <a:pt x="951" y="1346"/>
                    </a:cubicBezTo>
                    <a:cubicBezTo>
                      <a:pt x="951" y="1382"/>
                      <a:pt x="914" y="1412"/>
                      <a:pt x="875" y="14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43" name="Group 42">
            <a:extLst>
              <a:ext uri="{FF2B5EF4-FFF2-40B4-BE49-F238E27FC236}">
                <a16:creationId xmlns:a16="http://schemas.microsoft.com/office/drawing/2014/main" id="{9BC60699-E3B7-40FB-9EB0-E3C39082BF6F}"/>
              </a:ext>
            </a:extLst>
          </p:cNvPr>
          <p:cNvGrpSpPr/>
          <p:nvPr/>
        </p:nvGrpSpPr>
        <p:grpSpPr>
          <a:xfrm>
            <a:off x="6816447" y="3198678"/>
            <a:ext cx="1712685" cy="1153176"/>
            <a:chOff x="6855890" y="3270208"/>
            <a:chExt cx="1712685" cy="1153176"/>
          </a:xfrm>
        </p:grpSpPr>
        <p:sp>
          <p:nvSpPr>
            <p:cNvPr id="139" name="Rectangle: Rounded Corners 138">
              <a:extLst>
                <a:ext uri="{FF2B5EF4-FFF2-40B4-BE49-F238E27FC236}">
                  <a16:creationId xmlns:a16="http://schemas.microsoft.com/office/drawing/2014/main" id="{8412E842-DF30-4BF8-9D5D-5BB68BB52D09}"/>
                </a:ext>
              </a:extLst>
            </p:cNvPr>
            <p:cNvSpPr/>
            <p:nvPr/>
          </p:nvSpPr>
          <p:spPr bwMode="auto">
            <a:xfrm>
              <a:off x="6864063" y="3836405"/>
              <a:ext cx="1704512" cy="586979"/>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chemeClr val="bg1"/>
                  </a:solidFill>
                  <a:latin typeface="Arial"/>
                </a:rPr>
                <a:t>adaptation of design features</a:t>
              </a:r>
            </a:p>
          </p:txBody>
        </p:sp>
        <p:grpSp>
          <p:nvGrpSpPr>
            <p:cNvPr id="149" name="Group 643">
              <a:extLst>
                <a:ext uri="{FF2B5EF4-FFF2-40B4-BE49-F238E27FC236}">
                  <a16:creationId xmlns:a16="http://schemas.microsoft.com/office/drawing/2014/main" id="{B6BC0E1F-AC02-46D3-83D6-93C59E7E3902}"/>
                </a:ext>
              </a:extLst>
            </p:cNvPr>
            <p:cNvGrpSpPr>
              <a:grpSpLocks noChangeAspect="1"/>
            </p:cNvGrpSpPr>
            <p:nvPr/>
          </p:nvGrpSpPr>
          <p:grpSpPr bwMode="auto">
            <a:xfrm>
              <a:off x="6855890" y="3270208"/>
              <a:ext cx="533299" cy="462262"/>
              <a:chOff x="97" y="1472"/>
              <a:chExt cx="1524" cy="1321"/>
            </a:xfrm>
            <a:solidFill>
              <a:schemeClr val="bg2"/>
            </a:solidFill>
          </p:grpSpPr>
          <p:sp>
            <p:nvSpPr>
              <p:cNvPr id="150" name="Freeform 644">
                <a:extLst>
                  <a:ext uri="{FF2B5EF4-FFF2-40B4-BE49-F238E27FC236}">
                    <a16:creationId xmlns:a16="http://schemas.microsoft.com/office/drawing/2014/main" id="{DA137B7E-3AA2-44EF-AABC-F5E8E9A18428}"/>
                  </a:ext>
                </a:extLst>
              </p:cNvPr>
              <p:cNvSpPr>
                <a:spLocks noEditPoints="1"/>
              </p:cNvSpPr>
              <p:nvPr/>
            </p:nvSpPr>
            <p:spPr bwMode="auto">
              <a:xfrm>
                <a:off x="97" y="1472"/>
                <a:ext cx="1502" cy="346"/>
              </a:xfrm>
              <a:custGeom>
                <a:avLst/>
                <a:gdLst>
                  <a:gd name="T0" fmla="*/ 254 w 2200"/>
                  <a:gd name="T1" fmla="*/ 507 h 507"/>
                  <a:gd name="T2" fmla="*/ 495 w 2200"/>
                  <a:gd name="T3" fmla="*/ 331 h 507"/>
                  <a:gd name="T4" fmla="*/ 1704 w 2200"/>
                  <a:gd name="T5" fmla="*/ 331 h 507"/>
                  <a:gd name="T6" fmla="*/ 1946 w 2200"/>
                  <a:gd name="T7" fmla="*/ 507 h 507"/>
                  <a:gd name="T8" fmla="*/ 2200 w 2200"/>
                  <a:gd name="T9" fmla="*/ 254 h 507"/>
                  <a:gd name="T10" fmla="*/ 1946 w 2200"/>
                  <a:gd name="T11" fmla="*/ 0 h 507"/>
                  <a:gd name="T12" fmla="*/ 1702 w 2200"/>
                  <a:gd name="T13" fmla="*/ 184 h 507"/>
                  <a:gd name="T14" fmla="*/ 498 w 2200"/>
                  <a:gd name="T15" fmla="*/ 184 h 507"/>
                  <a:gd name="T16" fmla="*/ 254 w 2200"/>
                  <a:gd name="T17" fmla="*/ 0 h 507"/>
                  <a:gd name="T18" fmla="*/ 0 w 2200"/>
                  <a:gd name="T19" fmla="*/ 254 h 507"/>
                  <a:gd name="T20" fmla="*/ 254 w 2200"/>
                  <a:gd name="T21" fmla="*/ 507 h 507"/>
                  <a:gd name="T22" fmla="*/ 1946 w 2200"/>
                  <a:gd name="T23" fmla="*/ 144 h 507"/>
                  <a:gd name="T24" fmla="*/ 2056 w 2200"/>
                  <a:gd name="T25" fmla="*/ 254 h 507"/>
                  <a:gd name="T26" fmla="*/ 1946 w 2200"/>
                  <a:gd name="T27" fmla="*/ 363 h 507"/>
                  <a:gd name="T28" fmla="*/ 1836 w 2200"/>
                  <a:gd name="T29" fmla="*/ 254 h 507"/>
                  <a:gd name="T30" fmla="*/ 1946 w 2200"/>
                  <a:gd name="T31" fmla="*/ 144 h 507"/>
                  <a:gd name="T32" fmla="*/ 254 w 2200"/>
                  <a:gd name="T33" fmla="*/ 144 h 507"/>
                  <a:gd name="T34" fmla="*/ 363 w 2200"/>
                  <a:gd name="T35" fmla="*/ 254 h 507"/>
                  <a:gd name="T36" fmla="*/ 254 w 2200"/>
                  <a:gd name="T37" fmla="*/ 363 h 507"/>
                  <a:gd name="T38" fmla="*/ 144 w 2200"/>
                  <a:gd name="T39" fmla="*/ 254 h 507"/>
                  <a:gd name="T40" fmla="*/ 254 w 2200"/>
                  <a:gd name="T41" fmla="*/ 144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00" h="507">
                    <a:moveTo>
                      <a:pt x="254" y="507"/>
                    </a:moveTo>
                    <a:cubicBezTo>
                      <a:pt x="367" y="507"/>
                      <a:pt x="463" y="433"/>
                      <a:pt x="495" y="331"/>
                    </a:cubicBezTo>
                    <a:cubicBezTo>
                      <a:pt x="1704" y="331"/>
                      <a:pt x="1704" y="331"/>
                      <a:pt x="1704" y="331"/>
                    </a:cubicBezTo>
                    <a:cubicBezTo>
                      <a:pt x="1737" y="433"/>
                      <a:pt x="1833" y="507"/>
                      <a:pt x="1946" y="507"/>
                    </a:cubicBezTo>
                    <a:cubicBezTo>
                      <a:pt x="2086" y="507"/>
                      <a:pt x="2200" y="393"/>
                      <a:pt x="2200" y="254"/>
                    </a:cubicBezTo>
                    <a:cubicBezTo>
                      <a:pt x="2200" y="114"/>
                      <a:pt x="2086" y="0"/>
                      <a:pt x="1946" y="0"/>
                    </a:cubicBezTo>
                    <a:cubicBezTo>
                      <a:pt x="1830" y="0"/>
                      <a:pt x="1732" y="78"/>
                      <a:pt x="1702" y="184"/>
                    </a:cubicBezTo>
                    <a:cubicBezTo>
                      <a:pt x="498" y="184"/>
                      <a:pt x="498" y="184"/>
                      <a:pt x="498" y="184"/>
                    </a:cubicBezTo>
                    <a:cubicBezTo>
                      <a:pt x="467" y="78"/>
                      <a:pt x="370" y="0"/>
                      <a:pt x="254" y="0"/>
                    </a:cubicBezTo>
                    <a:cubicBezTo>
                      <a:pt x="114" y="0"/>
                      <a:pt x="0" y="114"/>
                      <a:pt x="0" y="254"/>
                    </a:cubicBezTo>
                    <a:cubicBezTo>
                      <a:pt x="0" y="393"/>
                      <a:pt x="114" y="507"/>
                      <a:pt x="254" y="507"/>
                    </a:cubicBezTo>
                    <a:close/>
                    <a:moveTo>
                      <a:pt x="1946" y="144"/>
                    </a:moveTo>
                    <a:cubicBezTo>
                      <a:pt x="2007" y="144"/>
                      <a:pt x="2056" y="193"/>
                      <a:pt x="2056" y="254"/>
                    </a:cubicBezTo>
                    <a:cubicBezTo>
                      <a:pt x="2056" y="314"/>
                      <a:pt x="2007" y="363"/>
                      <a:pt x="1946" y="363"/>
                    </a:cubicBezTo>
                    <a:cubicBezTo>
                      <a:pt x="1886" y="363"/>
                      <a:pt x="1836" y="314"/>
                      <a:pt x="1836" y="254"/>
                    </a:cubicBezTo>
                    <a:cubicBezTo>
                      <a:pt x="1836" y="193"/>
                      <a:pt x="1886" y="144"/>
                      <a:pt x="1946" y="144"/>
                    </a:cubicBezTo>
                    <a:close/>
                    <a:moveTo>
                      <a:pt x="254" y="144"/>
                    </a:moveTo>
                    <a:cubicBezTo>
                      <a:pt x="314" y="144"/>
                      <a:pt x="363" y="193"/>
                      <a:pt x="363" y="254"/>
                    </a:cubicBezTo>
                    <a:cubicBezTo>
                      <a:pt x="363" y="314"/>
                      <a:pt x="314" y="363"/>
                      <a:pt x="254" y="363"/>
                    </a:cubicBezTo>
                    <a:cubicBezTo>
                      <a:pt x="193" y="363"/>
                      <a:pt x="144" y="314"/>
                      <a:pt x="144" y="254"/>
                    </a:cubicBezTo>
                    <a:cubicBezTo>
                      <a:pt x="144" y="193"/>
                      <a:pt x="193" y="144"/>
                      <a:pt x="254"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1" name="Freeform 645">
                <a:extLst>
                  <a:ext uri="{FF2B5EF4-FFF2-40B4-BE49-F238E27FC236}">
                    <a16:creationId xmlns:a16="http://schemas.microsoft.com/office/drawing/2014/main" id="{5ED8D761-12A3-4F5B-9F9A-CEF95FAAF1A2}"/>
                  </a:ext>
                </a:extLst>
              </p:cNvPr>
              <p:cNvSpPr>
                <a:spLocks noEditPoints="1"/>
              </p:cNvSpPr>
              <p:nvPr/>
            </p:nvSpPr>
            <p:spPr bwMode="auto">
              <a:xfrm>
                <a:off x="119" y="1959"/>
                <a:ext cx="1502" cy="834"/>
              </a:xfrm>
              <a:custGeom>
                <a:avLst/>
                <a:gdLst>
                  <a:gd name="T0" fmla="*/ 1946 w 2200"/>
                  <a:gd name="T1" fmla="*/ 714 h 1221"/>
                  <a:gd name="T2" fmla="*/ 1701 w 2200"/>
                  <a:gd name="T3" fmla="*/ 902 h 1221"/>
                  <a:gd name="T4" fmla="*/ 1188 w 2200"/>
                  <a:gd name="T5" fmla="*/ 673 h 1221"/>
                  <a:gd name="T6" fmla="*/ 1026 w 2200"/>
                  <a:gd name="T7" fmla="*/ 452 h 1221"/>
                  <a:gd name="T8" fmla="*/ 518 w 2200"/>
                  <a:gd name="T9" fmla="*/ 166 h 1221"/>
                  <a:gd name="T10" fmla="*/ 492 w 2200"/>
                  <a:gd name="T11" fmla="*/ 166 h 1221"/>
                  <a:gd name="T12" fmla="*/ 254 w 2200"/>
                  <a:gd name="T13" fmla="*/ 0 h 1221"/>
                  <a:gd name="T14" fmla="*/ 0 w 2200"/>
                  <a:gd name="T15" fmla="*/ 254 h 1221"/>
                  <a:gd name="T16" fmla="*/ 254 w 2200"/>
                  <a:gd name="T17" fmla="*/ 507 h 1221"/>
                  <a:gd name="T18" fmla="*/ 501 w 2200"/>
                  <a:gd name="T19" fmla="*/ 313 h 1221"/>
                  <a:gd name="T20" fmla="*/ 518 w 2200"/>
                  <a:gd name="T21" fmla="*/ 313 h 1221"/>
                  <a:gd name="T22" fmla="*/ 910 w 2200"/>
                  <a:gd name="T23" fmla="*/ 538 h 1221"/>
                  <a:gd name="T24" fmla="*/ 1073 w 2200"/>
                  <a:gd name="T25" fmla="*/ 753 h 1221"/>
                  <a:gd name="T26" fmla="*/ 1252 w 2200"/>
                  <a:gd name="T27" fmla="*/ 902 h 1221"/>
                  <a:gd name="T28" fmla="*/ 499 w 2200"/>
                  <a:gd name="T29" fmla="*/ 902 h 1221"/>
                  <a:gd name="T30" fmla="*/ 254 w 2200"/>
                  <a:gd name="T31" fmla="*/ 714 h 1221"/>
                  <a:gd name="T32" fmla="*/ 0 w 2200"/>
                  <a:gd name="T33" fmla="*/ 968 h 1221"/>
                  <a:gd name="T34" fmla="*/ 254 w 2200"/>
                  <a:gd name="T35" fmla="*/ 1221 h 1221"/>
                  <a:gd name="T36" fmla="*/ 499 w 2200"/>
                  <a:gd name="T37" fmla="*/ 1033 h 1221"/>
                  <a:gd name="T38" fmla="*/ 1701 w 2200"/>
                  <a:gd name="T39" fmla="*/ 1033 h 1221"/>
                  <a:gd name="T40" fmla="*/ 1946 w 2200"/>
                  <a:gd name="T41" fmla="*/ 1221 h 1221"/>
                  <a:gd name="T42" fmla="*/ 2200 w 2200"/>
                  <a:gd name="T43" fmla="*/ 968 h 1221"/>
                  <a:gd name="T44" fmla="*/ 1946 w 2200"/>
                  <a:gd name="T45" fmla="*/ 714 h 1221"/>
                  <a:gd name="T46" fmla="*/ 254 w 2200"/>
                  <a:gd name="T47" fmla="*/ 363 h 1221"/>
                  <a:gd name="T48" fmla="*/ 144 w 2200"/>
                  <a:gd name="T49" fmla="*/ 254 h 1221"/>
                  <a:gd name="T50" fmla="*/ 254 w 2200"/>
                  <a:gd name="T51" fmla="*/ 144 h 1221"/>
                  <a:gd name="T52" fmla="*/ 363 w 2200"/>
                  <a:gd name="T53" fmla="*/ 254 h 1221"/>
                  <a:gd name="T54" fmla="*/ 254 w 2200"/>
                  <a:gd name="T55" fmla="*/ 363 h 1221"/>
                  <a:gd name="T56" fmla="*/ 254 w 2200"/>
                  <a:gd name="T57" fmla="*/ 1077 h 1221"/>
                  <a:gd name="T58" fmla="*/ 144 w 2200"/>
                  <a:gd name="T59" fmla="*/ 968 h 1221"/>
                  <a:gd name="T60" fmla="*/ 254 w 2200"/>
                  <a:gd name="T61" fmla="*/ 858 h 1221"/>
                  <a:gd name="T62" fmla="*/ 363 w 2200"/>
                  <a:gd name="T63" fmla="*/ 968 h 1221"/>
                  <a:gd name="T64" fmla="*/ 254 w 2200"/>
                  <a:gd name="T65" fmla="*/ 1077 h 1221"/>
                  <a:gd name="T66" fmla="*/ 1946 w 2200"/>
                  <a:gd name="T67" fmla="*/ 1077 h 1221"/>
                  <a:gd name="T68" fmla="*/ 1836 w 2200"/>
                  <a:gd name="T69" fmla="*/ 968 h 1221"/>
                  <a:gd name="T70" fmla="*/ 1946 w 2200"/>
                  <a:gd name="T71" fmla="*/ 858 h 1221"/>
                  <a:gd name="T72" fmla="*/ 2056 w 2200"/>
                  <a:gd name="T73" fmla="*/ 968 h 1221"/>
                  <a:gd name="T74" fmla="*/ 1946 w 2200"/>
                  <a:gd name="T75" fmla="*/ 1077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00" h="1221">
                    <a:moveTo>
                      <a:pt x="1946" y="714"/>
                    </a:moveTo>
                    <a:cubicBezTo>
                      <a:pt x="1829" y="714"/>
                      <a:pt x="1730" y="794"/>
                      <a:pt x="1701" y="902"/>
                    </a:cubicBezTo>
                    <a:cubicBezTo>
                      <a:pt x="1544" y="893"/>
                      <a:pt x="1287" y="806"/>
                      <a:pt x="1188" y="673"/>
                    </a:cubicBezTo>
                    <a:cubicBezTo>
                      <a:pt x="1026" y="452"/>
                      <a:pt x="1026" y="452"/>
                      <a:pt x="1026" y="452"/>
                    </a:cubicBezTo>
                    <a:cubicBezTo>
                      <a:pt x="890" y="269"/>
                      <a:pt x="710" y="166"/>
                      <a:pt x="518" y="166"/>
                    </a:cubicBezTo>
                    <a:cubicBezTo>
                      <a:pt x="492" y="166"/>
                      <a:pt x="492" y="166"/>
                      <a:pt x="492" y="166"/>
                    </a:cubicBezTo>
                    <a:cubicBezTo>
                      <a:pt x="456" y="69"/>
                      <a:pt x="363" y="0"/>
                      <a:pt x="254" y="0"/>
                    </a:cubicBezTo>
                    <a:cubicBezTo>
                      <a:pt x="114" y="0"/>
                      <a:pt x="0" y="114"/>
                      <a:pt x="0" y="254"/>
                    </a:cubicBezTo>
                    <a:cubicBezTo>
                      <a:pt x="0" y="393"/>
                      <a:pt x="114" y="507"/>
                      <a:pt x="254" y="507"/>
                    </a:cubicBezTo>
                    <a:cubicBezTo>
                      <a:pt x="373" y="507"/>
                      <a:pt x="474" y="424"/>
                      <a:pt x="501" y="313"/>
                    </a:cubicBezTo>
                    <a:cubicBezTo>
                      <a:pt x="518" y="313"/>
                      <a:pt x="518" y="313"/>
                      <a:pt x="518" y="313"/>
                    </a:cubicBezTo>
                    <a:cubicBezTo>
                      <a:pt x="663" y="313"/>
                      <a:pt x="802" y="392"/>
                      <a:pt x="910" y="538"/>
                    </a:cubicBezTo>
                    <a:cubicBezTo>
                      <a:pt x="1073" y="753"/>
                      <a:pt x="1073" y="753"/>
                      <a:pt x="1073" y="753"/>
                    </a:cubicBezTo>
                    <a:cubicBezTo>
                      <a:pt x="1116" y="812"/>
                      <a:pt x="1180" y="862"/>
                      <a:pt x="1252" y="902"/>
                    </a:cubicBezTo>
                    <a:cubicBezTo>
                      <a:pt x="499" y="902"/>
                      <a:pt x="499" y="902"/>
                      <a:pt x="499" y="902"/>
                    </a:cubicBezTo>
                    <a:cubicBezTo>
                      <a:pt x="470" y="794"/>
                      <a:pt x="371" y="714"/>
                      <a:pt x="254" y="714"/>
                    </a:cubicBezTo>
                    <a:cubicBezTo>
                      <a:pt x="114" y="714"/>
                      <a:pt x="0" y="828"/>
                      <a:pt x="0" y="968"/>
                    </a:cubicBezTo>
                    <a:cubicBezTo>
                      <a:pt x="0" y="1108"/>
                      <a:pt x="114" y="1221"/>
                      <a:pt x="254" y="1221"/>
                    </a:cubicBezTo>
                    <a:cubicBezTo>
                      <a:pt x="371" y="1221"/>
                      <a:pt x="470" y="1141"/>
                      <a:pt x="499" y="1033"/>
                    </a:cubicBezTo>
                    <a:cubicBezTo>
                      <a:pt x="1701" y="1033"/>
                      <a:pt x="1701" y="1033"/>
                      <a:pt x="1701" y="1033"/>
                    </a:cubicBezTo>
                    <a:cubicBezTo>
                      <a:pt x="1730" y="1141"/>
                      <a:pt x="1829" y="1221"/>
                      <a:pt x="1946" y="1221"/>
                    </a:cubicBezTo>
                    <a:cubicBezTo>
                      <a:pt x="2086" y="1221"/>
                      <a:pt x="2200" y="1108"/>
                      <a:pt x="2200" y="968"/>
                    </a:cubicBezTo>
                    <a:cubicBezTo>
                      <a:pt x="2200" y="828"/>
                      <a:pt x="2086" y="714"/>
                      <a:pt x="1946" y="714"/>
                    </a:cubicBezTo>
                    <a:close/>
                    <a:moveTo>
                      <a:pt x="254" y="363"/>
                    </a:moveTo>
                    <a:cubicBezTo>
                      <a:pt x="193" y="363"/>
                      <a:pt x="144" y="314"/>
                      <a:pt x="144" y="254"/>
                    </a:cubicBezTo>
                    <a:cubicBezTo>
                      <a:pt x="144" y="193"/>
                      <a:pt x="193" y="144"/>
                      <a:pt x="254" y="144"/>
                    </a:cubicBezTo>
                    <a:cubicBezTo>
                      <a:pt x="314" y="144"/>
                      <a:pt x="363" y="193"/>
                      <a:pt x="363" y="254"/>
                    </a:cubicBezTo>
                    <a:cubicBezTo>
                      <a:pt x="363" y="314"/>
                      <a:pt x="314" y="363"/>
                      <a:pt x="254" y="363"/>
                    </a:cubicBezTo>
                    <a:close/>
                    <a:moveTo>
                      <a:pt x="254" y="1077"/>
                    </a:moveTo>
                    <a:cubicBezTo>
                      <a:pt x="193" y="1077"/>
                      <a:pt x="144" y="1028"/>
                      <a:pt x="144" y="968"/>
                    </a:cubicBezTo>
                    <a:cubicBezTo>
                      <a:pt x="144" y="907"/>
                      <a:pt x="193" y="858"/>
                      <a:pt x="254" y="858"/>
                    </a:cubicBezTo>
                    <a:cubicBezTo>
                      <a:pt x="314" y="858"/>
                      <a:pt x="363" y="907"/>
                      <a:pt x="363" y="968"/>
                    </a:cubicBezTo>
                    <a:cubicBezTo>
                      <a:pt x="363" y="1028"/>
                      <a:pt x="314" y="1077"/>
                      <a:pt x="254" y="1077"/>
                    </a:cubicBezTo>
                    <a:close/>
                    <a:moveTo>
                      <a:pt x="1946" y="1077"/>
                    </a:moveTo>
                    <a:cubicBezTo>
                      <a:pt x="1886" y="1077"/>
                      <a:pt x="1836" y="1028"/>
                      <a:pt x="1836" y="968"/>
                    </a:cubicBezTo>
                    <a:cubicBezTo>
                      <a:pt x="1836" y="907"/>
                      <a:pt x="1886" y="858"/>
                      <a:pt x="1946" y="858"/>
                    </a:cubicBezTo>
                    <a:cubicBezTo>
                      <a:pt x="2007" y="858"/>
                      <a:pt x="2056" y="907"/>
                      <a:pt x="2056" y="968"/>
                    </a:cubicBezTo>
                    <a:cubicBezTo>
                      <a:pt x="2056" y="1028"/>
                      <a:pt x="2007" y="1077"/>
                      <a:pt x="1946" y="10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42" name="Group 41">
            <a:extLst>
              <a:ext uri="{FF2B5EF4-FFF2-40B4-BE49-F238E27FC236}">
                <a16:creationId xmlns:a16="http://schemas.microsoft.com/office/drawing/2014/main" id="{70A4F33C-48A8-4009-A49B-48E38CEF82C2}"/>
              </a:ext>
            </a:extLst>
          </p:cNvPr>
          <p:cNvGrpSpPr/>
          <p:nvPr/>
        </p:nvGrpSpPr>
        <p:grpSpPr>
          <a:xfrm>
            <a:off x="5882824" y="1579322"/>
            <a:ext cx="2013879" cy="1150001"/>
            <a:chOff x="6458292" y="1459991"/>
            <a:chExt cx="2013879" cy="1150001"/>
          </a:xfrm>
        </p:grpSpPr>
        <p:sp>
          <p:nvSpPr>
            <p:cNvPr id="40" name="Rectangle: Rounded Corners 39">
              <a:extLst>
                <a:ext uri="{FF2B5EF4-FFF2-40B4-BE49-F238E27FC236}">
                  <a16:creationId xmlns:a16="http://schemas.microsoft.com/office/drawing/2014/main" id="{38139DBC-5D02-430C-AFB8-ABE615E4DF62}"/>
                </a:ext>
              </a:extLst>
            </p:cNvPr>
            <p:cNvSpPr/>
            <p:nvPr/>
          </p:nvSpPr>
          <p:spPr bwMode="auto">
            <a:xfrm>
              <a:off x="6458292" y="2001638"/>
              <a:ext cx="2013879" cy="608354"/>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chemeClr val="bg1"/>
                  </a:solidFill>
                  <a:latin typeface="Arial"/>
                </a:rPr>
                <a:t>same endpoint measured over time</a:t>
              </a:r>
            </a:p>
          </p:txBody>
        </p:sp>
        <p:sp>
          <p:nvSpPr>
            <p:cNvPr id="170" name="Freeform 1774">
              <a:extLst>
                <a:ext uri="{FF2B5EF4-FFF2-40B4-BE49-F238E27FC236}">
                  <a16:creationId xmlns:a16="http://schemas.microsoft.com/office/drawing/2014/main" id="{8B99EDF6-A475-4ED9-8DF7-03B94DD812EA}"/>
                </a:ext>
              </a:extLst>
            </p:cNvPr>
            <p:cNvSpPr>
              <a:spLocks/>
            </p:cNvSpPr>
            <p:nvPr/>
          </p:nvSpPr>
          <p:spPr bwMode="auto">
            <a:xfrm>
              <a:off x="6668608" y="1638658"/>
              <a:ext cx="395446" cy="273427"/>
            </a:xfrm>
            <a:custGeom>
              <a:avLst/>
              <a:gdLst>
                <a:gd name="T0" fmla="*/ 928 w 1740"/>
                <a:gd name="T1" fmla="*/ 1170 h 1202"/>
                <a:gd name="T2" fmla="*/ 812 w 1740"/>
                <a:gd name="T3" fmla="*/ 1170 h 1202"/>
                <a:gd name="T4" fmla="*/ 0 w 1740"/>
                <a:gd name="T5" fmla="*/ 358 h 1202"/>
                <a:gd name="T6" fmla="*/ 247 w 1740"/>
                <a:gd name="T7" fmla="*/ 358 h 1202"/>
                <a:gd name="T8" fmla="*/ 406 w 1740"/>
                <a:gd name="T9" fmla="*/ 265 h 1202"/>
                <a:gd name="T10" fmla="*/ 422 w 1740"/>
                <a:gd name="T11" fmla="*/ 237 h 1202"/>
                <a:gd name="T12" fmla="*/ 533 w 1740"/>
                <a:gd name="T13" fmla="*/ 446 h 1202"/>
                <a:gd name="T14" fmla="*/ 572 w 1740"/>
                <a:gd name="T15" fmla="*/ 468 h 1202"/>
                <a:gd name="T16" fmla="*/ 608 w 1740"/>
                <a:gd name="T17" fmla="*/ 441 h 1202"/>
                <a:gd name="T18" fmla="*/ 776 w 1740"/>
                <a:gd name="T19" fmla="*/ 0 h 1202"/>
                <a:gd name="T20" fmla="*/ 927 w 1740"/>
                <a:gd name="T21" fmla="*/ 734 h 1202"/>
                <a:gd name="T22" fmla="*/ 964 w 1740"/>
                <a:gd name="T23" fmla="*/ 767 h 1202"/>
                <a:gd name="T24" fmla="*/ 968 w 1740"/>
                <a:gd name="T25" fmla="*/ 767 h 1202"/>
                <a:gd name="T26" fmla="*/ 1006 w 1740"/>
                <a:gd name="T27" fmla="*/ 740 h 1202"/>
                <a:gd name="T28" fmla="*/ 1194 w 1740"/>
                <a:gd name="T29" fmla="*/ 248 h 1202"/>
                <a:gd name="T30" fmla="*/ 1203 w 1740"/>
                <a:gd name="T31" fmla="*/ 265 h 1202"/>
                <a:gd name="T32" fmla="*/ 1362 w 1740"/>
                <a:gd name="T33" fmla="*/ 358 h 1202"/>
                <a:gd name="T34" fmla="*/ 1740 w 1740"/>
                <a:gd name="T35" fmla="*/ 358 h 1202"/>
                <a:gd name="T36" fmla="*/ 928 w 1740"/>
                <a:gd name="T37" fmla="*/ 1170 h 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0" h="1202">
                  <a:moveTo>
                    <a:pt x="928" y="1170"/>
                  </a:moveTo>
                  <a:cubicBezTo>
                    <a:pt x="896" y="1202"/>
                    <a:pt x="844" y="1202"/>
                    <a:pt x="812" y="1170"/>
                  </a:cubicBezTo>
                  <a:cubicBezTo>
                    <a:pt x="0" y="358"/>
                    <a:pt x="0" y="358"/>
                    <a:pt x="0" y="358"/>
                  </a:cubicBezTo>
                  <a:cubicBezTo>
                    <a:pt x="247" y="358"/>
                    <a:pt x="247" y="358"/>
                    <a:pt x="247" y="358"/>
                  </a:cubicBezTo>
                  <a:cubicBezTo>
                    <a:pt x="308" y="358"/>
                    <a:pt x="377" y="318"/>
                    <a:pt x="406" y="265"/>
                  </a:cubicBezTo>
                  <a:cubicBezTo>
                    <a:pt x="422" y="237"/>
                    <a:pt x="422" y="237"/>
                    <a:pt x="422" y="237"/>
                  </a:cubicBezTo>
                  <a:cubicBezTo>
                    <a:pt x="533" y="446"/>
                    <a:pt x="533" y="446"/>
                    <a:pt x="533" y="446"/>
                  </a:cubicBezTo>
                  <a:cubicBezTo>
                    <a:pt x="541" y="460"/>
                    <a:pt x="556" y="469"/>
                    <a:pt x="572" y="468"/>
                  </a:cubicBezTo>
                  <a:cubicBezTo>
                    <a:pt x="588" y="467"/>
                    <a:pt x="602" y="456"/>
                    <a:pt x="608" y="441"/>
                  </a:cubicBezTo>
                  <a:cubicBezTo>
                    <a:pt x="776" y="0"/>
                    <a:pt x="776" y="0"/>
                    <a:pt x="776" y="0"/>
                  </a:cubicBezTo>
                  <a:cubicBezTo>
                    <a:pt x="927" y="734"/>
                    <a:pt x="927" y="734"/>
                    <a:pt x="927" y="734"/>
                  </a:cubicBezTo>
                  <a:cubicBezTo>
                    <a:pt x="931" y="752"/>
                    <a:pt x="946" y="765"/>
                    <a:pt x="964" y="767"/>
                  </a:cubicBezTo>
                  <a:cubicBezTo>
                    <a:pt x="966" y="767"/>
                    <a:pt x="967" y="767"/>
                    <a:pt x="968" y="767"/>
                  </a:cubicBezTo>
                  <a:cubicBezTo>
                    <a:pt x="985" y="767"/>
                    <a:pt x="1000" y="756"/>
                    <a:pt x="1006" y="740"/>
                  </a:cubicBezTo>
                  <a:cubicBezTo>
                    <a:pt x="1194" y="248"/>
                    <a:pt x="1194" y="248"/>
                    <a:pt x="1194" y="248"/>
                  </a:cubicBezTo>
                  <a:cubicBezTo>
                    <a:pt x="1203" y="265"/>
                    <a:pt x="1203" y="265"/>
                    <a:pt x="1203" y="265"/>
                  </a:cubicBezTo>
                  <a:cubicBezTo>
                    <a:pt x="1233" y="318"/>
                    <a:pt x="1301" y="358"/>
                    <a:pt x="1362" y="358"/>
                  </a:cubicBezTo>
                  <a:cubicBezTo>
                    <a:pt x="1740" y="358"/>
                    <a:pt x="1740" y="358"/>
                    <a:pt x="1740" y="358"/>
                  </a:cubicBezTo>
                  <a:lnTo>
                    <a:pt x="928" y="117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1" name="Freeform 1775">
              <a:extLst>
                <a:ext uri="{FF2B5EF4-FFF2-40B4-BE49-F238E27FC236}">
                  <a16:creationId xmlns:a16="http://schemas.microsoft.com/office/drawing/2014/main" id="{97F0E9CB-4BC7-42EB-A7CE-59C853C67A8E}"/>
                </a:ext>
              </a:extLst>
            </p:cNvPr>
            <p:cNvSpPr>
              <a:spLocks/>
            </p:cNvSpPr>
            <p:nvPr/>
          </p:nvSpPr>
          <p:spPr bwMode="auto">
            <a:xfrm>
              <a:off x="6603531" y="1469406"/>
              <a:ext cx="525600" cy="300717"/>
            </a:xfrm>
            <a:custGeom>
              <a:avLst/>
              <a:gdLst>
                <a:gd name="T0" fmla="*/ 2107 w 2312"/>
                <a:gd name="T1" fmla="*/ 1019 h 1322"/>
                <a:gd name="T2" fmla="*/ 1648 w 2312"/>
                <a:gd name="T3" fmla="*/ 1019 h 1322"/>
                <a:gd name="T4" fmla="*/ 1561 w 2312"/>
                <a:gd name="T5" fmla="*/ 968 h 1322"/>
                <a:gd name="T6" fmla="*/ 1508 w 2312"/>
                <a:gd name="T7" fmla="*/ 875 h 1322"/>
                <a:gd name="T8" fmla="*/ 1469 w 2312"/>
                <a:gd name="T9" fmla="*/ 854 h 1322"/>
                <a:gd name="T10" fmla="*/ 1434 w 2312"/>
                <a:gd name="T11" fmla="*/ 881 h 1322"/>
                <a:gd name="T12" fmla="*/ 1266 w 2312"/>
                <a:gd name="T13" fmla="*/ 1322 h 1322"/>
                <a:gd name="T14" fmla="*/ 1114 w 2312"/>
                <a:gd name="T15" fmla="*/ 588 h 1322"/>
                <a:gd name="T16" fmla="*/ 1077 w 2312"/>
                <a:gd name="T17" fmla="*/ 556 h 1322"/>
                <a:gd name="T18" fmla="*/ 1035 w 2312"/>
                <a:gd name="T19" fmla="*/ 582 h 1322"/>
                <a:gd name="T20" fmla="*/ 849 w 2312"/>
                <a:gd name="T21" fmla="*/ 1071 h 1322"/>
                <a:gd name="T22" fmla="*/ 746 w 2312"/>
                <a:gd name="T23" fmla="*/ 876 h 1322"/>
                <a:gd name="T24" fmla="*/ 710 w 2312"/>
                <a:gd name="T25" fmla="*/ 854 h 1322"/>
                <a:gd name="T26" fmla="*/ 673 w 2312"/>
                <a:gd name="T27" fmla="*/ 875 h 1322"/>
                <a:gd name="T28" fmla="*/ 621 w 2312"/>
                <a:gd name="T29" fmla="*/ 968 h 1322"/>
                <a:gd name="T30" fmla="*/ 533 w 2312"/>
                <a:gd name="T31" fmla="*/ 1019 h 1322"/>
                <a:gd name="T32" fmla="*/ 205 w 2312"/>
                <a:gd name="T33" fmla="*/ 1019 h 1322"/>
                <a:gd name="T34" fmla="*/ 225 w 2312"/>
                <a:gd name="T35" fmla="*/ 225 h 1322"/>
                <a:gd name="T36" fmla="*/ 1040 w 2312"/>
                <a:gd name="T37" fmla="*/ 225 h 1322"/>
                <a:gd name="T38" fmla="*/ 1098 w 2312"/>
                <a:gd name="T39" fmla="*/ 283 h 1322"/>
                <a:gd name="T40" fmla="*/ 1214 w 2312"/>
                <a:gd name="T41" fmla="*/ 283 h 1322"/>
                <a:gd name="T42" fmla="*/ 1272 w 2312"/>
                <a:gd name="T43" fmla="*/ 225 h 1322"/>
                <a:gd name="T44" fmla="*/ 2088 w 2312"/>
                <a:gd name="T45" fmla="*/ 225 h 1322"/>
                <a:gd name="T46" fmla="*/ 2107 w 2312"/>
                <a:gd name="T47" fmla="*/ 1019 h 1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12" h="1322">
                  <a:moveTo>
                    <a:pt x="2107" y="1019"/>
                  </a:moveTo>
                  <a:cubicBezTo>
                    <a:pt x="1648" y="1019"/>
                    <a:pt x="1648" y="1019"/>
                    <a:pt x="1648" y="1019"/>
                  </a:cubicBezTo>
                  <a:cubicBezTo>
                    <a:pt x="1617" y="1019"/>
                    <a:pt x="1576" y="995"/>
                    <a:pt x="1561" y="968"/>
                  </a:cubicBezTo>
                  <a:cubicBezTo>
                    <a:pt x="1508" y="875"/>
                    <a:pt x="1508" y="875"/>
                    <a:pt x="1508" y="875"/>
                  </a:cubicBezTo>
                  <a:cubicBezTo>
                    <a:pt x="1500" y="861"/>
                    <a:pt x="1485" y="853"/>
                    <a:pt x="1469" y="854"/>
                  </a:cubicBezTo>
                  <a:cubicBezTo>
                    <a:pt x="1453" y="856"/>
                    <a:pt x="1439" y="866"/>
                    <a:pt x="1434" y="881"/>
                  </a:cubicBezTo>
                  <a:cubicBezTo>
                    <a:pt x="1266" y="1322"/>
                    <a:pt x="1266" y="1322"/>
                    <a:pt x="1266" y="1322"/>
                  </a:cubicBezTo>
                  <a:cubicBezTo>
                    <a:pt x="1114" y="588"/>
                    <a:pt x="1114" y="588"/>
                    <a:pt x="1114" y="588"/>
                  </a:cubicBezTo>
                  <a:cubicBezTo>
                    <a:pt x="1111" y="570"/>
                    <a:pt x="1096" y="557"/>
                    <a:pt x="1077" y="556"/>
                  </a:cubicBezTo>
                  <a:cubicBezTo>
                    <a:pt x="1059" y="554"/>
                    <a:pt x="1042" y="565"/>
                    <a:pt x="1035" y="582"/>
                  </a:cubicBezTo>
                  <a:cubicBezTo>
                    <a:pt x="849" y="1071"/>
                    <a:pt x="849" y="1071"/>
                    <a:pt x="849" y="1071"/>
                  </a:cubicBezTo>
                  <a:cubicBezTo>
                    <a:pt x="746" y="876"/>
                    <a:pt x="746" y="876"/>
                    <a:pt x="746" y="876"/>
                  </a:cubicBezTo>
                  <a:cubicBezTo>
                    <a:pt x="739" y="863"/>
                    <a:pt x="725" y="854"/>
                    <a:pt x="710" y="854"/>
                  </a:cubicBezTo>
                  <a:cubicBezTo>
                    <a:pt x="695" y="855"/>
                    <a:pt x="681" y="862"/>
                    <a:pt x="673" y="875"/>
                  </a:cubicBezTo>
                  <a:cubicBezTo>
                    <a:pt x="621" y="968"/>
                    <a:pt x="621" y="968"/>
                    <a:pt x="621" y="968"/>
                  </a:cubicBezTo>
                  <a:cubicBezTo>
                    <a:pt x="606" y="995"/>
                    <a:pt x="564" y="1019"/>
                    <a:pt x="533" y="1019"/>
                  </a:cubicBezTo>
                  <a:cubicBezTo>
                    <a:pt x="205" y="1019"/>
                    <a:pt x="205" y="1019"/>
                    <a:pt x="205" y="1019"/>
                  </a:cubicBezTo>
                  <a:cubicBezTo>
                    <a:pt x="0" y="793"/>
                    <a:pt x="6" y="443"/>
                    <a:pt x="225" y="225"/>
                  </a:cubicBezTo>
                  <a:cubicBezTo>
                    <a:pt x="450" y="0"/>
                    <a:pt x="815" y="0"/>
                    <a:pt x="1040" y="225"/>
                  </a:cubicBezTo>
                  <a:cubicBezTo>
                    <a:pt x="1098" y="283"/>
                    <a:pt x="1098" y="283"/>
                    <a:pt x="1098" y="283"/>
                  </a:cubicBezTo>
                  <a:cubicBezTo>
                    <a:pt x="1130" y="315"/>
                    <a:pt x="1182" y="315"/>
                    <a:pt x="1214" y="283"/>
                  </a:cubicBezTo>
                  <a:cubicBezTo>
                    <a:pt x="1246" y="251"/>
                    <a:pt x="1272" y="225"/>
                    <a:pt x="1272" y="225"/>
                  </a:cubicBezTo>
                  <a:cubicBezTo>
                    <a:pt x="1497" y="0"/>
                    <a:pt x="1862" y="0"/>
                    <a:pt x="2088" y="225"/>
                  </a:cubicBezTo>
                  <a:cubicBezTo>
                    <a:pt x="2306" y="443"/>
                    <a:pt x="2312" y="793"/>
                    <a:pt x="2107" y="1019"/>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2" name="Freeform 1774">
              <a:extLst>
                <a:ext uri="{FF2B5EF4-FFF2-40B4-BE49-F238E27FC236}">
                  <a16:creationId xmlns:a16="http://schemas.microsoft.com/office/drawing/2014/main" id="{CF8AB5C9-186C-49B5-9A09-85F611CC9208}"/>
                </a:ext>
              </a:extLst>
            </p:cNvPr>
            <p:cNvSpPr>
              <a:spLocks/>
            </p:cNvSpPr>
            <p:nvPr/>
          </p:nvSpPr>
          <p:spPr bwMode="auto">
            <a:xfrm>
              <a:off x="7239962" y="1641163"/>
              <a:ext cx="395446" cy="273427"/>
            </a:xfrm>
            <a:custGeom>
              <a:avLst/>
              <a:gdLst>
                <a:gd name="T0" fmla="*/ 928 w 1740"/>
                <a:gd name="T1" fmla="*/ 1170 h 1202"/>
                <a:gd name="T2" fmla="*/ 812 w 1740"/>
                <a:gd name="T3" fmla="*/ 1170 h 1202"/>
                <a:gd name="T4" fmla="*/ 0 w 1740"/>
                <a:gd name="T5" fmla="*/ 358 h 1202"/>
                <a:gd name="T6" fmla="*/ 247 w 1740"/>
                <a:gd name="T7" fmla="*/ 358 h 1202"/>
                <a:gd name="T8" fmla="*/ 406 w 1740"/>
                <a:gd name="T9" fmla="*/ 265 h 1202"/>
                <a:gd name="T10" fmla="*/ 422 w 1740"/>
                <a:gd name="T11" fmla="*/ 237 h 1202"/>
                <a:gd name="T12" fmla="*/ 533 w 1740"/>
                <a:gd name="T13" fmla="*/ 446 h 1202"/>
                <a:gd name="T14" fmla="*/ 572 w 1740"/>
                <a:gd name="T15" fmla="*/ 468 h 1202"/>
                <a:gd name="T16" fmla="*/ 608 w 1740"/>
                <a:gd name="T17" fmla="*/ 441 h 1202"/>
                <a:gd name="T18" fmla="*/ 776 w 1740"/>
                <a:gd name="T19" fmla="*/ 0 h 1202"/>
                <a:gd name="T20" fmla="*/ 927 w 1740"/>
                <a:gd name="T21" fmla="*/ 734 h 1202"/>
                <a:gd name="T22" fmla="*/ 964 w 1740"/>
                <a:gd name="T23" fmla="*/ 767 h 1202"/>
                <a:gd name="T24" fmla="*/ 968 w 1740"/>
                <a:gd name="T25" fmla="*/ 767 h 1202"/>
                <a:gd name="T26" fmla="*/ 1006 w 1740"/>
                <a:gd name="T27" fmla="*/ 740 h 1202"/>
                <a:gd name="T28" fmla="*/ 1194 w 1740"/>
                <a:gd name="T29" fmla="*/ 248 h 1202"/>
                <a:gd name="T30" fmla="*/ 1203 w 1740"/>
                <a:gd name="T31" fmla="*/ 265 h 1202"/>
                <a:gd name="T32" fmla="*/ 1362 w 1740"/>
                <a:gd name="T33" fmla="*/ 358 h 1202"/>
                <a:gd name="T34" fmla="*/ 1740 w 1740"/>
                <a:gd name="T35" fmla="*/ 358 h 1202"/>
                <a:gd name="T36" fmla="*/ 928 w 1740"/>
                <a:gd name="T37" fmla="*/ 1170 h 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0" h="1202">
                  <a:moveTo>
                    <a:pt x="928" y="1170"/>
                  </a:moveTo>
                  <a:cubicBezTo>
                    <a:pt x="896" y="1202"/>
                    <a:pt x="844" y="1202"/>
                    <a:pt x="812" y="1170"/>
                  </a:cubicBezTo>
                  <a:cubicBezTo>
                    <a:pt x="0" y="358"/>
                    <a:pt x="0" y="358"/>
                    <a:pt x="0" y="358"/>
                  </a:cubicBezTo>
                  <a:cubicBezTo>
                    <a:pt x="247" y="358"/>
                    <a:pt x="247" y="358"/>
                    <a:pt x="247" y="358"/>
                  </a:cubicBezTo>
                  <a:cubicBezTo>
                    <a:pt x="308" y="358"/>
                    <a:pt x="377" y="318"/>
                    <a:pt x="406" y="265"/>
                  </a:cubicBezTo>
                  <a:cubicBezTo>
                    <a:pt x="422" y="237"/>
                    <a:pt x="422" y="237"/>
                    <a:pt x="422" y="237"/>
                  </a:cubicBezTo>
                  <a:cubicBezTo>
                    <a:pt x="533" y="446"/>
                    <a:pt x="533" y="446"/>
                    <a:pt x="533" y="446"/>
                  </a:cubicBezTo>
                  <a:cubicBezTo>
                    <a:pt x="541" y="460"/>
                    <a:pt x="556" y="469"/>
                    <a:pt x="572" y="468"/>
                  </a:cubicBezTo>
                  <a:cubicBezTo>
                    <a:pt x="588" y="467"/>
                    <a:pt x="602" y="456"/>
                    <a:pt x="608" y="441"/>
                  </a:cubicBezTo>
                  <a:cubicBezTo>
                    <a:pt x="776" y="0"/>
                    <a:pt x="776" y="0"/>
                    <a:pt x="776" y="0"/>
                  </a:cubicBezTo>
                  <a:cubicBezTo>
                    <a:pt x="927" y="734"/>
                    <a:pt x="927" y="734"/>
                    <a:pt x="927" y="734"/>
                  </a:cubicBezTo>
                  <a:cubicBezTo>
                    <a:pt x="931" y="752"/>
                    <a:pt x="946" y="765"/>
                    <a:pt x="964" y="767"/>
                  </a:cubicBezTo>
                  <a:cubicBezTo>
                    <a:pt x="966" y="767"/>
                    <a:pt x="967" y="767"/>
                    <a:pt x="968" y="767"/>
                  </a:cubicBezTo>
                  <a:cubicBezTo>
                    <a:pt x="985" y="767"/>
                    <a:pt x="1000" y="756"/>
                    <a:pt x="1006" y="740"/>
                  </a:cubicBezTo>
                  <a:cubicBezTo>
                    <a:pt x="1194" y="248"/>
                    <a:pt x="1194" y="248"/>
                    <a:pt x="1194" y="248"/>
                  </a:cubicBezTo>
                  <a:cubicBezTo>
                    <a:pt x="1203" y="265"/>
                    <a:pt x="1203" y="265"/>
                    <a:pt x="1203" y="265"/>
                  </a:cubicBezTo>
                  <a:cubicBezTo>
                    <a:pt x="1233" y="318"/>
                    <a:pt x="1301" y="358"/>
                    <a:pt x="1362" y="358"/>
                  </a:cubicBezTo>
                  <a:cubicBezTo>
                    <a:pt x="1740" y="358"/>
                    <a:pt x="1740" y="358"/>
                    <a:pt x="1740" y="358"/>
                  </a:cubicBezTo>
                  <a:lnTo>
                    <a:pt x="928" y="117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3" name="Freeform 1775">
              <a:extLst>
                <a:ext uri="{FF2B5EF4-FFF2-40B4-BE49-F238E27FC236}">
                  <a16:creationId xmlns:a16="http://schemas.microsoft.com/office/drawing/2014/main" id="{D6CAF2ED-D148-4DCD-8CB6-94519250CAAD}"/>
                </a:ext>
              </a:extLst>
            </p:cNvPr>
            <p:cNvSpPr>
              <a:spLocks/>
            </p:cNvSpPr>
            <p:nvPr/>
          </p:nvSpPr>
          <p:spPr bwMode="auto">
            <a:xfrm>
              <a:off x="7174885" y="1471911"/>
              <a:ext cx="525600" cy="300717"/>
            </a:xfrm>
            <a:custGeom>
              <a:avLst/>
              <a:gdLst>
                <a:gd name="T0" fmla="*/ 2107 w 2312"/>
                <a:gd name="T1" fmla="*/ 1019 h 1322"/>
                <a:gd name="T2" fmla="*/ 1648 w 2312"/>
                <a:gd name="T3" fmla="*/ 1019 h 1322"/>
                <a:gd name="T4" fmla="*/ 1561 w 2312"/>
                <a:gd name="T5" fmla="*/ 968 h 1322"/>
                <a:gd name="T6" fmla="*/ 1508 w 2312"/>
                <a:gd name="T7" fmla="*/ 875 h 1322"/>
                <a:gd name="T8" fmla="*/ 1469 w 2312"/>
                <a:gd name="T9" fmla="*/ 854 h 1322"/>
                <a:gd name="T10" fmla="*/ 1434 w 2312"/>
                <a:gd name="T11" fmla="*/ 881 h 1322"/>
                <a:gd name="T12" fmla="*/ 1266 w 2312"/>
                <a:gd name="T13" fmla="*/ 1322 h 1322"/>
                <a:gd name="T14" fmla="*/ 1114 w 2312"/>
                <a:gd name="T15" fmla="*/ 588 h 1322"/>
                <a:gd name="T16" fmla="*/ 1077 w 2312"/>
                <a:gd name="T17" fmla="*/ 556 h 1322"/>
                <a:gd name="T18" fmla="*/ 1035 w 2312"/>
                <a:gd name="T19" fmla="*/ 582 h 1322"/>
                <a:gd name="T20" fmla="*/ 849 w 2312"/>
                <a:gd name="T21" fmla="*/ 1071 h 1322"/>
                <a:gd name="T22" fmla="*/ 746 w 2312"/>
                <a:gd name="T23" fmla="*/ 876 h 1322"/>
                <a:gd name="T24" fmla="*/ 710 w 2312"/>
                <a:gd name="T25" fmla="*/ 854 h 1322"/>
                <a:gd name="T26" fmla="*/ 673 w 2312"/>
                <a:gd name="T27" fmla="*/ 875 h 1322"/>
                <a:gd name="T28" fmla="*/ 621 w 2312"/>
                <a:gd name="T29" fmla="*/ 968 h 1322"/>
                <a:gd name="T30" fmla="*/ 533 w 2312"/>
                <a:gd name="T31" fmla="*/ 1019 h 1322"/>
                <a:gd name="T32" fmla="*/ 205 w 2312"/>
                <a:gd name="T33" fmla="*/ 1019 h 1322"/>
                <a:gd name="T34" fmla="*/ 225 w 2312"/>
                <a:gd name="T35" fmla="*/ 225 h 1322"/>
                <a:gd name="T36" fmla="*/ 1040 w 2312"/>
                <a:gd name="T37" fmla="*/ 225 h 1322"/>
                <a:gd name="T38" fmla="*/ 1098 w 2312"/>
                <a:gd name="T39" fmla="*/ 283 h 1322"/>
                <a:gd name="T40" fmla="*/ 1214 w 2312"/>
                <a:gd name="T41" fmla="*/ 283 h 1322"/>
                <a:gd name="T42" fmla="*/ 1272 w 2312"/>
                <a:gd name="T43" fmla="*/ 225 h 1322"/>
                <a:gd name="T44" fmla="*/ 2088 w 2312"/>
                <a:gd name="T45" fmla="*/ 225 h 1322"/>
                <a:gd name="T46" fmla="*/ 2107 w 2312"/>
                <a:gd name="T47" fmla="*/ 1019 h 1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12" h="1322">
                  <a:moveTo>
                    <a:pt x="2107" y="1019"/>
                  </a:moveTo>
                  <a:cubicBezTo>
                    <a:pt x="1648" y="1019"/>
                    <a:pt x="1648" y="1019"/>
                    <a:pt x="1648" y="1019"/>
                  </a:cubicBezTo>
                  <a:cubicBezTo>
                    <a:pt x="1617" y="1019"/>
                    <a:pt x="1576" y="995"/>
                    <a:pt x="1561" y="968"/>
                  </a:cubicBezTo>
                  <a:cubicBezTo>
                    <a:pt x="1508" y="875"/>
                    <a:pt x="1508" y="875"/>
                    <a:pt x="1508" y="875"/>
                  </a:cubicBezTo>
                  <a:cubicBezTo>
                    <a:pt x="1500" y="861"/>
                    <a:pt x="1485" y="853"/>
                    <a:pt x="1469" y="854"/>
                  </a:cubicBezTo>
                  <a:cubicBezTo>
                    <a:pt x="1453" y="856"/>
                    <a:pt x="1439" y="866"/>
                    <a:pt x="1434" y="881"/>
                  </a:cubicBezTo>
                  <a:cubicBezTo>
                    <a:pt x="1266" y="1322"/>
                    <a:pt x="1266" y="1322"/>
                    <a:pt x="1266" y="1322"/>
                  </a:cubicBezTo>
                  <a:cubicBezTo>
                    <a:pt x="1114" y="588"/>
                    <a:pt x="1114" y="588"/>
                    <a:pt x="1114" y="588"/>
                  </a:cubicBezTo>
                  <a:cubicBezTo>
                    <a:pt x="1111" y="570"/>
                    <a:pt x="1096" y="557"/>
                    <a:pt x="1077" y="556"/>
                  </a:cubicBezTo>
                  <a:cubicBezTo>
                    <a:pt x="1059" y="554"/>
                    <a:pt x="1042" y="565"/>
                    <a:pt x="1035" y="582"/>
                  </a:cubicBezTo>
                  <a:cubicBezTo>
                    <a:pt x="849" y="1071"/>
                    <a:pt x="849" y="1071"/>
                    <a:pt x="849" y="1071"/>
                  </a:cubicBezTo>
                  <a:cubicBezTo>
                    <a:pt x="746" y="876"/>
                    <a:pt x="746" y="876"/>
                    <a:pt x="746" y="876"/>
                  </a:cubicBezTo>
                  <a:cubicBezTo>
                    <a:pt x="739" y="863"/>
                    <a:pt x="725" y="854"/>
                    <a:pt x="710" y="854"/>
                  </a:cubicBezTo>
                  <a:cubicBezTo>
                    <a:pt x="695" y="855"/>
                    <a:pt x="681" y="862"/>
                    <a:pt x="673" y="875"/>
                  </a:cubicBezTo>
                  <a:cubicBezTo>
                    <a:pt x="621" y="968"/>
                    <a:pt x="621" y="968"/>
                    <a:pt x="621" y="968"/>
                  </a:cubicBezTo>
                  <a:cubicBezTo>
                    <a:pt x="606" y="995"/>
                    <a:pt x="564" y="1019"/>
                    <a:pt x="533" y="1019"/>
                  </a:cubicBezTo>
                  <a:cubicBezTo>
                    <a:pt x="205" y="1019"/>
                    <a:pt x="205" y="1019"/>
                    <a:pt x="205" y="1019"/>
                  </a:cubicBezTo>
                  <a:cubicBezTo>
                    <a:pt x="0" y="793"/>
                    <a:pt x="6" y="443"/>
                    <a:pt x="225" y="225"/>
                  </a:cubicBezTo>
                  <a:cubicBezTo>
                    <a:pt x="450" y="0"/>
                    <a:pt x="815" y="0"/>
                    <a:pt x="1040" y="225"/>
                  </a:cubicBezTo>
                  <a:cubicBezTo>
                    <a:pt x="1098" y="283"/>
                    <a:pt x="1098" y="283"/>
                    <a:pt x="1098" y="283"/>
                  </a:cubicBezTo>
                  <a:cubicBezTo>
                    <a:pt x="1130" y="315"/>
                    <a:pt x="1182" y="315"/>
                    <a:pt x="1214" y="283"/>
                  </a:cubicBezTo>
                  <a:cubicBezTo>
                    <a:pt x="1246" y="251"/>
                    <a:pt x="1272" y="225"/>
                    <a:pt x="1272" y="225"/>
                  </a:cubicBezTo>
                  <a:cubicBezTo>
                    <a:pt x="1497" y="0"/>
                    <a:pt x="1862" y="0"/>
                    <a:pt x="2088" y="225"/>
                  </a:cubicBezTo>
                  <a:cubicBezTo>
                    <a:pt x="2306" y="443"/>
                    <a:pt x="2312" y="793"/>
                    <a:pt x="2107" y="1019"/>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4" name="Freeform 1774">
              <a:extLst>
                <a:ext uri="{FF2B5EF4-FFF2-40B4-BE49-F238E27FC236}">
                  <a16:creationId xmlns:a16="http://schemas.microsoft.com/office/drawing/2014/main" id="{2A17CED4-E858-4BB3-AB59-54AC7CE8E723}"/>
                </a:ext>
              </a:extLst>
            </p:cNvPr>
            <p:cNvSpPr>
              <a:spLocks/>
            </p:cNvSpPr>
            <p:nvPr/>
          </p:nvSpPr>
          <p:spPr bwMode="auto">
            <a:xfrm>
              <a:off x="7811316" y="1629243"/>
              <a:ext cx="395446" cy="273427"/>
            </a:xfrm>
            <a:custGeom>
              <a:avLst/>
              <a:gdLst>
                <a:gd name="T0" fmla="*/ 928 w 1740"/>
                <a:gd name="T1" fmla="*/ 1170 h 1202"/>
                <a:gd name="T2" fmla="*/ 812 w 1740"/>
                <a:gd name="T3" fmla="*/ 1170 h 1202"/>
                <a:gd name="T4" fmla="*/ 0 w 1740"/>
                <a:gd name="T5" fmla="*/ 358 h 1202"/>
                <a:gd name="T6" fmla="*/ 247 w 1740"/>
                <a:gd name="T7" fmla="*/ 358 h 1202"/>
                <a:gd name="T8" fmla="*/ 406 w 1740"/>
                <a:gd name="T9" fmla="*/ 265 h 1202"/>
                <a:gd name="T10" fmla="*/ 422 w 1740"/>
                <a:gd name="T11" fmla="*/ 237 h 1202"/>
                <a:gd name="T12" fmla="*/ 533 w 1740"/>
                <a:gd name="T13" fmla="*/ 446 h 1202"/>
                <a:gd name="T14" fmla="*/ 572 w 1740"/>
                <a:gd name="T15" fmla="*/ 468 h 1202"/>
                <a:gd name="T16" fmla="*/ 608 w 1740"/>
                <a:gd name="T17" fmla="*/ 441 h 1202"/>
                <a:gd name="T18" fmla="*/ 776 w 1740"/>
                <a:gd name="T19" fmla="*/ 0 h 1202"/>
                <a:gd name="T20" fmla="*/ 927 w 1740"/>
                <a:gd name="T21" fmla="*/ 734 h 1202"/>
                <a:gd name="T22" fmla="*/ 964 w 1740"/>
                <a:gd name="T23" fmla="*/ 767 h 1202"/>
                <a:gd name="T24" fmla="*/ 968 w 1740"/>
                <a:gd name="T25" fmla="*/ 767 h 1202"/>
                <a:gd name="T26" fmla="*/ 1006 w 1740"/>
                <a:gd name="T27" fmla="*/ 740 h 1202"/>
                <a:gd name="T28" fmla="*/ 1194 w 1740"/>
                <a:gd name="T29" fmla="*/ 248 h 1202"/>
                <a:gd name="T30" fmla="*/ 1203 w 1740"/>
                <a:gd name="T31" fmla="*/ 265 h 1202"/>
                <a:gd name="T32" fmla="*/ 1362 w 1740"/>
                <a:gd name="T33" fmla="*/ 358 h 1202"/>
                <a:gd name="T34" fmla="*/ 1740 w 1740"/>
                <a:gd name="T35" fmla="*/ 358 h 1202"/>
                <a:gd name="T36" fmla="*/ 928 w 1740"/>
                <a:gd name="T37" fmla="*/ 1170 h 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0" h="1202">
                  <a:moveTo>
                    <a:pt x="928" y="1170"/>
                  </a:moveTo>
                  <a:cubicBezTo>
                    <a:pt x="896" y="1202"/>
                    <a:pt x="844" y="1202"/>
                    <a:pt x="812" y="1170"/>
                  </a:cubicBezTo>
                  <a:cubicBezTo>
                    <a:pt x="0" y="358"/>
                    <a:pt x="0" y="358"/>
                    <a:pt x="0" y="358"/>
                  </a:cubicBezTo>
                  <a:cubicBezTo>
                    <a:pt x="247" y="358"/>
                    <a:pt x="247" y="358"/>
                    <a:pt x="247" y="358"/>
                  </a:cubicBezTo>
                  <a:cubicBezTo>
                    <a:pt x="308" y="358"/>
                    <a:pt x="377" y="318"/>
                    <a:pt x="406" y="265"/>
                  </a:cubicBezTo>
                  <a:cubicBezTo>
                    <a:pt x="422" y="237"/>
                    <a:pt x="422" y="237"/>
                    <a:pt x="422" y="237"/>
                  </a:cubicBezTo>
                  <a:cubicBezTo>
                    <a:pt x="533" y="446"/>
                    <a:pt x="533" y="446"/>
                    <a:pt x="533" y="446"/>
                  </a:cubicBezTo>
                  <a:cubicBezTo>
                    <a:pt x="541" y="460"/>
                    <a:pt x="556" y="469"/>
                    <a:pt x="572" y="468"/>
                  </a:cubicBezTo>
                  <a:cubicBezTo>
                    <a:pt x="588" y="467"/>
                    <a:pt x="602" y="456"/>
                    <a:pt x="608" y="441"/>
                  </a:cubicBezTo>
                  <a:cubicBezTo>
                    <a:pt x="776" y="0"/>
                    <a:pt x="776" y="0"/>
                    <a:pt x="776" y="0"/>
                  </a:cubicBezTo>
                  <a:cubicBezTo>
                    <a:pt x="927" y="734"/>
                    <a:pt x="927" y="734"/>
                    <a:pt x="927" y="734"/>
                  </a:cubicBezTo>
                  <a:cubicBezTo>
                    <a:pt x="931" y="752"/>
                    <a:pt x="946" y="765"/>
                    <a:pt x="964" y="767"/>
                  </a:cubicBezTo>
                  <a:cubicBezTo>
                    <a:pt x="966" y="767"/>
                    <a:pt x="967" y="767"/>
                    <a:pt x="968" y="767"/>
                  </a:cubicBezTo>
                  <a:cubicBezTo>
                    <a:pt x="985" y="767"/>
                    <a:pt x="1000" y="756"/>
                    <a:pt x="1006" y="740"/>
                  </a:cubicBezTo>
                  <a:cubicBezTo>
                    <a:pt x="1194" y="248"/>
                    <a:pt x="1194" y="248"/>
                    <a:pt x="1194" y="248"/>
                  </a:cubicBezTo>
                  <a:cubicBezTo>
                    <a:pt x="1203" y="265"/>
                    <a:pt x="1203" y="265"/>
                    <a:pt x="1203" y="265"/>
                  </a:cubicBezTo>
                  <a:cubicBezTo>
                    <a:pt x="1233" y="318"/>
                    <a:pt x="1301" y="358"/>
                    <a:pt x="1362" y="358"/>
                  </a:cubicBezTo>
                  <a:cubicBezTo>
                    <a:pt x="1740" y="358"/>
                    <a:pt x="1740" y="358"/>
                    <a:pt x="1740" y="358"/>
                  </a:cubicBezTo>
                  <a:lnTo>
                    <a:pt x="928" y="117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5" name="Freeform 1775">
              <a:extLst>
                <a:ext uri="{FF2B5EF4-FFF2-40B4-BE49-F238E27FC236}">
                  <a16:creationId xmlns:a16="http://schemas.microsoft.com/office/drawing/2014/main" id="{6D2E19B2-25E9-4847-B8AE-FE12DF41C804}"/>
                </a:ext>
              </a:extLst>
            </p:cNvPr>
            <p:cNvSpPr>
              <a:spLocks/>
            </p:cNvSpPr>
            <p:nvPr/>
          </p:nvSpPr>
          <p:spPr bwMode="auto">
            <a:xfrm>
              <a:off x="7746239" y="1459991"/>
              <a:ext cx="525600" cy="300717"/>
            </a:xfrm>
            <a:custGeom>
              <a:avLst/>
              <a:gdLst>
                <a:gd name="T0" fmla="*/ 2107 w 2312"/>
                <a:gd name="T1" fmla="*/ 1019 h 1322"/>
                <a:gd name="T2" fmla="*/ 1648 w 2312"/>
                <a:gd name="T3" fmla="*/ 1019 h 1322"/>
                <a:gd name="T4" fmla="*/ 1561 w 2312"/>
                <a:gd name="T5" fmla="*/ 968 h 1322"/>
                <a:gd name="T6" fmla="*/ 1508 w 2312"/>
                <a:gd name="T7" fmla="*/ 875 h 1322"/>
                <a:gd name="T8" fmla="*/ 1469 w 2312"/>
                <a:gd name="T9" fmla="*/ 854 h 1322"/>
                <a:gd name="T10" fmla="*/ 1434 w 2312"/>
                <a:gd name="T11" fmla="*/ 881 h 1322"/>
                <a:gd name="T12" fmla="*/ 1266 w 2312"/>
                <a:gd name="T13" fmla="*/ 1322 h 1322"/>
                <a:gd name="T14" fmla="*/ 1114 w 2312"/>
                <a:gd name="T15" fmla="*/ 588 h 1322"/>
                <a:gd name="T16" fmla="*/ 1077 w 2312"/>
                <a:gd name="T17" fmla="*/ 556 h 1322"/>
                <a:gd name="T18" fmla="*/ 1035 w 2312"/>
                <a:gd name="T19" fmla="*/ 582 h 1322"/>
                <a:gd name="T20" fmla="*/ 849 w 2312"/>
                <a:gd name="T21" fmla="*/ 1071 h 1322"/>
                <a:gd name="T22" fmla="*/ 746 w 2312"/>
                <a:gd name="T23" fmla="*/ 876 h 1322"/>
                <a:gd name="T24" fmla="*/ 710 w 2312"/>
                <a:gd name="T25" fmla="*/ 854 h 1322"/>
                <a:gd name="T26" fmla="*/ 673 w 2312"/>
                <a:gd name="T27" fmla="*/ 875 h 1322"/>
                <a:gd name="T28" fmla="*/ 621 w 2312"/>
                <a:gd name="T29" fmla="*/ 968 h 1322"/>
                <a:gd name="T30" fmla="*/ 533 w 2312"/>
                <a:gd name="T31" fmla="*/ 1019 h 1322"/>
                <a:gd name="T32" fmla="*/ 205 w 2312"/>
                <a:gd name="T33" fmla="*/ 1019 h 1322"/>
                <a:gd name="T34" fmla="*/ 225 w 2312"/>
                <a:gd name="T35" fmla="*/ 225 h 1322"/>
                <a:gd name="T36" fmla="*/ 1040 w 2312"/>
                <a:gd name="T37" fmla="*/ 225 h 1322"/>
                <a:gd name="T38" fmla="*/ 1098 w 2312"/>
                <a:gd name="T39" fmla="*/ 283 h 1322"/>
                <a:gd name="T40" fmla="*/ 1214 w 2312"/>
                <a:gd name="T41" fmla="*/ 283 h 1322"/>
                <a:gd name="T42" fmla="*/ 1272 w 2312"/>
                <a:gd name="T43" fmla="*/ 225 h 1322"/>
                <a:gd name="T44" fmla="*/ 2088 w 2312"/>
                <a:gd name="T45" fmla="*/ 225 h 1322"/>
                <a:gd name="T46" fmla="*/ 2107 w 2312"/>
                <a:gd name="T47" fmla="*/ 1019 h 1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12" h="1322">
                  <a:moveTo>
                    <a:pt x="2107" y="1019"/>
                  </a:moveTo>
                  <a:cubicBezTo>
                    <a:pt x="1648" y="1019"/>
                    <a:pt x="1648" y="1019"/>
                    <a:pt x="1648" y="1019"/>
                  </a:cubicBezTo>
                  <a:cubicBezTo>
                    <a:pt x="1617" y="1019"/>
                    <a:pt x="1576" y="995"/>
                    <a:pt x="1561" y="968"/>
                  </a:cubicBezTo>
                  <a:cubicBezTo>
                    <a:pt x="1508" y="875"/>
                    <a:pt x="1508" y="875"/>
                    <a:pt x="1508" y="875"/>
                  </a:cubicBezTo>
                  <a:cubicBezTo>
                    <a:pt x="1500" y="861"/>
                    <a:pt x="1485" y="853"/>
                    <a:pt x="1469" y="854"/>
                  </a:cubicBezTo>
                  <a:cubicBezTo>
                    <a:pt x="1453" y="856"/>
                    <a:pt x="1439" y="866"/>
                    <a:pt x="1434" y="881"/>
                  </a:cubicBezTo>
                  <a:cubicBezTo>
                    <a:pt x="1266" y="1322"/>
                    <a:pt x="1266" y="1322"/>
                    <a:pt x="1266" y="1322"/>
                  </a:cubicBezTo>
                  <a:cubicBezTo>
                    <a:pt x="1114" y="588"/>
                    <a:pt x="1114" y="588"/>
                    <a:pt x="1114" y="588"/>
                  </a:cubicBezTo>
                  <a:cubicBezTo>
                    <a:pt x="1111" y="570"/>
                    <a:pt x="1096" y="557"/>
                    <a:pt x="1077" y="556"/>
                  </a:cubicBezTo>
                  <a:cubicBezTo>
                    <a:pt x="1059" y="554"/>
                    <a:pt x="1042" y="565"/>
                    <a:pt x="1035" y="582"/>
                  </a:cubicBezTo>
                  <a:cubicBezTo>
                    <a:pt x="849" y="1071"/>
                    <a:pt x="849" y="1071"/>
                    <a:pt x="849" y="1071"/>
                  </a:cubicBezTo>
                  <a:cubicBezTo>
                    <a:pt x="746" y="876"/>
                    <a:pt x="746" y="876"/>
                    <a:pt x="746" y="876"/>
                  </a:cubicBezTo>
                  <a:cubicBezTo>
                    <a:pt x="739" y="863"/>
                    <a:pt x="725" y="854"/>
                    <a:pt x="710" y="854"/>
                  </a:cubicBezTo>
                  <a:cubicBezTo>
                    <a:pt x="695" y="855"/>
                    <a:pt x="681" y="862"/>
                    <a:pt x="673" y="875"/>
                  </a:cubicBezTo>
                  <a:cubicBezTo>
                    <a:pt x="621" y="968"/>
                    <a:pt x="621" y="968"/>
                    <a:pt x="621" y="968"/>
                  </a:cubicBezTo>
                  <a:cubicBezTo>
                    <a:pt x="606" y="995"/>
                    <a:pt x="564" y="1019"/>
                    <a:pt x="533" y="1019"/>
                  </a:cubicBezTo>
                  <a:cubicBezTo>
                    <a:pt x="205" y="1019"/>
                    <a:pt x="205" y="1019"/>
                    <a:pt x="205" y="1019"/>
                  </a:cubicBezTo>
                  <a:cubicBezTo>
                    <a:pt x="0" y="793"/>
                    <a:pt x="6" y="443"/>
                    <a:pt x="225" y="225"/>
                  </a:cubicBezTo>
                  <a:cubicBezTo>
                    <a:pt x="450" y="0"/>
                    <a:pt x="815" y="0"/>
                    <a:pt x="1040" y="225"/>
                  </a:cubicBezTo>
                  <a:cubicBezTo>
                    <a:pt x="1098" y="283"/>
                    <a:pt x="1098" y="283"/>
                    <a:pt x="1098" y="283"/>
                  </a:cubicBezTo>
                  <a:cubicBezTo>
                    <a:pt x="1130" y="315"/>
                    <a:pt x="1182" y="315"/>
                    <a:pt x="1214" y="283"/>
                  </a:cubicBezTo>
                  <a:cubicBezTo>
                    <a:pt x="1246" y="251"/>
                    <a:pt x="1272" y="225"/>
                    <a:pt x="1272" y="225"/>
                  </a:cubicBezTo>
                  <a:cubicBezTo>
                    <a:pt x="1497" y="0"/>
                    <a:pt x="1862" y="0"/>
                    <a:pt x="2088" y="225"/>
                  </a:cubicBezTo>
                  <a:cubicBezTo>
                    <a:pt x="2306" y="443"/>
                    <a:pt x="2312" y="793"/>
                    <a:pt x="2107" y="1019"/>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 name="Group 1">
            <a:extLst>
              <a:ext uri="{FF2B5EF4-FFF2-40B4-BE49-F238E27FC236}">
                <a16:creationId xmlns:a16="http://schemas.microsoft.com/office/drawing/2014/main" id="{2E9C579D-88EB-414B-910C-BB80E441EFC8}"/>
              </a:ext>
            </a:extLst>
          </p:cNvPr>
          <p:cNvGrpSpPr/>
          <p:nvPr/>
        </p:nvGrpSpPr>
        <p:grpSpPr>
          <a:xfrm>
            <a:off x="4737342" y="3136959"/>
            <a:ext cx="1704512" cy="1211329"/>
            <a:chOff x="4610122" y="3273270"/>
            <a:chExt cx="1704512" cy="1211329"/>
          </a:xfrm>
        </p:grpSpPr>
        <p:grpSp>
          <p:nvGrpSpPr>
            <p:cNvPr id="152" name="Group 1330">
              <a:extLst>
                <a:ext uri="{FF2B5EF4-FFF2-40B4-BE49-F238E27FC236}">
                  <a16:creationId xmlns:a16="http://schemas.microsoft.com/office/drawing/2014/main" id="{F9838BE2-A107-4B31-B048-1AB751279262}"/>
                </a:ext>
              </a:extLst>
            </p:cNvPr>
            <p:cNvGrpSpPr>
              <a:grpSpLocks noChangeAspect="1"/>
            </p:cNvGrpSpPr>
            <p:nvPr/>
          </p:nvGrpSpPr>
          <p:grpSpPr bwMode="auto">
            <a:xfrm>
              <a:off x="5430417" y="3273270"/>
              <a:ext cx="525179" cy="525600"/>
              <a:chOff x="3283" y="2448"/>
              <a:chExt cx="1248" cy="1249"/>
            </a:xfrm>
            <a:solidFill>
              <a:schemeClr val="bg2"/>
            </a:solidFill>
          </p:grpSpPr>
          <p:sp>
            <p:nvSpPr>
              <p:cNvPr id="153" name="Freeform 1331">
                <a:extLst>
                  <a:ext uri="{FF2B5EF4-FFF2-40B4-BE49-F238E27FC236}">
                    <a16:creationId xmlns:a16="http://schemas.microsoft.com/office/drawing/2014/main" id="{CBAECE98-D221-43AE-8505-09DF91775593}"/>
                  </a:ext>
                </a:extLst>
              </p:cNvPr>
              <p:cNvSpPr>
                <a:spLocks noEditPoints="1"/>
              </p:cNvSpPr>
              <p:nvPr/>
            </p:nvSpPr>
            <p:spPr bwMode="auto">
              <a:xfrm>
                <a:off x="3283" y="2448"/>
                <a:ext cx="1248" cy="1249"/>
              </a:xfrm>
              <a:custGeom>
                <a:avLst/>
                <a:gdLst>
                  <a:gd name="T0" fmla="*/ 1100 w 2200"/>
                  <a:gd name="T1" fmla="*/ 0 h 2200"/>
                  <a:gd name="T2" fmla="*/ 0 w 2200"/>
                  <a:gd name="T3" fmla="*/ 1100 h 2200"/>
                  <a:gd name="T4" fmla="*/ 1100 w 2200"/>
                  <a:gd name="T5" fmla="*/ 2200 h 2200"/>
                  <a:gd name="T6" fmla="*/ 2200 w 2200"/>
                  <a:gd name="T7" fmla="*/ 1100 h 2200"/>
                  <a:gd name="T8" fmla="*/ 1100 w 2200"/>
                  <a:gd name="T9" fmla="*/ 0 h 2200"/>
                  <a:gd name="T10" fmla="*/ 709 w 2200"/>
                  <a:gd name="T11" fmla="*/ 1651 h 2200"/>
                  <a:gd name="T12" fmla="*/ 706 w 2200"/>
                  <a:gd name="T13" fmla="*/ 1653 h 2200"/>
                  <a:gd name="T14" fmla="*/ 410 w 2200"/>
                  <a:gd name="T15" fmla="*/ 1301 h 2200"/>
                  <a:gd name="T16" fmla="*/ 413 w 2200"/>
                  <a:gd name="T17" fmla="*/ 1299 h 2200"/>
                  <a:gd name="T18" fmla="*/ 706 w 2200"/>
                  <a:gd name="T19" fmla="*/ 1299 h 2200"/>
                  <a:gd name="T20" fmla="*/ 709 w 2200"/>
                  <a:gd name="T21" fmla="*/ 1301 h 2200"/>
                  <a:gd name="T22" fmla="*/ 709 w 2200"/>
                  <a:gd name="T23" fmla="*/ 1651 h 2200"/>
                  <a:gd name="T24" fmla="*/ 709 w 2200"/>
                  <a:gd name="T25" fmla="*/ 1037 h 2200"/>
                  <a:gd name="T26" fmla="*/ 706 w 2200"/>
                  <a:gd name="T27" fmla="*/ 1039 h 2200"/>
                  <a:gd name="T28" fmla="*/ 410 w 2200"/>
                  <a:gd name="T29" fmla="*/ 687 h 2200"/>
                  <a:gd name="T30" fmla="*/ 413 w 2200"/>
                  <a:gd name="T31" fmla="*/ 685 h 2200"/>
                  <a:gd name="T32" fmla="*/ 706 w 2200"/>
                  <a:gd name="T33" fmla="*/ 685 h 2200"/>
                  <a:gd name="T34" fmla="*/ 709 w 2200"/>
                  <a:gd name="T35" fmla="*/ 687 h 2200"/>
                  <a:gd name="T36" fmla="*/ 709 w 2200"/>
                  <a:gd name="T37" fmla="*/ 1037 h 2200"/>
                  <a:gd name="T38" fmla="*/ 1415 w 2200"/>
                  <a:gd name="T39" fmla="*/ 1761 h 2200"/>
                  <a:gd name="T40" fmla="*/ 1370 w 2200"/>
                  <a:gd name="T41" fmla="*/ 1819 h 2200"/>
                  <a:gd name="T42" fmla="*/ 841 w 2200"/>
                  <a:gd name="T43" fmla="*/ 1819 h 2200"/>
                  <a:gd name="T44" fmla="*/ 795 w 2200"/>
                  <a:gd name="T45" fmla="*/ 1761 h 2200"/>
                  <a:gd name="T46" fmla="*/ 795 w 2200"/>
                  <a:gd name="T47" fmla="*/ 530 h 2200"/>
                  <a:gd name="T48" fmla="*/ 841 w 2200"/>
                  <a:gd name="T49" fmla="*/ 472 h 2200"/>
                  <a:gd name="T50" fmla="*/ 1370 w 2200"/>
                  <a:gd name="T51" fmla="*/ 472 h 2200"/>
                  <a:gd name="T52" fmla="*/ 1415 w 2200"/>
                  <a:gd name="T53" fmla="*/ 530 h 2200"/>
                  <a:gd name="T54" fmla="*/ 1415 w 2200"/>
                  <a:gd name="T55" fmla="*/ 1761 h 2200"/>
                  <a:gd name="T56" fmla="*/ 1491 w 2200"/>
                  <a:gd name="T57" fmla="*/ 1653 h 2200"/>
                  <a:gd name="T58" fmla="*/ 1487 w 2200"/>
                  <a:gd name="T59" fmla="*/ 1651 h 2200"/>
                  <a:gd name="T60" fmla="*/ 1487 w 2200"/>
                  <a:gd name="T61" fmla="*/ 1301 h 2200"/>
                  <a:gd name="T62" fmla="*/ 1491 w 2200"/>
                  <a:gd name="T63" fmla="*/ 1299 h 2200"/>
                  <a:gd name="T64" fmla="*/ 1784 w 2200"/>
                  <a:gd name="T65" fmla="*/ 1299 h 2200"/>
                  <a:gd name="T66" fmla="*/ 1787 w 2200"/>
                  <a:gd name="T67" fmla="*/ 1301 h 2200"/>
                  <a:gd name="T68" fmla="*/ 1491 w 2200"/>
                  <a:gd name="T69" fmla="*/ 1653 h 2200"/>
                  <a:gd name="T70" fmla="*/ 1491 w 2200"/>
                  <a:gd name="T71" fmla="*/ 1039 h 2200"/>
                  <a:gd name="T72" fmla="*/ 1487 w 2200"/>
                  <a:gd name="T73" fmla="*/ 1037 h 2200"/>
                  <a:gd name="T74" fmla="*/ 1487 w 2200"/>
                  <a:gd name="T75" fmla="*/ 687 h 2200"/>
                  <a:gd name="T76" fmla="*/ 1491 w 2200"/>
                  <a:gd name="T77" fmla="*/ 685 h 2200"/>
                  <a:gd name="T78" fmla="*/ 1784 w 2200"/>
                  <a:gd name="T79" fmla="*/ 685 h 2200"/>
                  <a:gd name="T80" fmla="*/ 1787 w 2200"/>
                  <a:gd name="T81" fmla="*/ 687 h 2200"/>
                  <a:gd name="T82" fmla="*/ 1491 w 2200"/>
                  <a:gd name="T83" fmla="*/ 1039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00" h="2200">
                    <a:moveTo>
                      <a:pt x="1100" y="0"/>
                    </a:moveTo>
                    <a:cubicBezTo>
                      <a:pt x="492" y="0"/>
                      <a:pt x="0" y="492"/>
                      <a:pt x="0" y="1100"/>
                    </a:cubicBezTo>
                    <a:cubicBezTo>
                      <a:pt x="0" y="1707"/>
                      <a:pt x="492" y="2200"/>
                      <a:pt x="1100" y="2200"/>
                    </a:cubicBezTo>
                    <a:cubicBezTo>
                      <a:pt x="1707" y="2200"/>
                      <a:pt x="2200" y="1707"/>
                      <a:pt x="2200" y="1100"/>
                    </a:cubicBezTo>
                    <a:cubicBezTo>
                      <a:pt x="2200" y="492"/>
                      <a:pt x="1707" y="0"/>
                      <a:pt x="1100" y="0"/>
                    </a:cubicBezTo>
                    <a:close/>
                    <a:moveTo>
                      <a:pt x="709" y="1651"/>
                    </a:moveTo>
                    <a:cubicBezTo>
                      <a:pt x="709" y="1652"/>
                      <a:pt x="708" y="1653"/>
                      <a:pt x="706" y="1653"/>
                    </a:cubicBezTo>
                    <a:cubicBezTo>
                      <a:pt x="410" y="1301"/>
                      <a:pt x="410" y="1301"/>
                      <a:pt x="410" y="1301"/>
                    </a:cubicBezTo>
                    <a:cubicBezTo>
                      <a:pt x="410" y="1300"/>
                      <a:pt x="411" y="1299"/>
                      <a:pt x="413" y="1299"/>
                    </a:cubicBezTo>
                    <a:cubicBezTo>
                      <a:pt x="706" y="1299"/>
                      <a:pt x="706" y="1299"/>
                      <a:pt x="706" y="1299"/>
                    </a:cubicBezTo>
                    <a:cubicBezTo>
                      <a:pt x="708" y="1299"/>
                      <a:pt x="709" y="1300"/>
                      <a:pt x="709" y="1301"/>
                    </a:cubicBezTo>
                    <a:lnTo>
                      <a:pt x="709" y="1651"/>
                    </a:lnTo>
                    <a:close/>
                    <a:moveTo>
                      <a:pt x="709" y="1037"/>
                    </a:moveTo>
                    <a:cubicBezTo>
                      <a:pt x="709" y="1038"/>
                      <a:pt x="708" y="1039"/>
                      <a:pt x="706" y="1039"/>
                    </a:cubicBezTo>
                    <a:cubicBezTo>
                      <a:pt x="410" y="687"/>
                      <a:pt x="410" y="687"/>
                      <a:pt x="410" y="687"/>
                    </a:cubicBezTo>
                    <a:cubicBezTo>
                      <a:pt x="410" y="686"/>
                      <a:pt x="411" y="685"/>
                      <a:pt x="413" y="685"/>
                    </a:cubicBezTo>
                    <a:cubicBezTo>
                      <a:pt x="706" y="685"/>
                      <a:pt x="706" y="685"/>
                      <a:pt x="706" y="685"/>
                    </a:cubicBezTo>
                    <a:cubicBezTo>
                      <a:pt x="708" y="685"/>
                      <a:pt x="709" y="686"/>
                      <a:pt x="709" y="687"/>
                    </a:cubicBezTo>
                    <a:lnTo>
                      <a:pt x="709" y="1037"/>
                    </a:lnTo>
                    <a:close/>
                    <a:moveTo>
                      <a:pt x="1415" y="1761"/>
                    </a:moveTo>
                    <a:cubicBezTo>
                      <a:pt x="1415" y="1793"/>
                      <a:pt x="1395" y="1819"/>
                      <a:pt x="1370" y="1819"/>
                    </a:cubicBezTo>
                    <a:cubicBezTo>
                      <a:pt x="841" y="1819"/>
                      <a:pt x="841" y="1819"/>
                      <a:pt x="841" y="1819"/>
                    </a:cubicBezTo>
                    <a:cubicBezTo>
                      <a:pt x="816" y="1819"/>
                      <a:pt x="795" y="1793"/>
                      <a:pt x="795" y="1761"/>
                    </a:cubicBezTo>
                    <a:cubicBezTo>
                      <a:pt x="795" y="530"/>
                      <a:pt x="795" y="530"/>
                      <a:pt x="795" y="530"/>
                    </a:cubicBezTo>
                    <a:cubicBezTo>
                      <a:pt x="795" y="498"/>
                      <a:pt x="816" y="472"/>
                      <a:pt x="841" y="472"/>
                    </a:cubicBezTo>
                    <a:cubicBezTo>
                      <a:pt x="1370" y="472"/>
                      <a:pt x="1370" y="472"/>
                      <a:pt x="1370" y="472"/>
                    </a:cubicBezTo>
                    <a:cubicBezTo>
                      <a:pt x="1395" y="472"/>
                      <a:pt x="1415" y="498"/>
                      <a:pt x="1415" y="530"/>
                    </a:cubicBezTo>
                    <a:lnTo>
                      <a:pt x="1415" y="1761"/>
                    </a:lnTo>
                    <a:close/>
                    <a:moveTo>
                      <a:pt x="1491" y="1653"/>
                    </a:moveTo>
                    <a:cubicBezTo>
                      <a:pt x="1489" y="1653"/>
                      <a:pt x="1487" y="1652"/>
                      <a:pt x="1487" y="1651"/>
                    </a:cubicBezTo>
                    <a:cubicBezTo>
                      <a:pt x="1487" y="1301"/>
                      <a:pt x="1487" y="1301"/>
                      <a:pt x="1487" y="1301"/>
                    </a:cubicBezTo>
                    <a:cubicBezTo>
                      <a:pt x="1487" y="1300"/>
                      <a:pt x="1489" y="1299"/>
                      <a:pt x="1491" y="1299"/>
                    </a:cubicBezTo>
                    <a:cubicBezTo>
                      <a:pt x="1784" y="1299"/>
                      <a:pt x="1784" y="1299"/>
                      <a:pt x="1784" y="1299"/>
                    </a:cubicBezTo>
                    <a:cubicBezTo>
                      <a:pt x="1786" y="1299"/>
                      <a:pt x="1787" y="1300"/>
                      <a:pt x="1787" y="1301"/>
                    </a:cubicBezTo>
                    <a:lnTo>
                      <a:pt x="1491" y="1653"/>
                    </a:lnTo>
                    <a:close/>
                    <a:moveTo>
                      <a:pt x="1491" y="1039"/>
                    </a:moveTo>
                    <a:cubicBezTo>
                      <a:pt x="1489" y="1039"/>
                      <a:pt x="1487" y="1038"/>
                      <a:pt x="1487" y="1037"/>
                    </a:cubicBezTo>
                    <a:cubicBezTo>
                      <a:pt x="1487" y="687"/>
                      <a:pt x="1487" y="687"/>
                      <a:pt x="1487" y="687"/>
                    </a:cubicBezTo>
                    <a:cubicBezTo>
                      <a:pt x="1487" y="686"/>
                      <a:pt x="1489" y="685"/>
                      <a:pt x="1491" y="685"/>
                    </a:cubicBezTo>
                    <a:cubicBezTo>
                      <a:pt x="1784" y="685"/>
                      <a:pt x="1784" y="685"/>
                      <a:pt x="1784" y="685"/>
                    </a:cubicBezTo>
                    <a:cubicBezTo>
                      <a:pt x="1786" y="685"/>
                      <a:pt x="1787" y="686"/>
                      <a:pt x="1787" y="687"/>
                    </a:cubicBezTo>
                    <a:lnTo>
                      <a:pt x="1491" y="10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4" name="Freeform 1332">
                <a:extLst>
                  <a:ext uri="{FF2B5EF4-FFF2-40B4-BE49-F238E27FC236}">
                    <a16:creationId xmlns:a16="http://schemas.microsoft.com/office/drawing/2014/main" id="{60C8E946-6B32-4A53-A744-9D3805E24017}"/>
                  </a:ext>
                </a:extLst>
              </p:cNvPr>
              <p:cNvSpPr>
                <a:spLocks noEditPoints="1"/>
              </p:cNvSpPr>
              <p:nvPr/>
            </p:nvSpPr>
            <p:spPr bwMode="auto">
              <a:xfrm>
                <a:off x="3766" y="3132"/>
                <a:ext cx="287" cy="288"/>
              </a:xfrm>
              <a:custGeom>
                <a:avLst/>
                <a:gdLst>
                  <a:gd name="T0" fmla="*/ 253 w 507"/>
                  <a:gd name="T1" fmla="*/ 0 h 506"/>
                  <a:gd name="T2" fmla="*/ 0 w 507"/>
                  <a:gd name="T3" fmla="*/ 253 h 506"/>
                  <a:gd name="T4" fmla="*/ 253 w 507"/>
                  <a:gd name="T5" fmla="*/ 506 h 506"/>
                  <a:gd name="T6" fmla="*/ 507 w 507"/>
                  <a:gd name="T7" fmla="*/ 253 h 506"/>
                  <a:gd name="T8" fmla="*/ 253 w 507"/>
                  <a:gd name="T9" fmla="*/ 0 h 506"/>
                  <a:gd name="T10" fmla="*/ 372 w 507"/>
                  <a:gd name="T11" fmla="*/ 340 h 506"/>
                  <a:gd name="T12" fmla="*/ 372 w 507"/>
                  <a:gd name="T13" fmla="*/ 376 h 506"/>
                  <a:gd name="T14" fmla="*/ 354 w 507"/>
                  <a:gd name="T15" fmla="*/ 384 h 506"/>
                  <a:gd name="T16" fmla="*/ 336 w 507"/>
                  <a:gd name="T17" fmla="*/ 376 h 506"/>
                  <a:gd name="T18" fmla="*/ 253 w 507"/>
                  <a:gd name="T19" fmla="*/ 293 h 506"/>
                  <a:gd name="T20" fmla="*/ 170 w 507"/>
                  <a:gd name="T21" fmla="*/ 376 h 506"/>
                  <a:gd name="T22" fmla="*/ 152 w 507"/>
                  <a:gd name="T23" fmla="*/ 384 h 506"/>
                  <a:gd name="T24" fmla="*/ 134 w 507"/>
                  <a:gd name="T25" fmla="*/ 376 h 506"/>
                  <a:gd name="T26" fmla="*/ 134 w 507"/>
                  <a:gd name="T27" fmla="*/ 340 h 506"/>
                  <a:gd name="T28" fmla="*/ 217 w 507"/>
                  <a:gd name="T29" fmla="*/ 257 h 506"/>
                  <a:gd name="T30" fmla="*/ 134 w 507"/>
                  <a:gd name="T31" fmla="*/ 174 h 506"/>
                  <a:gd name="T32" fmla="*/ 134 w 507"/>
                  <a:gd name="T33" fmla="*/ 138 h 506"/>
                  <a:gd name="T34" fmla="*/ 170 w 507"/>
                  <a:gd name="T35" fmla="*/ 138 h 506"/>
                  <a:gd name="T36" fmla="*/ 253 w 507"/>
                  <a:gd name="T37" fmla="*/ 221 h 506"/>
                  <a:gd name="T38" fmla="*/ 336 w 507"/>
                  <a:gd name="T39" fmla="*/ 138 h 506"/>
                  <a:gd name="T40" fmla="*/ 372 w 507"/>
                  <a:gd name="T41" fmla="*/ 138 h 506"/>
                  <a:gd name="T42" fmla="*/ 372 w 507"/>
                  <a:gd name="T43" fmla="*/ 174 h 506"/>
                  <a:gd name="T44" fmla="*/ 289 w 507"/>
                  <a:gd name="T45" fmla="*/ 257 h 506"/>
                  <a:gd name="T46" fmla="*/ 372 w 507"/>
                  <a:gd name="T47" fmla="*/ 34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7" h="506">
                    <a:moveTo>
                      <a:pt x="253" y="0"/>
                    </a:moveTo>
                    <a:cubicBezTo>
                      <a:pt x="114" y="0"/>
                      <a:pt x="0" y="113"/>
                      <a:pt x="0" y="253"/>
                    </a:cubicBezTo>
                    <a:cubicBezTo>
                      <a:pt x="0" y="393"/>
                      <a:pt x="114" y="506"/>
                      <a:pt x="253" y="506"/>
                    </a:cubicBezTo>
                    <a:cubicBezTo>
                      <a:pt x="393" y="506"/>
                      <a:pt x="507" y="393"/>
                      <a:pt x="507" y="253"/>
                    </a:cubicBezTo>
                    <a:cubicBezTo>
                      <a:pt x="507" y="113"/>
                      <a:pt x="393" y="0"/>
                      <a:pt x="253" y="0"/>
                    </a:cubicBezTo>
                    <a:close/>
                    <a:moveTo>
                      <a:pt x="372" y="340"/>
                    </a:moveTo>
                    <a:cubicBezTo>
                      <a:pt x="382" y="350"/>
                      <a:pt x="382" y="366"/>
                      <a:pt x="372" y="376"/>
                    </a:cubicBezTo>
                    <a:cubicBezTo>
                      <a:pt x="367" y="381"/>
                      <a:pt x="361" y="384"/>
                      <a:pt x="354" y="384"/>
                    </a:cubicBezTo>
                    <a:cubicBezTo>
                      <a:pt x="348" y="384"/>
                      <a:pt x="341" y="381"/>
                      <a:pt x="336" y="376"/>
                    </a:cubicBezTo>
                    <a:cubicBezTo>
                      <a:pt x="253" y="293"/>
                      <a:pt x="253" y="293"/>
                      <a:pt x="253" y="293"/>
                    </a:cubicBezTo>
                    <a:cubicBezTo>
                      <a:pt x="170" y="376"/>
                      <a:pt x="170" y="376"/>
                      <a:pt x="170" y="376"/>
                    </a:cubicBezTo>
                    <a:cubicBezTo>
                      <a:pt x="165" y="381"/>
                      <a:pt x="158" y="384"/>
                      <a:pt x="152" y="384"/>
                    </a:cubicBezTo>
                    <a:cubicBezTo>
                      <a:pt x="145" y="384"/>
                      <a:pt x="139" y="381"/>
                      <a:pt x="134" y="376"/>
                    </a:cubicBezTo>
                    <a:cubicBezTo>
                      <a:pt x="124" y="366"/>
                      <a:pt x="124" y="350"/>
                      <a:pt x="134" y="340"/>
                    </a:cubicBezTo>
                    <a:cubicBezTo>
                      <a:pt x="217" y="257"/>
                      <a:pt x="217" y="257"/>
                      <a:pt x="217" y="257"/>
                    </a:cubicBezTo>
                    <a:cubicBezTo>
                      <a:pt x="134" y="174"/>
                      <a:pt x="134" y="174"/>
                      <a:pt x="134" y="174"/>
                    </a:cubicBezTo>
                    <a:cubicBezTo>
                      <a:pt x="124" y="164"/>
                      <a:pt x="124" y="148"/>
                      <a:pt x="134" y="138"/>
                    </a:cubicBezTo>
                    <a:cubicBezTo>
                      <a:pt x="144" y="128"/>
                      <a:pt x="160" y="128"/>
                      <a:pt x="170" y="138"/>
                    </a:cubicBezTo>
                    <a:cubicBezTo>
                      <a:pt x="253" y="221"/>
                      <a:pt x="253" y="221"/>
                      <a:pt x="253" y="221"/>
                    </a:cubicBezTo>
                    <a:cubicBezTo>
                      <a:pt x="336" y="138"/>
                      <a:pt x="336" y="138"/>
                      <a:pt x="336" y="138"/>
                    </a:cubicBezTo>
                    <a:cubicBezTo>
                      <a:pt x="346" y="128"/>
                      <a:pt x="362" y="128"/>
                      <a:pt x="372" y="138"/>
                    </a:cubicBezTo>
                    <a:cubicBezTo>
                      <a:pt x="382" y="148"/>
                      <a:pt x="382" y="164"/>
                      <a:pt x="372" y="174"/>
                    </a:cubicBezTo>
                    <a:cubicBezTo>
                      <a:pt x="289" y="257"/>
                      <a:pt x="289" y="257"/>
                      <a:pt x="289" y="257"/>
                    </a:cubicBezTo>
                    <a:lnTo>
                      <a:pt x="372" y="3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5" name="Freeform 1333">
                <a:extLst>
                  <a:ext uri="{FF2B5EF4-FFF2-40B4-BE49-F238E27FC236}">
                    <a16:creationId xmlns:a16="http://schemas.microsoft.com/office/drawing/2014/main" id="{44D31130-D329-4A70-BCDA-8FB8F45143A7}"/>
                  </a:ext>
                </a:extLst>
              </p:cNvPr>
              <p:cNvSpPr>
                <a:spLocks noEditPoints="1"/>
              </p:cNvSpPr>
              <p:nvPr/>
            </p:nvSpPr>
            <p:spPr bwMode="auto">
              <a:xfrm>
                <a:off x="3766" y="2777"/>
                <a:ext cx="287" cy="287"/>
              </a:xfrm>
              <a:custGeom>
                <a:avLst/>
                <a:gdLst>
                  <a:gd name="T0" fmla="*/ 253 w 507"/>
                  <a:gd name="T1" fmla="*/ 0 h 506"/>
                  <a:gd name="T2" fmla="*/ 0 w 507"/>
                  <a:gd name="T3" fmla="*/ 253 h 506"/>
                  <a:gd name="T4" fmla="*/ 253 w 507"/>
                  <a:gd name="T5" fmla="*/ 506 h 506"/>
                  <a:gd name="T6" fmla="*/ 507 w 507"/>
                  <a:gd name="T7" fmla="*/ 253 h 506"/>
                  <a:gd name="T8" fmla="*/ 253 w 507"/>
                  <a:gd name="T9" fmla="*/ 0 h 506"/>
                  <a:gd name="T10" fmla="*/ 406 w 507"/>
                  <a:gd name="T11" fmla="*/ 173 h 506"/>
                  <a:gd name="T12" fmla="*/ 227 w 507"/>
                  <a:gd name="T13" fmla="*/ 352 h 506"/>
                  <a:gd name="T14" fmla="*/ 209 w 507"/>
                  <a:gd name="T15" fmla="*/ 359 h 506"/>
                  <a:gd name="T16" fmla="*/ 191 w 507"/>
                  <a:gd name="T17" fmla="*/ 352 h 506"/>
                  <a:gd name="T18" fmla="*/ 101 w 507"/>
                  <a:gd name="T19" fmla="*/ 263 h 506"/>
                  <a:gd name="T20" fmla="*/ 101 w 507"/>
                  <a:gd name="T21" fmla="*/ 227 h 506"/>
                  <a:gd name="T22" fmla="*/ 137 w 507"/>
                  <a:gd name="T23" fmla="*/ 227 h 506"/>
                  <a:gd name="T24" fmla="*/ 209 w 507"/>
                  <a:gd name="T25" fmla="*/ 298 h 506"/>
                  <a:gd name="T26" fmla="*/ 370 w 507"/>
                  <a:gd name="T27" fmla="*/ 137 h 506"/>
                  <a:gd name="T28" fmla="*/ 406 w 507"/>
                  <a:gd name="T29" fmla="*/ 137 h 506"/>
                  <a:gd name="T30" fmla="*/ 406 w 507"/>
                  <a:gd name="T31" fmla="*/ 173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07" h="506">
                    <a:moveTo>
                      <a:pt x="253" y="0"/>
                    </a:moveTo>
                    <a:cubicBezTo>
                      <a:pt x="114" y="0"/>
                      <a:pt x="0" y="113"/>
                      <a:pt x="0" y="253"/>
                    </a:cubicBezTo>
                    <a:cubicBezTo>
                      <a:pt x="0" y="393"/>
                      <a:pt x="114" y="506"/>
                      <a:pt x="253" y="506"/>
                    </a:cubicBezTo>
                    <a:cubicBezTo>
                      <a:pt x="393" y="506"/>
                      <a:pt x="507" y="393"/>
                      <a:pt x="507" y="253"/>
                    </a:cubicBezTo>
                    <a:cubicBezTo>
                      <a:pt x="507" y="113"/>
                      <a:pt x="393" y="0"/>
                      <a:pt x="253" y="0"/>
                    </a:cubicBezTo>
                    <a:close/>
                    <a:moveTo>
                      <a:pt x="406" y="173"/>
                    </a:moveTo>
                    <a:cubicBezTo>
                      <a:pt x="227" y="352"/>
                      <a:pt x="227" y="352"/>
                      <a:pt x="227" y="352"/>
                    </a:cubicBezTo>
                    <a:cubicBezTo>
                      <a:pt x="222" y="357"/>
                      <a:pt x="215" y="359"/>
                      <a:pt x="209" y="359"/>
                    </a:cubicBezTo>
                    <a:cubicBezTo>
                      <a:pt x="202" y="359"/>
                      <a:pt x="196" y="357"/>
                      <a:pt x="191" y="352"/>
                    </a:cubicBezTo>
                    <a:cubicBezTo>
                      <a:pt x="101" y="263"/>
                      <a:pt x="101" y="263"/>
                      <a:pt x="101" y="263"/>
                    </a:cubicBezTo>
                    <a:cubicBezTo>
                      <a:pt x="91" y="253"/>
                      <a:pt x="91" y="237"/>
                      <a:pt x="101" y="227"/>
                    </a:cubicBezTo>
                    <a:cubicBezTo>
                      <a:pt x="111" y="217"/>
                      <a:pt x="127" y="217"/>
                      <a:pt x="137" y="227"/>
                    </a:cubicBezTo>
                    <a:cubicBezTo>
                      <a:pt x="209" y="298"/>
                      <a:pt x="209" y="298"/>
                      <a:pt x="209" y="298"/>
                    </a:cubicBezTo>
                    <a:cubicBezTo>
                      <a:pt x="370" y="137"/>
                      <a:pt x="370" y="137"/>
                      <a:pt x="370" y="137"/>
                    </a:cubicBezTo>
                    <a:cubicBezTo>
                      <a:pt x="380" y="127"/>
                      <a:pt x="396" y="127"/>
                      <a:pt x="406" y="137"/>
                    </a:cubicBezTo>
                    <a:cubicBezTo>
                      <a:pt x="416" y="147"/>
                      <a:pt x="416" y="163"/>
                      <a:pt x="406" y="1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56" name="Group 1206">
              <a:extLst>
                <a:ext uri="{FF2B5EF4-FFF2-40B4-BE49-F238E27FC236}">
                  <a16:creationId xmlns:a16="http://schemas.microsoft.com/office/drawing/2014/main" id="{C7A20E18-1EF7-4F33-897F-3FBB62458A97}"/>
                </a:ext>
              </a:extLst>
            </p:cNvPr>
            <p:cNvGrpSpPr>
              <a:grpSpLocks noChangeAspect="1"/>
            </p:cNvGrpSpPr>
            <p:nvPr/>
          </p:nvGrpSpPr>
          <p:grpSpPr bwMode="auto">
            <a:xfrm>
              <a:off x="4821169" y="3276785"/>
              <a:ext cx="525600" cy="525600"/>
              <a:chOff x="-257" y="2664"/>
              <a:chExt cx="734" cy="734"/>
            </a:xfrm>
          </p:grpSpPr>
          <p:sp>
            <p:nvSpPr>
              <p:cNvPr id="157" name="Freeform 1207">
                <a:extLst>
                  <a:ext uri="{FF2B5EF4-FFF2-40B4-BE49-F238E27FC236}">
                    <a16:creationId xmlns:a16="http://schemas.microsoft.com/office/drawing/2014/main" id="{526FC192-16E1-4ECD-9BB9-A4E2D1E7A8C8}"/>
                  </a:ext>
                </a:extLst>
              </p:cNvPr>
              <p:cNvSpPr>
                <a:spLocks/>
              </p:cNvSpPr>
              <p:nvPr/>
            </p:nvSpPr>
            <p:spPr bwMode="auto">
              <a:xfrm>
                <a:off x="-118" y="3063"/>
                <a:ext cx="66" cy="39"/>
              </a:xfrm>
              <a:custGeom>
                <a:avLst/>
                <a:gdLst>
                  <a:gd name="T0" fmla="*/ 141 w 197"/>
                  <a:gd name="T1" fmla="*/ 6 h 115"/>
                  <a:gd name="T2" fmla="*/ 35 w 197"/>
                  <a:gd name="T3" fmla="*/ 34 h 115"/>
                  <a:gd name="T4" fmla="*/ 5 w 197"/>
                  <a:gd name="T5" fmla="*/ 85 h 115"/>
                  <a:gd name="T6" fmla="*/ 45 w 197"/>
                  <a:gd name="T7" fmla="*/ 115 h 115"/>
                  <a:gd name="T8" fmla="*/ 56 w 197"/>
                  <a:gd name="T9" fmla="*/ 114 h 115"/>
                  <a:gd name="T10" fmla="*/ 162 w 197"/>
                  <a:gd name="T11" fmla="*/ 86 h 115"/>
                  <a:gd name="T12" fmla="*/ 191 w 197"/>
                  <a:gd name="T13" fmla="*/ 35 h 115"/>
                  <a:gd name="T14" fmla="*/ 141 w 197"/>
                  <a:gd name="T15" fmla="*/ 6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 h="115">
                    <a:moveTo>
                      <a:pt x="141" y="6"/>
                    </a:moveTo>
                    <a:cubicBezTo>
                      <a:pt x="35" y="34"/>
                      <a:pt x="35" y="34"/>
                      <a:pt x="35" y="34"/>
                    </a:cubicBezTo>
                    <a:cubicBezTo>
                      <a:pt x="13" y="40"/>
                      <a:pt x="0" y="63"/>
                      <a:pt x="5" y="85"/>
                    </a:cubicBezTo>
                    <a:cubicBezTo>
                      <a:pt x="10" y="103"/>
                      <a:pt x="27" y="115"/>
                      <a:pt x="45" y="115"/>
                    </a:cubicBezTo>
                    <a:cubicBezTo>
                      <a:pt x="49" y="115"/>
                      <a:pt x="52" y="115"/>
                      <a:pt x="56" y="114"/>
                    </a:cubicBezTo>
                    <a:cubicBezTo>
                      <a:pt x="162" y="86"/>
                      <a:pt x="162" y="86"/>
                      <a:pt x="162" y="86"/>
                    </a:cubicBezTo>
                    <a:cubicBezTo>
                      <a:pt x="184" y="80"/>
                      <a:pt x="197" y="57"/>
                      <a:pt x="191" y="35"/>
                    </a:cubicBezTo>
                    <a:cubicBezTo>
                      <a:pt x="186" y="13"/>
                      <a:pt x="163" y="0"/>
                      <a:pt x="141" y="6"/>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8" name="Freeform 1208">
                <a:extLst>
                  <a:ext uri="{FF2B5EF4-FFF2-40B4-BE49-F238E27FC236}">
                    <a16:creationId xmlns:a16="http://schemas.microsoft.com/office/drawing/2014/main" id="{286D7B83-70F0-4BC4-8D3E-A9D5F8F55E64}"/>
                  </a:ext>
                </a:extLst>
              </p:cNvPr>
              <p:cNvSpPr>
                <a:spLocks/>
              </p:cNvSpPr>
              <p:nvPr/>
            </p:nvSpPr>
            <p:spPr bwMode="auto">
              <a:xfrm>
                <a:off x="-118" y="2959"/>
                <a:ext cx="66" cy="38"/>
              </a:xfrm>
              <a:custGeom>
                <a:avLst/>
                <a:gdLst>
                  <a:gd name="T0" fmla="*/ 163 w 198"/>
                  <a:gd name="T1" fmla="*/ 34 h 115"/>
                  <a:gd name="T2" fmla="*/ 57 w 198"/>
                  <a:gd name="T3" fmla="*/ 6 h 115"/>
                  <a:gd name="T4" fmla="*/ 6 w 198"/>
                  <a:gd name="T5" fmla="*/ 35 h 115"/>
                  <a:gd name="T6" fmla="*/ 36 w 198"/>
                  <a:gd name="T7" fmla="*/ 85 h 115"/>
                  <a:gd name="T8" fmla="*/ 142 w 198"/>
                  <a:gd name="T9" fmla="*/ 114 h 115"/>
                  <a:gd name="T10" fmla="*/ 153 w 198"/>
                  <a:gd name="T11" fmla="*/ 115 h 115"/>
                  <a:gd name="T12" fmla="*/ 192 w 198"/>
                  <a:gd name="T13" fmla="*/ 85 h 115"/>
                  <a:gd name="T14" fmla="*/ 163 w 198"/>
                  <a:gd name="T15" fmla="*/ 34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 h="115">
                    <a:moveTo>
                      <a:pt x="163" y="34"/>
                    </a:moveTo>
                    <a:cubicBezTo>
                      <a:pt x="57" y="6"/>
                      <a:pt x="57" y="6"/>
                      <a:pt x="57" y="6"/>
                    </a:cubicBezTo>
                    <a:cubicBezTo>
                      <a:pt x="35" y="0"/>
                      <a:pt x="12" y="13"/>
                      <a:pt x="6" y="35"/>
                    </a:cubicBezTo>
                    <a:cubicBezTo>
                      <a:pt x="0" y="57"/>
                      <a:pt x="14" y="80"/>
                      <a:pt x="36" y="85"/>
                    </a:cubicBezTo>
                    <a:cubicBezTo>
                      <a:pt x="142" y="114"/>
                      <a:pt x="142" y="114"/>
                      <a:pt x="142" y="114"/>
                    </a:cubicBezTo>
                    <a:cubicBezTo>
                      <a:pt x="145" y="115"/>
                      <a:pt x="149" y="115"/>
                      <a:pt x="153" y="115"/>
                    </a:cubicBezTo>
                    <a:cubicBezTo>
                      <a:pt x="171" y="115"/>
                      <a:pt x="187" y="103"/>
                      <a:pt x="192" y="85"/>
                    </a:cubicBezTo>
                    <a:cubicBezTo>
                      <a:pt x="198" y="63"/>
                      <a:pt x="185" y="40"/>
                      <a:pt x="163" y="34"/>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9" name="Freeform 1209">
                <a:extLst>
                  <a:ext uri="{FF2B5EF4-FFF2-40B4-BE49-F238E27FC236}">
                    <a16:creationId xmlns:a16="http://schemas.microsoft.com/office/drawing/2014/main" id="{C3A0E875-5ED8-4DE5-949C-0C57B5039AA3}"/>
                  </a:ext>
                </a:extLst>
              </p:cNvPr>
              <p:cNvSpPr>
                <a:spLocks/>
              </p:cNvSpPr>
              <p:nvPr/>
            </p:nvSpPr>
            <p:spPr bwMode="auto">
              <a:xfrm>
                <a:off x="272" y="2959"/>
                <a:ext cx="66" cy="38"/>
              </a:xfrm>
              <a:custGeom>
                <a:avLst/>
                <a:gdLst>
                  <a:gd name="T0" fmla="*/ 6 w 198"/>
                  <a:gd name="T1" fmla="*/ 85 h 115"/>
                  <a:gd name="T2" fmla="*/ 46 w 198"/>
                  <a:gd name="T3" fmla="*/ 115 h 115"/>
                  <a:gd name="T4" fmla="*/ 57 w 198"/>
                  <a:gd name="T5" fmla="*/ 114 h 115"/>
                  <a:gd name="T6" fmla="*/ 163 w 198"/>
                  <a:gd name="T7" fmla="*/ 85 h 115"/>
                  <a:gd name="T8" fmla="*/ 192 w 198"/>
                  <a:gd name="T9" fmla="*/ 35 h 115"/>
                  <a:gd name="T10" fmla="*/ 142 w 198"/>
                  <a:gd name="T11" fmla="*/ 6 h 115"/>
                  <a:gd name="T12" fmla="*/ 35 w 198"/>
                  <a:gd name="T13" fmla="*/ 34 h 115"/>
                  <a:gd name="T14" fmla="*/ 6 w 198"/>
                  <a:gd name="T15" fmla="*/ 85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 h="115">
                    <a:moveTo>
                      <a:pt x="6" y="85"/>
                    </a:moveTo>
                    <a:cubicBezTo>
                      <a:pt x="11" y="103"/>
                      <a:pt x="28" y="115"/>
                      <a:pt x="46" y="115"/>
                    </a:cubicBezTo>
                    <a:cubicBezTo>
                      <a:pt x="50" y="115"/>
                      <a:pt x="53" y="115"/>
                      <a:pt x="57" y="114"/>
                    </a:cubicBezTo>
                    <a:cubicBezTo>
                      <a:pt x="163" y="85"/>
                      <a:pt x="163" y="85"/>
                      <a:pt x="163" y="85"/>
                    </a:cubicBezTo>
                    <a:cubicBezTo>
                      <a:pt x="185" y="80"/>
                      <a:pt x="198" y="57"/>
                      <a:pt x="192" y="35"/>
                    </a:cubicBezTo>
                    <a:cubicBezTo>
                      <a:pt x="186" y="13"/>
                      <a:pt x="164" y="0"/>
                      <a:pt x="142" y="6"/>
                    </a:cubicBezTo>
                    <a:cubicBezTo>
                      <a:pt x="35" y="34"/>
                      <a:pt x="35" y="34"/>
                      <a:pt x="35" y="34"/>
                    </a:cubicBezTo>
                    <a:cubicBezTo>
                      <a:pt x="13" y="40"/>
                      <a:pt x="0" y="63"/>
                      <a:pt x="6" y="85"/>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0" name="Freeform 1210">
                <a:extLst>
                  <a:ext uri="{FF2B5EF4-FFF2-40B4-BE49-F238E27FC236}">
                    <a16:creationId xmlns:a16="http://schemas.microsoft.com/office/drawing/2014/main" id="{36080E31-B0EB-40FD-ABB0-4BFFEE860F7E}"/>
                  </a:ext>
                </a:extLst>
              </p:cNvPr>
              <p:cNvSpPr>
                <a:spLocks/>
              </p:cNvSpPr>
              <p:nvPr/>
            </p:nvSpPr>
            <p:spPr bwMode="auto">
              <a:xfrm>
                <a:off x="38" y="2803"/>
                <a:ext cx="40" cy="65"/>
              </a:xfrm>
              <a:custGeom>
                <a:avLst/>
                <a:gdLst>
                  <a:gd name="T0" fmla="*/ 35 w 120"/>
                  <a:gd name="T1" fmla="*/ 163 h 193"/>
                  <a:gd name="T2" fmla="*/ 74 w 120"/>
                  <a:gd name="T3" fmla="*/ 193 h 193"/>
                  <a:gd name="T4" fmla="*/ 85 w 120"/>
                  <a:gd name="T5" fmla="*/ 192 h 193"/>
                  <a:gd name="T6" fmla="*/ 114 w 120"/>
                  <a:gd name="T7" fmla="*/ 141 h 193"/>
                  <a:gd name="T8" fmla="*/ 86 w 120"/>
                  <a:gd name="T9" fmla="*/ 35 h 193"/>
                  <a:gd name="T10" fmla="*/ 35 w 120"/>
                  <a:gd name="T11" fmla="*/ 6 h 193"/>
                  <a:gd name="T12" fmla="*/ 6 w 120"/>
                  <a:gd name="T13" fmla="*/ 57 h 193"/>
                  <a:gd name="T14" fmla="*/ 35 w 120"/>
                  <a:gd name="T15" fmla="*/ 163 h 1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93">
                    <a:moveTo>
                      <a:pt x="35" y="163"/>
                    </a:moveTo>
                    <a:cubicBezTo>
                      <a:pt x="39" y="181"/>
                      <a:pt x="56" y="193"/>
                      <a:pt x="74" y="193"/>
                    </a:cubicBezTo>
                    <a:cubicBezTo>
                      <a:pt x="78" y="193"/>
                      <a:pt x="82" y="193"/>
                      <a:pt x="85" y="192"/>
                    </a:cubicBezTo>
                    <a:cubicBezTo>
                      <a:pt x="107" y="186"/>
                      <a:pt x="120" y="163"/>
                      <a:pt x="114" y="141"/>
                    </a:cubicBezTo>
                    <a:cubicBezTo>
                      <a:pt x="86" y="35"/>
                      <a:pt x="86" y="35"/>
                      <a:pt x="86" y="35"/>
                    </a:cubicBezTo>
                    <a:cubicBezTo>
                      <a:pt x="80" y="13"/>
                      <a:pt x="57" y="0"/>
                      <a:pt x="35" y="6"/>
                    </a:cubicBezTo>
                    <a:cubicBezTo>
                      <a:pt x="13" y="12"/>
                      <a:pt x="0" y="35"/>
                      <a:pt x="6" y="57"/>
                    </a:cubicBezTo>
                    <a:lnTo>
                      <a:pt x="35" y="163"/>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1" name="Freeform 1211">
                <a:extLst>
                  <a:ext uri="{FF2B5EF4-FFF2-40B4-BE49-F238E27FC236}">
                    <a16:creationId xmlns:a16="http://schemas.microsoft.com/office/drawing/2014/main" id="{BD4DF6B3-51D9-42F8-B1E4-542998828836}"/>
                  </a:ext>
                </a:extLst>
              </p:cNvPr>
              <p:cNvSpPr>
                <a:spLocks/>
              </p:cNvSpPr>
              <p:nvPr/>
            </p:nvSpPr>
            <p:spPr bwMode="auto">
              <a:xfrm>
                <a:off x="142" y="2803"/>
                <a:ext cx="40" cy="65"/>
              </a:xfrm>
              <a:custGeom>
                <a:avLst/>
                <a:gdLst>
                  <a:gd name="T0" fmla="*/ 35 w 120"/>
                  <a:gd name="T1" fmla="*/ 192 h 193"/>
                  <a:gd name="T2" fmla="*/ 46 w 120"/>
                  <a:gd name="T3" fmla="*/ 193 h 193"/>
                  <a:gd name="T4" fmla="*/ 86 w 120"/>
                  <a:gd name="T5" fmla="*/ 163 h 193"/>
                  <a:gd name="T6" fmla="*/ 114 w 120"/>
                  <a:gd name="T7" fmla="*/ 57 h 193"/>
                  <a:gd name="T8" fmla="*/ 85 w 120"/>
                  <a:gd name="T9" fmla="*/ 6 h 193"/>
                  <a:gd name="T10" fmla="*/ 35 w 120"/>
                  <a:gd name="T11" fmla="*/ 35 h 193"/>
                  <a:gd name="T12" fmla="*/ 6 w 120"/>
                  <a:gd name="T13" fmla="*/ 141 h 193"/>
                  <a:gd name="T14" fmla="*/ 35 w 120"/>
                  <a:gd name="T15" fmla="*/ 192 h 1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93">
                    <a:moveTo>
                      <a:pt x="35" y="192"/>
                    </a:moveTo>
                    <a:cubicBezTo>
                      <a:pt x="39" y="193"/>
                      <a:pt x="43" y="193"/>
                      <a:pt x="46" y="193"/>
                    </a:cubicBezTo>
                    <a:cubicBezTo>
                      <a:pt x="64" y="193"/>
                      <a:pt x="81" y="181"/>
                      <a:pt x="86" y="163"/>
                    </a:cubicBezTo>
                    <a:cubicBezTo>
                      <a:pt x="114" y="57"/>
                      <a:pt x="114" y="57"/>
                      <a:pt x="114" y="57"/>
                    </a:cubicBezTo>
                    <a:cubicBezTo>
                      <a:pt x="120" y="35"/>
                      <a:pt x="107" y="12"/>
                      <a:pt x="85" y="6"/>
                    </a:cubicBezTo>
                    <a:cubicBezTo>
                      <a:pt x="63" y="0"/>
                      <a:pt x="41" y="13"/>
                      <a:pt x="35" y="35"/>
                    </a:cubicBezTo>
                    <a:cubicBezTo>
                      <a:pt x="6" y="141"/>
                      <a:pt x="6" y="141"/>
                      <a:pt x="6" y="141"/>
                    </a:cubicBezTo>
                    <a:cubicBezTo>
                      <a:pt x="0" y="163"/>
                      <a:pt x="13" y="186"/>
                      <a:pt x="35" y="192"/>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2" name="Freeform 1212">
                <a:extLst>
                  <a:ext uri="{FF2B5EF4-FFF2-40B4-BE49-F238E27FC236}">
                    <a16:creationId xmlns:a16="http://schemas.microsoft.com/office/drawing/2014/main" id="{4720202D-364D-4BDA-81C9-39ED6017F1D0}"/>
                  </a:ext>
                </a:extLst>
              </p:cNvPr>
              <p:cNvSpPr>
                <a:spLocks/>
              </p:cNvSpPr>
              <p:nvPr/>
            </p:nvSpPr>
            <p:spPr bwMode="auto">
              <a:xfrm>
                <a:off x="224" y="2860"/>
                <a:ext cx="57" cy="55"/>
              </a:xfrm>
              <a:custGeom>
                <a:avLst/>
                <a:gdLst>
                  <a:gd name="T0" fmla="*/ 46 w 169"/>
                  <a:gd name="T1" fmla="*/ 165 h 165"/>
                  <a:gd name="T2" fmla="*/ 75 w 169"/>
                  <a:gd name="T3" fmla="*/ 153 h 165"/>
                  <a:gd name="T4" fmla="*/ 153 w 169"/>
                  <a:gd name="T5" fmla="*/ 75 h 165"/>
                  <a:gd name="T6" fmla="*/ 153 w 169"/>
                  <a:gd name="T7" fmla="*/ 17 h 165"/>
                  <a:gd name="T8" fmla="*/ 94 w 169"/>
                  <a:gd name="T9" fmla="*/ 17 h 165"/>
                  <a:gd name="T10" fmla="*/ 17 w 169"/>
                  <a:gd name="T11" fmla="*/ 94 h 165"/>
                  <a:gd name="T12" fmla="*/ 17 w 169"/>
                  <a:gd name="T13" fmla="*/ 153 h 165"/>
                  <a:gd name="T14" fmla="*/ 46 w 169"/>
                  <a:gd name="T15" fmla="*/ 165 h 1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9" h="165">
                    <a:moveTo>
                      <a:pt x="46" y="165"/>
                    </a:moveTo>
                    <a:cubicBezTo>
                      <a:pt x="56" y="165"/>
                      <a:pt x="67" y="161"/>
                      <a:pt x="75" y="153"/>
                    </a:cubicBezTo>
                    <a:cubicBezTo>
                      <a:pt x="153" y="75"/>
                      <a:pt x="153" y="75"/>
                      <a:pt x="153" y="75"/>
                    </a:cubicBezTo>
                    <a:cubicBezTo>
                      <a:pt x="169" y="59"/>
                      <a:pt x="169" y="33"/>
                      <a:pt x="153" y="17"/>
                    </a:cubicBezTo>
                    <a:cubicBezTo>
                      <a:pt x="137" y="0"/>
                      <a:pt x="110" y="0"/>
                      <a:pt x="94" y="17"/>
                    </a:cubicBezTo>
                    <a:cubicBezTo>
                      <a:pt x="17" y="94"/>
                      <a:pt x="17" y="94"/>
                      <a:pt x="17" y="94"/>
                    </a:cubicBezTo>
                    <a:cubicBezTo>
                      <a:pt x="0" y="110"/>
                      <a:pt x="0" y="137"/>
                      <a:pt x="17" y="153"/>
                    </a:cubicBezTo>
                    <a:cubicBezTo>
                      <a:pt x="25" y="161"/>
                      <a:pt x="35" y="165"/>
                      <a:pt x="46" y="165"/>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3" name="Freeform 1213">
                <a:extLst>
                  <a:ext uri="{FF2B5EF4-FFF2-40B4-BE49-F238E27FC236}">
                    <a16:creationId xmlns:a16="http://schemas.microsoft.com/office/drawing/2014/main" id="{3424DA95-E662-413F-B35F-2BFA5CA2284E}"/>
                  </a:ext>
                </a:extLst>
              </p:cNvPr>
              <p:cNvSpPr>
                <a:spLocks/>
              </p:cNvSpPr>
              <p:nvPr/>
            </p:nvSpPr>
            <p:spPr bwMode="auto">
              <a:xfrm>
                <a:off x="-61" y="2860"/>
                <a:ext cx="56" cy="55"/>
              </a:xfrm>
              <a:custGeom>
                <a:avLst/>
                <a:gdLst>
                  <a:gd name="T0" fmla="*/ 74 w 168"/>
                  <a:gd name="T1" fmla="*/ 17 h 165"/>
                  <a:gd name="T2" fmla="*/ 16 w 168"/>
                  <a:gd name="T3" fmla="*/ 17 h 165"/>
                  <a:gd name="T4" fmla="*/ 16 w 168"/>
                  <a:gd name="T5" fmla="*/ 75 h 165"/>
                  <a:gd name="T6" fmla="*/ 94 w 168"/>
                  <a:gd name="T7" fmla="*/ 153 h 165"/>
                  <a:gd name="T8" fmla="*/ 123 w 168"/>
                  <a:gd name="T9" fmla="*/ 165 h 165"/>
                  <a:gd name="T10" fmla="*/ 152 w 168"/>
                  <a:gd name="T11" fmla="*/ 153 h 165"/>
                  <a:gd name="T12" fmla="*/ 152 w 168"/>
                  <a:gd name="T13" fmla="*/ 94 h 165"/>
                  <a:gd name="T14" fmla="*/ 74 w 168"/>
                  <a:gd name="T15" fmla="*/ 17 h 1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 h="165">
                    <a:moveTo>
                      <a:pt x="74" y="17"/>
                    </a:moveTo>
                    <a:cubicBezTo>
                      <a:pt x="58" y="0"/>
                      <a:pt x="32" y="0"/>
                      <a:pt x="16" y="17"/>
                    </a:cubicBezTo>
                    <a:cubicBezTo>
                      <a:pt x="0" y="33"/>
                      <a:pt x="0" y="59"/>
                      <a:pt x="16" y="75"/>
                    </a:cubicBezTo>
                    <a:cubicBezTo>
                      <a:pt x="94" y="153"/>
                      <a:pt x="94" y="153"/>
                      <a:pt x="94" y="153"/>
                    </a:cubicBezTo>
                    <a:cubicBezTo>
                      <a:pt x="102" y="161"/>
                      <a:pt x="112" y="165"/>
                      <a:pt x="123" y="165"/>
                    </a:cubicBezTo>
                    <a:cubicBezTo>
                      <a:pt x="133" y="165"/>
                      <a:pt x="144" y="161"/>
                      <a:pt x="152" y="153"/>
                    </a:cubicBezTo>
                    <a:cubicBezTo>
                      <a:pt x="168" y="137"/>
                      <a:pt x="168" y="110"/>
                      <a:pt x="152" y="94"/>
                    </a:cubicBezTo>
                    <a:lnTo>
                      <a:pt x="74" y="17"/>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4" name="Freeform 1214">
                <a:extLst>
                  <a:ext uri="{FF2B5EF4-FFF2-40B4-BE49-F238E27FC236}">
                    <a16:creationId xmlns:a16="http://schemas.microsoft.com/office/drawing/2014/main" id="{04F0784C-1B80-490B-832C-E6F07DDADEC3}"/>
                  </a:ext>
                </a:extLst>
              </p:cNvPr>
              <p:cNvSpPr>
                <a:spLocks noEditPoints="1"/>
              </p:cNvSpPr>
              <p:nvPr/>
            </p:nvSpPr>
            <p:spPr bwMode="auto">
              <a:xfrm>
                <a:off x="-174" y="2747"/>
                <a:ext cx="568" cy="568"/>
              </a:xfrm>
              <a:custGeom>
                <a:avLst/>
                <a:gdLst>
                  <a:gd name="T0" fmla="*/ 853 w 1705"/>
                  <a:gd name="T1" fmla="*/ 0 h 1705"/>
                  <a:gd name="T2" fmla="*/ 0 w 1705"/>
                  <a:gd name="T3" fmla="*/ 852 h 1705"/>
                  <a:gd name="T4" fmla="*/ 853 w 1705"/>
                  <a:gd name="T5" fmla="*/ 1705 h 1705"/>
                  <a:gd name="T6" fmla="*/ 1705 w 1705"/>
                  <a:gd name="T7" fmla="*/ 852 h 1705"/>
                  <a:gd name="T8" fmla="*/ 853 w 1705"/>
                  <a:gd name="T9" fmla="*/ 0 h 1705"/>
                  <a:gd name="T10" fmla="*/ 853 w 1705"/>
                  <a:gd name="T11" fmla="*/ 1622 h 1705"/>
                  <a:gd name="T12" fmla="*/ 83 w 1705"/>
                  <a:gd name="T13" fmla="*/ 852 h 1705"/>
                  <a:gd name="T14" fmla="*/ 853 w 1705"/>
                  <a:gd name="T15" fmla="*/ 82 h 1705"/>
                  <a:gd name="T16" fmla="*/ 1623 w 1705"/>
                  <a:gd name="T17" fmla="*/ 852 h 1705"/>
                  <a:gd name="T18" fmla="*/ 853 w 1705"/>
                  <a:gd name="T19" fmla="*/ 1622 h 1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5" h="1705">
                    <a:moveTo>
                      <a:pt x="853" y="0"/>
                    </a:moveTo>
                    <a:cubicBezTo>
                      <a:pt x="382" y="0"/>
                      <a:pt x="0" y="382"/>
                      <a:pt x="0" y="852"/>
                    </a:cubicBezTo>
                    <a:cubicBezTo>
                      <a:pt x="0" y="1323"/>
                      <a:pt x="382" y="1705"/>
                      <a:pt x="853" y="1705"/>
                    </a:cubicBezTo>
                    <a:cubicBezTo>
                      <a:pt x="1324" y="1705"/>
                      <a:pt x="1705" y="1323"/>
                      <a:pt x="1705" y="852"/>
                    </a:cubicBezTo>
                    <a:cubicBezTo>
                      <a:pt x="1705" y="382"/>
                      <a:pt x="1324" y="0"/>
                      <a:pt x="853" y="0"/>
                    </a:cubicBezTo>
                    <a:close/>
                    <a:moveTo>
                      <a:pt x="853" y="1622"/>
                    </a:moveTo>
                    <a:cubicBezTo>
                      <a:pt x="428" y="1622"/>
                      <a:pt x="83" y="1277"/>
                      <a:pt x="83" y="852"/>
                    </a:cubicBezTo>
                    <a:cubicBezTo>
                      <a:pt x="83" y="428"/>
                      <a:pt x="428" y="82"/>
                      <a:pt x="853" y="82"/>
                    </a:cubicBezTo>
                    <a:cubicBezTo>
                      <a:pt x="1277" y="82"/>
                      <a:pt x="1623" y="428"/>
                      <a:pt x="1623" y="852"/>
                    </a:cubicBezTo>
                    <a:cubicBezTo>
                      <a:pt x="1623" y="1277"/>
                      <a:pt x="1277" y="1622"/>
                      <a:pt x="853" y="1622"/>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5" name="Freeform 1215">
                <a:extLst>
                  <a:ext uri="{FF2B5EF4-FFF2-40B4-BE49-F238E27FC236}">
                    <a16:creationId xmlns:a16="http://schemas.microsoft.com/office/drawing/2014/main" id="{A0369B57-CB3D-4EE4-AECA-DB3ED2A1AC73}"/>
                  </a:ext>
                </a:extLst>
              </p:cNvPr>
              <p:cNvSpPr>
                <a:spLocks noEditPoints="1"/>
              </p:cNvSpPr>
              <p:nvPr/>
            </p:nvSpPr>
            <p:spPr bwMode="auto">
              <a:xfrm>
                <a:off x="-257" y="2664"/>
                <a:ext cx="734" cy="734"/>
              </a:xfrm>
              <a:custGeom>
                <a:avLst/>
                <a:gdLst>
                  <a:gd name="T0" fmla="*/ 1100 w 2200"/>
                  <a:gd name="T1" fmla="*/ 0 h 2200"/>
                  <a:gd name="T2" fmla="*/ 0 w 2200"/>
                  <a:gd name="T3" fmla="*/ 1100 h 2200"/>
                  <a:gd name="T4" fmla="*/ 1100 w 2200"/>
                  <a:gd name="T5" fmla="*/ 2200 h 2200"/>
                  <a:gd name="T6" fmla="*/ 2200 w 2200"/>
                  <a:gd name="T7" fmla="*/ 1100 h 2200"/>
                  <a:gd name="T8" fmla="*/ 1100 w 2200"/>
                  <a:gd name="T9" fmla="*/ 0 h 2200"/>
                  <a:gd name="T10" fmla="*/ 1100 w 2200"/>
                  <a:gd name="T11" fmla="*/ 2035 h 2200"/>
                  <a:gd name="T12" fmla="*/ 165 w 2200"/>
                  <a:gd name="T13" fmla="*/ 1100 h 2200"/>
                  <a:gd name="T14" fmla="*/ 1100 w 2200"/>
                  <a:gd name="T15" fmla="*/ 165 h 2200"/>
                  <a:gd name="T16" fmla="*/ 2035 w 2200"/>
                  <a:gd name="T17" fmla="*/ 1100 h 2200"/>
                  <a:gd name="T18" fmla="*/ 1100 w 2200"/>
                  <a:gd name="T19" fmla="*/ 2035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00" h="2200">
                    <a:moveTo>
                      <a:pt x="1100" y="0"/>
                    </a:moveTo>
                    <a:cubicBezTo>
                      <a:pt x="492" y="0"/>
                      <a:pt x="0" y="493"/>
                      <a:pt x="0" y="1100"/>
                    </a:cubicBezTo>
                    <a:cubicBezTo>
                      <a:pt x="0" y="1708"/>
                      <a:pt x="492" y="2200"/>
                      <a:pt x="1100" y="2200"/>
                    </a:cubicBezTo>
                    <a:cubicBezTo>
                      <a:pt x="1707" y="2200"/>
                      <a:pt x="2200" y="1708"/>
                      <a:pt x="2200" y="1100"/>
                    </a:cubicBezTo>
                    <a:cubicBezTo>
                      <a:pt x="2200" y="493"/>
                      <a:pt x="1707" y="0"/>
                      <a:pt x="1100" y="0"/>
                    </a:cubicBezTo>
                    <a:close/>
                    <a:moveTo>
                      <a:pt x="1100" y="2035"/>
                    </a:moveTo>
                    <a:cubicBezTo>
                      <a:pt x="584" y="2035"/>
                      <a:pt x="165" y="1616"/>
                      <a:pt x="165" y="1100"/>
                    </a:cubicBezTo>
                    <a:cubicBezTo>
                      <a:pt x="165" y="585"/>
                      <a:pt x="584" y="165"/>
                      <a:pt x="1100" y="165"/>
                    </a:cubicBezTo>
                    <a:cubicBezTo>
                      <a:pt x="1615" y="165"/>
                      <a:pt x="2035" y="585"/>
                      <a:pt x="2035" y="1100"/>
                    </a:cubicBezTo>
                    <a:cubicBezTo>
                      <a:pt x="2035" y="1616"/>
                      <a:pt x="1615" y="2035"/>
                      <a:pt x="1100" y="2035"/>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6" name="Freeform 1216">
                <a:extLst>
                  <a:ext uri="{FF2B5EF4-FFF2-40B4-BE49-F238E27FC236}">
                    <a16:creationId xmlns:a16="http://schemas.microsoft.com/office/drawing/2014/main" id="{D4F9828E-CC01-43F0-A391-A22B1F5ACEB9}"/>
                  </a:ext>
                </a:extLst>
              </p:cNvPr>
              <p:cNvSpPr>
                <a:spLocks/>
              </p:cNvSpPr>
              <p:nvPr/>
            </p:nvSpPr>
            <p:spPr bwMode="auto">
              <a:xfrm>
                <a:off x="64" y="3214"/>
                <a:ext cx="92" cy="28"/>
              </a:xfrm>
              <a:custGeom>
                <a:avLst/>
                <a:gdLst>
                  <a:gd name="T0" fmla="*/ 234 w 275"/>
                  <a:gd name="T1" fmla="*/ 0 h 83"/>
                  <a:gd name="T2" fmla="*/ 41 w 275"/>
                  <a:gd name="T3" fmla="*/ 0 h 83"/>
                  <a:gd name="T4" fmla="*/ 0 w 275"/>
                  <a:gd name="T5" fmla="*/ 42 h 83"/>
                  <a:gd name="T6" fmla="*/ 41 w 275"/>
                  <a:gd name="T7" fmla="*/ 83 h 83"/>
                  <a:gd name="T8" fmla="*/ 234 w 275"/>
                  <a:gd name="T9" fmla="*/ 83 h 83"/>
                  <a:gd name="T10" fmla="*/ 275 w 275"/>
                  <a:gd name="T11" fmla="*/ 42 h 83"/>
                  <a:gd name="T12" fmla="*/ 234 w 275"/>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275" h="83">
                    <a:moveTo>
                      <a:pt x="234" y="0"/>
                    </a:moveTo>
                    <a:cubicBezTo>
                      <a:pt x="41" y="0"/>
                      <a:pt x="41" y="0"/>
                      <a:pt x="41" y="0"/>
                    </a:cubicBezTo>
                    <a:cubicBezTo>
                      <a:pt x="19" y="0"/>
                      <a:pt x="0" y="19"/>
                      <a:pt x="0" y="42"/>
                    </a:cubicBezTo>
                    <a:cubicBezTo>
                      <a:pt x="0" y="64"/>
                      <a:pt x="19" y="83"/>
                      <a:pt x="41" y="83"/>
                    </a:cubicBezTo>
                    <a:cubicBezTo>
                      <a:pt x="234" y="83"/>
                      <a:pt x="234" y="83"/>
                      <a:pt x="234" y="83"/>
                    </a:cubicBezTo>
                    <a:cubicBezTo>
                      <a:pt x="257" y="83"/>
                      <a:pt x="275" y="64"/>
                      <a:pt x="275" y="42"/>
                    </a:cubicBezTo>
                    <a:cubicBezTo>
                      <a:pt x="275" y="19"/>
                      <a:pt x="257" y="0"/>
                      <a:pt x="234" y="0"/>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7" name="Freeform 1217">
                <a:extLst>
                  <a:ext uri="{FF2B5EF4-FFF2-40B4-BE49-F238E27FC236}">
                    <a16:creationId xmlns:a16="http://schemas.microsoft.com/office/drawing/2014/main" id="{25B8592A-88C8-47F3-AD6B-45D88C51EDDA}"/>
                  </a:ext>
                </a:extLst>
              </p:cNvPr>
              <p:cNvSpPr>
                <a:spLocks/>
              </p:cNvSpPr>
              <p:nvPr/>
            </p:nvSpPr>
            <p:spPr bwMode="auto">
              <a:xfrm>
                <a:off x="64" y="2985"/>
                <a:ext cx="274" cy="117"/>
              </a:xfrm>
              <a:custGeom>
                <a:avLst/>
                <a:gdLst>
                  <a:gd name="T0" fmla="*/ 785 w 820"/>
                  <a:gd name="T1" fmla="*/ 268 h 349"/>
                  <a:gd name="T2" fmla="*/ 260 w 820"/>
                  <a:gd name="T3" fmla="*/ 128 h 349"/>
                  <a:gd name="T4" fmla="*/ 256 w 820"/>
                  <a:gd name="T5" fmla="*/ 105 h 349"/>
                  <a:gd name="T6" fmla="*/ 105 w 820"/>
                  <a:gd name="T7" fmla="*/ 18 h 349"/>
                  <a:gd name="T8" fmla="*/ 17 w 820"/>
                  <a:gd name="T9" fmla="*/ 169 h 349"/>
                  <a:gd name="T10" fmla="*/ 169 w 820"/>
                  <a:gd name="T11" fmla="*/ 257 h 349"/>
                  <a:gd name="T12" fmla="*/ 238 w 820"/>
                  <a:gd name="T13" fmla="*/ 207 h 349"/>
                  <a:gd name="T14" fmla="*/ 764 w 820"/>
                  <a:gd name="T15" fmla="*/ 348 h 349"/>
                  <a:gd name="T16" fmla="*/ 774 w 820"/>
                  <a:gd name="T17" fmla="*/ 349 h 349"/>
                  <a:gd name="T18" fmla="*/ 814 w 820"/>
                  <a:gd name="T19" fmla="*/ 319 h 349"/>
                  <a:gd name="T20" fmla="*/ 785 w 820"/>
                  <a:gd name="T21" fmla="*/ 268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0" h="349">
                    <a:moveTo>
                      <a:pt x="785" y="268"/>
                    </a:moveTo>
                    <a:cubicBezTo>
                      <a:pt x="260" y="128"/>
                      <a:pt x="260" y="128"/>
                      <a:pt x="260" y="128"/>
                    </a:cubicBezTo>
                    <a:cubicBezTo>
                      <a:pt x="259" y="120"/>
                      <a:pt x="258" y="113"/>
                      <a:pt x="256" y="105"/>
                    </a:cubicBezTo>
                    <a:cubicBezTo>
                      <a:pt x="239" y="39"/>
                      <a:pt x="171" y="0"/>
                      <a:pt x="105" y="18"/>
                    </a:cubicBezTo>
                    <a:cubicBezTo>
                      <a:pt x="39" y="36"/>
                      <a:pt x="0" y="103"/>
                      <a:pt x="17" y="169"/>
                    </a:cubicBezTo>
                    <a:cubicBezTo>
                      <a:pt x="35" y="235"/>
                      <a:pt x="103" y="275"/>
                      <a:pt x="169" y="257"/>
                    </a:cubicBezTo>
                    <a:cubicBezTo>
                      <a:pt x="198" y="249"/>
                      <a:pt x="222" y="231"/>
                      <a:pt x="238" y="207"/>
                    </a:cubicBezTo>
                    <a:cubicBezTo>
                      <a:pt x="764" y="348"/>
                      <a:pt x="764" y="348"/>
                      <a:pt x="764" y="348"/>
                    </a:cubicBezTo>
                    <a:cubicBezTo>
                      <a:pt x="767" y="349"/>
                      <a:pt x="771" y="349"/>
                      <a:pt x="774" y="349"/>
                    </a:cubicBezTo>
                    <a:cubicBezTo>
                      <a:pt x="793" y="349"/>
                      <a:pt x="809" y="337"/>
                      <a:pt x="814" y="319"/>
                    </a:cubicBezTo>
                    <a:cubicBezTo>
                      <a:pt x="820" y="297"/>
                      <a:pt x="807" y="274"/>
                      <a:pt x="785" y="268"/>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8" name="Freeform 1218">
                <a:extLst>
                  <a:ext uri="{FF2B5EF4-FFF2-40B4-BE49-F238E27FC236}">
                    <a16:creationId xmlns:a16="http://schemas.microsoft.com/office/drawing/2014/main" id="{B629D89D-E995-472F-A296-39BE7A05FD23}"/>
                  </a:ext>
                </a:extLst>
              </p:cNvPr>
              <p:cNvSpPr>
                <a:spLocks/>
              </p:cNvSpPr>
              <p:nvPr/>
            </p:nvSpPr>
            <p:spPr bwMode="auto">
              <a:xfrm>
                <a:off x="27" y="3159"/>
                <a:ext cx="165" cy="28"/>
              </a:xfrm>
              <a:custGeom>
                <a:avLst/>
                <a:gdLst>
                  <a:gd name="T0" fmla="*/ 454 w 495"/>
                  <a:gd name="T1" fmla="*/ 0 h 83"/>
                  <a:gd name="T2" fmla="*/ 42 w 495"/>
                  <a:gd name="T3" fmla="*/ 0 h 83"/>
                  <a:gd name="T4" fmla="*/ 0 w 495"/>
                  <a:gd name="T5" fmla="*/ 42 h 83"/>
                  <a:gd name="T6" fmla="*/ 42 w 495"/>
                  <a:gd name="T7" fmla="*/ 83 h 83"/>
                  <a:gd name="T8" fmla="*/ 454 w 495"/>
                  <a:gd name="T9" fmla="*/ 83 h 83"/>
                  <a:gd name="T10" fmla="*/ 495 w 495"/>
                  <a:gd name="T11" fmla="*/ 42 h 83"/>
                  <a:gd name="T12" fmla="*/ 454 w 495"/>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495" h="83">
                    <a:moveTo>
                      <a:pt x="454" y="0"/>
                    </a:moveTo>
                    <a:cubicBezTo>
                      <a:pt x="42" y="0"/>
                      <a:pt x="42" y="0"/>
                      <a:pt x="42" y="0"/>
                    </a:cubicBezTo>
                    <a:cubicBezTo>
                      <a:pt x="19" y="0"/>
                      <a:pt x="0" y="19"/>
                      <a:pt x="0" y="42"/>
                    </a:cubicBezTo>
                    <a:cubicBezTo>
                      <a:pt x="0" y="64"/>
                      <a:pt x="19" y="83"/>
                      <a:pt x="42" y="83"/>
                    </a:cubicBezTo>
                    <a:cubicBezTo>
                      <a:pt x="454" y="83"/>
                      <a:pt x="454" y="83"/>
                      <a:pt x="454" y="83"/>
                    </a:cubicBezTo>
                    <a:cubicBezTo>
                      <a:pt x="477" y="83"/>
                      <a:pt x="495" y="64"/>
                      <a:pt x="495" y="42"/>
                    </a:cubicBezTo>
                    <a:cubicBezTo>
                      <a:pt x="495" y="19"/>
                      <a:pt x="477" y="0"/>
                      <a:pt x="454" y="0"/>
                    </a:cubicBez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76" name="Rectangle: Rounded Corners 175">
              <a:extLst>
                <a:ext uri="{FF2B5EF4-FFF2-40B4-BE49-F238E27FC236}">
                  <a16:creationId xmlns:a16="http://schemas.microsoft.com/office/drawing/2014/main" id="{4D2B7291-E48D-49A4-8835-84D7D40AF5DF}"/>
                </a:ext>
              </a:extLst>
            </p:cNvPr>
            <p:cNvSpPr/>
            <p:nvPr/>
          </p:nvSpPr>
          <p:spPr bwMode="auto">
            <a:xfrm>
              <a:off x="4610122" y="3897621"/>
              <a:ext cx="1704512" cy="586978"/>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chemeClr val="bg1"/>
                  </a:solidFill>
                  <a:latin typeface="Arial"/>
                </a:rPr>
                <a:t>early stopping at interim for efficacy</a:t>
              </a:r>
            </a:p>
          </p:txBody>
        </p:sp>
      </p:grpSp>
      <p:grpSp>
        <p:nvGrpSpPr>
          <p:cNvPr id="66" name="Group 65">
            <a:extLst>
              <a:ext uri="{FF2B5EF4-FFF2-40B4-BE49-F238E27FC236}">
                <a16:creationId xmlns:a16="http://schemas.microsoft.com/office/drawing/2014/main" id="{ACDF5C6A-C5B6-4E6C-B68E-69F7535AF23A}"/>
              </a:ext>
            </a:extLst>
          </p:cNvPr>
          <p:cNvGrpSpPr/>
          <p:nvPr/>
        </p:nvGrpSpPr>
        <p:grpSpPr>
          <a:xfrm>
            <a:off x="561043" y="3136959"/>
            <a:ext cx="1704512" cy="1214658"/>
            <a:chOff x="173036" y="3323716"/>
            <a:chExt cx="1704512" cy="1214658"/>
          </a:xfrm>
        </p:grpSpPr>
        <p:grpSp>
          <p:nvGrpSpPr>
            <p:cNvPr id="146" name="Group 145">
              <a:extLst>
                <a:ext uri="{FF2B5EF4-FFF2-40B4-BE49-F238E27FC236}">
                  <a16:creationId xmlns:a16="http://schemas.microsoft.com/office/drawing/2014/main" id="{073ABDC3-9B3B-42D0-8585-8686C70AF9DE}"/>
                </a:ext>
              </a:extLst>
            </p:cNvPr>
            <p:cNvGrpSpPr/>
            <p:nvPr/>
          </p:nvGrpSpPr>
          <p:grpSpPr>
            <a:xfrm>
              <a:off x="173036" y="3323716"/>
              <a:ext cx="1704512" cy="1214658"/>
              <a:chOff x="1568902" y="3204000"/>
              <a:chExt cx="1704512" cy="1214658"/>
            </a:xfrm>
          </p:grpSpPr>
          <p:sp>
            <p:nvSpPr>
              <p:cNvPr id="47" name="Rectangle: Rounded Corners 46">
                <a:extLst>
                  <a:ext uri="{FF2B5EF4-FFF2-40B4-BE49-F238E27FC236}">
                    <a16:creationId xmlns:a16="http://schemas.microsoft.com/office/drawing/2014/main" id="{B16165C2-C8E1-4E76-8EBF-5125142AA4DF}"/>
                  </a:ext>
                </a:extLst>
              </p:cNvPr>
              <p:cNvSpPr/>
              <p:nvPr/>
            </p:nvSpPr>
            <p:spPr bwMode="auto">
              <a:xfrm>
                <a:off x="1568902" y="3819277"/>
                <a:ext cx="1704512" cy="599381"/>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chemeClr val="bg1"/>
                    </a:solidFill>
                    <a:latin typeface="Arial"/>
                  </a:rPr>
                  <a:t>several subgroups</a:t>
                </a:r>
              </a:p>
            </p:txBody>
          </p:sp>
          <p:grpSp>
            <p:nvGrpSpPr>
              <p:cNvPr id="61" name="Group 9">
                <a:extLst>
                  <a:ext uri="{FF2B5EF4-FFF2-40B4-BE49-F238E27FC236}">
                    <a16:creationId xmlns:a16="http://schemas.microsoft.com/office/drawing/2014/main" id="{83531A3A-6D86-48F5-98C9-B68982C5ABCB}"/>
                  </a:ext>
                </a:extLst>
              </p:cNvPr>
              <p:cNvGrpSpPr>
                <a:grpSpLocks noChangeAspect="1"/>
              </p:cNvGrpSpPr>
              <p:nvPr/>
            </p:nvGrpSpPr>
            <p:grpSpPr bwMode="auto">
              <a:xfrm>
                <a:off x="2433341" y="3205703"/>
                <a:ext cx="180956" cy="525600"/>
                <a:chOff x="711" y="12"/>
                <a:chExt cx="1488" cy="4322"/>
              </a:xfrm>
              <a:solidFill>
                <a:schemeClr val="bg2"/>
              </a:solidFill>
            </p:grpSpPr>
            <p:sp>
              <p:nvSpPr>
                <p:cNvPr id="62" name="Freeform 10">
                  <a:extLst>
                    <a:ext uri="{FF2B5EF4-FFF2-40B4-BE49-F238E27FC236}">
                      <a16:creationId xmlns:a16="http://schemas.microsoft.com/office/drawing/2014/main" id="{69B8BBD0-B4FE-46B4-8BA2-8C7E7F668D70}"/>
                    </a:ext>
                  </a:extLst>
                </p:cNvPr>
                <p:cNvSpPr>
                  <a:spLocks noEditPoints="1"/>
                </p:cNvSpPr>
                <p:nvPr/>
              </p:nvSpPr>
              <p:spPr bwMode="auto">
                <a:xfrm>
                  <a:off x="1089" y="12"/>
                  <a:ext cx="734" cy="941"/>
                </a:xfrm>
                <a:custGeom>
                  <a:avLst/>
                  <a:gdLst>
                    <a:gd name="T0" fmla="*/ 186 w 373"/>
                    <a:gd name="T1" fmla="*/ 0 h 479"/>
                    <a:gd name="T2" fmla="*/ 0 w 373"/>
                    <a:gd name="T3" fmla="*/ 187 h 479"/>
                    <a:gd name="T4" fmla="*/ 0 w 373"/>
                    <a:gd name="T5" fmla="*/ 293 h 479"/>
                    <a:gd name="T6" fmla="*/ 186 w 373"/>
                    <a:gd name="T7" fmla="*/ 479 h 479"/>
                    <a:gd name="T8" fmla="*/ 373 w 373"/>
                    <a:gd name="T9" fmla="*/ 293 h 479"/>
                    <a:gd name="T10" fmla="*/ 373 w 373"/>
                    <a:gd name="T11" fmla="*/ 187 h 479"/>
                    <a:gd name="T12" fmla="*/ 186 w 373"/>
                    <a:gd name="T13" fmla="*/ 0 h 479"/>
                    <a:gd name="T14" fmla="*/ 331 w 373"/>
                    <a:gd name="T15" fmla="*/ 293 h 479"/>
                    <a:gd name="T16" fmla="*/ 186 w 373"/>
                    <a:gd name="T17" fmla="*/ 438 h 479"/>
                    <a:gd name="T18" fmla="*/ 42 w 373"/>
                    <a:gd name="T19" fmla="*/ 293 h 479"/>
                    <a:gd name="T20" fmla="*/ 42 w 373"/>
                    <a:gd name="T21" fmla="*/ 203 h 479"/>
                    <a:gd name="T22" fmla="*/ 111 w 373"/>
                    <a:gd name="T23" fmla="*/ 134 h 479"/>
                    <a:gd name="T24" fmla="*/ 111 w 373"/>
                    <a:gd name="T25" fmla="*/ 134 h 479"/>
                    <a:gd name="T26" fmla="*/ 186 w 373"/>
                    <a:gd name="T27" fmla="*/ 142 h 479"/>
                    <a:gd name="T28" fmla="*/ 312 w 373"/>
                    <a:gd name="T29" fmla="*/ 115 h 479"/>
                    <a:gd name="T30" fmla="*/ 331 w 373"/>
                    <a:gd name="T31" fmla="*/ 187 h 479"/>
                    <a:gd name="T32" fmla="*/ 331 w 373"/>
                    <a:gd name="T33" fmla="*/ 293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3" h="479">
                      <a:moveTo>
                        <a:pt x="186" y="0"/>
                      </a:moveTo>
                      <a:cubicBezTo>
                        <a:pt x="84" y="0"/>
                        <a:pt x="0" y="84"/>
                        <a:pt x="0" y="187"/>
                      </a:cubicBezTo>
                      <a:cubicBezTo>
                        <a:pt x="0" y="293"/>
                        <a:pt x="0" y="293"/>
                        <a:pt x="0" y="293"/>
                      </a:cubicBezTo>
                      <a:cubicBezTo>
                        <a:pt x="0" y="396"/>
                        <a:pt x="84" y="479"/>
                        <a:pt x="186" y="479"/>
                      </a:cubicBezTo>
                      <a:cubicBezTo>
                        <a:pt x="289" y="479"/>
                        <a:pt x="373" y="396"/>
                        <a:pt x="373" y="293"/>
                      </a:cubicBezTo>
                      <a:cubicBezTo>
                        <a:pt x="373" y="187"/>
                        <a:pt x="373" y="187"/>
                        <a:pt x="373" y="187"/>
                      </a:cubicBezTo>
                      <a:cubicBezTo>
                        <a:pt x="373" y="84"/>
                        <a:pt x="289" y="0"/>
                        <a:pt x="186" y="0"/>
                      </a:cubicBezTo>
                      <a:moveTo>
                        <a:pt x="331" y="293"/>
                      </a:moveTo>
                      <a:cubicBezTo>
                        <a:pt x="331" y="373"/>
                        <a:pt x="266" y="438"/>
                        <a:pt x="186" y="438"/>
                      </a:cubicBezTo>
                      <a:cubicBezTo>
                        <a:pt x="107" y="438"/>
                        <a:pt x="42" y="373"/>
                        <a:pt x="42" y="293"/>
                      </a:cubicBezTo>
                      <a:cubicBezTo>
                        <a:pt x="42" y="203"/>
                        <a:pt x="42" y="203"/>
                        <a:pt x="42" y="203"/>
                      </a:cubicBezTo>
                      <a:cubicBezTo>
                        <a:pt x="42" y="165"/>
                        <a:pt x="73" y="134"/>
                        <a:pt x="111" y="134"/>
                      </a:cubicBezTo>
                      <a:cubicBezTo>
                        <a:pt x="111" y="134"/>
                        <a:pt x="111" y="134"/>
                        <a:pt x="111" y="134"/>
                      </a:cubicBezTo>
                      <a:cubicBezTo>
                        <a:pt x="133" y="139"/>
                        <a:pt x="159" y="142"/>
                        <a:pt x="186" y="142"/>
                      </a:cubicBezTo>
                      <a:cubicBezTo>
                        <a:pt x="239" y="142"/>
                        <a:pt x="286" y="131"/>
                        <a:pt x="312" y="115"/>
                      </a:cubicBezTo>
                      <a:cubicBezTo>
                        <a:pt x="324" y="136"/>
                        <a:pt x="331" y="160"/>
                        <a:pt x="331" y="187"/>
                      </a:cubicBezTo>
                      <a:lnTo>
                        <a:pt x="331" y="2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Freeform 11">
                  <a:extLst>
                    <a:ext uri="{FF2B5EF4-FFF2-40B4-BE49-F238E27FC236}">
                      <a16:creationId xmlns:a16="http://schemas.microsoft.com/office/drawing/2014/main" id="{772E13D4-244C-4B27-9F30-149A3791321A}"/>
                    </a:ext>
                  </a:extLst>
                </p:cNvPr>
                <p:cNvSpPr>
                  <a:spLocks noEditPoints="1"/>
                </p:cNvSpPr>
                <p:nvPr/>
              </p:nvSpPr>
              <p:spPr bwMode="auto">
                <a:xfrm>
                  <a:off x="711" y="912"/>
                  <a:ext cx="1488" cy="3422"/>
                </a:xfrm>
                <a:custGeom>
                  <a:avLst/>
                  <a:gdLst>
                    <a:gd name="T0" fmla="*/ 753 w 756"/>
                    <a:gd name="T1" fmla="*/ 730 h 1742"/>
                    <a:gd name="T2" fmla="*/ 753 w 756"/>
                    <a:gd name="T3" fmla="*/ 730 h 1742"/>
                    <a:gd name="T4" fmla="*/ 717 w 756"/>
                    <a:gd name="T5" fmla="*/ 138 h 1742"/>
                    <a:gd name="T6" fmla="*/ 678 w 756"/>
                    <a:gd name="T7" fmla="*/ 78 h 1742"/>
                    <a:gd name="T8" fmla="*/ 521 w 756"/>
                    <a:gd name="T9" fmla="*/ 0 h 1742"/>
                    <a:gd name="T10" fmla="*/ 424 w 756"/>
                    <a:gd name="T11" fmla="*/ 308 h 1742"/>
                    <a:gd name="T12" fmla="*/ 398 w 756"/>
                    <a:gd name="T13" fmla="*/ 142 h 1742"/>
                    <a:gd name="T14" fmla="*/ 434 w 756"/>
                    <a:gd name="T15" fmla="*/ 90 h 1742"/>
                    <a:gd name="T16" fmla="*/ 434 w 756"/>
                    <a:gd name="T17" fmla="*/ 90 h 1742"/>
                    <a:gd name="T18" fmla="*/ 434 w 756"/>
                    <a:gd name="T19" fmla="*/ 72 h 1742"/>
                    <a:gd name="T20" fmla="*/ 412 w 756"/>
                    <a:gd name="T21" fmla="*/ 50 h 1742"/>
                    <a:gd name="T22" fmla="*/ 344 w 756"/>
                    <a:gd name="T23" fmla="*/ 50 h 1742"/>
                    <a:gd name="T24" fmla="*/ 322 w 756"/>
                    <a:gd name="T25" fmla="*/ 72 h 1742"/>
                    <a:gd name="T26" fmla="*/ 322 w 756"/>
                    <a:gd name="T27" fmla="*/ 90 h 1742"/>
                    <a:gd name="T28" fmla="*/ 358 w 756"/>
                    <a:gd name="T29" fmla="*/ 142 h 1742"/>
                    <a:gd name="T30" fmla="*/ 336 w 756"/>
                    <a:gd name="T31" fmla="*/ 304 h 1742"/>
                    <a:gd name="T32" fmla="*/ 236 w 756"/>
                    <a:gd name="T33" fmla="*/ 0 h 1742"/>
                    <a:gd name="T34" fmla="*/ 79 w 756"/>
                    <a:gd name="T35" fmla="*/ 78 h 1742"/>
                    <a:gd name="T36" fmla="*/ 39 w 756"/>
                    <a:gd name="T37" fmla="*/ 138 h 1742"/>
                    <a:gd name="T38" fmla="*/ 3 w 756"/>
                    <a:gd name="T39" fmla="*/ 730 h 1742"/>
                    <a:gd name="T40" fmla="*/ 3 w 756"/>
                    <a:gd name="T41" fmla="*/ 730 h 1742"/>
                    <a:gd name="T42" fmla="*/ 0 w 756"/>
                    <a:gd name="T43" fmla="*/ 771 h 1742"/>
                    <a:gd name="T44" fmla="*/ 119 w 756"/>
                    <a:gd name="T45" fmla="*/ 926 h 1742"/>
                    <a:gd name="T46" fmla="*/ 119 w 756"/>
                    <a:gd name="T47" fmla="*/ 1742 h 1742"/>
                    <a:gd name="T48" fmla="*/ 218 w 756"/>
                    <a:gd name="T49" fmla="*/ 1742 h 1742"/>
                    <a:gd name="T50" fmla="*/ 264 w 756"/>
                    <a:gd name="T51" fmla="*/ 1701 h 1742"/>
                    <a:gd name="T52" fmla="*/ 355 w 756"/>
                    <a:gd name="T53" fmla="*/ 931 h 1742"/>
                    <a:gd name="T54" fmla="*/ 401 w 756"/>
                    <a:gd name="T55" fmla="*/ 931 h 1742"/>
                    <a:gd name="T56" fmla="*/ 492 w 756"/>
                    <a:gd name="T57" fmla="*/ 1701 h 1742"/>
                    <a:gd name="T58" fmla="*/ 538 w 756"/>
                    <a:gd name="T59" fmla="*/ 1742 h 1742"/>
                    <a:gd name="T60" fmla="*/ 637 w 756"/>
                    <a:gd name="T61" fmla="*/ 1742 h 1742"/>
                    <a:gd name="T62" fmla="*/ 637 w 756"/>
                    <a:gd name="T63" fmla="*/ 926 h 1742"/>
                    <a:gd name="T64" fmla="*/ 756 w 756"/>
                    <a:gd name="T65" fmla="*/ 771 h 1742"/>
                    <a:gd name="T66" fmla="*/ 753 w 756"/>
                    <a:gd name="T67" fmla="*/ 730 h 1742"/>
                    <a:gd name="T68" fmla="*/ 119 w 756"/>
                    <a:gd name="T69" fmla="*/ 882 h 1742"/>
                    <a:gd name="T70" fmla="*/ 42 w 756"/>
                    <a:gd name="T71" fmla="*/ 772 h 1742"/>
                    <a:gd name="T72" fmla="*/ 42 w 756"/>
                    <a:gd name="T73" fmla="*/ 771 h 1742"/>
                    <a:gd name="T74" fmla="*/ 119 w 756"/>
                    <a:gd name="T75" fmla="*/ 771 h 1742"/>
                    <a:gd name="T76" fmla="*/ 119 w 756"/>
                    <a:gd name="T77" fmla="*/ 882 h 1742"/>
                    <a:gd name="T78" fmla="*/ 637 w 756"/>
                    <a:gd name="T79" fmla="*/ 882 h 1742"/>
                    <a:gd name="T80" fmla="*/ 637 w 756"/>
                    <a:gd name="T81" fmla="*/ 771 h 1742"/>
                    <a:gd name="T82" fmla="*/ 715 w 756"/>
                    <a:gd name="T83" fmla="*/ 771 h 1742"/>
                    <a:gd name="T84" fmla="*/ 715 w 756"/>
                    <a:gd name="T85" fmla="*/ 772 h 1742"/>
                    <a:gd name="T86" fmla="*/ 637 w 756"/>
                    <a:gd name="T87" fmla="*/ 882 h 1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56" h="1742">
                      <a:moveTo>
                        <a:pt x="753" y="730"/>
                      </a:moveTo>
                      <a:cubicBezTo>
                        <a:pt x="753" y="730"/>
                        <a:pt x="753" y="730"/>
                        <a:pt x="753" y="730"/>
                      </a:cubicBezTo>
                      <a:cubicBezTo>
                        <a:pt x="717" y="138"/>
                        <a:pt x="717" y="138"/>
                        <a:pt x="717" y="138"/>
                      </a:cubicBezTo>
                      <a:cubicBezTo>
                        <a:pt x="714" y="105"/>
                        <a:pt x="698" y="88"/>
                        <a:pt x="678" y="78"/>
                      </a:cubicBezTo>
                      <a:cubicBezTo>
                        <a:pt x="521" y="0"/>
                        <a:pt x="521" y="0"/>
                        <a:pt x="521" y="0"/>
                      </a:cubicBezTo>
                      <a:cubicBezTo>
                        <a:pt x="424" y="308"/>
                        <a:pt x="424" y="308"/>
                        <a:pt x="424" y="308"/>
                      </a:cubicBezTo>
                      <a:cubicBezTo>
                        <a:pt x="398" y="142"/>
                        <a:pt x="398" y="142"/>
                        <a:pt x="398" y="142"/>
                      </a:cubicBezTo>
                      <a:cubicBezTo>
                        <a:pt x="419" y="134"/>
                        <a:pt x="434" y="114"/>
                        <a:pt x="434" y="90"/>
                      </a:cubicBezTo>
                      <a:cubicBezTo>
                        <a:pt x="434" y="90"/>
                        <a:pt x="434" y="90"/>
                        <a:pt x="434" y="90"/>
                      </a:cubicBezTo>
                      <a:cubicBezTo>
                        <a:pt x="434" y="72"/>
                        <a:pt x="434" y="72"/>
                        <a:pt x="434" y="72"/>
                      </a:cubicBezTo>
                      <a:cubicBezTo>
                        <a:pt x="434" y="60"/>
                        <a:pt x="424" y="50"/>
                        <a:pt x="412" y="50"/>
                      </a:cubicBezTo>
                      <a:cubicBezTo>
                        <a:pt x="344" y="50"/>
                        <a:pt x="344" y="50"/>
                        <a:pt x="344" y="50"/>
                      </a:cubicBezTo>
                      <a:cubicBezTo>
                        <a:pt x="332" y="50"/>
                        <a:pt x="322" y="60"/>
                        <a:pt x="322" y="72"/>
                      </a:cubicBezTo>
                      <a:cubicBezTo>
                        <a:pt x="322" y="90"/>
                        <a:pt x="322" y="90"/>
                        <a:pt x="322" y="90"/>
                      </a:cubicBezTo>
                      <a:cubicBezTo>
                        <a:pt x="322" y="114"/>
                        <a:pt x="337" y="134"/>
                        <a:pt x="358" y="142"/>
                      </a:cubicBezTo>
                      <a:cubicBezTo>
                        <a:pt x="336" y="304"/>
                        <a:pt x="336" y="304"/>
                        <a:pt x="336" y="304"/>
                      </a:cubicBezTo>
                      <a:cubicBezTo>
                        <a:pt x="236" y="0"/>
                        <a:pt x="236" y="0"/>
                        <a:pt x="236" y="0"/>
                      </a:cubicBezTo>
                      <a:cubicBezTo>
                        <a:pt x="79" y="78"/>
                        <a:pt x="79" y="78"/>
                        <a:pt x="79" y="78"/>
                      </a:cubicBezTo>
                      <a:cubicBezTo>
                        <a:pt x="58" y="88"/>
                        <a:pt x="43" y="102"/>
                        <a:pt x="39" y="138"/>
                      </a:cubicBezTo>
                      <a:cubicBezTo>
                        <a:pt x="3" y="730"/>
                        <a:pt x="3" y="730"/>
                        <a:pt x="3" y="730"/>
                      </a:cubicBezTo>
                      <a:cubicBezTo>
                        <a:pt x="3" y="730"/>
                        <a:pt x="3" y="730"/>
                        <a:pt x="3" y="730"/>
                      </a:cubicBezTo>
                      <a:cubicBezTo>
                        <a:pt x="0" y="771"/>
                        <a:pt x="0" y="771"/>
                        <a:pt x="0" y="771"/>
                      </a:cubicBezTo>
                      <a:cubicBezTo>
                        <a:pt x="0" y="845"/>
                        <a:pt x="51" y="907"/>
                        <a:pt x="119" y="926"/>
                      </a:cubicBezTo>
                      <a:cubicBezTo>
                        <a:pt x="119" y="1742"/>
                        <a:pt x="119" y="1742"/>
                        <a:pt x="119" y="1742"/>
                      </a:cubicBezTo>
                      <a:cubicBezTo>
                        <a:pt x="218" y="1742"/>
                        <a:pt x="218" y="1742"/>
                        <a:pt x="218" y="1742"/>
                      </a:cubicBezTo>
                      <a:cubicBezTo>
                        <a:pt x="241" y="1742"/>
                        <a:pt x="262" y="1724"/>
                        <a:pt x="264" y="1701"/>
                      </a:cubicBezTo>
                      <a:cubicBezTo>
                        <a:pt x="355" y="931"/>
                        <a:pt x="355" y="931"/>
                        <a:pt x="355" y="931"/>
                      </a:cubicBezTo>
                      <a:cubicBezTo>
                        <a:pt x="401" y="931"/>
                        <a:pt x="401" y="931"/>
                        <a:pt x="401" y="931"/>
                      </a:cubicBezTo>
                      <a:cubicBezTo>
                        <a:pt x="492" y="1701"/>
                        <a:pt x="492" y="1701"/>
                        <a:pt x="492" y="1701"/>
                      </a:cubicBezTo>
                      <a:cubicBezTo>
                        <a:pt x="495" y="1724"/>
                        <a:pt x="515" y="1742"/>
                        <a:pt x="538" y="1742"/>
                      </a:cubicBezTo>
                      <a:cubicBezTo>
                        <a:pt x="637" y="1742"/>
                        <a:pt x="637" y="1742"/>
                        <a:pt x="637" y="1742"/>
                      </a:cubicBezTo>
                      <a:cubicBezTo>
                        <a:pt x="637" y="926"/>
                        <a:pt x="637" y="926"/>
                        <a:pt x="637" y="926"/>
                      </a:cubicBezTo>
                      <a:cubicBezTo>
                        <a:pt x="706" y="907"/>
                        <a:pt x="756" y="845"/>
                        <a:pt x="756" y="771"/>
                      </a:cubicBezTo>
                      <a:lnTo>
                        <a:pt x="753" y="730"/>
                      </a:lnTo>
                      <a:close/>
                      <a:moveTo>
                        <a:pt x="119" y="882"/>
                      </a:moveTo>
                      <a:cubicBezTo>
                        <a:pt x="74" y="866"/>
                        <a:pt x="42" y="823"/>
                        <a:pt x="42" y="772"/>
                      </a:cubicBezTo>
                      <a:cubicBezTo>
                        <a:pt x="42" y="771"/>
                        <a:pt x="42" y="771"/>
                        <a:pt x="42" y="771"/>
                      </a:cubicBezTo>
                      <a:cubicBezTo>
                        <a:pt x="119" y="771"/>
                        <a:pt x="119" y="771"/>
                        <a:pt x="119" y="771"/>
                      </a:cubicBezTo>
                      <a:lnTo>
                        <a:pt x="119" y="882"/>
                      </a:lnTo>
                      <a:close/>
                      <a:moveTo>
                        <a:pt x="637" y="882"/>
                      </a:moveTo>
                      <a:cubicBezTo>
                        <a:pt x="637" y="771"/>
                        <a:pt x="637" y="771"/>
                        <a:pt x="637" y="771"/>
                      </a:cubicBezTo>
                      <a:cubicBezTo>
                        <a:pt x="715" y="771"/>
                        <a:pt x="715" y="771"/>
                        <a:pt x="715" y="771"/>
                      </a:cubicBezTo>
                      <a:cubicBezTo>
                        <a:pt x="715" y="772"/>
                        <a:pt x="715" y="772"/>
                        <a:pt x="715" y="772"/>
                      </a:cubicBezTo>
                      <a:cubicBezTo>
                        <a:pt x="714" y="823"/>
                        <a:pt x="682" y="866"/>
                        <a:pt x="637" y="88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67" name="Group 66">
                <a:extLst>
                  <a:ext uri="{FF2B5EF4-FFF2-40B4-BE49-F238E27FC236}">
                    <a16:creationId xmlns:a16="http://schemas.microsoft.com/office/drawing/2014/main" id="{4AB5A42B-4666-4996-B4A5-F524AA78313A}"/>
                  </a:ext>
                </a:extLst>
              </p:cNvPr>
              <p:cNvGrpSpPr>
                <a:grpSpLocks noChangeAspect="1"/>
              </p:cNvGrpSpPr>
              <p:nvPr/>
            </p:nvGrpSpPr>
            <p:grpSpPr>
              <a:xfrm>
                <a:off x="1868228" y="3204000"/>
                <a:ext cx="171443" cy="525600"/>
                <a:chOff x="4522788" y="1449388"/>
                <a:chExt cx="1038225" cy="3182937"/>
              </a:xfrm>
              <a:solidFill>
                <a:schemeClr val="bg2"/>
              </a:solidFill>
            </p:grpSpPr>
            <p:sp>
              <p:nvSpPr>
                <p:cNvPr id="68" name="Freeform 1654">
                  <a:extLst>
                    <a:ext uri="{FF2B5EF4-FFF2-40B4-BE49-F238E27FC236}">
                      <a16:creationId xmlns:a16="http://schemas.microsoft.com/office/drawing/2014/main" id="{0714DF80-E91F-4576-A117-0EF07ECD12BD}"/>
                    </a:ext>
                  </a:extLst>
                </p:cNvPr>
                <p:cNvSpPr>
                  <a:spLocks noEditPoints="1"/>
                </p:cNvSpPr>
                <p:nvPr/>
              </p:nvSpPr>
              <p:spPr bwMode="auto">
                <a:xfrm>
                  <a:off x="4699000" y="1449388"/>
                  <a:ext cx="685800" cy="871538"/>
                </a:xfrm>
                <a:custGeom>
                  <a:avLst/>
                  <a:gdLst>
                    <a:gd name="T0" fmla="*/ 420 w 481"/>
                    <a:gd name="T1" fmla="*/ 431 h 610"/>
                    <a:gd name="T2" fmla="*/ 420 w 481"/>
                    <a:gd name="T3" fmla="*/ 346 h 610"/>
                    <a:gd name="T4" fmla="*/ 398 w 481"/>
                    <a:gd name="T5" fmla="*/ 178 h 610"/>
                    <a:gd name="T6" fmla="*/ 275 w 481"/>
                    <a:gd name="T7" fmla="*/ 238 h 610"/>
                    <a:gd name="T8" fmla="*/ 380 w 481"/>
                    <a:gd name="T9" fmla="*/ 303 h 610"/>
                    <a:gd name="T10" fmla="*/ 380 w 481"/>
                    <a:gd name="T11" fmla="*/ 392 h 610"/>
                    <a:gd name="T12" fmla="*/ 363 w 481"/>
                    <a:gd name="T13" fmla="*/ 458 h 610"/>
                    <a:gd name="T14" fmla="*/ 333 w 481"/>
                    <a:gd name="T15" fmla="*/ 468 h 610"/>
                    <a:gd name="T16" fmla="*/ 250 w 481"/>
                    <a:gd name="T17" fmla="*/ 441 h 610"/>
                    <a:gd name="T18" fmla="*/ 241 w 481"/>
                    <a:gd name="T19" fmla="*/ 440 h 610"/>
                    <a:gd name="T20" fmla="*/ 232 w 481"/>
                    <a:gd name="T21" fmla="*/ 441 h 610"/>
                    <a:gd name="T22" fmla="*/ 148 w 481"/>
                    <a:gd name="T23" fmla="*/ 468 h 610"/>
                    <a:gd name="T24" fmla="*/ 118 w 481"/>
                    <a:gd name="T25" fmla="*/ 458 h 610"/>
                    <a:gd name="T26" fmla="*/ 101 w 481"/>
                    <a:gd name="T27" fmla="*/ 392 h 610"/>
                    <a:gd name="T28" fmla="*/ 101 w 481"/>
                    <a:gd name="T29" fmla="*/ 313 h 610"/>
                    <a:gd name="T30" fmla="*/ 377 w 481"/>
                    <a:gd name="T31" fmla="*/ 153 h 610"/>
                    <a:gd name="T32" fmla="*/ 226 w 481"/>
                    <a:gd name="T33" fmla="*/ 32 h 610"/>
                    <a:gd name="T34" fmla="*/ 61 w 481"/>
                    <a:gd name="T35" fmla="*/ 352 h 610"/>
                    <a:gd name="T36" fmla="*/ 61 w 481"/>
                    <a:gd name="T37" fmla="*/ 431 h 610"/>
                    <a:gd name="T38" fmla="*/ 241 w 481"/>
                    <a:gd name="T39" fmla="*/ 610 h 610"/>
                    <a:gd name="T40" fmla="*/ 420 w 481"/>
                    <a:gd name="T41" fmla="*/ 431 h 610"/>
                    <a:gd name="T42" fmla="*/ 241 w 481"/>
                    <a:gd name="T43" fmla="*/ 501 h 610"/>
                    <a:gd name="T44" fmla="*/ 189 w 481"/>
                    <a:gd name="T45" fmla="*/ 483 h 610"/>
                    <a:gd name="T46" fmla="*/ 241 w 481"/>
                    <a:gd name="T47" fmla="*/ 473 h 610"/>
                    <a:gd name="T48" fmla="*/ 293 w 481"/>
                    <a:gd name="T49" fmla="*/ 483 h 610"/>
                    <a:gd name="T50" fmla="*/ 241 w 481"/>
                    <a:gd name="T51" fmla="*/ 501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1" h="610">
                      <a:moveTo>
                        <a:pt x="420" y="431"/>
                      </a:moveTo>
                      <a:cubicBezTo>
                        <a:pt x="420" y="346"/>
                        <a:pt x="420" y="346"/>
                        <a:pt x="420" y="346"/>
                      </a:cubicBezTo>
                      <a:cubicBezTo>
                        <a:pt x="434" y="323"/>
                        <a:pt x="481" y="238"/>
                        <a:pt x="398" y="178"/>
                      </a:cubicBezTo>
                      <a:cubicBezTo>
                        <a:pt x="395" y="179"/>
                        <a:pt x="312" y="224"/>
                        <a:pt x="275" y="238"/>
                      </a:cubicBezTo>
                      <a:cubicBezTo>
                        <a:pt x="315" y="259"/>
                        <a:pt x="353" y="282"/>
                        <a:pt x="380" y="303"/>
                      </a:cubicBezTo>
                      <a:cubicBezTo>
                        <a:pt x="380" y="392"/>
                        <a:pt x="380" y="392"/>
                        <a:pt x="380" y="392"/>
                      </a:cubicBezTo>
                      <a:cubicBezTo>
                        <a:pt x="380" y="416"/>
                        <a:pt x="374" y="438"/>
                        <a:pt x="363" y="458"/>
                      </a:cubicBezTo>
                      <a:cubicBezTo>
                        <a:pt x="333" y="468"/>
                        <a:pt x="333" y="468"/>
                        <a:pt x="333" y="468"/>
                      </a:cubicBezTo>
                      <a:cubicBezTo>
                        <a:pt x="313" y="456"/>
                        <a:pt x="283" y="443"/>
                        <a:pt x="250" y="441"/>
                      </a:cubicBezTo>
                      <a:cubicBezTo>
                        <a:pt x="249" y="440"/>
                        <a:pt x="243" y="440"/>
                        <a:pt x="241" y="440"/>
                      </a:cubicBezTo>
                      <a:cubicBezTo>
                        <a:pt x="239" y="440"/>
                        <a:pt x="233" y="440"/>
                        <a:pt x="232" y="441"/>
                      </a:cubicBezTo>
                      <a:cubicBezTo>
                        <a:pt x="198" y="443"/>
                        <a:pt x="168" y="456"/>
                        <a:pt x="148" y="468"/>
                      </a:cubicBezTo>
                      <a:cubicBezTo>
                        <a:pt x="118" y="458"/>
                        <a:pt x="118" y="458"/>
                        <a:pt x="118" y="458"/>
                      </a:cubicBezTo>
                      <a:cubicBezTo>
                        <a:pt x="107" y="438"/>
                        <a:pt x="101" y="416"/>
                        <a:pt x="101" y="392"/>
                      </a:cubicBezTo>
                      <a:cubicBezTo>
                        <a:pt x="101" y="313"/>
                        <a:pt x="101" y="313"/>
                        <a:pt x="101" y="313"/>
                      </a:cubicBezTo>
                      <a:cubicBezTo>
                        <a:pt x="193" y="240"/>
                        <a:pt x="377" y="153"/>
                        <a:pt x="377" y="153"/>
                      </a:cubicBezTo>
                      <a:cubicBezTo>
                        <a:pt x="377" y="153"/>
                        <a:pt x="315" y="0"/>
                        <a:pt x="226" y="32"/>
                      </a:cubicBezTo>
                      <a:cubicBezTo>
                        <a:pt x="0" y="113"/>
                        <a:pt x="20" y="291"/>
                        <a:pt x="61" y="352"/>
                      </a:cubicBezTo>
                      <a:cubicBezTo>
                        <a:pt x="61" y="431"/>
                        <a:pt x="61" y="431"/>
                        <a:pt x="61" y="431"/>
                      </a:cubicBezTo>
                      <a:cubicBezTo>
                        <a:pt x="61" y="530"/>
                        <a:pt x="142" y="610"/>
                        <a:pt x="241" y="610"/>
                      </a:cubicBezTo>
                      <a:cubicBezTo>
                        <a:pt x="339" y="610"/>
                        <a:pt x="420" y="530"/>
                        <a:pt x="420" y="431"/>
                      </a:cubicBezTo>
                      <a:moveTo>
                        <a:pt x="241" y="501"/>
                      </a:moveTo>
                      <a:cubicBezTo>
                        <a:pt x="189" y="483"/>
                        <a:pt x="189" y="483"/>
                        <a:pt x="189" y="483"/>
                      </a:cubicBezTo>
                      <a:cubicBezTo>
                        <a:pt x="205" y="476"/>
                        <a:pt x="222" y="473"/>
                        <a:pt x="241" y="473"/>
                      </a:cubicBezTo>
                      <a:cubicBezTo>
                        <a:pt x="259" y="473"/>
                        <a:pt x="277" y="476"/>
                        <a:pt x="293" y="483"/>
                      </a:cubicBezTo>
                      <a:lnTo>
                        <a:pt x="241" y="5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1655">
                  <a:extLst>
                    <a:ext uri="{FF2B5EF4-FFF2-40B4-BE49-F238E27FC236}">
                      <a16:creationId xmlns:a16="http://schemas.microsoft.com/office/drawing/2014/main" id="{A109E088-AAFE-4DA5-884F-C574320B2ED4}"/>
                    </a:ext>
                  </a:extLst>
                </p:cNvPr>
                <p:cNvSpPr>
                  <a:spLocks noEditPoints="1"/>
                </p:cNvSpPr>
                <p:nvPr/>
              </p:nvSpPr>
              <p:spPr bwMode="auto">
                <a:xfrm>
                  <a:off x="4522788" y="2235200"/>
                  <a:ext cx="495300" cy="2397125"/>
                </a:xfrm>
                <a:custGeom>
                  <a:avLst/>
                  <a:gdLst>
                    <a:gd name="T0" fmla="*/ 227 w 347"/>
                    <a:gd name="T1" fmla="*/ 0 h 1677"/>
                    <a:gd name="T2" fmla="*/ 75 w 347"/>
                    <a:gd name="T3" fmla="*/ 76 h 1677"/>
                    <a:gd name="T4" fmla="*/ 37 w 347"/>
                    <a:gd name="T5" fmla="*/ 133 h 1677"/>
                    <a:gd name="T6" fmla="*/ 0 w 347"/>
                    <a:gd name="T7" fmla="*/ 743 h 1677"/>
                    <a:gd name="T8" fmla="*/ 100 w 347"/>
                    <a:gd name="T9" fmla="*/ 887 h 1677"/>
                    <a:gd name="T10" fmla="*/ 75 w 347"/>
                    <a:gd name="T11" fmla="*/ 1380 h 1677"/>
                    <a:gd name="T12" fmla="*/ 75 w 347"/>
                    <a:gd name="T13" fmla="*/ 1380 h 1677"/>
                    <a:gd name="T14" fmla="*/ 114 w 347"/>
                    <a:gd name="T15" fmla="*/ 1380 h 1677"/>
                    <a:gd name="T16" fmla="*/ 114 w 347"/>
                    <a:gd name="T17" fmla="*/ 1677 h 1677"/>
                    <a:gd name="T18" fmla="*/ 210 w 347"/>
                    <a:gd name="T19" fmla="*/ 1677 h 1677"/>
                    <a:gd name="T20" fmla="*/ 226 w 347"/>
                    <a:gd name="T21" fmla="*/ 1674 h 1677"/>
                    <a:gd name="T22" fmla="*/ 254 w 347"/>
                    <a:gd name="T23" fmla="*/ 1638 h 1677"/>
                    <a:gd name="T24" fmla="*/ 284 w 347"/>
                    <a:gd name="T25" fmla="*/ 1380 h 1677"/>
                    <a:gd name="T26" fmla="*/ 347 w 347"/>
                    <a:gd name="T27" fmla="*/ 1380 h 1677"/>
                    <a:gd name="T28" fmla="*/ 347 w 347"/>
                    <a:gd name="T29" fmla="*/ 158 h 1677"/>
                    <a:gd name="T30" fmla="*/ 227 w 347"/>
                    <a:gd name="T31" fmla="*/ 0 h 1677"/>
                    <a:gd name="T32" fmla="*/ 107 w 347"/>
                    <a:gd name="T33" fmla="*/ 743 h 1677"/>
                    <a:gd name="T34" fmla="*/ 102 w 347"/>
                    <a:gd name="T35" fmla="*/ 844 h 1677"/>
                    <a:gd name="T36" fmla="*/ 40 w 347"/>
                    <a:gd name="T37" fmla="*/ 744 h 1677"/>
                    <a:gd name="T38" fmla="*/ 40 w 347"/>
                    <a:gd name="T39" fmla="*/ 743 h 1677"/>
                    <a:gd name="T40" fmla="*/ 107 w 347"/>
                    <a:gd name="T41" fmla="*/ 743 h 1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7" h="1677">
                      <a:moveTo>
                        <a:pt x="227" y="0"/>
                      </a:moveTo>
                      <a:cubicBezTo>
                        <a:pt x="75" y="76"/>
                        <a:pt x="75" y="76"/>
                        <a:pt x="75" y="76"/>
                      </a:cubicBezTo>
                      <a:cubicBezTo>
                        <a:pt x="56" y="86"/>
                        <a:pt x="40" y="99"/>
                        <a:pt x="37" y="133"/>
                      </a:cubicBezTo>
                      <a:cubicBezTo>
                        <a:pt x="0" y="743"/>
                        <a:pt x="0" y="743"/>
                        <a:pt x="0" y="743"/>
                      </a:cubicBezTo>
                      <a:cubicBezTo>
                        <a:pt x="0" y="809"/>
                        <a:pt x="42" y="865"/>
                        <a:pt x="100" y="887"/>
                      </a:cubicBezTo>
                      <a:cubicBezTo>
                        <a:pt x="75" y="1380"/>
                        <a:pt x="75" y="1380"/>
                        <a:pt x="75" y="1380"/>
                      </a:cubicBezTo>
                      <a:cubicBezTo>
                        <a:pt x="75" y="1380"/>
                        <a:pt x="75" y="1380"/>
                        <a:pt x="75" y="1380"/>
                      </a:cubicBezTo>
                      <a:cubicBezTo>
                        <a:pt x="114" y="1380"/>
                        <a:pt x="114" y="1380"/>
                        <a:pt x="114" y="1380"/>
                      </a:cubicBezTo>
                      <a:cubicBezTo>
                        <a:pt x="114" y="1677"/>
                        <a:pt x="114" y="1677"/>
                        <a:pt x="114" y="1677"/>
                      </a:cubicBezTo>
                      <a:cubicBezTo>
                        <a:pt x="210" y="1677"/>
                        <a:pt x="210" y="1677"/>
                        <a:pt x="210" y="1677"/>
                      </a:cubicBezTo>
                      <a:cubicBezTo>
                        <a:pt x="215" y="1677"/>
                        <a:pt x="221" y="1676"/>
                        <a:pt x="226" y="1674"/>
                      </a:cubicBezTo>
                      <a:cubicBezTo>
                        <a:pt x="240" y="1668"/>
                        <a:pt x="252" y="1654"/>
                        <a:pt x="254" y="1638"/>
                      </a:cubicBezTo>
                      <a:cubicBezTo>
                        <a:pt x="284" y="1380"/>
                        <a:pt x="284" y="1380"/>
                        <a:pt x="284" y="1380"/>
                      </a:cubicBezTo>
                      <a:cubicBezTo>
                        <a:pt x="347" y="1380"/>
                        <a:pt x="347" y="1380"/>
                        <a:pt x="347" y="1380"/>
                      </a:cubicBezTo>
                      <a:cubicBezTo>
                        <a:pt x="347" y="158"/>
                        <a:pt x="347" y="158"/>
                        <a:pt x="347" y="158"/>
                      </a:cubicBezTo>
                      <a:cubicBezTo>
                        <a:pt x="311" y="111"/>
                        <a:pt x="227" y="0"/>
                        <a:pt x="227" y="0"/>
                      </a:cubicBezTo>
                      <a:close/>
                      <a:moveTo>
                        <a:pt x="107" y="743"/>
                      </a:moveTo>
                      <a:cubicBezTo>
                        <a:pt x="102" y="844"/>
                        <a:pt x="102" y="844"/>
                        <a:pt x="102" y="844"/>
                      </a:cubicBezTo>
                      <a:cubicBezTo>
                        <a:pt x="65" y="826"/>
                        <a:pt x="40" y="788"/>
                        <a:pt x="40" y="744"/>
                      </a:cubicBezTo>
                      <a:cubicBezTo>
                        <a:pt x="40" y="743"/>
                        <a:pt x="40" y="743"/>
                        <a:pt x="40" y="743"/>
                      </a:cubicBezTo>
                      <a:lnTo>
                        <a:pt x="107" y="7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0" name="Freeform 1656">
                  <a:extLst>
                    <a:ext uri="{FF2B5EF4-FFF2-40B4-BE49-F238E27FC236}">
                      <a16:creationId xmlns:a16="http://schemas.microsoft.com/office/drawing/2014/main" id="{25FB58BA-F8F8-475C-91F4-15B6F09ED7D1}"/>
                    </a:ext>
                  </a:extLst>
                </p:cNvPr>
                <p:cNvSpPr>
                  <a:spLocks noEditPoints="1"/>
                </p:cNvSpPr>
                <p:nvPr/>
              </p:nvSpPr>
              <p:spPr bwMode="auto">
                <a:xfrm>
                  <a:off x="5065713" y="2235200"/>
                  <a:ext cx="495300" cy="2397125"/>
                </a:xfrm>
                <a:custGeom>
                  <a:avLst/>
                  <a:gdLst>
                    <a:gd name="T0" fmla="*/ 347 w 347"/>
                    <a:gd name="T1" fmla="*/ 743 h 1677"/>
                    <a:gd name="T2" fmla="*/ 310 w 347"/>
                    <a:gd name="T3" fmla="*/ 133 h 1677"/>
                    <a:gd name="T4" fmla="*/ 272 w 347"/>
                    <a:gd name="T5" fmla="*/ 76 h 1677"/>
                    <a:gd name="T6" fmla="*/ 120 w 347"/>
                    <a:gd name="T7" fmla="*/ 0 h 1677"/>
                    <a:gd name="T8" fmla="*/ 0 w 347"/>
                    <a:gd name="T9" fmla="*/ 158 h 1677"/>
                    <a:gd name="T10" fmla="*/ 0 w 347"/>
                    <a:gd name="T11" fmla="*/ 1380 h 1677"/>
                    <a:gd name="T12" fmla="*/ 63 w 347"/>
                    <a:gd name="T13" fmla="*/ 1380 h 1677"/>
                    <a:gd name="T14" fmla="*/ 93 w 347"/>
                    <a:gd name="T15" fmla="*/ 1638 h 1677"/>
                    <a:gd name="T16" fmla="*/ 122 w 347"/>
                    <a:gd name="T17" fmla="*/ 1674 h 1677"/>
                    <a:gd name="T18" fmla="*/ 137 w 347"/>
                    <a:gd name="T19" fmla="*/ 1677 h 1677"/>
                    <a:gd name="T20" fmla="*/ 233 w 347"/>
                    <a:gd name="T21" fmla="*/ 1677 h 1677"/>
                    <a:gd name="T22" fmla="*/ 233 w 347"/>
                    <a:gd name="T23" fmla="*/ 1380 h 1677"/>
                    <a:gd name="T24" fmla="*/ 272 w 347"/>
                    <a:gd name="T25" fmla="*/ 1380 h 1677"/>
                    <a:gd name="T26" fmla="*/ 272 w 347"/>
                    <a:gd name="T27" fmla="*/ 1380 h 1677"/>
                    <a:gd name="T28" fmla="*/ 247 w 347"/>
                    <a:gd name="T29" fmla="*/ 887 h 1677"/>
                    <a:gd name="T30" fmla="*/ 347 w 347"/>
                    <a:gd name="T31" fmla="*/ 743 h 1677"/>
                    <a:gd name="T32" fmla="*/ 307 w 347"/>
                    <a:gd name="T33" fmla="*/ 744 h 1677"/>
                    <a:gd name="T34" fmla="*/ 245 w 347"/>
                    <a:gd name="T35" fmla="*/ 844 h 1677"/>
                    <a:gd name="T36" fmla="*/ 240 w 347"/>
                    <a:gd name="T37" fmla="*/ 743 h 1677"/>
                    <a:gd name="T38" fmla="*/ 307 w 347"/>
                    <a:gd name="T39" fmla="*/ 743 h 1677"/>
                    <a:gd name="T40" fmla="*/ 307 w 347"/>
                    <a:gd name="T41" fmla="*/ 744 h 1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7" h="1677">
                      <a:moveTo>
                        <a:pt x="347" y="743"/>
                      </a:moveTo>
                      <a:cubicBezTo>
                        <a:pt x="310" y="133"/>
                        <a:pt x="310" y="133"/>
                        <a:pt x="310" y="133"/>
                      </a:cubicBezTo>
                      <a:cubicBezTo>
                        <a:pt x="307" y="99"/>
                        <a:pt x="291" y="86"/>
                        <a:pt x="272" y="76"/>
                      </a:cubicBezTo>
                      <a:cubicBezTo>
                        <a:pt x="120" y="0"/>
                        <a:pt x="120" y="0"/>
                        <a:pt x="120" y="0"/>
                      </a:cubicBezTo>
                      <a:cubicBezTo>
                        <a:pt x="120" y="0"/>
                        <a:pt x="36" y="111"/>
                        <a:pt x="0" y="158"/>
                      </a:cubicBezTo>
                      <a:cubicBezTo>
                        <a:pt x="0" y="1380"/>
                        <a:pt x="0" y="1380"/>
                        <a:pt x="0" y="1380"/>
                      </a:cubicBezTo>
                      <a:cubicBezTo>
                        <a:pt x="63" y="1380"/>
                        <a:pt x="63" y="1380"/>
                        <a:pt x="63" y="1380"/>
                      </a:cubicBezTo>
                      <a:cubicBezTo>
                        <a:pt x="93" y="1638"/>
                        <a:pt x="93" y="1638"/>
                        <a:pt x="93" y="1638"/>
                      </a:cubicBezTo>
                      <a:cubicBezTo>
                        <a:pt x="95" y="1654"/>
                        <a:pt x="107" y="1668"/>
                        <a:pt x="122" y="1674"/>
                      </a:cubicBezTo>
                      <a:cubicBezTo>
                        <a:pt x="127" y="1676"/>
                        <a:pt x="132" y="1677"/>
                        <a:pt x="137" y="1677"/>
                      </a:cubicBezTo>
                      <a:cubicBezTo>
                        <a:pt x="233" y="1677"/>
                        <a:pt x="233" y="1677"/>
                        <a:pt x="233" y="1677"/>
                      </a:cubicBezTo>
                      <a:cubicBezTo>
                        <a:pt x="233" y="1380"/>
                        <a:pt x="233" y="1380"/>
                        <a:pt x="233" y="1380"/>
                      </a:cubicBezTo>
                      <a:cubicBezTo>
                        <a:pt x="272" y="1380"/>
                        <a:pt x="272" y="1380"/>
                        <a:pt x="272" y="1380"/>
                      </a:cubicBezTo>
                      <a:cubicBezTo>
                        <a:pt x="272" y="1380"/>
                        <a:pt x="272" y="1380"/>
                        <a:pt x="272" y="1380"/>
                      </a:cubicBezTo>
                      <a:cubicBezTo>
                        <a:pt x="247" y="887"/>
                        <a:pt x="247" y="887"/>
                        <a:pt x="247" y="887"/>
                      </a:cubicBezTo>
                      <a:cubicBezTo>
                        <a:pt x="306" y="865"/>
                        <a:pt x="347" y="809"/>
                        <a:pt x="347" y="743"/>
                      </a:cubicBezTo>
                      <a:moveTo>
                        <a:pt x="307" y="744"/>
                      </a:moveTo>
                      <a:cubicBezTo>
                        <a:pt x="307" y="788"/>
                        <a:pt x="282" y="826"/>
                        <a:pt x="245" y="844"/>
                      </a:cubicBezTo>
                      <a:cubicBezTo>
                        <a:pt x="240" y="743"/>
                        <a:pt x="240" y="743"/>
                        <a:pt x="240" y="743"/>
                      </a:cubicBezTo>
                      <a:cubicBezTo>
                        <a:pt x="307" y="743"/>
                        <a:pt x="307" y="743"/>
                        <a:pt x="307" y="743"/>
                      </a:cubicBezTo>
                      <a:lnTo>
                        <a:pt x="307" y="7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72" name="Oval 2155">
                <a:extLst>
                  <a:ext uri="{FF2B5EF4-FFF2-40B4-BE49-F238E27FC236}">
                    <a16:creationId xmlns:a16="http://schemas.microsoft.com/office/drawing/2014/main" id="{9B8962FA-2DE5-4A24-8BB0-FFE38D90F7AD}"/>
                  </a:ext>
                </a:extLst>
              </p:cNvPr>
              <p:cNvSpPr>
                <a:spLocks noChangeArrowheads="1"/>
              </p:cNvSpPr>
              <p:nvPr/>
            </p:nvSpPr>
            <p:spPr bwMode="auto">
              <a:xfrm>
                <a:off x="1706181" y="3247339"/>
                <a:ext cx="7739" cy="7429"/>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77" name="Freeform 219">
              <a:extLst>
                <a:ext uri="{FF2B5EF4-FFF2-40B4-BE49-F238E27FC236}">
                  <a16:creationId xmlns:a16="http://schemas.microsoft.com/office/drawing/2014/main" id="{8A01B240-05DC-4F1C-9F9F-829271AF3365}"/>
                </a:ext>
              </a:extLst>
            </p:cNvPr>
            <p:cNvSpPr>
              <a:spLocks noChangeAspect="1" noEditPoints="1"/>
            </p:cNvSpPr>
            <p:nvPr/>
          </p:nvSpPr>
          <p:spPr bwMode="auto">
            <a:xfrm>
              <a:off x="746916" y="3332540"/>
              <a:ext cx="173423" cy="525600"/>
            </a:xfrm>
            <a:custGeom>
              <a:avLst/>
              <a:gdLst>
                <a:gd name="T0" fmla="*/ 137 w 726"/>
                <a:gd name="T1" fmla="*/ 317 h 2200"/>
                <a:gd name="T2" fmla="*/ 152 w 726"/>
                <a:gd name="T3" fmla="*/ 359 h 2200"/>
                <a:gd name="T4" fmla="*/ 179 w 726"/>
                <a:gd name="T5" fmla="*/ 394 h 2200"/>
                <a:gd name="T6" fmla="*/ 547 w 726"/>
                <a:gd name="T7" fmla="*/ 396 h 2200"/>
                <a:gd name="T8" fmla="*/ 561 w 726"/>
                <a:gd name="T9" fmla="*/ 365 h 2200"/>
                <a:gd name="T10" fmla="*/ 586 w 726"/>
                <a:gd name="T11" fmla="*/ 300 h 2200"/>
                <a:gd name="T12" fmla="*/ 584 w 726"/>
                <a:gd name="T13" fmla="*/ 221 h 2200"/>
                <a:gd name="T14" fmla="*/ 545 w 726"/>
                <a:gd name="T15" fmla="*/ 98 h 2200"/>
                <a:gd name="T16" fmla="*/ 475 w 726"/>
                <a:gd name="T17" fmla="*/ 59 h 2200"/>
                <a:gd name="T18" fmla="*/ 393 w 726"/>
                <a:gd name="T19" fmla="*/ 0 h 2200"/>
                <a:gd name="T20" fmla="*/ 271 w 726"/>
                <a:gd name="T21" fmla="*/ 17 h 2200"/>
                <a:gd name="T22" fmla="*/ 196 w 726"/>
                <a:gd name="T23" fmla="*/ 98 h 2200"/>
                <a:gd name="T24" fmla="*/ 143 w 726"/>
                <a:gd name="T25" fmla="*/ 191 h 2200"/>
                <a:gd name="T26" fmla="*/ 143 w 726"/>
                <a:gd name="T27" fmla="*/ 286 h 2200"/>
                <a:gd name="T28" fmla="*/ 225 w 726"/>
                <a:gd name="T29" fmla="*/ 278 h 2200"/>
                <a:gd name="T30" fmla="*/ 272 w 726"/>
                <a:gd name="T31" fmla="*/ 211 h 2200"/>
                <a:gd name="T32" fmla="*/ 348 w 726"/>
                <a:gd name="T33" fmla="*/ 165 h 2200"/>
                <a:gd name="T34" fmla="*/ 407 w 726"/>
                <a:gd name="T35" fmla="*/ 180 h 2200"/>
                <a:gd name="T36" fmla="*/ 472 w 726"/>
                <a:gd name="T37" fmla="*/ 221 h 2200"/>
                <a:gd name="T38" fmla="*/ 507 w 726"/>
                <a:gd name="T39" fmla="*/ 288 h 2200"/>
                <a:gd name="T40" fmla="*/ 363 w 726"/>
                <a:gd name="T41" fmla="*/ 537 h 2200"/>
                <a:gd name="T42" fmla="*/ 220 w 726"/>
                <a:gd name="T43" fmla="*/ 304 h 2200"/>
                <a:gd name="T44" fmla="*/ 661 w 726"/>
                <a:gd name="T45" fmla="*/ 665 h 2200"/>
                <a:gd name="T46" fmla="*/ 618 w 726"/>
                <a:gd name="T47" fmla="*/ 606 h 2200"/>
                <a:gd name="T48" fmla="*/ 363 w 726"/>
                <a:gd name="T49" fmla="*/ 642 h 2200"/>
                <a:gd name="T50" fmla="*/ 108 w 726"/>
                <a:gd name="T51" fmla="*/ 606 h 2200"/>
                <a:gd name="T52" fmla="*/ 66 w 726"/>
                <a:gd name="T53" fmla="*/ 665 h 2200"/>
                <a:gd name="T54" fmla="*/ 90 w 726"/>
                <a:gd name="T55" fmla="*/ 1370 h 2200"/>
                <a:gd name="T56" fmla="*/ 55 w 726"/>
                <a:gd name="T57" fmla="*/ 1897 h 2200"/>
                <a:gd name="T58" fmla="*/ 87 w 726"/>
                <a:gd name="T59" fmla="*/ 1936 h 2200"/>
                <a:gd name="T60" fmla="*/ 226 w 726"/>
                <a:gd name="T61" fmla="*/ 1936 h 2200"/>
                <a:gd name="T62" fmla="*/ 302 w 726"/>
                <a:gd name="T63" fmla="*/ 2200 h 2200"/>
                <a:gd name="T64" fmla="*/ 471 w 726"/>
                <a:gd name="T65" fmla="*/ 2159 h 2200"/>
                <a:gd name="T66" fmla="*/ 554 w 726"/>
                <a:gd name="T67" fmla="*/ 1936 h 2200"/>
                <a:gd name="T68" fmla="*/ 488 w 726"/>
                <a:gd name="T69" fmla="*/ 1186 h 2200"/>
                <a:gd name="T70" fmla="*/ 403 w 726"/>
                <a:gd name="T71" fmla="*/ 1271 h 2200"/>
                <a:gd name="T72" fmla="*/ 488 w 726"/>
                <a:gd name="T73" fmla="*/ 1148 h 2200"/>
                <a:gd name="T74" fmla="*/ 592 w 726"/>
                <a:gd name="T75" fmla="*/ 1936 h 2200"/>
                <a:gd name="T76" fmla="*/ 639 w 726"/>
                <a:gd name="T77" fmla="*/ 1936 h 2200"/>
                <a:gd name="T78" fmla="*/ 672 w 726"/>
                <a:gd name="T79" fmla="*/ 1897 h 2200"/>
                <a:gd name="T80" fmla="*/ 636 w 726"/>
                <a:gd name="T81" fmla="*/ 1370 h 2200"/>
                <a:gd name="T82" fmla="*/ 99 w 726"/>
                <a:gd name="T83" fmla="*/ 1327 h 2200"/>
                <a:gd name="T84" fmla="*/ 46 w 726"/>
                <a:gd name="T85" fmla="*/ 1242 h 2200"/>
                <a:gd name="T86" fmla="*/ 124 w 726"/>
                <a:gd name="T87" fmla="*/ 1156 h 2200"/>
                <a:gd name="T88" fmla="*/ 343 w 726"/>
                <a:gd name="T89" fmla="*/ 2159 h 2200"/>
                <a:gd name="T90" fmla="*/ 296 w 726"/>
                <a:gd name="T91" fmla="*/ 2154 h 2200"/>
                <a:gd name="T92" fmla="*/ 343 w 726"/>
                <a:gd name="T93" fmla="*/ 1936 h 2200"/>
                <a:gd name="T94" fmla="*/ 459 w 726"/>
                <a:gd name="T95" fmla="*/ 1936 h 2200"/>
                <a:gd name="T96" fmla="*/ 424 w 726"/>
                <a:gd name="T97" fmla="*/ 2159 h 2200"/>
                <a:gd name="T98" fmla="*/ 384 w 726"/>
                <a:gd name="T99" fmla="*/ 1936 h 2200"/>
                <a:gd name="T100" fmla="*/ 592 w 726"/>
                <a:gd name="T101" fmla="*/ 2200 h 2200"/>
                <a:gd name="T102" fmla="*/ 554 w 726"/>
                <a:gd name="T103" fmla="*/ 1936 h 2200"/>
                <a:gd name="T104" fmla="*/ 592 w 726"/>
                <a:gd name="T105" fmla="*/ 220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26" h="2200">
                  <a:moveTo>
                    <a:pt x="143" y="286"/>
                  </a:moveTo>
                  <a:cubicBezTo>
                    <a:pt x="137" y="294"/>
                    <a:pt x="134" y="305"/>
                    <a:pt x="137" y="317"/>
                  </a:cubicBezTo>
                  <a:cubicBezTo>
                    <a:pt x="139" y="327"/>
                    <a:pt x="145" y="337"/>
                    <a:pt x="153" y="344"/>
                  </a:cubicBezTo>
                  <a:cubicBezTo>
                    <a:pt x="151" y="348"/>
                    <a:pt x="151" y="353"/>
                    <a:pt x="152" y="359"/>
                  </a:cubicBezTo>
                  <a:cubicBezTo>
                    <a:pt x="155" y="373"/>
                    <a:pt x="166" y="384"/>
                    <a:pt x="179" y="387"/>
                  </a:cubicBezTo>
                  <a:cubicBezTo>
                    <a:pt x="179" y="394"/>
                    <a:pt x="179" y="394"/>
                    <a:pt x="179" y="394"/>
                  </a:cubicBezTo>
                  <a:cubicBezTo>
                    <a:pt x="179" y="496"/>
                    <a:pt x="261" y="578"/>
                    <a:pt x="363" y="578"/>
                  </a:cubicBezTo>
                  <a:cubicBezTo>
                    <a:pt x="464" y="578"/>
                    <a:pt x="546" y="497"/>
                    <a:pt x="547" y="396"/>
                  </a:cubicBezTo>
                  <a:cubicBezTo>
                    <a:pt x="555" y="392"/>
                    <a:pt x="561" y="382"/>
                    <a:pt x="561" y="369"/>
                  </a:cubicBezTo>
                  <a:cubicBezTo>
                    <a:pt x="561" y="368"/>
                    <a:pt x="561" y="366"/>
                    <a:pt x="561" y="365"/>
                  </a:cubicBezTo>
                  <a:cubicBezTo>
                    <a:pt x="577" y="362"/>
                    <a:pt x="592" y="348"/>
                    <a:pt x="595" y="331"/>
                  </a:cubicBezTo>
                  <a:cubicBezTo>
                    <a:pt x="598" y="318"/>
                    <a:pt x="594" y="307"/>
                    <a:pt x="586" y="300"/>
                  </a:cubicBezTo>
                  <a:cubicBezTo>
                    <a:pt x="590" y="292"/>
                    <a:pt x="594" y="284"/>
                    <a:pt x="596" y="275"/>
                  </a:cubicBezTo>
                  <a:cubicBezTo>
                    <a:pt x="600" y="254"/>
                    <a:pt x="595" y="235"/>
                    <a:pt x="584" y="221"/>
                  </a:cubicBezTo>
                  <a:cubicBezTo>
                    <a:pt x="592" y="210"/>
                    <a:pt x="597" y="198"/>
                    <a:pt x="600" y="183"/>
                  </a:cubicBezTo>
                  <a:cubicBezTo>
                    <a:pt x="609" y="138"/>
                    <a:pt x="585" y="98"/>
                    <a:pt x="545" y="98"/>
                  </a:cubicBezTo>
                  <a:cubicBezTo>
                    <a:pt x="540" y="98"/>
                    <a:pt x="535" y="99"/>
                    <a:pt x="530" y="100"/>
                  </a:cubicBezTo>
                  <a:cubicBezTo>
                    <a:pt x="521" y="76"/>
                    <a:pt x="501" y="59"/>
                    <a:pt x="475" y="59"/>
                  </a:cubicBezTo>
                  <a:cubicBezTo>
                    <a:pt x="470" y="59"/>
                    <a:pt x="465" y="60"/>
                    <a:pt x="460" y="61"/>
                  </a:cubicBezTo>
                  <a:cubicBezTo>
                    <a:pt x="451" y="26"/>
                    <a:pt x="425" y="0"/>
                    <a:pt x="393" y="0"/>
                  </a:cubicBezTo>
                  <a:cubicBezTo>
                    <a:pt x="366" y="0"/>
                    <a:pt x="342" y="20"/>
                    <a:pt x="330" y="48"/>
                  </a:cubicBezTo>
                  <a:cubicBezTo>
                    <a:pt x="315" y="29"/>
                    <a:pt x="294" y="17"/>
                    <a:pt x="271" y="17"/>
                  </a:cubicBezTo>
                  <a:cubicBezTo>
                    <a:pt x="232" y="17"/>
                    <a:pt x="204" y="53"/>
                    <a:pt x="201" y="99"/>
                  </a:cubicBezTo>
                  <a:cubicBezTo>
                    <a:pt x="199" y="99"/>
                    <a:pt x="198" y="98"/>
                    <a:pt x="196" y="98"/>
                  </a:cubicBezTo>
                  <a:cubicBezTo>
                    <a:pt x="157" y="98"/>
                    <a:pt x="132" y="138"/>
                    <a:pt x="141" y="183"/>
                  </a:cubicBezTo>
                  <a:cubicBezTo>
                    <a:pt x="141" y="186"/>
                    <a:pt x="142" y="189"/>
                    <a:pt x="143" y="191"/>
                  </a:cubicBezTo>
                  <a:cubicBezTo>
                    <a:pt x="124" y="199"/>
                    <a:pt x="114" y="221"/>
                    <a:pt x="119" y="246"/>
                  </a:cubicBezTo>
                  <a:cubicBezTo>
                    <a:pt x="122" y="262"/>
                    <a:pt x="132" y="276"/>
                    <a:pt x="143" y="286"/>
                  </a:cubicBezTo>
                  <a:moveTo>
                    <a:pt x="220" y="304"/>
                  </a:moveTo>
                  <a:cubicBezTo>
                    <a:pt x="220" y="295"/>
                    <a:pt x="222" y="286"/>
                    <a:pt x="225" y="278"/>
                  </a:cubicBezTo>
                  <a:cubicBezTo>
                    <a:pt x="226" y="271"/>
                    <a:pt x="227" y="264"/>
                    <a:pt x="229" y="257"/>
                  </a:cubicBezTo>
                  <a:cubicBezTo>
                    <a:pt x="250" y="252"/>
                    <a:pt x="266" y="235"/>
                    <a:pt x="272" y="211"/>
                  </a:cubicBezTo>
                  <a:cubicBezTo>
                    <a:pt x="276" y="212"/>
                    <a:pt x="280" y="213"/>
                    <a:pt x="285" y="213"/>
                  </a:cubicBezTo>
                  <a:cubicBezTo>
                    <a:pt x="313" y="213"/>
                    <a:pt x="336" y="194"/>
                    <a:pt x="348" y="165"/>
                  </a:cubicBezTo>
                  <a:cubicBezTo>
                    <a:pt x="360" y="176"/>
                    <a:pt x="374" y="183"/>
                    <a:pt x="390" y="183"/>
                  </a:cubicBezTo>
                  <a:cubicBezTo>
                    <a:pt x="396" y="183"/>
                    <a:pt x="401" y="182"/>
                    <a:pt x="407" y="180"/>
                  </a:cubicBezTo>
                  <a:cubicBezTo>
                    <a:pt x="417" y="206"/>
                    <a:pt x="437" y="223"/>
                    <a:pt x="462" y="223"/>
                  </a:cubicBezTo>
                  <a:cubicBezTo>
                    <a:pt x="466" y="223"/>
                    <a:pt x="469" y="222"/>
                    <a:pt x="472" y="221"/>
                  </a:cubicBezTo>
                  <a:cubicBezTo>
                    <a:pt x="478" y="236"/>
                    <a:pt x="489" y="248"/>
                    <a:pt x="502" y="254"/>
                  </a:cubicBezTo>
                  <a:cubicBezTo>
                    <a:pt x="505" y="265"/>
                    <a:pt x="507" y="276"/>
                    <a:pt x="507" y="288"/>
                  </a:cubicBezTo>
                  <a:cubicBezTo>
                    <a:pt x="507" y="394"/>
                    <a:pt x="507" y="394"/>
                    <a:pt x="507" y="394"/>
                  </a:cubicBezTo>
                  <a:cubicBezTo>
                    <a:pt x="507" y="473"/>
                    <a:pt x="442" y="537"/>
                    <a:pt x="363" y="537"/>
                  </a:cubicBezTo>
                  <a:cubicBezTo>
                    <a:pt x="284" y="537"/>
                    <a:pt x="220" y="473"/>
                    <a:pt x="220" y="394"/>
                  </a:cubicBezTo>
                  <a:lnTo>
                    <a:pt x="220" y="304"/>
                  </a:lnTo>
                  <a:close/>
                  <a:moveTo>
                    <a:pt x="721" y="1238"/>
                  </a:moveTo>
                  <a:cubicBezTo>
                    <a:pt x="661" y="665"/>
                    <a:pt x="661" y="665"/>
                    <a:pt x="661" y="665"/>
                  </a:cubicBezTo>
                  <a:cubicBezTo>
                    <a:pt x="660" y="662"/>
                    <a:pt x="660" y="660"/>
                    <a:pt x="659" y="658"/>
                  </a:cubicBezTo>
                  <a:cubicBezTo>
                    <a:pt x="654" y="629"/>
                    <a:pt x="639" y="617"/>
                    <a:pt x="618" y="606"/>
                  </a:cubicBezTo>
                  <a:cubicBezTo>
                    <a:pt x="542" y="565"/>
                    <a:pt x="542" y="565"/>
                    <a:pt x="542" y="565"/>
                  </a:cubicBezTo>
                  <a:cubicBezTo>
                    <a:pt x="363" y="642"/>
                    <a:pt x="363" y="642"/>
                    <a:pt x="363" y="642"/>
                  </a:cubicBezTo>
                  <a:cubicBezTo>
                    <a:pt x="184" y="565"/>
                    <a:pt x="184" y="565"/>
                    <a:pt x="184" y="565"/>
                  </a:cubicBezTo>
                  <a:cubicBezTo>
                    <a:pt x="108" y="606"/>
                    <a:pt x="108" y="606"/>
                    <a:pt x="108" y="606"/>
                  </a:cubicBezTo>
                  <a:cubicBezTo>
                    <a:pt x="87" y="617"/>
                    <a:pt x="73" y="629"/>
                    <a:pt x="67" y="658"/>
                  </a:cubicBezTo>
                  <a:cubicBezTo>
                    <a:pt x="66" y="660"/>
                    <a:pt x="66" y="662"/>
                    <a:pt x="66" y="665"/>
                  </a:cubicBezTo>
                  <a:cubicBezTo>
                    <a:pt x="5" y="1238"/>
                    <a:pt x="5" y="1238"/>
                    <a:pt x="5" y="1238"/>
                  </a:cubicBezTo>
                  <a:cubicBezTo>
                    <a:pt x="0" y="1294"/>
                    <a:pt x="44" y="1342"/>
                    <a:pt x="90" y="1370"/>
                  </a:cubicBezTo>
                  <a:cubicBezTo>
                    <a:pt x="56" y="1876"/>
                    <a:pt x="56" y="1876"/>
                    <a:pt x="56" y="1876"/>
                  </a:cubicBezTo>
                  <a:cubicBezTo>
                    <a:pt x="55" y="1897"/>
                    <a:pt x="55" y="1897"/>
                    <a:pt x="55" y="1897"/>
                  </a:cubicBezTo>
                  <a:cubicBezTo>
                    <a:pt x="52" y="1919"/>
                    <a:pt x="64" y="1936"/>
                    <a:pt x="87" y="1936"/>
                  </a:cubicBezTo>
                  <a:cubicBezTo>
                    <a:pt x="87" y="1936"/>
                    <a:pt x="87" y="1936"/>
                    <a:pt x="87" y="1936"/>
                  </a:cubicBezTo>
                  <a:cubicBezTo>
                    <a:pt x="87" y="1936"/>
                    <a:pt x="87" y="1936"/>
                    <a:pt x="87" y="1936"/>
                  </a:cubicBezTo>
                  <a:cubicBezTo>
                    <a:pt x="226" y="1936"/>
                    <a:pt x="226" y="1936"/>
                    <a:pt x="226" y="1936"/>
                  </a:cubicBezTo>
                  <a:cubicBezTo>
                    <a:pt x="256" y="2159"/>
                    <a:pt x="256" y="2159"/>
                    <a:pt x="256" y="2159"/>
                  </a:cubicBezTo>
                  <a:cubicBezTo>
                    <a:pt x="259" y="2182"/>
                    <a:pt x="280" y="2200"/>
                    <a:pt x="302" y="2200"/>
                  </a:cubicBezTo>
                  <a:cubicBezTo>
                    <a:pt x="424" y="2200"/>
                    <a:pt x="424" y="2200"/>
                    <a:pt x="424" y="2200"/>
                  </a:cubicBezTo>
                  <a:cubicBezTo>
                    <a:pt x="447" y="2200"/>
                    <a:pt x="468" y="2182"/>
                    <a:pt x="471" y="2159"/>
                  </a:cubicBezTo>
                  <a:cubicBezTo>
                    <a:pt x="500" y="1936"/>
                    <a:pt x="500" y="1936"/>
                    <a:pt x="500" y="1936"/>
                  </a:cubicBezTo>
                  <a:cubicBezTo>
                    <a:pt x="554" y="1936"/>
                    <a:pt x="554" y="1936"/>
                    <a:pt x="554" y="1936"/>
                  </a:cubicBezTo>
                  <a:cubicBezTo>
                    <a:pt x="554" y="1252"/>
                    <a:pt x="554" y="1252"/>
                    <a:pt x="554" y="1252"/>
                  </a:cubicBezTo>
                  <a:cubicBezTo>
                    <a:pt x="554" y="1216"/>
                    <a:pt x="525" y="1186"/>
                    <a:pt x="488" y="1186"/>
                  </a:cubicBezTo>
                  <a:cubicBezTo>
                    <a:pt x="452" y="1186"/>
                    <a:pt x="422" y="1216"/>
                    <a:pt x="422" y="1252"/>
                  </a:cubicBezTo>
                  <a:cubicBezTo>
                    <a:pt x="422" y="1263"/>
                    <a:pt x="413" y="1271"/>
                    <a:pt x="403" y="1271"/>
                  </a:cubicBezTo>
                  <a:cubicBezTo>
                    <a:pt x="392" y="1271"/>
                    <a:pt x="384" y="1263"/>
                    <a:pt x="384" y="1252"/>
                  </a:cubicBezTo>
                  <a:cubicBezTo>
                    <a:pt x="384" y="1195"/>
                    <a:pt x="431" y="1148"/>
                    <a:pt x="488" y="1148"/>
                  </a:cubicBezTo>
                  <a:cubicBezTo>
                    <a:pt x="546" y="1148"/>
                    <a:pt x="592" y="1195"/>
                    <a:pt x="592" y="1252"/>
                  </a:cubicBezTo>
                  <a:cubicBezTo>
                    <a:pt x="592" y="1936"/>
                    <a:pt x="592" y="1936"/>
                    <a:pt x="592" y="1936"/>
                  </a:cubicBezTo>
                  <a:cubicBezTo>
                    <a:pt x="639" y="1936"/>
                    <a:pt x="639" y="1936"/>
                    <a:pt x="639" y="1936"/>
                  </a:cubicBezTo>
                  <a:cubicBezTo>
                    <a:pt x="639" y="1936"/>
                    <a:pt x="639" y="1936"/>
                    <a:pt x="639" y="1936"/>
                  </a:cubicBezTo>
                  <a:cubicBezTo>
                    <a:pt x="640" y="1936"/>
                    <a:pt x="640" y="1936"/>
                    <a:pt x="640" y="1936"/>
                  </a:cubicBezTo>
                  <a:cubicBezTo>
                    <a:pt x="662" y="1936"/>
                    <a:pt x="674" y="1919"/>
                    <a:pt x="672" y="1897"/>
                  </a:cubicBezTo>
                  <a:cubicBezTo>
                    <a:pt x="670" y="1876"/>
                    <a:pt x="670" y="1876"/>
                    <a:pt x="670" y="1876"/>
                  </a:cubicBezTo>
                  <a:cubicBezTo>
                    <a:pt x="636" y="1370"/>
                    <a:pt x="636" y="1370"/>
                    <a:pt x="636" y="1370"/>
                  </a:cubicBezTo>
                  <a:cubicBezTo>
                    <a:pt x="683" y="1342"/>
                    <a:pt x="726" y="1294"/>
                    <a:pt x="721" y="1238"/>
                  </a:cubicBezTo>
                  <a:moveTo>
                    <a:pt x="99" y="1327"/>
                  </a:moveTo>
                  <a:cubicBezTo>
                    <a:pt x="94" y="1323"/>
                    <a:pt x="89" y="1319"/>
                    <a:pt x="85" y="1314"/>
                  </a:cubicBezTo>
                  <a:cubicBezTo>
                    <a:pt x="72" y="1299"/>
                    <a:pt x="43" y="1275"/>
                    <a:pt x="46" y="1242"/>
                  </a:cubicBezTo>
                  <a:cubicBezTo>
                    <a:pt x="55" y="1156"/>
                    <a:pt x="55" y="1156"/>
                    <a:pt x="55" y="1156"/>
                  </a:cubicBezTo>
                  <a:cubicBezTo>
                    <a:pt x="124" y="1156"/>
                    <a:pt x="124" y="1156"/>
                    <a:pt x="124" y="1156"/>
                  </a:cubicBezTo>
                  <a:lnTo>
                    <a:pt x="99" y="1327"/>
                  </a:lnTo>
                  <a:close/>
                  <a:moveTo>
                    <a:pt x="343" y="2159"/>
                  </a:moveTo>
                  <a:cubicBezTo>
                    <a:pt x="302" y="2159"/>
                    <a:pt x="302" y="2159"/>
                    <a:pt x="302" y="2159"/>
                  </a:cubicBezTo>
                  <a:cubicBezTo>
                    <a:pt x="300" y="2159"/>
                    <a:pt x="296" y="2156"/>
                    <a:pt x="296" y="2154"/>
                  </a:cubicBezTo>
                  <a:cubicBezTo>
                    <a:pt x="268" y="1936"/>
                    <a:pt x="268" y="1936"/>
                    <a:pt x="268" y="1936"/>
                  </a:cubicBezTo>
                  <a:cubicBezTo>
                    <a:pt x="343" y="1936"/>
                    <a:pt x="343" y="1936"/>
                    <a:pt x="343" y="1936"/>
                  </a:cubicBezTo>
                  <a:lnTo>
                    <a:pt x="343" y="2159"/>
                  </a:lnTo>
                  <a:close/>
                  <a:moveTo>
                    <a:pt x="459" y="1936"/>
                  </a:moveTo>
                  <a:cubicBezTo>
                    <a:pt x="430" y="2154"/>
                    <a:pt x="430" y="2154"/>
                    <a:pt x="430" y="2154"/>
                  </a:cubicBezTo>
                  <a:cubicBezTo>
                    <a:pt x="430" y="2156"/>
                    <a:pt x="426" y="2159"/>
                    <a:pt x="424" y="2159"/>
                  </a:cubicBezTo>
                  <a:cubicBezTo>
                    <a:pt x="384" y="2159"/>
                    <a:pt x="384" y="2159"/>
                    <a:pt x="384" y="2159"/>
                  </a:cubicBezTo>
                  <a:cubicBezTo>
                    <a:pt x="384" y="1936"/>
                    <a:pt x="384" y="1936"/>
                    <a:pt x="384" y="1936"/>
                  </a:cubicBezTo>
                  <a:lnTo>
                    <a:pt x="459" y="1936"/>
                  </a:lnTo>
                  <a:close/>
                  <a:moveTo>
                    <a:pt x="592" y="2200"/>
                  </a:moveTo>
                  <a:cubicBezTo>
                    <a:pt x="554" y="2200"/>
                    <a:pt x="554" y="2200"/>
                    <a:pt x="554" y="2200"/>
                  </a:cubicBezTo>
                  <a:cubicBezTo>
                    <a:pt x="554" y="1936"/>
                    <a:pt x="554" y="1936"/>
                    <a:pt x="554" y="1936"/>
                  </a:cubicBezTo>
                  <a:cubicBezTo>
                    <a:pt x="592" y="1936"/>
                    <a:pt x="592" y="1936"/>
                    <a:pt x="592" y="1936"/>
                  </a:cubicBezTo>
                  <a:lnTo>
                    <a:pt x="592" y="220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sp>
          <p:nvSpPr>
            <p:cNvPr id="178" name="Freeform 192">
              <a:extLst>
                <a:ext uri="{FF2B5EF4-FFF2-40B4-BE49-F238E27FC236}">
                  <a16:creationId xmlns:a16="http://schemas.microsoft.com/office/drawing/2014/main" id="{573DF755-38D5-43BB-9E49-04F56BE69C03}"/>
                </a:ext>
              </a:extLst>
            </p:cNvPr>
            <p:cNvSpPr>
              <a:spLocks noChangeAspect="1" noEditPoints="1"/>
            </p:cNvSpPr>
            <p:nvPr/>
          </p:nvSpPr>
          <p:spPr bwMode="auto">
            <a:xfrm>
              <a:off x="1346668" y="3332401"/>
              <a:ext cx="168309" cy="525600"/>
            </a:xfrm>
            <a:custGeom>
              <a:avLst/>
              <a:gdLst>
                <a:gd name="T0" fmla="*/ 663 w 703"/>
                <a:gd name="T1" fmla="*/ 588 h 2200"/>
                <a:gd name="T2" fmla="*/ 469 w 703"/>
                <a:gd name="T3" fmla="*/ 457 h 2200"/>
                <a:gd name="T4" fmla="*/ 534 w 703"/>
                <a:gd name="T5" fmla="*/ 445 h 2200"/>
                <a:gd name="T6" fmla="*/ 555 w 703"/>
                <a:gd name="T7" fmla="*/ 413 h 2200"/>
                <a:gd name="T8" fmla="*/ 545 w 703"/>
                <a:gd name="T9" fmla="*/ 193 h 2200"/>
                <a:gd name="T10" fmla="*/ 158 w 703"/>
                <a:gd name="T11" fmla="*/ 193 h 2200"/>
                <a:gd name="T12" fmla="*/ 148 w 703"/>
                <a:gd name="T13" fmla="*/ 413 h 2200"/>
                <a:gd name="T14" fmla="*/ 169 w 703"/>
                <a:gd name="T15" fmla="*/ 445 h 2200"/>
                <a:gd name="T16" fmla="*/ 233 w 703"/>
                <a:gd name="T17" fmla="*/ 457 h 2200"/>
                <a:gd name="T18" fmla="*/ 39 w 703"/>
                <a:gd name="T19" fmla="*/ 588 h 2200"/>
                <a:gd name="T20" fmla="*/ 86 w 703"/>
                <a:gd name="T21" fmla="*/ 1046 h 2200"/>
                <a:gd name="T22" fmla="*/ 64 w 703"/>
                <a:gd name="T23" fmla="*/ 1329 h 2200"/>
                <a:gd name="T24" fmla="*/ 61 w 703"/>
                <a:gd name="T25" fmla="*/ 1809 h 2200"/>
                <a:gd name="T26" fmla="*/ 217 w 703"/>
                <a:gd name="T27" fmla="*/ 2157 h 2200"/>
                <a:gd name="T28" fmla="*/ 330 w 703"/>
                <a:gd name="T29" fmla="*/ 2200 h 2200"/>
                <a:gd name="T30" fmla="*/ 373 w 703"/>
                <a:gd name="T31" fmla="*/ 1809 h 2200"/>
                <a:gd name="T32" fmla="*/ 437 w 703"/>
                <a:gd name="T33" fmla="*/ 2200 h 2200"/>
                <a:gd name="T34" fmla="*/ 556 w 703"/>
                <a:gd name="T35" fmla="*/ 1809 h 2200"/>
                <a:gd name="T36" fmla="*/ 675 w 703"/>
                <a:gd name="T37" fmla="*/ 1767 h 2200"/>
                <a:gd name="T38" fmla="*/ 595 w 703"/>
                <a:gd name="T39" fmla="*/ 1046 h 2200"/>
                <a:gd name="T40" fmla="*/ 703 w 703"/>
                <a:gd name="T41" fmla="*/ 961 h 2200"/>
                <a:gd name="T42" fmla="*/ 201 w 703"/>
                <a:gd name="T43" fmla="*/ 267 h 2200"/>
                <a:gd name="T44" fmla="*/ 502 w 703"/>
                <a:gd name="T45" fmla="*/ 195 h 2200"/>
                <a:gd name="T46" fmla="*/ 351 w 703"/>
                <a:gd name="T47" fmla="*/ 454 h 2200"/>
                <a:gd name="T48" fmla="*/ 128 w 703"/>
                <a:gd name="T49" fmla="*/ 905 h 2200"/>
                <a:gd name="T50" fmla="*/ 132 w 703"/>
                <a:gd name="T51" fmla="*/ 622 h 2200"/>
                <a:gd name="T52" fmla="*/ 333 w 703"/>
                <a:gd name="T53" fmla="*/ 521 h 2200"/>
                <a:gd name="T54" fmla="*/ 369 w 703"/>
                <a:gd name="T55" fmla="*/ 476 h 2200"/>
                <a:gd name="T56" fmla="*/ 353 w 703"/>
                <a:gd name="T57" fmla="*/ 555 h 2200"/>
                <a:gd name="T58" fmla="*/ 132 w 703"/>
                <a:gd name="T59" fmla="*/ 874 h 2200"/>
                <a:gd name="T60" fmla="*/ 242 w 703"/>
                <a:gd name="T61" fmla="*/ 764 h 2200"/>
                <a:gd name="T62" fmla="*/ 384 w 703"/>
                <a:gd name="T63" fmla="*/ 824 h 2200"/>
                <a:gd name="T64" fmla="*/ 128 w 703"/>
                <a:gd name="T65" fmla="*/ 905 h 2200"/>
                <a:gd name="T66" fmla="*/ 564 w 703"/>
                <a:gd name="T67" fmla="*/ 794 h 2200"/>
                <a:gd name="T68" fmla="*/ 415 w 703"/>
                <a:gd name="T69" fmla="*/ 794 h 2200"/>
                <a:gd name="T70" fmla="*/ 415 w 703"/>
                <a:gd name="T71" fmla="*/ 645 h 2200"/>
                <a:gd name="T72" fmla="*/ 508 w 703"/>
                <a:gd name="T73" fmla="*/ 596 h 2200"/>
                <a:gd name="T74" fmla="*/ 539 w 703"/>
                <a:gd name="T75" fmla="*/ 613 h 2200"/>
                <a:gd name="T76" fmla="*/ 554 w 703"/>
                <a:gd name="T77" fmla="*/ 706 h 2200"/>
                <a:gd name="T78" fmla="*/ 569 w 703"/>
                <a:gd name="T79" fmla="*/ 669 h 2200"/>
                <a:gd name="T80" fmla="*/ 576 w 703"/>
                <a:gd name="T81" fmla="*/ 639 h 2200"/>
                <a:gd name="T82" fmla="*/ 608 w 703"/>
                <a:gd name="T83" fmla="*/ 664 h 2200"/>
                <a:gd name="T84" fmla="*/ 613 w 703"/>
                <a:gd name="T85" fmla="*/ 701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03" h="2200">
                  <a:moveTo>
                    <a:pt x="703" y="961"/>
                  </a:moveTo>
                  <a:cubicBezTo>
                    <a:pt x="703" y="954"/>
                    <a:pt x="663" y="588"/>
                    <a:pt x="663" y="588"/>
                  </a:cubicBezTo>
                  <a:cubicBezTo>
                    <a:pt x="659" y="554"/>
                    <a:pt x="641" y="537"/>
                    <a:pt x="620" y="527"/>
                  </a:cubicBezTo>
                  <a:cubicBezTo>
                    <a:pt x="469" y="457"/>
                    <a:pt x="469" y="457"/>
                    <a:pt x="469" y="457"/>
                  </a:cubicBezTo>
                  <a:cubicBezTo>
                    <a:pt x="474" y="453"/>
                    <a:pt x="479" y="449"/>
                    <a:pt x="484" y="445"/>
                  </a:cubicBezTo>
                  <a:cubicBezTo>
                    <a:pt x="534" y="445"/>
                    <a:pt x="534" y="445"/>
                    <a:pt x="534" y="445"/>
                  </a:cubicBezTo>
                  <a:cubicBezTo>
                    <a:pt x="541" y="445"/>
                    <a:pt x="547" y="441"/>
                    <a:pt x="551" y="434"/>
                  </a:cubicBezTo>
                  <a:cubicBezTo>
                    <a:pt x="556" y="425"/>
                    <a:pt x="555" y="413"/>
                    <a:pt x="555" y="413"/>
                  </a:cubicBezTo>
                  <a:cubicBezTo>
                    <a:pt x="555" y="413"/>
                    <a:pt x="545" y="321"/>
                    <a:pt x="545" y="248"/>
                  </a:cubicBezTo>
                  <a:cubicBezTo>
                    <a:pt x="545" y="193"/>
                    <a:pt x="545" y="193"/>
                    <a:pt x="545" y="193"/>
                  </a:cubicBezTo>
                  <a:cubicBezTo>
                    <a:pt x="545" y="86"/>
                    <a:pt x="458" y="0"/>
                    <a:pt x="351" y="0"/>
                  </a:cubicBezTo>
                  <a:cubicBezTo>
                    <a:pt x="244" y="0"/>
                    <a:pt x="158" y="86"/>
                    <a:pt x="158" y="193"/>
                  </a:cubicBezTo>
                  <a:cubicBezTo>
                    <a:pt x="158" y="248"/>
                    <a:pt x="158" y="248"/>
                    <a:pt x="158" y="248"/>
                  </a:cubicBezTo>
                  <a:cubicBezTo>
                    <a:pt x="158" y="321"/>
                    <a:pt x="148" y="413"/>
                    <a:pt x="148" y="413"/>
                  </a:cubicBezTo>
                  <a:cubicBezTo>
                    <a:pt x="148" y="413"/>
                    <a:pt x="146" y="425"/>
                    <a:pt x="151" y="434"/>
                  </a:cubicBezTo>
                  <a:cubicBezTo>
                    <a:pt x="155" y="441"/>
                    <a:pt x="161" y="445"/>
                    <a:pt x="169" y="445"/>
                  </a:cubicBezTo>
                  <a:cubicBezTo>
                    <a:pt x="219" y="445"/>
                    <a:pt x="219" y="445"/>
                    <a:pt x="219" y="445"/>
                  </a:cubicBezTo>
                  <a:cubicBezTo>
                    <a:pt x="223" y="449"/>
                    <a:pt x="228" y="453"/>
                    <a:pt x="233" y="457"/>
                  </a:cubicBezTo>
                  <a:cubicBezTo>
                    <a:pt x="82" y="527"/>
                    <a:pt x="82" y="527"/>
                    <a:pt x="82" y="527"/>
                  </a:cubicBezTo>
                  <a:cubicBezTo>
                    <a:pt x="61" y="537"/>
                    <a:pt x="44" y="553"/>
                    <a:pt x="39" y="588"/>
                  </a:cubicBezTo>
                  <a:cubicBezTo>
                    <a:pt x="39" y="588"/>
                    <a:pt x="0" y="954"/>
                    <a:pt x="0" y="961"/>
                  </a:cubicBezTo>
                  <a:cubicBezTo>
                    <a:pt x="0" y="1008"/>
                    <a:pt x="38" y="1046"/>
                    <a:pt x="86" y="1046"/>
                  </a:cubicBezTo>
                  <a:cubicBezTo>
                    <a:pt x="108" y="1046"/>
                    <a:pt x="108" y="1046"/>
                    <a:pt x="108" y="1046"/>
                  </a:cubicBezTo>
                  <a:cubicBezTo>
                    <a:pt x="108" y="1047"/>
                    <a:pt x="74" y="1214"/>
                    <a:pt x="64" y="1329"/>
                  </a:cubicBezTo>
                  <a:cubicBezTo>
                    <a:pt x="28" y="1767"/>
                    <a:pt x="28" y="1767"/>
                    <a:pt x="28" y="1767"/>
                  </a:cubicBezTo>
                  <a:cubicBezTo>
                    <a:pt x="24" y="1790"/>
                    <a:pt x="38" y="1809"/>
                    <a:pt x="61" y="1809"/>
                  </a:cubicBezTo>
                  <a:cubicBezTo>
                    <a:pt x="147" y="1809"/>
                    <a:pt x="147" y="1809"/>
                    <a:pt x="147" y="1809"/>
                  </a:cubicBezTo>
                  <a:cubicBezTo>
                    <a:pt x="217" y="2157"/>
                    <a:pt x="217" y="2157"/>
                    <a:pt x="217" y="2157"/>
                  </a:cubicBezTo>
                  <a:cubicBezTo>
                    <a:pt x="220" y="2181"/>
                    <a:pt x="242" y="2200"/>
                    <a:pt x="266" y="2200"/>
                  </a:cubicBezTo>
                  <a:cubicBezTo>
                    <a:pt x="330" y="2200"/>
                    <a:pt x="330" y="2200"/>
                    <a:pt x="330" y="2200"/>
                  </a:cubicBezTo>
                  <a:cubicBezTo>
                    <a:pt x="330" y="1809"/>
                    <a:pt x="330" y="1809"/>
                    <a:pt x="330" y="1809"/>
                  </a:cubicBezTo>
                  <a:cubicBezTo>
                    <a:pt x="373" y="1809"/>
                    <a:pt x="373" y="1809"/>
                    <a:pt x="373" y="1809"/>
                  </a:cubicBezTo>
                  <a:cubicBezTo>
                    <a:pt x="373" y="2200"/>
                    <a:pt x="373" y="2200"/>
                    <a:pt x="373" y="2200"/>
                  </a:cubicBezTo>
                  <a:cubicBezTo>
                    <a:pt x="437" y="2200"/>
                    <a:pt x="437" y="2200"/>
                    <a:pt x="437" y="2200"/>
                  </a:cubicBezTo>
                  <a:cubicBezTo>
                    <a:pt x="460" y="2200"/>
                    <a:pt x="482" y="2181"/>
                    <a:pt x="486" y="2157"/>
                  </a:cubicBezTo>
                  <a:cubicBezTo>
                    <a:pt x="556" y="1809"/>
                    <a:pt x="556" y="1809"/>
                    <a:pt x="556" y="1809"/>
                  </a:cubicBezTo>
                  <a:cubicBezTo>
                    <a:pt x="641" y="1809"/>
                    <a:pt x="641" y="1809"/>
                    <a:pt x="641" y="1809"/>
                  </a:cubicBezTo>
                  <a:cubicBezTo>
                    <a:pt x="665" y="1809"/>
                    <a:pt x="678" y="1790"/>
                    <a:pt x="675" y="1767"/>
                  </a:cubicBezTo>
                  <a:cubicBezTo>
                    <a:pt x="638" y="1329"/>
                    <a:pt x="638" y="1329"/>
                    <a:pt x="638" y="1329"/>
                  </a:cubicBezTo>
                  <a:cubicBezTo>
                    <a:pt x="628" y="1214"/>
                    <a:pt x="595" y="1047"/>
                    <a:pt x="595" y="1046"/>
                  </a:cubicBezTo>
                  <a:cubicBezTo>
                    <a:pt x="617" y="1046"/>
                    <a:pt x="617" y="1046"/>
                    <a:pt x="617" y="1046"/>
                  </a:cubicBezTo>
                  <a:cubicBezTo>
                    <a:pt x="664" y="1046"/>
                    <a:pt x="703" y="1008"/>
                    <a:pt x="703" y="961"/>
                  </a:cubicBezTo>
                  <a:moveTo>
                    <a:pt x="201" y="304"/>
                  </a:moveTo>
                  <a:cubicBezTo>
                    <a:pt x="201" y="267"/>
                    <a:pt x="201" y="267"/>
                    <a:pt x="201" y="267"/>
                  </a:cubicBezTo>
                  <a:cubicBezTo>
                    <a:pt x="201" y="227"/>
                    <a:pt x="233" y="195"/>
                    <a:pt x="273" y="195"/>
                  </a:cubicBezTo>
                  <a:cubicBezTo>
                    <a:pt x="502" y="195"/>
                    <a:pt x="502" y="195"/>
                    <a:pt x="502" y="195"/>
                  </a:cubicBezTo>
                  <a:cubicBezTo>
                    <a:pt x="502" y="304"/>
                    <a:pt x="502" y="304"/>
                    <a:pt x="502" y="304"/>
                  </a:cubicBezTo>
                  <a:cubicBezTo>
                    <a:pt x="502" y="387"/>
                    <a:pt x="434" y="454"/>
                    <a:pt x="351" y="454"/>
                  </a:cubicBezTo>
                  <a:cubicBezTo>
                    <a:pt x="268" y="454"/>
                    <a:pt x="201" y="387"/>
                    <a:pt x="201" y="304"/>
                  </a:cubicBezTo>
                  <a:moveTo>
                    <a:pt x="128" y="905"/>
                  </a:moveTo>
                  <a:cubicBezTo>
                    <a:pt x="128" y="905"/>
                    <a:pt x="100" y="896"/>
                    <a:pt x="93" y="894"/>
                  </a:cubicBezTo>
                  <a:cubicBezTo>
                    <a:pt x="132" y="622"/>
                    <a:pt x="132" y="622"/>
                    <a:pt x="132" y="622"/>
                  </a:cubicBezTo>
                  <a:cubicBezTo>
                    <a:pt x="137" y="618"/>
                    <a:pt x="137" y="618"/>
                    <a:pt x="137" y="618"/>
                  </a:cubicBezTo>
                  <a:cubicBezTo>
                    <a:pt x="141" y="614"/>
                    <a:pt x="227" y="537"/>
                    <a:pt x="333" y="521"/>
                  </a:cubicBezTo>
                  <a:cubicBezTo>
                    <a:pt x="333" y="476"/>
                    <a:pt x="333" y="476"/>
                    <a:pt x="333" y="476"/>
                  </a:cubicBezTo>
                  <a:cubicBezTo>
                    <a:pt x="369" y="476"/>
                    <a:pt x="369" y="476"/>
                    <a:pt x="369" y="476"/>
                  </a:cubicBezTo>
                  <a:cubicBezTo>
                    <a:pt x="369" y="553"/>
                    <a:pt x="369" y="553"/>
                    <a:pt x="369" y="553"/>
                  </a:cubicBezTo>
                  <a:cubicBezTo>
                    <a:pt x="353" y="555"/>
                    <a:pt x="353" y="555"/>
                    <a:pt x="353" y="555"/>
                  </a:cubicBezTo>
                  <a:cubicBezTo>
                    <a:pt x="264" y="563"/>
                    <a:pt x="185" y="624"/>
                    <a:pt x="166" y="640"/>
                  </a:cubicBezTo>
                  <a:cubicBezTo>
                    <a:pt x="132" y="874"/>
                    <a:pt x="132" y="874"/>
                    <a:pt x="132" y="874"/>
                  </a:cubicBezTo>
                  <a:cubicBezTo>
                    <a:pt x="135" y="871"/>
                    <a:pt x="138" y="867"/>
                    <a:pt x="141" y="865"/>
                  </a:cubicBezTo>
                  <a:cubicBezTo>
                    <a:pt x="242" y="764"/>
                    <a:pt x="242" y="764"/>
                    <a:pt x="242" y="764"/>
                  </a:cubicBezTo>
                  <a:cubicBezTo>
                    <a:pt x="269" y="736"/>
                    <a:pt x="305" y="722"/>
                    <a:pt x="341" y="721"/>
                  </a:cubicBezTo>
                  <a:cubicBezTo>
                    <a:pt x="341" y="760"/>
                    <a:pt x="357" y="797"/>
                    <a:pt x="384" y="824"/>
                  </a:cubicBezTo>
                  <a:cubicBezTo>
                    <a:pt x="411" y="851"/>
                    <a:pt x="447" y="867"/>
                    <a:pt x="485" y="868"/>
                  </a:cubicBezTo>
                  <a:cubicBezTo>
                    <a:pt x="408" y="981"/>
                    <a:pt x="185" y="922"/>
                    <a:pt x="128" y="905"/>
                  </a:cubicBezTo>
                  <a:moveTo>
                    <a:pt x="582" y="776"/>
                  </a:moveTo>
                  <a:cubicBezTo>
                    <a:pt x="564" y="794"/>
                    <a:pt x="564" y="794"/>
                    <a:pt x="564" y="794"/>
                  </a:cubicBezTo>
                  <a:cubicBezTo>
                    <a:pt x="544" y="814"/>
                    <a:pt x="518" y="825"/>
                    <a:pt x="489" y="825"/>
                  </a:cubicBezTo>
                  <a:cubicBezTo>
                    <a:pt x="461" y="825"/>
                    <a:pt x="435" y="814"/>
                    <a:pt x="415" y="794"/>
                  </a:cubicBezTo>
                  <a:cubicBezTo>
                    <a:pt x="395" y="774"/>
                    <a:pt x="384" y="747"/>
                    <a:pt x="384" y="719"/>
                  </a:cubicBezTo>
                  <a:cubicBezTo>
                    <a:pt x="384" y="691"/>
                    <a:pt x="395" y="665"/>
                    <a:pt x="415" y="645"/>
                  </a:cubicBezTo>
                  <a:cubicBezTo>
                    <a:pt x="433" y="626"/>
                    <a:pt x="433" y="626"/>
                    <a:pt x="433" y="626"/>
                  </a:cubicBezTo>
                  <a:cubicBezTo>
                    <a:pt x="453" y="607"/>
                    <a:pt x="479" y="596"/>
                    <a:pt x="508" y="596"/>
                  </a:cubicBezTo>
                  <a:cubicBezTo>
                    <a:pt x="522" y="596"/>
                    <a:pt x="537" y="599"/>
                    <a:pt x="550" y="604"/>
                  </a:cubicBezTo>
                  <a:cubicBezTo>
                    <a:pt x="546" y="607"/>
                    <a:pt x="542" y="610"/>
                    <a:pt x="539" y="613"/>
                  </a:cubicBezTo>
                  <a:cubicBezTo>
                    <a:pt x="515" y="637"/>
                    <a:pt x="515" y="676"/>
                    <a:pt x="539" y="700"/>
                  </a:cubicBezTo>
                  <a:cubicBezTo>
                    <a:pt x="543" y="704"/>
                    <a:pt x="549" y="706"/>
                    <a:pt x="554" y="706"/>
                  </a:cubicBezTo>
                  <a:cubicBezTo>
                    <a:pt x="560" y="706"/>
                    <a:pt x="565" y="704"/>
                    <a:pt x="569" y="700"/>
                  </a:cubicBezTo>
                  <a:cubicBezTo>
                    <a:pt x="578" y="691"/>
                    <a:pt x="578" y="678"/>
                    <a:pt x="569" y="669"/>
                  </a:cubicBezTo>
                  <a:cubicBezTo>
                    <a:pt x="562" y="662"/>
                    <a:pt x="562" y="650"/>
                    <a:pt x="569" y="643"/>
                  </a:cubicBezTo>
                  <a:cubicBezTo>
                    <a:pt x="571" y="642"/>
                    <a:pt x="573" y="640"/>
                    <a:pt x="576" y="639"/>
                  </a:cubicBezTo>
                  <a:cubicBezTo>
                    <a:pt x="582" y="637"/>
                    <a:pt x="590" y="638"/>
                    <a:pt x="596" y="643"/>
                  </a:cubicBezTo>
                  <a:cubicBezTo>
                    <a:pt x="599" y="646"/>
                    <a:pt x="604" y="651"/>
                    <a:pt x="608" y="664"/>
                  </a:cubicBezTo>
                  <a:cubicBezTo>
                    <a:pt x="612" y="676"/>
                    <a:pt x="613" y="681"/>
                    <a:pt x="613" y="701"/>
                  </a:cubicBezTo>
                  <a:cubicBezTo>
                    <a:pt x="613" y="701"/>
                    <a:pt x="613" y="701"/>
                    <a:pt x="613" y="701"/>
                  </a:cubicBezTo>
                  <a:cubicBezTo>
                    <a:pt x="613" y="729"/>
                    <a:pt x="602" y="756"/>
                    <a:pt x="582" y="776"/>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65" name="Group 64">
            <a:extLst>
              <a:ext uri="{FF2B5EF4-FFF2-40B4-BE49-F238E27FC236}">
                <a16:creationId xmlns:a16="http://schemas.microsoft.com/office/drawing/2014/main" id="{2154403A-6E54-4678-A1CE-80C21A58A623}"/>
              </a:ext>
            </a:extLst>
          </p:cNvPr>
          <p:cNvGrpSpPr/>
          <p:nvPr/>
        </p:nvGrpSpPr>
        <p:grpSpPr>
          <a:xfrm>
            <a:off x="2647460" y="3096425"/>
            <a:ext cx="1704512" cy="1264217"/>
            <a:chOff x="2446619" y="3323716"/>
            <a:chExt cx="1704512" cy="1156081"/>
          </a:xfrm>
        </p:grpSpPr>
        <p:sp>
          <p:nvSpPr>
            <p:cNvPr id="74" name="Rectangle: Rounded Corners 73">
              <a:extLst>
                <a:ext uri="{FF2B5EF4-FFF2-40B4-BE49-F238E27FC236}">
                  <a16:creationId xmlns:a16="http://schemas.microsoft.com/office/drawing/2014/main" id="{B99D995B-BFBF-4230-9EF5-2FD6FB6699CE}"/>
                </a:ext>
              </a:extLst>
            </p:cNvPr>
            <p:cNvSpPr/>
            <p:nvPr/>
          </p:nvSpPr>
          <p:spPr bwMode="auto">
            <a:xfrm>
              <a:off x="2446619" y="3931729"/>
              <a:ext cx="1704512" cy="548068"/>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buClr>
                  <a:schemeClr val="bg1"/>
                </a:buClr>
              </a:pPr>
              <a:r>
                <a:rPr lang="en-GB" sz="1200" b="1" kern="0">
                  <a:solidFill>
                    <a:schemeClr val="bg1"/>
                  </a:solidFill>
                  <a:latin typeface="Arial"/>
                </a:rPr>
                <a:t>several analyses</a:t>
              </a:r>
            </a:p>
          </p:txBody>
        </p:sp>
        <p:grpSp>
          <p:nvGrpSpPr>
            <p:cNvPr id="75" name="Group 196">
              <a:extLst>
                <a:ext uri="{FF2B5EF4-FFF2-40B4-BE49-F238E27FC236}">
                  <a16:creationId xmlns:a16="http://schemas.microsoft.com/office/drawing/2014/main" id="{25791181-ADFA-4CF4-896D-7532A3309035}"/>
                </a:ext>
              </a:extLst>
            </p:cNvPr>
            <p:cNvGrpSpPr>
              <a:grpSpLocks noChangeAspect="1"/>
            </p:cNvGrpSpPr>
            <p:nvPr/>
          </p:nvGrpSpPr>
          <p:grpSpPr bwMode="auto">
            <a:xfrm>
              <a:off x="2514526" y="3323716"/>
              <a:ext cx="315913" cy="525463"/>
              <a:chOff x="1696" y="3210"/>
              <a:chExt cx="199" cy="331"/>
            </a:xfrm>
            <a:solidFill>
              <a:schemeClr val="bg2"/>
            </a:solidFill>
          </p:grpSpPr>
          <p:sp>
            <p:nvSpPr>
              <p:cNvPr id="76" name="Freeform 197">
                <a:extLst>
                  <a:ext uri="{FF2B5EF4-FFF2-40B4-BE49-F238E27FC236}">
                    <a16:creationId xmlns:a16="http://schemas.microsoft.com/office/drawing/2014/main" id="{654FA340-9746-462E-B289-AECEE4E98300}"/>
                  </a:ext>
                </a:extLst>
              </p:cNvPr>
              <p:cNvSpPr>
                <a:spLocks/>
              </p:cNvSpPr>
              <p:nvPr/>
            </p:nvSpPr>
            <p:spPr bwMode="auto">
              <a:xfrm>
                <a:off x="1829" y="3442"/>
                <a:ext cx="59" cy="99"/>
              </a:xfrm>
              <a:custGeom>
                <a:avLst/>
                <a:gdLst>
                  <a:gd name="T0" fmla="*/ 100 w 394"/>
                  <a:gd name="T1" fmla="*/ 20 h 657"/>
                  <a:gd name="T2" fmla="*/ 20 w 394"/>
                  <a:gd name="T3" fmla="*/ 20 h 657"/>
                  <a:gd name="T4" fmla="*/ 20 w 394"/>
                  <a:gd name="T5" fmla="*/ 100 h 657"/>
                  <a:gd name="T6" fmla="*/ 253 w 394"/>
                  <a:gd name="T7" fmla="*/ 332 h 657"/>
                  <a:gd name="T8" fmla="*/ 20 w 394"/>
                  <a:gd name="T9" fmla="*/ 565 h 657"/>
                  <a:gd name="T10" fmla="*/ 20 w 394"/>
                  <a:gd name="T11" fmla="*/ 637 h 657"/>
                  <a:gd name="T12" fmla="*/ 60 w 394"/>
                  <a:gd name="T13" fmla="*/ 657 h 657"/>
                  <a:gd name="T14" fmla="*/ 100 w 394"/>
                  <a:gd name="T15" fmla="*/ 637 h 657"/>
                  <a:gd name="T16" fmla="*/ 374 w 394"/>
                  <a:gd name="T17" fmla="*/ 365 h 657"/>
                  <a:gd name="T18" fmla="*/ 374 w 394"/>
                  <a:gd name="T19" fmla="*/ 292 h 657"/>
                  <a:gd name="T20" fmla="*/ 100 w 394"/>
                  <a:gd name="T21" fmla="*/ 2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4" h="657">
                    <a:moveTo>
                      <a:pt x="100" y="20"/>
                    </a:moveTo>
                    <a:cubicBezTo>
                      <a:pt x="80" y="0"/>
                      <a:pt x="46" y="0"/>
                      <a:pt x="20" y="20"/>
                    </a:cubicBezTo>
                    <a:cubicBezTo>
                      <a:pt x="0" y="40"/>
                      <a:pt x="0" y="80"/>
                      <a:pt x="20" y="100"/>
                    </a:cubicBezTo>
                    <a:cubicBezTo>
                      <a:pt x="253" y="332"/>
                      <a:pt x="253" y="332"/>
                      <a:pt x="253" y="332"/>
                    </a:cubicBezTo>
                    <a:cubicBezTo>
                      <a:pt x="20" y="565"/>
                      <a:pt x="20" y="565"/>
                      <a:pt x="20" y="565"/>
                    </a:cubicBezTo>
                    <a:cubicBezTo>
                      <a:pt x="0" y="584"/>
                      <a:pt x="0" y="618"/>
                      <a:pt x="20" y="637"/>
                    </a:cubicBezTo>
                    <a:cubicBezTo>
                      <a:pt x="33" y="651"/>
                      <a:pt x="46" y="657"/>
                      <a:pt x="60" y="657"/>
                    </a:cubicBezTo>
                    <a:cubicBezTo>
                      <a:pt x="73" y="657"/>
                      <a:pt x="86" y="651"/>
                      <a:pt x="100" y="637"/>
                    </a:cubicBezTo>
                    <a:cubicBezTo>
                      <a:pt x="374" y="365"/>
                      <a:pt x="374" y="365"/>
                      <a:pt x="374" y="365"/>
                    </a:cubicBezTo>
                    <a:cubicBezTo>
                      <a:pt x="394" y="346"/>
                      <a:pt x="394" y="312"/>
                      <a:pt x="374" y="292"/>
                    </a:cubicBezTo>
                    <a:lnTo>
                      <a:pt x="10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7" name="Freeform 198">
                <a:extLst>
                  <a:ext uri="{FF2B5EF4-FFF2-40B4-BE49-F238E27FC236}">
                    <a16:creationId xmlns:a16="http://schemas.microsoft.com/office/drawing/2014/main" id="{D7E520A2-8E36-412C-AD6F-8B04AF637DDD}"/>
                  </a:ext>
                </a:extLst>
              </p:cNvPr>
              <p:cNvSpPr>
                <a:spLocks/>
              </p:cNvSpPr>
              <p:nvPr/>
            </p:nvSpPr>
            <p:spPr bwMode="auto">
              <a:xfrm>
                <a:off x="1703" y="3442"/>
                <a:ext cx="59" cy="97"/>
              </a:xfrm>
              <a:custGeom>
                <a:avLst/>
                <a:gdLst>
                  <a:gd name="T0" fmla="*/ 368 w 395"/>
                  <a:gd name="T1" fmla="*/ 20 h 648"/>
                  <a:gd name="T2" fmla="*/ 294 w 395"/>
                  <a:gd name="T3" fmla="*/ 20 h 648"/>
                  <a:gd name="T4" fmla="*/ 20 w 395"/>
                  <a:gd name="T5" fmla="*/ 291 h 648"/>
                  <a:gd name="T6" fmla="*/ 20 w 395"/>
                  <a:gd name="T7" fmla="*/ 364 h 648"/>
                  <a:gd name="T8" fmla="*/ 294 w 395"/>
                  <a:gd name="T9" fmla="*/ 635 h 648"/>
                  <a:gd name="T10" fmla="*/ 334 w 395"/>
                  <a:gd name="T11" fmla="*/ 648 h 648"/>
                  <a:gd name="T12" fmla="*/ 368 w 395"/>
                  <a:gd name="T13" fmla="*/ 635 h 648"/>
                  <a:gd name="T14" fmla="*/ 368 w 395"/>
                  <a:gd name="T15" fmla="*/ 556 h 648"/>
                  <a:gd name="T16" fmla="*/ 134 w 395"/>
                  <a:gd name="T17" fmla="*/ 324 h 648"/>
                  <a:gd name="T18" fmla="*/ 368 w 395"/>
                  <a:gd name="T19" fmla="*/ 93 h 648"/>
                  <a:gd name="T20" fmla="*/ 368 w 395"/>
                  <a:gd name="T21" fmla="*/ 20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5" h="648">
                    <a:moveTo>
                      <a:pt x="368" y="20"/>
                    </a:moveTo>
                    <a:cubicBezTo>
                      <a:pt x="348" y="0"/>
                      <a:pt x="314" y="0"/>
                      <a:pt x="294" y="20"/>
                    </a:cubicBezTo>
                    <a:cubicBezTo>
                      <a:pt x="20" y="291"/>
                      <a:pt x="20" y="291"/>
                      <a:pt x="20" y="291"/>
                    </a:cubicBezTo>
                    <a:cubicBezTo>
                      <a:pt x="0" y="311"/>
                      <a:pt x="0" y="344"/>
                      <a:pt x="20" y="364"/>
                    </a:cubicBezTo>
                    <a:cubicBezTo>
                      <a:pt x="294" y="635"/>
                      <a:pt x="294" y="635"/>
                      <a:pt x="294" y="635"/>
                    </a:cubicBezTo>
                    <a:cubicBezTo>
                      <a:pt x="301" y="648"/>
                      <a:pt x="321" y="648"/>
                      <a:pt x="334" y="648"/>
                    </a:cubicBezTo>
                    <a:cubicBezTo>
                      <a:pt x="348" y="648"/>
                      <a:pt x="361" y="648"/>
                      <a:pt x="368" y="635"/>
                    </a:cubicBezTo>
                    <a:cubicBezTo>
                      <a:pt x="395" y="615"/>
                      <a:pt x="395" y="582"/>
                      <a:pt x="368" y="556"/>
                    </a:cubicBezTo>
                    <a:cubicBezTo>
                      <a:pt x="134" y="324"/>
                      <a:pt x="134" y="324"/>
                      <a:pt x="134" y="324"/>
                    </a:cubicBezTo>
                    <a:cubicBezTo>
                      <a:pt x="368" y="93"/>
                      <a:pt x="368" y="93"/>
                      <a:pt x="368" y="93"/>
                    </a:cubicBezTo>
                    <a:cubicBezTo>
                      <a:pt x="395" y="73"/>
                      <a:pt x="395" y="40"/>
                      <a:pt x="36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8" name="Freeform 199">
                <a:extLst>
                  <a:ext uri="{FF2B5EF4-FFF2-40B4-BE49-F238E27FC236}">
                    <a16:creationId xmlns:a16="http://schemas.microsoft.com/office/drawing/2014/main" id="{F45A3000-645B-4233-8CA4-0B22F5FBE87E}"/>
                  </a:ext>
                </a:extLst>
              </p:cNvPr>
              <p:cNvSpPr>
                <a:spLocks/>
              </p:cNvSpPr>
              <p:nvPr/>
            </p:nvSpPr>
            <p:spPr bwMode="auto">
              <a:xfrm>
                <a:off x="1767" y="3446"/>
                <a:ext cx="52" cy="92"/>
              </a:xfrm>
              <a:custGeom>
                <a:avLst/>
                <a:gdLst>
                  <a:gd name="T0" fmla="*/ 237 w 348"/>
                  <a:gd name="T1" fmla="*/ 41 h 615"/>
                  <a:gd name="T2" fmla="*/ 14 w 348"/>
                  <a:gd name="T3" fmla="*/ 534 h 615"/>
                  <a:gd name="T4" fmla="*/ 40 w 348"/>
                  <a:gd name="T5" fmla="*/ 604 h 615"/>
                  <a:gd name="T6" fmla="*/ 111 w 348"/>
                  <a:gd name="T7" fmla="*/ 577 h 615"/>
                  <a:gd name="T8" fmla="*/ 334 w 348"/>
                  <a:gd name="T9" fmla="*/ 84 h 615"/>
                  <a:gd name="T10" fmla="*/ 308 w 348"/>
                  <a:gd name="T11" fmla="*/ 14 h 615"/>
                  <a:gd name="T12" fmla="*/ 237 w 348"/>
                  <a:gd name="T13" fmla="*/ 41 h 615"/>
                </a:gdLst>
                <a:ahLst/>
                <a:cxnLst>
                  <a:cxn ang="0">
                    <a:pos x="T0" y="T1"/>
                  </a:cxn>
                  <a:cxn ang="0">
                    <a:pos x="T2" y="T3"/>
                  </a:cxn>
                  <a:cxn ang="0">
                    <a:pos x="T4" y="T5"/>
                  </a:cxn>
                  <a:cxn ang="0">
                    <a:pos x="T6" y="T7"/>
                  </a:cxn>
                  <a:cxn ang="0">
                    <a:pos x="T8" y="T9"/>
                  </a:cxn>
                  <a:cxn ang="0">
                    <a:pos x="T10" y="T11"/>
                  </a:cxn>
                  <a:cxn ang="0">
                    <a:pos x="T12" y="T13"/>
                  </a:cxn>
                </a:cxnLst>
                <a:rect l="0" t="0" r="r" b="b"/>
                <a:pathLst>
                  <a:path w="348" h="615">
                    <a:moveTo>
                      <a:pt x="237" y="41"/>
                    </a:moveTo>
                    <a:cubicBezTo>
                      <a:pt x="14" y="534"/>
                      <a:pt x="14" y="534"/>
                      <a:pt x="14" y="534"/>
                    </a:cubicBezTo>
                    <a:cubicBezTo>
                      <a:pt x="0" y="564"/>
                      <a:pt x="10" y="590"/>
                      <a:pt x="40" y="604"/>
                    </a:cubicBezTo>
                    <a:cubicBezTo>
                      <a:pt x="65" y="615"/>
                      <a:pt x="97" y="608"/>
                      <a:pt x="111" y="577"/>
                    </a:cubicBezTo>
                    <a:cubicBezTo>
                      <a:pt x="334" y="84"/>
                      <a:pt x="334" y="84"/>
                      <a:pt x="334" y="84"/>
                    </a:cubicBezTo>
                    <a:cubicBezTo>
                      <a:pt x="348" y="54"/>
                      <a:pt x="332" y="25"/>
                      <a:pt x="308" y="14"/>
                    </a:cubicBezTo>
                    <a:cubicBezTo>
                      <a:pt x="277" y="0"/>
                      <a:pt x="251" y="10"/>
                      <a:pt x="237" y="4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9" name="Freeform 200">
                <a:extLst>
                  <a:ext uri="{FF2B5EF4-FFF2-40B4-BE49-F238E27FC236}">
                    <a16:creationId xmlns:a16="http://schemas.microsoft.com/office/drawing/2014/main" id="{5D7D5C07-6827-4EDC-AF3D-3E68FF6097CA}"/>
                  </a:ext>
                </a:extLst>
              </p:cNvPr>
              <p:cNvSpPr>
                <a:spLocks/>
              </p:cNvSpPr>
              <p:nvPr/>
            </p:nvSpPr>
            <p:spPr bwMode="auto">
              <a:xfrm>
                <a:off x="1696" y="3210"/>
                <a:ext cx="199" cy="199"/>
              </a:xfrm>
              <a:custGeom>
                <a:avLst/>
                <a:gdLst>
                  <a:gd name="T0" fmla="*/ 101 w 1323"/>
                  <a:gd name="T1" fmla="*/ 1222 h 1324"/>
                  <a:gd name="T2" fmla="*/ 1272 w 1323"/>
                  <a:gd name="T3" fmla="*/ 1222 h 1324"/>
                  <a:gd name="T4" fmla="*/ 1323 w 1323"/>
                  <a:gd name="T5" fmla="*/ 1273 h 1324"/>
                  <a:gd name="T6" fmla="*/ 1272 w 1323"/>
                  <a:gd name="T7" fmla="*/ 1324 h 1324"/>
                  <a:gd name="T8" fmla="*/ 51 w 1323"/>
                  <a:gd name="T9" fmla="*/ 1324 h 1324"/>
                  <a:gd name="T10" fmla="*/ 0 w 1323"/>
                  <a:gd name="T11" fmla="*/ 1273 h 1324"/>
                  <a:gd name="T12" fmla="*/ 0 w 1323"/>
                  <a:gd name="T13" fmla="*/ 51 h 1324"/>
                  <a:gd name="T14" fmla="*/ 51 w 1323"/>
                  <a:gd name="T15" fmla="*/ 0 h 1324"/>
                  <a:gd name="T16" fmla="*/ 101 w 1323"/>
                  <a:gd name="T17" fmla="*/ 51 h 1324"/>
                  <a:gd name="T18" fmla="*/ 101 w 1323"/>
                  <a:gd name="T19" fmla="*/ 1222 h 1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3" h="1324">
                    <a:moveTo>
                      <a:pt x="101" y="1222"/>
                    </a:moveTo>
                    <a:cubicBezTo>
                      <a:pt x="1272" y="1222"/>
                      <a:pt x="1272" y="1222"/>
                      <a:pt x="1272" y="1222"/>
                    </a:cubicBezTo>
                    <a:cubicBezTo>
                      <a:pt x="1301" y="1222"/>
                      <a:pt x="1323" y="1245"/>
                      <a:pt x="1323" y="1273"/>
                    </a:cubicBezTo>
                    <a:cubicBezTo>
                      <a:pt x="1323" y="1301"/>
                      <a:pt x="1301" y="1324"/>
                      <a:pt x="1272" y="1324"/>
                    </a:cubicBezTo>
                    <a:cubicBezTo>
                      <a:pt x="51" y="1324"/>
                      <a:pt x="51" y="1324"/>
                      <a:pt x="51" y="1324"/>
                    </a:cubicBezTo>
                    <a:cubicBezTo>
                      <a:pt x="23" y="1324"/>
                      <a:pt x="0" y="1301"/>
                      <a:pt x="0" y="1273"/>
                    </a:cubicBezTo>
                    <a:cubicBezTo>
                      <a:pt x="0" y="51"/>
                      <a:pt x="0" y="51"/>
                      <a:pt x="0" y="51"/>
                    </a:cubicBezTo>
                    <a:cubicBezTo>
                      <a:pt x="0" y="23"/>
                      <a:pt x="23" y="0"/>
                      <a:pt x="51" y="0"/>
                    </a:cubicBezTo>
                    <a:cubicBezTo>
                      <a:pt x="79" y="0"/>
                      <a:pt x="101" y="23"/>
                      <a:pt x="101" y="51"/>
                    </a:cubicBezTo>
                    <a:lnTo>
                      <a:pt x="101" y="12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0" name="Freeform 201">
                <a:extLst>
                  <a:ext uri="{FF2B5EF4-FFF2-40B4-BE49-F238E27FC236}">
                    <a16:creationId xmlns:a16="http://schemas.microsoft.com/office/drawing/2014/main" id="{117DD6D7-F190-422B-AD65-A5CE252E50A9}"/>
                  </a:ext>
                </a:extLst>
              </p:cNvPr>
              <p:cNvSpPr>
                <a:spLocks noEditPoints="1"/>
              </p:cNvSpPr>
              <p:nvPr/>
            </p:nvSpPr>
            <p:spPr bwMode="auto">
              <a:xfrm>
                <a:off x="1723" y="3213"/>
                <a:ext cx="168" cy="111"/>
              </a:xfrm>
              <a:custGeom>
                <a:avLst/>
                <a:gdLst>
                  <a:gd name="T0" fmla="*/ 990 w 1118"/>
                  <a:gd name="T1" fmla="*/ 0 h 740"/>
                  <a:gd name="T2" fmla="*/ 862 w 1118"/>
                  <a:gd name="T3" fmla="*/ 128 h 740"/>
                  <a:gd name="T4" fmla="*/ 896 w 1118"/>
                  <a:gd name="T5" fmla="*/ 215 h 740"/>
                  <a:gd name="T6" fmla="*/ 800 w 1118"/>
                  <a:gd name="T7" fmla="*/ 370 h 740"/>
                  <a:gd name="T8" fmla="*/ 764 w 1118"/>
                  <a:gd name="T9" fmla="*/ 365 h 740"/>
                  <a:gd name="T10" fmla="*/ 667 w 1118"/>
                  <a:gd name="T11" fmla="*/ 410 h 740"/>
                  <a:gd name="T12" fmla="*/ 513 w 1118"/>
                  <a:gd name="T13" fmla="*/ 338 h 740"/>
                  <a:gd name="T14" fmla="*/ 515 w 1118"/>
                  <a:gd name="T15" fmla="*/ 316 h 740"/>
                  <a:gd name="T16" fmla="*/ 387 w 1118"/>
                  <a:gd name="T17" fmla="*/ 188 h 740"/>
                  <a:gd name="T18" fmla="*/ 259 w 1118"/>
                  <a:gd name="T19" fmla="*/ 316 h 740"/>
                  <a:gd name="T20" fmla="*/ 281 w 1118"/>
                  <a:gd name="T21" fmla="*/ 387 h 740"/>
                  <a:gd name="T22" fmla="*/ 184 w 1118"/>
                  <a:gd name="T23" fmla="*/ 497 h 740"/>
                  <a:gd name="T24" fmla="*/ 128 w 1118"/>
                  <a:gd name="T25" fmla="*/ 484 h 740"/>
                  <a:gd name="T26" fmla="*/ 0 w 1118"/>
                  <a:gd name="T27" fmla="*/ 612 h 740"/>
                  <a:gd name="T28" fmla="*/ 128 w 1118"/>
                  <a:gd name="T29" fmla="*/ 740 h 740"/>
                  <a:gd name="T30" fmla="*/ 256 w 1118"/>
                  <a:gd name="T31" fmla="*/ 612 h 740"/>
                  <a:gd name="T32" fmla="*/ 235 w 1118"/>
                  <a:gd name="T33" fmla="*/ 542 h 740"/>
                  <a:gd name="T34" fmla="*/ 332 w 1118"/>
                  <a:gd name="T35" fmla="*/ 431 h 740"/>
                  <a:gd name="T36" fmla="*/ 387 w 1118"/>
                  <a:gd name="T37" fmla="*/ 444 h 740"/>
                  <a:gd name="T38" fmla="*/ 485 w 1118"/>
                  <a:gd name="T39" fmla="*/ 399 h 740"/>
                  <a:gd name="T40" fmla="*/ 638 w 1118"/>
                  <a:gd name="T41" fmla="*/ 471 h 740"/>
                  <a:gd name="T42" fmla="*/ 636 w 1118"/>
                  <a:gd name="T43" fmla="*/ 493 h 740"/>
                  <a:gd name="T44" fmla="*/ 764 w 1118"/>
                  <a:gd name="T45" fmla="*/ 621 h 740"/>
                  <a:gd name="T46" fmla="*/ 892 w 1118"/>
                  <a:gd name="T47" fmla="*/ 493 h 740"/>
                  <a:gd name="T48" fmla="*/ 858 w 1118"/>
                  <a:gd name="T49" fmla="*/ 406 h 740"/>
                  <a:gd name="T50" fmla="*/ 954 w 1118"/>
                  <a:gd name="T51" fmla="*/ 251 h 740"/>
                  <a:gd name="T52" fmla="*/ 990 w 1118"/>
                  <a:gd name="T53" fmla="*/ 256 h 740"/>
                  <a:gd name="T54" fmla="*/ 1118 w 1118"/>
                  <a:gd name="T55" fmla="*/ 128 h 740"/>
                  <a:gd name="T56" fmla="*/ 990 w 1118"/>
                  <a:gd name="T57" fmla="*/ 0 h 740"/>
                  <a:gd name="T58" fmla="*/ 189 w 1118"/>
                  <a:gd name="T59" fmla="*/ 612 h 740"/>
                  <a:gd name="T60" fmla="*/ 128 w 1118"/>
                  <a:gd name="T61" fmla="*/ 672 h 740"/>
                  <a:gd name="T62" fmla="*/ 68 w 1118"/>
                  <a:gd name="T63" fmla="*/ 612 h 740"/>
                  <a:gd name="T64" fmla="*/ 128 w 1118"/>
                  <a:gd name="T65" fmla="*/ 552 h 740"/>
                  <a:gd name="T66" fmla="*/ 135 w 1118"/>
                  <a:gd name="T67" fmla="*/ 553 h 740"/>
                  <a:gd name="T68" fmla="*/ 186 w 1118"/>
                  <a:gd name="T69" fmla="*/ 597 h 740"/>
                  <a:gd name="T70" fmla="*/ 189 w 1118"/>
                  <a:gd name="T71" fmla="*/ 612 h 740"/>
                  <a:gd name="T72" fmla="*/ 387 w 1118"/>
                  <a:gd name="T73" fmla="*/ 377 h 740"/>
                  <a:gd name="T74" fmla="*/ 380 w 1118"/>
                  <a:gd name="T75" fmla="*/ 376 h 740"/>
                  <a:gd name="T76" fmla="*/ 329 w 1118"/>
                  <a:gd name="T77" fmla="*/ 331 h 740"/>
                  <a:gd name="T78" fmla="*/ 327 w 1118"/>
                  <a:gd name="T79" fmla="*/ 316 h 740"/>
                  <a:gd name="T80" fmla="*/ 387 w 1118"/>
                  <a:gd name="T81" fmla="*/ 256 h 740"/>
                  <a:gd name="T82" fmla="*/ 447 w 1118"/>
                  <a:gd name="T83" fmla="*/ 307 h 740"/>
                  <a:gd name="T84" fmla="*/ 448 w 1118"/>
                  <a:gd name="T85" fmla="*/ 316 h 740"/>
                  <a:gd name="T86" fmla="*/ 418 w 1118"/>
                  <a:gd name="T87" fmla="*/ 368 h 740"/>
                  <a:gd name="T88" fmla="*/ 387 w 1118"/>
                  <a:gd name="T89" fmla="*/ 377 h 740"/>
                  <a:gd name="T90" fmla="*/ 825 w 1118"/>
                  <a:gd name="T91" fmla="*/ 493 h 740"/>
                  <a:gd name="T92" fmla="*/ 764 w 1118"/>
                  <a:gd name="T93" fmla="*/ 553 h 740"/>
                  <a:gd name="T94" fmla="*/ 705 w 1118"/>
                  <a:gd name="T95" fmla="*/ 503 h 740"/>
                  <a:gd name="T96" fmla="*/ 704 w 1118"/>
                  <a:gd name="T97" fmla="*/ 493 h 740"/>
                  <a:gd name="T98" fmla="*/ 734 w 1118"/>
                  <a:gd name="T99" fmla="*/ 441 h 740"/>
                  <a:gd name="T100" fmla="*/ 762 w 1118"/>
                  <a:gd name="T101" fmla="*/ 433 h 740"/>
                  <a:gd name="T102" fmla="*/ 764 w 1118"/>
                  <a:gd name="T103" fmla="*/ 433 h 740"/>
                  <a:gd name="T104" fmla="*/ 819 w 1118"/>
                  <a:gd name="T105" fmla="*/ 468 h 740"/>
                  <a:gd name="T106" fmla="*/ 825 w 1118"/>
                  <a:gd name="T107" fmla="*/ 493 h 740"/>
                  <a:gd name="T108" fmla="*/ 993 w 1118"/>
                  <a:gd name="T109" fmla="*/ 188 h 740"/>
                  <a:gd name="T110" fmla="*/ 990 w 1118"/>
                  <a:gd name="T111" fmla="*/ 188 h 740"/>
                  <a:gd name="T112" fmla="*/ 935 w 1118"/>
                  <a:gd name="T113" fmla="*/ 153 h 740"/>
                  <a:gd name="T114" fmla="*/ 930 w 1118"/>
                  <a:gd name="T115" fmla="*/ 128 h 740"/>
                  <a:gd name="T116" fmla="*/ 990 w 1118"/>
                  <a:gd name="T117" fmla="*/ 68 h 740"/>
                  <a:gd name="T118" fmla="*/ 1050 w 1118"/>
                  <a:gd name="T119" fmla="*/ 128 h 740"/>
                  <a:gd name="T120" fmla="*/ 993 w 1118"/>
                  <a:gd name="T121" fmla="*/ 188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18" h="740">
                    <a:moveTo>
                      <a:pt x="990" y="0"/>
                    </a:moveTo>
                    <a:cubicBezTo>
                      <a:pt x="919" y="0"/>
                      <a:pt x="862" y="58"/>
                      <a:pt x="862" y="128"/>
                    </a:cubicBezTo>
                    <a:cubicBezTo>
                      <a:pt x="862" y="162"/>
                      <a:pt x="875" y="192"/>
                      <a:pt x="896" y="215"/>
                    </a:cubicBezTo>
                    <a:cubicBezTo>
                      <a:pt x="800" y="370"/>
                      <a:pt x="800" y="370"/>
                      <a:pt x="800" y="370"/>
                    </a:cubicBezTo>
                    <a:cubicBezTo>
                      <a:pt x="789" y="367"/>
                      <a:pt x="777" y="365"/>
                      <a:pt x="764" y="365"/>
                    </a:cubicBezTo>
                    <a:cubicBezTo>
                      <a:pt x="726" y="365"/>
                      <a:pt x="691" y="382"/>
                      <a:pt x="667" y="410"/>
                    </a:cubicBezTo>
                    <a:cubicBezTo>
                      <a:pt x="513" y="338"/>
                      <a:pt x="513" y="338"/>
                      <a:pt x="513" y="338"/>
                    </a:cubicBezTo>
                    <a:cubicBezTo>
                      <a:pt x="515" y="331"/>
                      <a:pt x="515" y="324"/>
                      <a:pt x="515" y="316"/>
                    </a:cubicBezTo>
                    <a:cubicBezTo>
                      <a:pt x="515" y="246"/>
                      <a:pt x="458" y="188"/>
                      <a:pt x="387" y="188"/>
                    </a:cubicBezTo>
                    <a:cubicBezTo>
                      <a:pt x="317" y="188"/>
                      <a:pt x="259" y="246"/>
                      <a:pt x="259" y="316"/>
                    </a:cubicBezTo>
                    <a:cubicBezTo>
                      <a:pt x="259" y="342"/>
                      <a:pt x="267" y="367"/>
                      <a:pt x="281" y="387"/>
                    </a:cubicBezTo>
                    <a:cubicBezTo>
                      <a:pt x="184" y="497"/>
                      <a:pt x="184" y="497"/>
                      <a:pt x="184" y="497"/>
                    </a:cubicBezTo>
                    <a:cubicBezTo>
                      <a:pt x="167" y="489"/>
                      <a:pt x="148" y="484"/>
                      <a:pt x="128" y="484"/>
                    </a:cubicBezTo>
                    <a:cubicBezTo>
                      <a:pt x="58" y="484"/>
                      <a:pt x="0" y="542"/>
                      <a:pt x="0" y="612"/>
                    </a:cubicBezTo>
                    <a:cubicBezTo>
                      <a:pt x="0" y="683"/>
                      <a:pt x="58" y="740"/>
                      <a:pt x="128" y="740"/>
                    </a:cubicBezTo>
                    <a:cubicBezTo>
                      <a:pt x="199" y="740"/>
                      <a:pt x="256" y="683"/>
                      <a:pt x="256" y="612"/>
                    </a:cubicBezTo>
                    <a:cubicBezTo>
                      <a:pt x="256" y="586"/>
                      <a:pt x="248" y="562"/>
                      <a:pt x="235" y="542"/>
                    </a:cubicBezTo>
                    <a:cubicBezTo>
                      <a:pt x="332" y="431"/>
                      <a:pt x="332" y="431"/>
                      <a:pt x="332" y="431"/>
                    </a:cubicBezTo>
                    <a:cubicBezTo>
                      <a:pt x="349" y="440"/>
                      <a:pt x="367" y="444"/>
                      <a:pt x="387" y="444"/>
                    </a:cubicBezTo>
                    <a:cubicBezTo>
                      <a:pt x="426" y="444"/>
                      <a:pt x="461" y="427"/>
                      <a:pt x="485" y="399"/>
                    </a:cubicBezTo>
                    <a:cubicBezTo>
                      <a:pt x="638" y="471"/>
                      <a:pt x="638" y="471"/>
                      <a:pt x="638" y="471"/>
                    </a:cubicBezTo>
                    <a:cubicBezTo>
                      <a:pt x="637" y="478"/>
                      <a:pt x="636" y="485"/>
                      <a:pt x="636" y="493"/>
                    </a:cubicBezTo>
                    <a:cubicBezTo>
                      <a:pt x="636" y="563"/>
                      <a:pt x="694" y="621"/>
                      <a:pt x="764" y="621"/>
                    </a:cubicBezTo>
                    <a:cubicBezTo>
                      <a:pt x="835" y="621"/>
                      <a:pt x="892" y="563"/>
                      <a:pt x="892" y="493"/>
                    </a:cubicBezTo>
                    <a:cubicBezTo>
                      <a:pt x="892" y="459"/>
                      <a:pt x="879" y="429"/>
                      <a:pt x="858" y="406"/>
                    </a:cubicBezTo>
                    <a:cubicBezTo>
                      <a:pt x="954" y="251"/>
                      <a:pt x="954" y="251"/>
                      <a:pt x="954" y="251"/>
                    </a:cubicBezTo>
                    <a:cubicBezTo>
                      <a:pt x="965" y="254"/>
                      <a:pt x="977" y="256"/>
                      <a:pt x="990" y="256"/>
                    </a:cubicBezTo>
                    <a:cubicBezTo>
                      <a:pt x="1061" y="256"/>
                      <a:pt x="1118" y="199"/>
                      <a:pt x="1118" y="128"/>
                    </a:cubicBezTo>
                    <a:cubicBezTo>
                      <a:pt x="1118" y="58"/>
                      <a:pt x="1061" y="0"/>
                      <a:pt x="990" y="0"/>
                    </a:cubicBezTo>
                    <a:moveTo>
                      <a:pt x="189" y="612"/>
                    </a:moveTo>
                    <a:cubicBezTo>
                      <a:pt x="189" y="645"/>
                      <a:pt x="162" y="672"/>
                      <a:pt x="128" y="672"/>
                    </a:cubicBezTo>
                    <a:cubicBezTo>
                      <a:pt x="95" y="672"/>
                      <a:pt x="68" y="645"/>
                      <a:pt x="68" y="612"/>
                    </a:cubicBezTo>
                    <a:cubicBezTo>
                      <a:pt x="68" y="579"/>
                      <a:pt x="95" y="552"/>
                      <a:pt x="128" y="552"/>
                    </a:cubicBezTo>
                    <a:cubicBezTo>
                      <a:pt x="131" y="552"/>
                      <a:pt x="133" y="552"/>
                      <a:pt x="135" y="553"/>
                    </a:cubicBezTo>
                    <a:cubicBezTo>
                      <a:pt x="160" y="556"/>
                      <a:pt x="180" y="574"/>
                      <a:pt x="186" y="597"/>
                    </a:cubicBezTo>
                    <a:cubicBezTo>
                      <a:pt x="188" y="602"/>
                      <a:pt x="189" y="607"/>
                      <a:pt x="189" y="612"/>
                    </a:cubicBezTo>
                    <a:moveTo>
                      <a:pt x="387" y="377"/>
                    </a:moveTo>
                    <a:cubicBezTo>
                      <a:pt x="385" y="377"/>
                      <a:pt x="383" y="376"/>
                      <a:pt x="380" y="376"/>
                    </a:cubicBezTo>
                    <a:cubicBezTo>
                      <a:pt x="355" y="373"/>
                      <a:pt x="335" y="355"/>
                      <a:pt x="329" y="331"/>
                    </a:cubicBezTo>
                    <a:cubicBezTo>
                      <a:pt x="328" y="326"/>
                      <a:pt x="327" y="322"/>
                      <a:pt x="327" y="316"/>
                    </a:cubicBezTo>
                    <a:cubicBezTo>
                      <a:pt x="327" y="283"/>
                      <a:pt x="354" y="256"/>
                      <a:pt x="387" y="256"/>
                    </a:cubicBezTo>
                    <a:cubicBezTo>
                      <a:pt x="417" y="256"/>
                      <a:pt x="442" y="278"/>
                      <a:pt x="447" y="307"/>
                    </a:cubicBezTo>
                    <a:cubicBezTo>
                      <a:pt x="447" y="310"/>
                      <a:pt x="448" y="313"/>
                      <a:pt x="448" y="316"/>
                    </a:cubicBezTo>
                    <a:cubicBezTo>
                      <a:pt x="448" y="338"/>
                      <a:pt x="436" y="358"/>
                      <a:pt x="418" y="368"/>
                    </a:cubicBezTo>
                    <a:cubicBezTo>
                      <a:pt x="409" y="373"/>
                      <a:pt x="399" y="377"/>
                      <a:pt x="387" y="377"/>
                    </a:cubicBezTo>
                    <a:moveTo>
                      <a:pt x="825" y="493"/>
                    </a:moveTo>
                    <a:cubicBezTo>
                      <a:pt x="825" y="526"/>
                      <a:pt x="798" y="553"/>
                      <a:pt x="764" y="553"/>
                    </a:cubicBezTo>
                    <a:cubicBezTo>
                      <a:pt x="735" y="553"/>
                      <a:pt x="710" y="531"/>
                      <a:pt x="705" y="503"/>
                    </a:cubicBezTo>
                    <a:cubicBezTo>
                      <a:pt x="705" y="499"/>
                      <a:pt x="704" y="496"/>
                      <a:pt x="704" y="493"/>
                    </a:cubicBezTo>
                    <a:cubicBezTo>
                      <a:pt x="704" y="471"/>
                      <a:pt x="716" y="452"/>
                      <a:pt x="734" y="441"/>
                    </a:cubicBezTo>
                    <a:cubicBezTo>
                      <a:pt x="742" y="436"/>
                      <a:pt x="752" y="433"/>
                      <a:pt x="762" y="433"/>
                    </a:cubicBezTo>
                    <a:cubicBezTo>
                      <a:pt x="763" y="433"/>
                      <a:pt x="763" y="433"/>
                      <a:pt x="764" y="433"/>
                    </a:cubicBezTo>
                    <a:cubicBezTo>
                      <a:pt x="789" y="433"/>
                      <a:pt x="810" y="447"/>
                      <a:pt x="819" y="468"/>
                    </a:cubicBezTo>
                    <a:cubicBezTo>
                      <a:pt x="823" y="476"/>
                      <a:pt x="825" y="484"/>
                      <a:pt x="825" y="493"/>
                    </a:cubicBezTo>
                    <a:moveTo>
                      <a:pt x="993" y="188"/>
                    </a:moveTo>
                    <a:cubicBezTo>
                      <a:pt x="992" y="188"/>
                      <a:pt x="991" y="188"/>
                      <a:pt x="990" y="188"/>
                    </a:cubicBezTo>
                    <a:cubicBezTo>
                      <a:pt x="966" y="188"/>
                      <a:pt x="944" y="174"/>
                      <a:pt x="935" y="153"/>
                    </a:cubicBezTo>
                    <a:cubicBezTo>
                      <a:pt x="932" y="145"/>
                      <a:pt x="930" y="137"/>
                      <a:pt x="930" y="128"/>
                    </a:cubicBezTo>
                    <a:cubicBezTo>
                      <a:pt x="930" y="95"/>
                      <a:pt x="957" y="68"/>
                      <a:pt x="990" y="68"/>
                    </a:cubicBezTo>
                    <a:cubicBezTo>
                      <a:pt x="1023" y="68"/>
                      <a:pt x="1050" y="95"/>
                      <a:pt x="1050" y="128"/>
                    </a:cubicBezTo>
                    <a:cubicBezTo>
                      <a:pt x="1050" y="160"/>
                      <a:pt x="1025" y="187"/>
                      <a:pt x="993" y="18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1" name="Freeform 202">
                <a:extLst>
                  <a:ext uri="{FF2B5EF4-FFF2-40B4-BE49-F238E27FC236}">
                    <a16:creationId xmlns:a16="http://schemas.microsoft.com/office/drawing/2014/main" id="{3299E0ED-B8D8-47E1-A47F-8836673D30F8}"/>
                  </a:ext>
                </a:extLst>
              </p:cNvPr>
              <p:cNvSpPr>
                <a:spLocks/>
              </p:cNvSpPr>
              <p:nvPr/>
            </p:nvSpPr>
            <p:spPr bwMode="auto">
              <a:xfrm>
                <a:off x="1723" y="3368"/>
                <a:ext cx="44" cy="14"/>
              </a:xfrm>
              <a:custGeom>
                <a:avLst/>
                <a:gdLst>
                  <a:gd name="T0" fmla="*/ 297 w 297"/>
                  <a:gd name="T1" fmla="*/ 92 h 92"/>
                  <a:gd name="T2" fmla="*/ 0 w 297"/>
                  <a:gd name="T3" fmla="*/ 92 h 92"/>
                  <a:gd name="T4" fmla="*/ 0 w 297"/>
                  <a:gd name="T5" fmla="*/ 33 h 92"/>
                  <a:gd name="T6" fmla="*/ 33 w 297"/>
                  <a:gd name="T7" fmla="*/ 0 h 92"/>
                  <a:gd name="T8" fmla="*/ 264 w 297"/>
                  <a:gd name="T9" fmla="*/ 0 h 92"/>
                  <a:gd name="T10" fmla="*/ 297 w 297"/>
                  <a:gd name="T11" fmla="*/ 33 h 92"/>
                  <a:gd name="T12" fmla="*/ 297 w 297"/>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297" h="92">
                    <a:moveTo>
                      <a:pt x="297" y="92"/>
                    </a:moveTo>
                    <a:cubicBezTo>
                      <a:pt x="0" y="92"/>
                      <a:pt x="0" y="92"/>
                      <a:pt x="0" y="92"/>
                    </a:cubicBezTo>
                    <a:cubicBezTo>
                      <a:pt x="0" y="33"/>
                      <a:pt x="0" y="33"/>
                      <a:pt x="0" y="33"/>
                    </a:cubicBezTo>
                    <a:cubicBezTo>
                      <a:pt x="0" y="15"/>
                      <a:pt x="15" y="0"/>
                      <a:pt x="33" y="0"/>
                    </a:cubicBezTo>
                    <a:cubicBezTo>
                      <a:pt x="264" y="0"/>
                      <a:pt x="264" y="0"/>
                      <a:pt x="264" y="0"/>
                    </a:cubicBezTo>
                    <a:cubicBezTo>
                      <a:pt x="282" y="0"/>
                      <a:pt x="297" y="15"/>
                      <a:pt x="297" y="33"/>
                    </a:cubicBezTo>
                    <a:lnTo>
                      <a:pt x="297"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2" name="Freeform 203">
                <a:extLst>
                  <a:ext uri="{FF2B5EF4-FFF2-40B4-BE49-F238E27FC236}">
                    <a16:creationId xmlns:a16="http://schemas.microsoft.com/office/drawing/2014/main" id="{FCBDFE9A-02EC-4211-A39D-4EC3542C3386}"/>
                  </a:ext>
                </a:extLst>
              </p:cNvPr>
              <p:cNvSpPr>
                <a:spLocks/>
              </p:cNvSpPr>
              <p:nvPr/>
            </p:nvSpPr>
            <p:spPr bwMode="auto">
              <a:xfrm>
                <a:off x="1783" y="3351"/>
                <a:ext cx="44" cy="31"/>
              </a:xfrm>
              <a:custGeom>
                <a:avLst/>
                <a:gdLst>
                  <a:gd name="T0" fmla="*/ 297 w 297"/>
                  <a:gd name="T1" fmla="*/ 206 h 206"/>
                  <a:gd name="T2" fmla="*/ 0 w 297"/>
                  <a:gd name="T3" fmla="*/ 206 h 206"/>
                  <a:gd name="T4" fmla="*/ 0 w 297"/>
                  <a:gd name="T5" fmla="*/ 33 h 206"/>
                  <a:gd name="T6" fmla="*/ 33 w 297"/>
                  <a:gd name="T7" fmla="*/ 0 h 206"/>
                  <a:gd name="T8" fmla="*/ 264 w 297"/>
                  <a:gd name="T9" fmla="*/ 0 h 206"/>
                  <a:gd name="T10" fmla="*/ 297 w 297"/>
                  <a:gd name="T11" fmla="*/ 33 h 206"/>
                  <a:gd name="T12" fmla="*/ 297 w 297"/>
                  <a:gd name="T13" fmla="*/ 206 h 206"/>
                </a:gdLst>
                <a:ahLst/>
                <a:cxnLst>
                  <a:cxn ang="0">
                    <a:pos x="T0" y="T1"/>
                  </a:cxn>
                  <a:cxn ang="0">
                    <a:pos x="T2" y="T3"/>
                  </a:cxn>
                  <a:cxn ang="0">
                    <a:pos x="T4" y="T5"/>
                  </a:cxn>
                  <a:cxn ang="0">
                    <a:pos x="T6" y="T7"/>
                  </a:cxn>
                  <a:cxn ang="0">
                    <a:pos x="T8" y="T9"/>
                  </a:cxn>
                  <a:cxn ang="0">
                    <a:pos x="T10" y="T11"/>
                  </a:cxn>
                  <a:cxn ang="0">
                    <a:pos x="T12" y="T13"/>
                  </a:cxn>
                </a:cxnLst>
                <a:rect l="0" t="0" r="r" b="b"/>
                <a:pathLst>
                  <a:path w="297" h="206">
                    <a:moveTo>
                      <a:pt x="297" y="206"/>
                    </a:moveTo>
                    <a:cubicBezTo>
                      <a:pt x="0" y="206"/>
                      <a:pt x="0" y="206"/>
                      <a:pt x="0" y="206"/>
                    </a:cubicBezTo>
                    <a:cubicBezTo>
                      <a:pt x="0" y="33"/>
                      <a:pt x="0" y="33"/>
                      <a:pt x="0" y="33"/>
                    </a:cubicBezTo>
                    <a:cubicBezTo>
                      <a:pt x="0" y="15"/>
                      <a:pt x="15" y="0"/>
                      <a:pt x="33" y="0"/>
                    </a:cubicBezTo>
                    <a:cubicBezTo>
                      <a:pt x="264" y="0"/>
                      <a:pt x="264" y="0"/>
                      <a:pt x="264" y="0"/>
                    </a:cubicBezTo>
                    <a:cubicBezTo>
                      <a:pt x="283" y="0"/>
                      <a:pt x="297" y="15"/>
                      <a:pt x="297" y="33"/>
                    </a:cubicBezTo>
                    <a:lnTo>
                      <a:pt x="297" y="2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3" name="Freeform 204">
                <a:extLst>
                  <a:ext uri="{FF2B5EF4-FFF2-40B4-BE49-F238E27FC236}">
                    <a16:creationId xmlns:a16="http://schemas.microsoft.com/office/drawing/2014/main" id="{C08FD102-7ED1-4399-8B3E-517EF665FD02}"/>
                  </a:ext>
                </a:extLst>
              </p:cNvPr>
              <p:cNvSpPr>
                <a:spLocks/>
              </p:cNvSpPr>
              <p:nvPr/>
            </p:nvSpPr>
            <p:spPr bwMode="auto">
              <a:xfrm>
                <a:off x="1843" y="3330"/>
                <a:ext cx="45" cy="52"/>
              </a:xfrm>
              <a:custGeom>
                <a:avLst/>
                <a:gdLst>
                  <a:gd name="T0" fmla="*/ 297 w 297"/>
                  <a:gd name="T1" fmla="*/ 345 h 345"/>
                  <a:gd name="T2" fmla="*/ 0 w 297"/>
                  <a:gd name="T3" fmla="*/ 345 h 345"/>
                  <a:gd name="T4" fmla="*/ 0 w 297"/>
                  <a:gd name="T5" fmla="*/ 32 h 345"/>
                  <a:gd name="T6" fmla="*/ 33 w 297"/>
                  <a:gd name="T7" fmla="*/ 0 h 345"/>
                  <a:gd name="T8" fmla="*/ 264 w 297"/>
                  <a:gd name="T9" fmla="*/ 0 h 345"/>
                  <a:gd name="T10" fmla="*/ 297 w 297"/>
                  <a:gd name="T11" fmla="*/ 32 h 345"/>
                  <a:gd name="T12" fmla="*/ 297 w 297"/>
                  <a:gd name="T13" fmla="*/ 345 h 345"/>
                </a:gdLst>
                <a:ahLst/>
                <a:cxnLst>
                  <a:cxn ang="0">
                    <a:pos x="T0" y="T1"/>
                  </a:cxn>
                  <a:cxn ang="0">
                    <a:pos x="T2" y="T3"/>
                  </a:cxn>
                  <a:cxn ang="0">
                    <a:pos x="T4" y="T5"/>
                  </a:cxn>
                  <a:cxn ang="0">
                    <a:pos x="T6" y="T7"/>
                  </a:cxn>
                  <a:cxn ang="0">
                    <a:pos x="T8" y="T9"/>
                  </a:cxn>
                  <a:cxn ang="0">
                    <a:pos x="T10" y="T11"/>
                  </a:cxn>
                  <a:cxn ang="0">
                    <a:pos x="T12" y="T13"/>
                  </a:cxn>
                </a:cxnLst>
                <a:rect l="0" t="0" r="r" b="b"/>
                <a:pathLst>
                  <a:path w="297" h="345">
                    <a:moveTo>
                      <a:pt x="297" y="345"/>
                    </a:moveTo>
                    <a:cubicBezTo>
                      <a:pt x="0" y="345"/>
                      <a:pt x="0" y="345"/>
                      <a:pt x="0" y="345"/>
                    </a:cubicBezTo>
                    <a:cubicBezTo>
                      <a:pt x="0" y="32"/>
                      <a:pt x="0" y="32"/>
                      <a:pt x="0" y="32"/>
                    </a:cubicBezTo>
                    <a:cubicBezTo>
                      <a:pt x="0" y="14"/>
                      <a:pt x="15" y="0"/>
                      <a:pt x="33" y="0"/>
                    </a:cubicBezTo>
                    <a:cubicBezTo>
                      <a:pt x="264" y="0"/>
                      <a:pt x="264" y="0"/>
                      <a:pt x="264" y="0"/>
                    </a:cubicBezTo>
                    <a:cubicBezTo>
                      <a:pt x="283" y="0"/>
                      <a:pt x="297" y="14"/>
                      <a:pt x="297" y="32"/>
                    </a:cubicBezTo>
                    <a:lnTo>
                      <a:pt x="297"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79" name="Group 588">
              <a:extLst>
                <a:ext uri="{FF2B5EF4-FFF2-40B4-BE49-F238E27FC236}">
                  <a16:creationId xmlns:a16="http://schemas.microsoft.com/office/drawing/2014/main" id="{63641D80-7A69-4A7C-AF2C-62BE1BBD46BB}"/>
                </a:ext>
              </a:extLst>
            </p:cNvPr>
            <p:cNvGrpSpPr>
              <a:grpSpLocks noChangeAspect="1"/>
            </p:cNvGrpSpPr>
            <p:nvPr/>
          </p:nvGrpSpPr>
          <p:grpSpPr bwMode="auto">
            <a:xfrm>
              <a:off x="3024982" y="3347624"/>
              <a:ext cx="525600" cy="447053"/>
              <a:chOff x="3080" y="3371"/>
              <a:chExt cx="1432" cy="1218"/>
            </a:xfrm>
            <a:solidFill>
              <a:schemeClr val="bg2"/>
            </a:solidFill>
          </p:grpSpPr>
          <p:sp>
            <p:nvSpPr>
              <p:cNvPr id="180" name="Freeform 589">
                <a:extLst>
                  <a:ext uri="{FF2B5EF4-FFF2-40B4-BE49-F238E27FC236}">
                    <a16:creationId xmlns:a16="http://schemas.microsoft.com/office/drawing/2014/main" id="{AE001E4C-6749-4451-9B58-F441D75939B8}"/>
                  </a:ext>
                </a:extLst>
              </p:cNvPr>
              <p:cNvSpPr>
                <a:spLocks/>
              </p:cNvSpPr>
              <p:nvPr/>
            </p:nvSpPr>
            <p:spPr bwMode="auto">
              <a:xfrm>
                <a:off x="3312" y="4428"/>
                <a:ext cx="967" cy="161"/>
              </a:xfrm>
              <a:custGeom>
                <a:avLst/>
                <a:gdLst>
                  <a:gd name="T0" fmla="*/ 1403 w 1485"/>
                  <a:gd name="T1" fmla="*/ 165 h 248"/>
                  <a:gd name="T2" fmla="*/ 1045 w 1485"/>
                  <a:gd name="T3" fmla="*/ 165 h 248"/>
                  <a:gd name="T4" fmla="*/ 1045 w 1485"/>
                  <a:gd name="T5" fmla="*/ 0 h 248"/>
                  <a:gd name="T6" fmla="*/ 440 w 1485"/>
                  <a:gd name="T7" fmla="*/ 0 h 248"/>
                  <a:gd name="T8" fmla="*/ 440 w 1485"/>
                  <a:gd name="T9" fmla="*/ 165 h 248"/>
                  <a:gd name="T10" fmla="*/ 83 w 1485"/>
                  <a:gd name="T11" fmla="*/ 165 h 248"/>
                  <a:gd name="T12" fmla="*/ 0 w 1485"/>
                  <a:gd name="T13" fmla="*/ 248 h 248"/>
                  <a:gd name="T14" fmla="*/ 440 w 1485"/>
                  <a:gd name="T15" fmla="*/ 248 h 248"/>
                  <a:gd name="T16" fmla="*/ 1045 w 1485"/>
                  <a:gd name="T17" fmla="*/ 248 h 248"/>
                  <a:gd name="T18" fmla="*/ 1485 w 1485"/>
                  <a:gd name="T19" fmla="*/ 248 h 248"/>
                  <a:gd name="T20" fmla="*/ 1403 w 1485"/>
                  <a:gd name="T21" fmla="*/ 165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5" h="248">
                    <a:moveTo>
                      <a:pt x="1403" y="165"/>
                    </a:moveTo>
                    <a:cubicBezTo>
                      <a:pt x="1045" y="165"/>
                      <a:pt x="1045" y="165"/>
                      <a:pt x="1045" y="165"/>
                    </a:cubicBezTo>
                    <a:cubicBezTo>
                      <a:pt x="1045" y="0"/>
                      <a:pt x="1045" y="0"/>
                      <a:pt x="1045" y="0"/>
                    </a:cubicBezTo>
                    <a:cubicBezTo>
                      <a:pt x="440" y="0"/>
                      <a:pt x="440" y="0"/>
                      <a:pt x="440" y="0"/>
                    </a:cubicBezTo>
                    <a:cubicBezTo>
                      <a:pt x="440" y="165"/>
                      <a:pt x="440" y="165"/>
                      <a:pt x="440" y="165"/>
                    </a:cubicBezTo>
                    <a:cubicBezTo>
                      <a:pt x="83" y="165"/>
                      <a:pt x="83" y="165"/>
                      <a:pt x="83" y="165"/>
                    </a:cubicBezTo>
                    <a:cubicBezTo>
                      <a:pt x="37" y="165"/>
                      <a:pt x="0" y="202"/>
                      <a:pt x="0" y="248"/>
                    </a:cubicBezTo>
                    <a:cubicBezTo>
                      <a:pt x="440" y="248"/>
                      <a:pt x="440" y="248"/>
                      <a:pt x="440" y="248"/>
                    </a:cubicBezTo>
                    <a:cubicBezTo>
                      <a:pt x="1045" y="248"/>
                      <a:pt x="1045" y="248"/>
                      <a:pt x="1045" y="248"/>
                    </a:cubicBezTo>
                    <a:cubicBezTo>
                      <a:pt x="1485" y="248"/>
                      <a:pt x="1485" y="248"/>
                      <a:pt x="1485" y="248"/>
                    </a:cubicBezTo>
                    <a:cubicBezTo>
                      <a:pt x="1485" y="202"/>
                      <a:pt x="1448" y="165"/>
                      <a:pt x="1403"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1" name="Freeform 590">
                <a:extLst>
                  <a:ext uri="{FF2B5EF4-FFF2-40B4-BE49-F238E27FC236}">
                    <a16:creationId xmlns:a16="http://schemas.microsoft.com/office/drawing/2014/main" id="{431218E5-542B-4652-9F6C-69208CA33F9B}"/>
                  </a:ext>
                </a:extLst>
              </p:cNvPr>
              <p:cNvSpPr>
                <a:spLocks noEditPoints="1"/>
              </p:cNvSpPr>
              <p:nvPr/>
            </p:nvSpPr>
            <p:spPr bwMode="auto">
              <a:xfrm>
                <a:off x="3080" y="3371"/>
                <a:ext cx="1432" cy="1003"/>
              </a:xfrm>
              <a:custGeom>
                <a:avLst/>
                <a:gdLst>
                  <a:gd name="T0" fmla="*/ 2117 w 2200"/>
                  <a:gd name="T1" fmla="*/ 0 h 1540"/>
                  <a:gd name="T2" fmla="*/ 82 w 2200"/>
                  <a:gd name="T3" fmla="*/ 0 h 1540"/>
                  <a:gd name="T4" fmla="*/ 0 w 2200"/>
                  <a:gd name="T5" fmla="*/ 82 h 1540"/>
                  <a:gd name="T6" fmla="*/ 0 w 2200"/>
                  <a:gd name="T7" fmla="*/ 1457 h 1540"/>
                  <a:gd name="T8" fmla="*/ 82 w 2200"/>
                  <a:gd name="T9" fmla="*/ 1540 h 1540"/>
                  <a:gd name="T10" fmla="*/ 2117 w 2200"/>
                  <a:gd name="T11" fmla="*/ 1540 h 1540"/>
                  <a:gd name="T12" fmla="*/ 2200 w 2200"/>
                  <a:gd name="T13" fmla="*/ 1457 h 1540"/>
                  <a:gd name="T14" fmla="*/ 2200 w 2200"/>
                  <a:gd name="T15" fmla="*/ 82 h 1540"/>
                  <a:gd name="T16" fmla="*/ 2117 w 2200"/>
                  <a:gd name="T17" fmla="*/ 0 h 1540"/>
                  <a:gd name="T18" fmla="*/ 165 w 2200"/>
                  <a:gd name="T19" fmla="*/ 164 h 1540"/>
                  <a:gd name="T20" fmla="*/ 2035 w 2200"/>
                  <a:gd name="T21" fmla="*/ 164 h 1540"/>
                  <a:gd name="T22" fmla="*/ 2035 w 2200"/>
                  <a:gd name="T23" fmla="*/ 1210 h 1540"/>
                  <a:gd name="T24" fmla="*/ 165 w 2200"/>
                  <a:gd name="T25" fmla="*/ 1210 h 1540"/>
                  <a:gd name="T26" fmla="*/ 165 w 2200"/>
                  <a:gd name="T27" fmla="*/ 164 h 1540"/>
                  <a:gd name="T28" fmla="*/ 2001 w 2200"/>
                  <a:gd name="T29" fmla="*/ 1416 h 1540"/>
                  <a:gd name="T30" fmla="*/ 1959 w 2200"/>
                  <a:gd name="T31" fmla="*/ 1374 h 1540"/>
                  <a:gd name="T32" fmla="*/ 2001 w 2200"/>
                  <a:gd name="T33" fmla="*/ 1333 h 1540"/>
                  <a:gd name="T34" fmla="*/ 2042 w 2200"/>
                  <a:gd name="T35" fmla="*/ 1374 h 1540"/>
                  <a:gd name="T36" fmla="*/ 2001 w 2200"/>
                  <a:gd name="T37" fmla="*/ 1416 h 1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0" h="1540">
                    <a:moveTo>
                      <a:pt x="2117" y="0"/>
                    </a:moveTo>
                    <a:cubicBezTo>
                      <a:pt x="82" y="0"/>
                      <a:pt x="82" y="0"/>
                      <a:pt x="82" y="0"/>
                    </a:cubicBezTo>
                    <a:cubicBezTo>
                      <a:pt x="37" y="0"/>
                      <a:pt x="0" y="37"/>
                      <a:pt x="0" y="82"/>
                    </a:cubicBezTo>
                    <a:cubicBezTo>
                      <a:pt x="0" y="1457"/>
                      <a:pt x="0" y="1457"/>
                      <a:pt x="0" y="1457"/>
                    </a:cubicBezTo>
                    <a:cubicBezTo>
                      <a:pt x="0" y="1502"/>
                      <a:pt x="37" y="1540"/>
                      <a:pt x="82" y="1540"/>
                    </a:cubicBezTo>
                    <a:cubicBezTo>
                      <a:pt x="2117" y="1540"/>
                      <a:pt x="2117" y="1540"/>
                      <a:pt x="2117" y="1540"/>
                    </a:cubicBezTo>
                    <a:cubicBezTo>
                      <a:pt x="2163" y="1540"/>
                      <a:pt x="2200" y="1502"/>
                      <a:pt x="2200" y="1457"/>
                    </a:cubicBezTo>
                    <a:cubicBezTo>
                      <a:pt x="2200" y="82"/>
                      <a:pt x="2200" y="82"/>
                      <a:pt x="2200" y="82"/>
                    </a:cubicBezTo>
                    <a:cubicBezTo>
                      <a:pt x="2200" y="37"/>
                      <a:pt x="2163" y="0"/>
                      <a:pt x="2117" y="0"/>
                    </a:cubicBezTo>
                    <a:close/>
                    <a:moveTo>
                      <a:pt x="165" y="164"/>
                    </a:moveTo>
                    <a:cubicBezTo>
                      <a:pt x="2035" y="164"/>
                      <a:pt x="2035" y="164"/>
                      <a:pt x="2035" y="164"/>
                    </a:cubicBezTo>
                    <a:cubicBezTo>
                      <a:pt x="2035" y="1210"/>
                      <a:pt x="2035" y="1210"/>
                      <a:pt x="2035" y="1210"/>
                    </a:cubicBezTo>
                    <a:cubicBezTo>
                      <a:pt x="165" y="1210"/>
                      <a:pt x="165" y="1210"/>
                      <a:pt x="165" y="1210"/>
                    </a:cubicBezTo>
                    <a:lnTo>
                      <a:pt x="165" y="164"/>
                    </a:lnTo>
                    <a:close/>
                    <a:moveTo>
                      <a:pt x="2001" y="1416"/>
                    </a:moveTo>
                    <a:cubicBezTo>
                      <a:pt x="1978" y="1416"/>
                      <a:pt x="1959" y="1397"/>
                      <a:pt x="1959" y="1374"/>
                    </a:cubicBezTo>
                    <a:cubicBezTo>
                      <a:pt x="1959" y="1352"/>
                      <a:pt x="1978" y="1333"/>
                      <a:pt x="2001" y="1333"/>
                    </a:cubicBezTo>
                    <a:cubicBezTo>
                      <a:pt x="2023" y="1333"/>
                      <a:pt x="2042" y="1352"/>
                      <a:pt x="2042" y="1374"/>
                    </a:cubicBezTo>
                    <a:cubicBezTo>
                      <a:pt x="2042" y="1397"/>
                      <a:pt x="2023" y="1416"/>
                      <a:pt x="2001" y="14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82" name="Group 181">
              <a:extLst>
                <a:ext uri="{FF2B5EF4-FFF2-40B4-BE49-F238E27FC236}">
                  <a16:creationId xmlns:a16="http://schemas.microsoft.com/office/drawing/2014/main" id="{B7ED4DD8-714B-4F9E-81A5-DADE01E8C911}"/>
                </a:ext>
              </a:extLst>
            </p:cNvPr>
            <p:cNvGrpSpPr>
              <a:grpSpLocks noChangeAspect="1"/>
            </p:cNvGrpSpPr>
            <p:nvPr/>
          </p:nvGrpSpPr>
          <p:grpSpPr>
            <a:xfrm>
              <a:off x="3712923" y="3332540"/>
              <a:ext cx="394658" cy="525600"/>
              <a:chOff x="5661023" y="4967287"/>
              <a:chExt cx="1368424" cy="1822449"/>
            </a:xfrm>
            <a:solidFill>
              <a:schemeClr val="bg2"/>
            </a:solidFill>
          </p:grpSpPr>
          <p:sp>
            <p:nvSpPr>
              <p:cNvPr id="183" name="Freeform 776">
                <a:extLst>
                  <a:ext uri="{FF2B5EF4-FFF2-40B4-BE49-F238E27FC236}">
                    <a16:creationId xmlns:a16="http://schemas.microsoft.com/office/drawing/2014/main" id="{5EA5BC87-47B8-4039-860F-504B89170336}"/>
                  </a:ext>
                </a:extLst>
              </p:cNvPr>
              <p:cNvSpPr>
                <a:spLocks noEditPoints="1"/>
              </p:cNvSpPr>
              <p:nvPr/>
            </p:nvSpPr>
            <p:spPr bwMode="auto">
              <a:xfrm>
                <a:off x="5661023" y="4967287"/>
                <a:ext cx="1368424" cy="1822449"/>
              </a:xfrm>
              <a:custGeom>
                <a:avLst/>
                <a:gdLst>
                  <a:gd name="T0" fmla="*/ 1485 w 1650"/>
                  <a:gd name="T1" fmla="*/ 0 h 2200"/>
                  <a:gd name="T2" fmla="*/ 165 w 1650"/>
                  <a:gd name="T3" fmla="*/ 0 h 2200"/>
                  <a:gd name="T4" fmla="*/ 0 w 1650"/>
                  <a:gd name="T5" fmla="*/ 165 h 2200"/>
                  <a:gd name="T6" fmla="*/ 0 w 1650"/>
                  <a:gd name="T7" fmla="*/ 2035 h 2200"/>
                  <a:gd name="T8" fmla="*/ 165 w 1650"/>
                  <a:gd name="T9" fmla="*/ 2200 h 2200"/>
                  <a:gd name="T10" fmla="*/ 1485 w 1650"/>
                  <a:gd name="T11" fmla="*/ 2200 h 2200"/>
                  <a:gd name="T12" fmla="*/ 1650 w 1650"/>
                  <a:gd name="T13" fmla="*/ 2035 h 2200"/>
                  <a:gd name="T14" fmla="*/ 1650 w 1650"/>
                  <a:gd name="T15" fmla="*/ 165 h 2200"/>
                  <a:gd name="T16" fmla="*/ 1485 w 1650"/>
                  <a:gd name="T17" fmla="*/ 0 h 2200"/>
                  <a:gd name="T18" fmla="*/ 1485 w 1650"/>
                  <a:gd name="T19" fmla="*/ 2035 h 2200"/>
                  <a:gd name="T20" fmla="*/ 165 w 1650"/>
                  <a:gd name="T21" fmla="*/ 2035 h 2200"/>
                  <a:gd name="T22" fmla="*/ 165 w 1650"/>
                  <a:gd name="T23" fmla="*/ 165 h 2200"/>
                  <a:gd name="T24" fmla="*/ 1485 w 1650"/>
                  <a:gd name="T25" fmla="*/ 165 h 2200"/>
                  <a:gd name="T26" fmla="*/ 1485 w 1650"/>
                  <a:gd name="T27" fmla="*/ 2035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0" h="2200">
                    <a:moveTo>
                      <a:pt x="1485" y="0"/>
                    </a:moveTo>
                    <a:cubicBezTo>
                      <a:pt x="165" y="0"/>
                      <a:pt x="165" y="0"/>
                      <a:pt x="165" y="0"/>
                    </a:cubicBezTo>
                    <a:cubicBezTo>
                      <a:pt x="74" y="0"/>
                      <a:pt x="0" y="75"/>
                      <a:pt x="0" y="165"/>
                    </a:cubicBezTo>
                    <a:cubicBezTo>
                      <a:pt x="0" y="2035"/>
                      <a:pt x="0" y="2035"/>
                      <a:pt x="0" y="2035"/>
                    </a:cubicBezTo>
                    <a:cubicBezTo>
                      <a:pt x="0" y="2126"/>
                      <a:pt x="74" y="2200"/>
                      <a:pt x="165" y="2200"/>
                    </a:cubicBezTo>
                    <a:cubicBezTo>
                      <a:pt x="1485" y="2200"/>
                      <a:pt x="1485" y="2200"/>
                      <a:pt x="1485" y="2200"/>
                    </a:cubicBezTo>
                    <a:cubicBezTo>
                      <a:pt x="1576" y="2200"/>
                      <a:pt x="1650" y="2126"/>
                      <a:pt x="1650" y="2035"/>
                    </a:cubicBezTo>
                    <a:cubicBezTo>
                      <a:pt x="1650" y="165"/>
                      <a:pt x="1650" y="165"/>
                      <a:pt x="1650" y="165"/>
                    </a:cubicBezTo>
                    <a:cubicBezTo>
                      <a:pt x="1650" y="75"/>
                      <a:pt x="1576" y="0"/>
                      <a:pt x="1485" y="0"/>
                    </a:cubicBezTo>
                    <a:close/>
                    <a:moveTo>
                      <a:pt x="1485" y="2035"/>
                    </a:moveTo>
                    <a:cubicBezTo>
                      <a:pt x="165" y="2035"/>
                      <a:pt x="165" y="2035"/>
                      <a:pt x="165" y="2035"/>
                    </a:cubicBezTo>
                    <a:cubicBezTo>
                      <a:pt x="165" y="165"/>
                      <a:pt x="165" y="165"/>
                      <a:pt x="165" y="165"/>
                    </a:cubicBezTo>
                    <a:cubicBezTo>
                      <a:pt x="1485" y="165"/>
                      <a:pt x="1485" y="165"/>
                      <a:pt x="1485" y="165"/>
                    </a:cubicBezTo>
                    <a:lnTo>
                      <a:pt x="1485" y="20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4" name="Freeform 777">
                <a:extLst>
                  <a:ext uri="{FF2B5EF4-FFF2-40B4-BE49-F238E27FC236}">
                    <a16:creationId xmlns:a16="http://schemas.microsoft.com/office/drawing/2014/main" id="{B230F2A1-B38C-444A-BC62-49FD335CA6D4}"/>
                  </a:ext>
                </a:extLst>
              </p:cNvPr>
              <p:cNvSpPr>
                <a:spLocks noEditPoints="1"/>
              </p:cNvSpPr>
              <p:nvPr/>
            </p:nvSpPr>
            <p:spPr bwMode="auto">
              <a:xfrm>
                <a:off x="5878510" y="5184774"/>
                <a:ext cx="933449" cy="522287"/>
              </a:xfrm>
              <a:custGeom>
                <a:avLst/>
                <a:gdLst>
                  <a:gd name="T0" fmla="*/ 41 w 1128"/>
                  <a:gd name="T1" fmla="*/ 632 h 632"/>
                  <a:gd name="T2" fmla="*/ 1086 w 1128"/>
                  <a:gd name="T3" fmla="*/ 632 h 632"/>
                  <a:gd name="T4" fmla="*/ 1128 w 1128"/>
                  <a:gd name="T5" fmla="*/ 591 h 632"/>
                  <a:gd name="T6" fmla="*/ 1128 w 1128"/>
                  <a:gd name="T7" fmla="*/ 41 h 632"/>
                  <a:gd name="T8" fmla="*/ 1086 w 1128"/>
                  <a:gd name="T9" fmla="*/ 0 h 632"/>
                  <a:gd name="T10" fmla="*/ 41 w 1128"/>
                  <a:gd name="T11" fmla="*/ 0 h 632"/>
                  <a:gd name="T12" fmla="*/ 0 w 1128"/>
                  <a:gd name="T13" fmla="*/ 41 h 632"/>
                  <a:gd name="T14" fmla="*/ 0 w 1128"/>
                  <a:gd name="T15" fmla="*/ 591 h 632"/>
                  <a:gd name="T16" fmla="*/ 41 w 1128"/>
                  <a:gd name="T17" fmla="*/ 632 h 632"/>
                  <a:gd name="T18" fmla="*/ 83 w 1128"/>
                  <a:gd name="T19" fmla="*/ 82 h 632"/>
                  <a:gd name="T20" fmla="*/ 1045 w 1128"/>
                  <a:gd name="T21" fmla="*/ 82 h 632"/>
                  <a:gd name="T22" fmla="*/ 1045 w 1128"/>
                  <a:gd name="T23" fmla="*/ 550 h 632"/>
                  <a:gd name="T24" fmla="*/ 83 w 1128"/>
                  <a:gd name="T25" fmla="*/ 550 h 632"/>
                  <a:gd name="T26" fmla="*/ 83 w 1128"/>
                  <a:gd name="T27" fmla="*/ 8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8" h="632">
                    <a:moveTo>
                      <a:pt x="41" y="632"/>
                    </a:moveTo>
                    <a:cubicBezTo>
                      <a:pt x="1086" y="632"/>
                      <a:pt x="1086" y="632"/>
                      <a:pt x="1086" y="632"/>
                    </a:cubicBezTo>
                    <a:cubicBezTo>
                      <a:pt x="1109" y="632"/>
                      <a:pt x="1128" y="614"/>
                      <a:pt x="1128" y="591"/>
                    </a:cubicBezTo>
                    <a:cubicBezTo>
                      <a:pt x="1128" y="41"/>
                      <a:pt x="1128" y="41"/>
                      <a:pt x="1128" y="41"/>
                    </a:cubicBezTo>
                    <a:cubicBezTo>
                      <a:pt x="1128" y="18"/>
                      <a:pt x="1109" y="0"/>
                      <a:pt x="1086" y="0"/>
                    </a:cubicBezTo>
                    <a:cubicBezTo>
                      <a:pt x="41" y="0"/>
                      <a:pt x="41" y="0"/>
                      <a:pt x="41" y="0"/>
                    </a:cubicBezTo>
                    <a:cubicBezTo>
                      <a:pt x="19" y="0"/>
                      <a:pt x="0" y="18"/>
                      <a:pt x="0" y="41"/>
                    </a:cubicBezTo>
                    <a:cubicBezTo>
                      <a:pt x="0" y="591"/>
                      <a:pt x="0" y="591"/>
                      <a:pt x="0" y="591"/>
                    </a:cubicBezTo>
                    <a:cubicBezTo>
                      <a:pt x="0" y="614"/>
                      <a:pt x="19" y="632"/>
                      <a:pt x="41" y="632"/>
                    </a:cubicBezTo>
                    <a:close/>
                    <a:moveTo>
                      <a:pt x="83" y="82"/>
                    </a:moveTo>
                    <a:cubicBezTo>
                      <a:pt x="1045" y="82"/>
                      <a:pt x="1045" y="82"/>
                      <a:pt x="1045" y="82"/>
                    </a:cubicBezTo>
                    <a:cubicBezTo>
                      <a:pt x="1045" y="550"/>
                      <a:pt x="1045" y="550"/>
                      <a:pt x="1045" y="550"/>
                    </a:cubicBezTo>
                    <a:cubicBezTo>
                      <a:pt x="83" y="550"/>
                      <a:pt x="83" y="550"/>
                      <a:pt x="83" y="550"/>
                    </a:cubicBezTo>
                    <a:lnTo>
                      <a:pt x="83"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5" name="Freeform 778">
                <a:extLst>
                  <a:ext uri="{FF2B5EF4-FFF2-40B4-BE49-F238E27FC236}">
                    <a16:creationId xmlns:a16="http://schemas.microsoft.com/office/drawing/2014/main" id="{D8097318-17F9-4E37-904C-AE42D9985DF7}"/>
                  </a:ext>
                </a:extLst>
              </p:cNvPr>
              <p:cNvSpPr>
                <a:spLocks/>
              </p:cNvSpPr>
              <p:nvPr/>
            </p:nvSpPr>
            <p:spPr bwMode="auto">
              <a:xfrm>
                <a:off x="5865810" y="6448424"/>
                <a:ext cx="273050" cy="136525"/>
              </a:xfrm>
              <a:custGeom>
                <a:avLst/>
                <a:gdLst>
                  <a:gd name="T0" fmla="*/ 83 w 330"/>
                  <a:gd name="T1" fmla="*/ 165 h 165"/>
                  <a:gd name="T2" fmla="*/ 248 w 330"/>
                  <a:gd name="T3" fmla="*/ 165 h 165"/>
                  <a:gd name="T4" fmla="*/ 330 w 330"/>
                  <a:gd name="T5" fmla="*/ 82 h 165"/>
                  <a:gd name="T6" fmla="*/ 248 w 330"/>
                  <a:gd name="T7" fmla="*/ 0 h 165"/>
                  <a:gd name="T8" fmla="*/ 83 w 330"/>
                  <a:gd name="T9" fmla="*/ 0 h 165"/>
                  <a:gd name="T10" fmla="*/ 0 w 330"/>
                  <a:gd name="T11" fmla="*/ 82 h 165"/>
                  <a:gd name="T12" fmla="*/ 83 w 330"/>
                  <a:gd name="T13" fmla="*/ 165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83" y="165"/>
                    </a:moveTo>
                    <a:cubicBezTo>
                      <a:pt x="248" y="165"/>
                      <a:pt x="248" y="165"/>
                      <a:pt x="248" y="165"/>
                    </a:cubicBezTo>
                    <a:cubicBezTo>
                      <a:pt x="293" y="165"/>
                      <a:pt x="330" y="128"/>
                      <a:pt x="330" y="82"/>
                    </a:cubicBezTo>
                    <a:cubicBezTo>
                      <a:pt x="330" y="37"/>
                      <a:pt x="293" y="0"/>
                      <a:pt x="248" y="0"/>
                    </a:cubicBezTo>
                    <a:cubicBezTo>
                      <a:pt x="83" y="0"/>
                      <a:pt x="83" y="0"/>
                      <a:pt x="83" y="0"/>
                    </a:cubicBezTo>
                    <a:cubicBezTo>
                      <a:pt x="38" y="0"/>
                      <a:pt x="0" y="37"/>
                      <a:pt x="0" y="82"/>
                    </a:cubicBezTo>
                    <a:cubicBezTo>
                      <a:pt x="0" y="128"/>
                      <a:pt x="38" y="165"/>
                      <a:pt x="83"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6" name="Freeform 779">
                <a:extLst>
                  <a:ext uri="{FF2B5EF4-FFF2-40B4-BE49-F238E27FC236}">
                    <a16:creationId xmlns:a16="http://schemas.microsoft.com/office/drawing/2014/main" id="{D0250CB0-79D9-4B48-B97D-E3820D3A3934}"/>
                  </a:ext>
                </a:extLst>
              </p:cNvPr>
              <p:cNvSpPr>
                <a:spLocks/>
              </p:cNvSpPr>
              <p:nvPr/>
            </p:nvSpPr>
            <p:spPr bwMode="auto">
              <a:xfrm>
                <a:off x="5865810" y="6242049"/>
                <a:ext cx="273050" cy="136525"/>
              </a:xfrm>
              <a:custGeom>
                <a:avLst/>
                <a:gdLst>
                  <a:gd name="T0" fmla="*/ 83 w 330"/>
                  <a:gd name="T1" fmla="*/ 165 h 165"/>
                  <a:gd name="T2" fmla="*/ 248 w 330"/>
                  <a:gd name="T3" fmla="*/ 165 h 165"/>
                  <a:gd name="T4" fmla="*/ 330 w 330"/>
                  <a:gd name="T5" fmla="*/ 83 h 165"/>
                  <a:gd name="T6" fmla="*/ 248 w 330"/>
                  <a:gd name="T7" fmla="*/ 0 h 165"/>
                  <a:gd name="T8" fmla="*/ 83 w 330"/>
                  <a:gd name="T9" fmla="*/ 0 h 165"/>
                  <a:gd name="T10" fmla="*/ 0 w 330"/>
                  <a:gd name="T11" fmla="*/ 83 h 165"/>
                  <a:gd name="T12" fmla="*/ 83 w 330"/>
                  <a:gd name="T13" fmla="*/ 165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83" y="165"/>
                    </a:moveTo>
                    <a:cubicBezTo>
                      <a:pt x="248" y="165"/>
                      <a:pt x="248" y="165"/>
                      <a:pt x="248" y="165"/>
                    </a:cubicBezTo>
                    <a:cubicBezTo>
                      <a:pt x="293" y="165"/>
                      <a:pt x="330" y="128"/>
                      <a:pt x="330" y="83"/>
                    </a:cubicBezTo>
                    <a:cubicBezTo>
                      <a:pt x="330" y="37"/>
                      <a:pt x="293" y="0"/>
                      <a:pt x="248" y="0"/>
                    </a:cubicBezTo>
                    <a:cubicBezTo>
                      <a:pt x="83" y="0"/>
                      <a:pt x="83" y="0"/>
                      <a:pt x="83" y="0"/>
                    </a:cubicBezTo>
                    <a:cubicBezTo>
                      <a:pt x="38" y="0"/>
                      <a:pt x="0" y="37"/>
                      <a:pt x="0" y="83"/>
                    </a:cubicBezTo>
                    <a:cubicBezTo>
                      <a:pt x="0" y="128"/>
                      <a:pt x="38" y="165"/>
                      <a:pt x="83"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7" name="Freeform 780">
                <a:extLst>
                  <a:ext uri="{FF2B5EF4-FFF2-40B4-BE49-F238E27FC236}">
                    <a16:creationId xmlns:a16="http://schemas.microsoft.com/office/drawing/2014/main" id="{71B8DFFA-62BB-4B4F-914E-1E392A77574F}"/>
                  </a:ext>
                </a:extLst>
              </p:cNvPr>
              <p:cNvSpPr>
                <a:spLocks/>
              </p:cNvSpPr>
              <p:nvPr/>
            </p:nvSpPr>
            <p:spPr bwMode="auto">
              <a:xfrm>
                <a:off x="5865810" y="6037261"/>
                <a:ext cx="273050" cy="136525"/>
              </a:xfrm>
              <a:custGeom>
                <a:avLst/>
                <a:gdLst>
                  <a:gd name="T0" fmla="*/ 83 w 330"/>
                  <a:gd name="T1" fmla="*/ 165 h 165"/>
                  <a:gd name="T2" fmla="*/ 248 w 330"/>
                  <a:gd name="T3" fmla="*/ 165 h 165"/>
                  <a:gd name="T4" fmla="*/ 330 w 330"/>
                  <a:gd name="T5" fmla="*/ 82 h 165"/>
                  <a:gd name="T6" fmla="*/ 248 w 330"/>
                  <a:gd name="T7" fmla="*/ 0 h 165"/>
                  <a:gd name="T8" fmla="*/ 83 w 330"/>
                  <a:gd name="T9" fmla="*/ 0 h 165"/>
                  <a:gd name="T10" fmla="*/ 0 w 330"/>
                  <a:gd name="T11" fmla="*/ 82 h 165"/>
                  <a:gd name="T12" fmla="*/ 83 w 330"/>
                  <a:gd name="T13" fmla="*/ 165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83" y="165"/>
                    </a:moveTo>
                    <a:cubicBezTo>
                      <a:pt x="248" y="165"/>
                      <a:pt x="248" y="165"/>
                      <a:pt x="248" y="165"/>
                    </a:cubicBezTo>
                    <a:cubicBezTo>
                      <a:pt x="293" y="165"/>
                      <a:pt x="330" y="128"/>
                      <a:pt x="330" y="82"/>
                    </a:cubicBezTo>
                    <a:cubicBezTo>
                      <a:pt x="330" y="37"/>
                      <a:pt x="293" y="0"/>
                      <a:pt x="248" y="0"/>
                    </a:cubicBezTo>
                    <a:cubicBezTo>
                      <a:pt x="83" y="0"/>
                      <a:pt x="83" y="0"/>
                      <a:pt x="83" y="0"/>
                    </a:cubicBezTo>
                    <a:cubicBezTo>
                      <a:pt x="38" y="0"/>
                      <a:pt x="0" y="37"/>
                      <a:pt x="0" y="82"/>
                    </a:cubicBezTo>
                    <a:cubicBezTo>
                      <a:pt x="0" y="128"/>
                      <a:pt x="38" y="165"/>
                      <a:pt x="83"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8" name="Freeform 781">
                <a:extLst>
                  <a:ext uri="{FF2B5EF4-FFF2-40B4-BE49-F238E27FC236}">
                    <a16:creationId xmlns:a16="http://schemas.microsoft.com/office/drawing/2014/main" id="{517D5AFF-4675-4C76-A58C-36159FF4A4C7}"/>
                  </a:ext>
                </a:extLst>
              </p:cNvPr>
              <p:cNvSpPr>
                <a:spLocks/>
              </p:cNvSpPr>
              <p:nvPr/>
            </p:nvSpPr>
            <p:spPr bwMode="auto">
              <a:xfrm>
                <a:off x="5865810" y="5832474"/>
                <a:ext cx="273050" cy="136525"/>
              </a:xfrm>
              <a:custGeom>
                <a:avLst/>
                <a:gdLst>
                  <a:gd name="T0" fmla="*/ 83 w 330"/>
                  <a:gd name="T1" fmla="*/ 165 h 165"/>
                  <a:gd name="T2" fmla="*/ 248 w 330"/>
                  <a:gd name="T3" fmla="*/ 165 h 165"/>
                  <a:gd name="T4" fmla="*/ 330 w 330"/>
                  <a:gd name="T5" fmla="*/ 83 h 165"/>
                  <a:gd name="T6" fmla="*/ 248 w 330"/>
                  <a:gd name="T7" fmla="*/ 0 h 165"/>
                  <a:gd name="T8" fmla="*/ 83 w 330"/>
                  <a:gd name="T9" fmla="*/ 0 h 165"/>
                  <a:gd name="T10" fmla="*/ 0 w 330"/>
                  <a:gd name="T11" fmla="*/ 83 h 165"/>
                  <a:gd name="T12" fmla="*/ 83 w 330"/>
                  <a:gd name="T13" fmla="*/ 165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83" y="165"/>
                    </a:moveTo>
                    <a:cubicBezTo>
                      <a:pt x="248" y="165"/>
                      <a:pt x="248" y="165"/>
                      <a:pt x="248" y="165"/>
                    </a:cubicBezTo>
                    <a:cubicBezTo>
                      <a:pt x="293" y="165"/>
                      <a:pt x="330" y="128"/>
                      <a:pt x="330" y="83"/>
                    </a:cubicBezTo>
                    <a:cubicBezTo>
                      <a:pt x="330" y="37"/>
                      <a:pt x="293" y="0"/>
                      <a:pt x="248" y="0"/>
                    </a:cubicBezTo>
                    <a:cubicBezTo>
                      <a:pt x="83" y="0"/>
                      <a:pt x="83" y="0"/>
                      <a:pt x="83" y="0"/>
                    </a:cubicBezTo>
                    <a:cubicBezTo>
                      <a:pt x="38" y="0"/>
                      <a:pt x="0" y="37"/>
                      <a:pt x="0" y="83"/>
                    </a:cubicBezTo>
                    <a:cubicBezTo>
                      <a:pt x="0" y="128"/>
                      <a:pt x="38" y="165"/>
                      <a:pt x="83"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9" name="Freeform 782">
                <a:extLst>
                  <a:ext uri="{FF2B5EF4-FFF2-40B4-BE49-F238E27FC236}">
                    <a16:creationId xmlns:a16="http://schemas.microsoft.com/office/drawing/2014/main" id="{47AEB5DC-3677-4952-91D4-80D980B0E4A4}"/>
                  </a:ext>
                </a:extLst>
              </p:cNvPr>
              <p:cNvSpPr>
                <a:spLocks/>
              </p:cNvSpPr>
              <p:nvPr/>
            </p:nvSpPr>
            <p:spPr bwMode="auto">
              <a:xfrm>
                <a:off x="6208710" y="6448424"/>
                <a:ext cx="274637" cy="136525"/>
              </a:xfrm>
              <a:custGeom>
                <a:avLst/>
                <a:gdLst>
                  <a:gd name="T0" fmla="*/ 247 w 330"/>
                  <a:gd name="T1" fmla="*/ 0 h 165"/>
                  <a:gd name="T2" fmla="*/ 82 w 330"/>
                  <a:gd name="T3" fmla="*/ 0 h 165"/>
                  <a:gd name="T4" fmla="*/ 0 w 330"/>
                  <a:gd name="T5" fmla="*/ 82 h 165"/>
                  <a:gd name="T6" fmla="*/ 82 w 330"/>
                  <a:gd name="T7" fmla="*/ 165 h 165"/>
                  <a:gd name="T8" fmla="*/ 247 w 330"/>
                  <a:gd name="T9" fmla="*/ 165 h 165"/>
                  <a:gd name="T10" fmla="*/ 330 w 330"/>
                  <a:gd name="T11" fmla="*/ 82 h 165"/>
                  <a:gd name="T12" fmla="*/ 247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7" y="0"/>
                    </a:moveTo>
                    <a:cubicBezTo>
                      <a:pt x="82" y="0"/>
                      <a:pt x="82" y="0"/>
                      <a:pt x="82" y="0"/>
                    </a:cubicBezTo>
                    <a:cubicBezTo>
                      <a:pt x="37" y="0"/>
                      <a:pt x="0" y="37"/>
                      <a:pt x="0" y="82"/>
                    </a:cubicBezTo>
                    <a:cubicBezTo>
                      <a:pt x="0" y="128"/>
                      <a:pt x="37" y="165"/>
                      <a:pt x="82" y="165"/>
                    </a:cubicBezTo>
                    <a:cubicBezTo>
                      <a:pt x="247" y="165"/>
                      <a:pt x="247" y="165"/>
                      <a:pt x="247" y="165"/>
                    </a:cubicBezTo>
                    <a:cubicBezTo>
                      <a:pt x="293" y="165"/>
                      <a:pt x="330" y="128"/>
                      <a:pt x="330" y="82"/>
                    </a:cubicBezTo>
                    <a:cubicBezTo>
                      <a:pt x="330" y="37"/>
                      <a:pt x="293" y="0"/>
                      <a:pt x="2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0" name="Freeform 783">
                <a:extLst>
                  <a:ext uri="{FF2B5EF4-FFF2-40B4-BE49-F238E27FC236}">
                    <a16:creationId xmlns:a16="http://schemas.microsoft.com/office/drawing/2014/main" id="{95EFDC27-666F-469C-9AAD-386D484B3A59}"/>
                  </a:ext>
                </a:extLst>
              </p:cNvPr>
              <p:cNvSpPr>
                <a:spLocks/>
              </p:cNvSpPr>
              <p:nvPr/>
            </p:nvSpPr>
            <p:spPr bwMode="auto">
              <a:xfrm>
                <a:off x="6208710" y="6242049"/>
                <a:ext cx="274637" cy="136525"/>
              </a:xfrm>
              <a:custGeom>
                <a:avLst/>
                <a:gdLst>
                  <a:gd name="T0" fmla="*/ 247 w 330"/>
                  <a:gd name="T1" fmla="*/ 0 h 165"/>
                  <a:gd name="T2" fmla="*/ 82 w 330"/>
                  <a:gd name="T3" fmla="*/ 0 h 165"/>
                  <a:gd name="T4" fmla="*/ 0 w 330"/>
                  <a:gd name="T5" fmla="*/ 83 h 165"/>
                  <a:gd name="T6" fmla="*/ 82 w 330"/>
                  <a:gd name="T7" fmla="*/ 165 h 165"/>
                  <a:gd name="T8" fmla="*/ 247 w 330"/>
                  <a:gd name="T9" fmla="*/ 165 h 165"/>
                  <a:gd name="T10" fmla="*/ 330 w 330"/>
                  <a:gd name="T11" fmla="*/ 83 h 165"/>
                  <a:gd name="T12" fmla="*/ 247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7" y="0"/>
                    </a:moveTo>
                    <a:cubicBezTo>
                      <a:pt x="82" y="0"/>
                      <a:pt x="82" y="0"/>
                      <a:pt x="82" y="0"/>
                    </a:cubicBezTo>
                    <a:cubicBezTo>
                      <a:pt x="37" y="0"/>
                      <a:pt x="0" y="37"/>
                      <a:pt x="0" y="83"/>
                    </a:cubicBezTo>
                    <a:cubicBezTo>
                      <a:pt x="0" y="128"/>
                      <a:pt x="37" y="165"/>
                      <a:pt x="82" y="165"/>
                    </a:cubicBezTo>
                    <a:cubicBezTo>
                      <a:pt x="247" y="165"/>
                      <a:pt x="247" y="165"/>
                      <a:pt x="247" y="165"/>
                    </a:cubicBezTo>
                    <a:cubicBezTo>
                      <a:pt x="293" y="165"/>
                      <a:pt x="330" y="128"/>
                      <a:pt x="330" y="83"/>
                    </a:cubicBezTo>
                    <a:cubicBezTo>
                      <a:pt x="330" y="37"/>
                      <a:pt x="293" y="0"/>
                      <a:pt x="2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1" name="Freeform 784">
                <a:extLst>
                  <a:ext uri="{FF2B5EF4-FFF2-40B4-BE49-F238E27FC236}">
                    <a16:creationId xmlns:a16="http://schemas.microsoft.com/office/drawing/2014/main" id="{30DCACE6-2487-40E7-923B-9010C774B342}"/>
                  </a:ext>
                </a:extLst>
              </p:cNvPr>
              <p:cNvSpPr>
                <a:spLocks/>
              </p:cNvSpPr>
              <p:nvPr/>
            </p:nvSpPr>
            <p:spPr bwMode="auto">
              <a:xfrm>
                <a:off x="6208710" y="6037261"/>
                <a:ext cx="274637" cy="136525"/>
              </a:xfrm>
              <a:custGeom>
                <a:avLst/>
                <a:gdLst>
                  <a:gd name="T0" fmla="*/ 247 w 330"/>
                  <a:gd name="T1" fmla="*/ 0 h 165"/>
                  <a:gd name="T2" fmla="*/ 82 w 330"/>
                  <a:gd name="T3" fmla="*/ 0 h 165"/>
                  <a:gd name="T4" fmla="*/ 0 w 330"/>
                  <a:gd name="T5" fmla="*/ 82 h 165"/>
                  <a:gd name="T6" fmla="*/ 82 w 330"/>
                  <a:gd name="T7" fmla="*/ 165 h 165"/>
                  <a:gd name="T8" fmla="*/ 247 w 330"/>
                  <a:gd name="T9" fmla="*/ 165 h 165"/>
                  <a:gd name="T10" fmla="*/ 330 w 330"/>
                  <a:gd name="T11" fmla="*/ 82 h 165"/>
                  <a:gd name="T12" fmla="*/ 247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7" y="0"/>
                    </a:moveTo>
                    <a:cubicBezTo>
                      <a:pt x="82" y="0"/>
                      <a:pt x="82" y="0"/>
                      <a:pt x="82" y="0"/>
                    </a:cubicBezTo>
                    <a:cubicBezTo>
                      <a:pt x="37" y="0"/>
                      <a:pt x="0" y="37"/>
                      <a:pt x="0" y="82"/>
                    </a:cubicBezTo>
                    <a:cubicBezTo>
                      <a:pt x="0" y="128"/>
                      <a:pt x="37" y="165"/>
                      <a:pt x="82" y="165"/>
                    </a:cubicBezTo>
                    <a:cubicBezTo>
                      <a:pt x="247" y="165"/>
                      <a:pt x="247" y="165"/>
                      <a:pt x="247" y="165"/>
                    </a:cubicBezTo>
                    <a:cubicBezTo>
                      <a:pt x="293" y="165"/>
                      <a:pt x="330" y="128"/>
                      <a:pt x="330" y="82"/>
                    </a:cubicBezTo>
                    <a:cubicBezTo>
                      <a:pt x="330" y="37"/>
                      <a:pt x="293" y="0"/>
                      <a:pt x="2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2" name="Freeform 785">
                <a:extLst>
                  <a:ext uri="{FF2B5EF4-FFF2-40B4-BE49-F238E27FC236}">
                    <a16:creationId xmlns:a16="http://schemas.microsoft.com/office/drawing/2014/main" id="{9BF94FBC-3F6C-4B23-A1A1-DE54F148C048}"/>
                  </a:ext>
                </a:extLst>
              </p:cNvPr>
              <p:cNvSpPr>
                <a:spLocks/>
              </p:cNvSpPr>
              <p:nvPr/>
            </p:nvSpPr>
            <p:spPr bwMode="auto">
              <a:xfrm>
                <a:off x="6208710" y="5832474"/>
                <a:ext cx="274637" cy="136525"/>
              </a:xfrm>
              <a:custGeom>
                <a:avLst/>
                <a:gdLst>
                  <a:gd name="T0" fmla="*/ 247 w 330"/>
                  <a:gd name="T1" fmla="*/ 0 h 165"/>
                  <a:gd name="T2" fmla="*/ 82 w 330"/>
                  <a:gd name="T3" fmla="*/ 0 h 165"/>
                  <a:gd name="T4" fmla="*/ 0 w 330"/>
                  <a:gd name="T5" fmla="*/ 83 h 165"/>
                  <a:gd name="T6" fmla="*/ 82 w 330"/>
                  <a:gd name="T7" fmla="*/ 165 h 165"/>
                  <a:gd name="T8" fmla="*/ 247 w 330"/>
                  <a:gd name="T9" fmla="*/ 165 h 165"/>
                  <a:gd name="T10" fmla="*/ 330 w 330"/>
                  <a:gd name="T11" fmla="*/ 83 h 165"/>
                  <a:gd name="T12" fmla="*/ 247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7" y="0"/>
                    </a:moveTo>
                    <a:cubicBezTo>
                      <a:pt x="82" y="0"/>
                      <a:pt x="82" y="0"/>
                      <a:pt x="82" y="0"/>
                    </a:cubicBezTo>
                    <a:cubicBezTo>
                      <a:pt x="37" y="0"/>
                      <a:pt x="0" y="37"/>
                      <a:pt x="0" y="83"/>
                    </a:cubicBezTo>
                    <a:cubicBezTo>
                      <a:pt x="0" y="128"/>
                      <a:pt x="37" y="165"/>
                      <a:pt x="82" y="165"/>
                    </a:cubicBezTo>
                    <a:cubicBezTo>
                      <a:pt x="247" y="165"/>
                      <a:pt x="247" y="165"/>
                      <a:pt x="247" y="165"/>
                    </a:cubicBezTo>
                    <a:cubicBezTo>
                      <a:pt x="293" y="165"/>
                      <a:pt x="330" y="128"/>
                      <a:pt x="330" y="83"/>
                    </a:cubicBezTo>
                    <a:cubicBezTo>
                      <a:pt x="330" y="37"/>
                      <a:pt x="293" y="0"/>
                      <a:pt x="2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3" name="Freeform 786">
                <a:extLst>
                  <a:ext uri="{FF2B5EF4-FFF2-40B4-BE49-F238E27FC236}">
                    <a16:creationId xmlns:a16="http://schemas.microsoft.com/office/drawing/2014/main" id="{CA5F6900-D644-4DB2-821E-64F564B33887}"/>
                  </a:ext>
                </a:extLst>
              </p:cNvPr>
              <p:cNvSpPr>
                <a:spLocks/>
              </p:cNvSpPr>
              <p:nvPr/>
            </p:nvSpPr>
            <p:spPr bwMode="auto">
              <a:xfrm>
                <a:off x="6550022" y="6448424"/>
                <a:ext cx="274637" cy="136525"/>
              </a:xfrm>
              <a:custGeom>
                <a:avLst/>
                <a:gdLst>
                  <a:gd name="T0" fmla="*/ 248 w 330"/>
                  <a:gd name="T1" fmla="*/ 0 h 165"/>
                  <a:gd name="T2" fmla="*/ 83 w 330"/>
                  <a:gd name="T3" fmla="*/ 0 h 165"/>
                  <a:gd name="T4" fmla="*/ 0 w 330"/>
                  <a:gd name="T5" fmla="*/ 82 h 165"/>
                  <a:gd name="T6" fmla="*/ 83 w 330"/>
                  <a:gd name="T7" fmla="*/ 165 h 165"/>
                  <a:gd name="T8" fmla="*/ 248 w 330"/>
                  <a:gd name="T9" fmla="*/ 165 h 165"/>
                  <a:gd name="T10" fmla="*/ 330 w 330"/>
                  <a:gd name="T11" fmla="*/ 82 h 165"/>
                  <a:gd name="T12" fmla="*/ 248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8" y="0"/>
                    </a:moveTo>
                    <a:cubicBezTo>
                      <a:pt x="83" y="0"/>
                      <a:pt x="83" y="0"/>
                      <a:pt x="83" y="0"/>
                    </a:cubicBezTo>
                    <a:cubicBezTo>
                      <a:pt x="37" y="0"/>
                      <a:pt x="0" y="37"/>
                      <a:pt x="0" y="82"/>
                    </a:cubicBezTo>
                    <a:cubicBezTo>
                      <a:pt x="0" y="128"/>
                      <a:pt x="37" y="165"/>
                      <a:pt x="83" y="165"/>
                    </a:cubicBezTo>
                    <a:cubicBezTo>
                      <a:pt x="248" y="165"/>
                      <a:pt x="248" y="165"/>
                      <a:pt x="248" y="165"/>
                    </a:cubicBezTo>
                    <a:cubicBezTo>
                      <a:pt x="293" y="165"/>
                      <a:pt x="330" y="128"/>
                      <a:pt x="330" y="82"/>
                    </a:cubicBezTo>
                    <a:cubicBezTo>
                      <a:pt x="330" y="37"/>
                      <a:pt x="293" y="0"/>
                      <a:pt x="2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4" name="Freeform 787">
                <a:extLst>
                  <a:ext uri="{FF2B5EF4-FFF2-40B4-BE49-F238E27FC236}">
                    <a16:creationId xmlns:a16="http://schemas.microsoft.com/office/drawing/2014/main" id="{D2B23CAC-EB4D-48AF-99A1-4CEF2BCADB66}"/>
                  </a:ext>
                </a:extLst>
              </p:cNvPr>
              <p:cNvSpPr>
                <a:spLocks/>
              </p:cNvSpPr>
              <p:nvPr/>
            </p:nvSpPr>
            <p:spPr bwMode="auto">
              <a:xfrm>
                <a:off x="6550022" y="6242049"/>
                <a:ext cx="274637" cy="136525"/>
              </a:xfrm>
              <a:custGeom>
                <a:avLst/>
                <a:gdLst>
                  <a:gd name="T0" fmla="*/ 248 w 330"/>
                  <a:gd name="T1" fmla="*/ 0 h 165"/>
                  <a:gd name="T2" fmla="*/ 83 w 330"/>
                  <a:gd name="T3" fmla="*/ 0 h 165"/>
                  <a:gd name="T4" fmla="*/ 0 w 330"/>
                  <a:gd name="T5" fmla="*/ 83 h 165"/>
                  <a:gd name="T6" fmla="*/ 83 w 330"/>
                  <a:gd name="T7" fmla="*/ 165 h 165"/>
                  <a:gd name="T8" fmla="*/ 248 w 330"/>
                  <a:gd name="T9" fmla="*/ 165 h 165"/>
                  <a:gd name="T10" fmla="*/ 330 w 330"/>
                  <a:gd name="T11" fmla="*/ 83 h 165"/>
                  <a:gd name="T12" fmla="*/ 248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8" y="0"/>
                    </a:moveTo>
                    <a:cubicBezTo>
                      <a:pt x="83" y="0"/>
                      <a:pt x="83" y="0"/>
                      <a:pt x="83" y="0"/>
                    </a:cubicBezTo>
                    <a:cubicBezTo>
                      <a:pt x="37" y="0"/>
                      <a:pt x="0" y="37"/>
                      <a:pt x="0" y="83"/>
                    </a:cubicBezTo>
                    <a:cubicBezTo>
                      <a:pt x="0" y="128"/>
                      <a:pt x="37" y="165"/>
                      <a:pt x="83" y="165"/>
                    </a:cubicBezTo>
                    <a:cubicBezTo>
                      <a:pt x="248" y="165"/>
                      <a:pt x="248" y="165"/>
                      <a:pt x="248" y="165"/>
                    </a:cubicBezTo>
                    <a:cubicBezTo>
                      <a:pt x="293" y="165"/>
                      <a:pt x="330" y="128"/>
                      <a:pt x="330" y="83"/>
                    </a:cubicBezTo>
                    <a:cubicBezTo>
                      <a:pt x="330" y="37"/>
                      <a:pt x="293" y="0"/>
                      <a:pt x="2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5" name="Freeform 788">
                <a:extLst>
                  <a:ext uri="{FF2B5EF4-FFF2-40B4-BE49-F238E27FC236}">
                    <a16:creationId xmlns:a16="http://schemas.microsoft.com/office/drawing/2014/main" id="{0A02A9DE-84F5-420A-A113-6A2D808F869B}"/>
                  </a:ext>
                </a:extLst>
              </p:cNvPr>
              <p:cNvSpPr>
                <a:spLocks/>
              </p:cNvSpPr>
              <p:nvPr/>
            </p:nvSpPr>
            <p:spPr bwMode="auto">
              <a:xfrm>
                <a:off x="6550022" y="6037261"/>
                <a:ext cx="274637" cy="136525"/>
              </a:xfrm>
              <a:custGeom>
                <a:avLst/>
                <a:gdLst>
                  <a:gd name="T0" fmla="*/ 248 w 330"/>
                  <a:gd name="T1" fmla="*/ 0 h 165"/>
                  <a:gd name="T2" fmla="*/ 83 w 330"/>
                  <a:gd name="T3" fmla="*/ 0 h 165"/>
                  <a:gd name="T4" fmla="*/ 0 w 330"/>
                  <a:gd name="T5" fmla="*/ 82 h 165"/>
                  <a:gd name="T6" fmla="*/ 83 w 330"/>
                  <a:gd name="T7" fmla="*/ 165 h 165"/>
                  <a:gd name="T8" fmla="*/ 248 w 330"/>
                  <a:gd name="T9" fmla="*/ 165 h 165"/>
                  <a:gd name="T10" fmla="*/ 330 w 330"/>
                  <a:gd name="T11" fmla="*/ 82 h 165"/>
                  <a:gd name="T12" fmla="*/ 248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8" y="0"/>
                    </a:moveTo>
                    <a:cubicBezTo>
                      <a:pt x="83" y="0"/>
                      <a:pt x="83" y="0"/>
                      <a:pt x="83" y="0"/>
                    </a:cubicBezTo>
                    <a:cubicBezTo>
                      <a:pt x="37" y="0"/>
                      <a:pt x="0" y="37"/>
                      <a:pt x="0" y="82"/>
                    </a:cubicBezTo>
                    <a:cubicBezTo>
                      <a:pt x="0" y="128"/>
                      <a:pt x="37" y="165"/>
                      <a:pt x="83" y="165"/>
                    </a:cubicBezTo>
                    <a:cubicBezTo>
                      <a:pt x="248" y="165"/>
                      <a:pt x="248" y="165"/>
                      <a:pt x="248" y="165"/>
                    </a:cubicBezTo>
                    <a:cubicBezTo>
                      <a:pt x="293" y="165"/>
                      <a:pt x="330" y="128"/>
                      <a:pt x="330" y="82"/>
                    </a:cubicBezTo>
                    <a:cubicBezTo>
                      <a:pt x="330" y="37"/>
                      <a:pt x="293" y="0"/>
                      <a:pt x="2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6" name="Freeform 789">
                <a:extLst>
                  <a:ext uri="{FF2B5EF4-FFF2-40B4-BE49-F238E27FC236}">
                    <a16:creationId xmlns:a16="http://schemas.microsoft.com/office/drawing/2014/main" id="{D8A2B9EE-73DD-4B9C-8F84-B68EDF2B6C87}"/>
                  </a:ext>
                </a:extLst>
              </p:cNvPr>
              <p:cNvSpPr>
                <a:spLocks/>
              </p:cNvSpPr>
              <p:nvPr/>
            </p:nvSpPr>
            <p:spPr bwMode="auto">
              <a:xfrm>
                <a:off x="6550022" y="5832474"/>
                <a:ext cx="274637" cy="136525"/>
              </a:xfrm>
              <a:custGeom>
                <a:avLst/>
                <a:gdLst>
                  <a:gd name="T0" fmla="*/ 248 w 330"/>
                  <a:gd name="T1" fmla="*/ 0 h 165"/>
                  <a:gd name="T2" fmla="*/ 83 w 330"/>
                  <a:gd name="T3" fmla="*/ 0 h 165"/>
                  <a:gd name="T4" fmla="*/ 0 w 330"/>
                  <a:gd name="T5" fmla="*/ 83 h 165"/>
                  <a:gd name="T6" fmla="*/ 83 w 330"/>
                  <a:gd name="T7" fmla="*/ 165 h 165"/>
                  <a:gd name="T8" fmla="*/ 248 w 330"/>
                  <a:gd name="T9" fmla="*/ 165 h 165"/>
                  <a:gd name="T10" fmla="*/ 330 w 330"/>
                  <a:gd name="T11" fmla="*/ 83 h 165"/>
                  <a:gd name="T12" fmla="*/ 248 w 330"/>
                  <a:gd name="T13" fmla="*/ 0 h 165"/>
                </a:gdLst>
                <a:ahLst/>
                <a:cxnLst>
                  <a:cxn ang="0">
                    <a:pos x="T0" y="T1"/>
                  </a:cxn>
                  <a:cxn ang="0">
                    <a:pos x="T2" y="T3"/>
                  </a:cxn>
                  <a:cxn ang="0">
                    <a:pos x="T4" y="T5"/>
                  </a:cxn>
                  <a:cxn ang="0">
                    <a:pos x="T6" y="T7"/>
                  </a:cxn>
                  <a:cxn ang="0">
                    <a:pos x="T8" y="T9"/>
                  </a:cxn>
                  <a:cxn ang="0">
                    <a:pos x="T10" y="T11"/>
                  </a:cxn>
                  <a:cxn ang="0">
                    <a:pos x="T12" y="T13"/>
                  </a:cxn>
                </a:cxnLst>
                <a:rect l="0" t="0" r="r" b="b"/>
                <a:pathLst>
                  <a:path w="330" h="165">
                    <a:moveTo>
                      <a:pt x="248" y="0"/>
                    </a:moveTo>
                    <a:cubicBezTo>
                      <a:pt x="83" y="0"/>
                      <a:pt x="83" y="0"/>
                      <a:pt x="83" y="0"/>
                    </a:cubicBezTo>
                    <a:cubicBezTo>
                      <a:pt x="37" y="0"/>
                      <a:pt x="0" y="37"/>
                      <a:pt x="0" y="83"/>
                    </a:cubicBezTo>
                    <a:cubicBezTo>
                      <a:pt x="0" y="128"/>
                      <a:pt x="37" y="165"/>
                      <a:pt x="83" y="165"/>
                    </a:cubicBezTo>
                    <a:cubicBezTo>
                      <a:pt x="248" y="165"/>
                      <a:pt x="248" y="165"/>
                      <a:pt x="248" y="165"/>
                    </a:cubicBezTo>
                    <a:cubicBezTo>
                      <a:pt x="293" y="165"/>
                      <a:pt x="330" y="128"/>
                      <a:pt x="330" y="83"/>
                    </a:cubicBezTo>
                    <a:cubicBezTo>
                      <a:pt x="330" y="37"/>
                      <a:pt x="293" y="0"/>
                      <a:pt x="2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100" name="Date Placeholder 1">
            <a:extLst>
              <a:ext uri="{FF2B5EF4-FFF2-40B4-BE49-F238E27FC236}">
                <a16:creationId xmlns:a16="http://schemas.microsoft.com/office/drawing/2014/main" id="{2894653A-4108-4A75-8174-97FD18902B7C}"/>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10" name="Graphic 9" descr="Pencil">
            <a:extLst>
              <a:ext uri="{FF2B5EF4-FFF2-40B4-BE49-F238E27FC236}">
                <a16:creationId xmlns:a16="http://schemas.microsoft.com/office/drawing/2014/main" id="{64D822DD-BAA3-4F31-9DCF-4E95C3A4E5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06163" y="3159193"/>
            <a:ext cx="525600" cy="525600"/>
          </a:xfrm>
          <a:prstGeom prst="rect">
            <a:avLst/>
          </a:prstGeom>
        </p:spPr>
      </p:pic>
      <p:pic>
        <p:nvPicPr>
          <p:cNvPr id="22" name="Graphic 21" descr="Presentation with checklist RTL">
            <a:extLst>
              <a:ext uri="{FF2B5EF4-FFF2-40B4-BE49-F238E27FC236}">
                <a16:creationId xmlns:a16="http://schemas.microsoft.com/office/drawing/2014/main" id="{0AF23E34-1F70-4B6F-9531-E688906E53A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6703" y="3072078"/>
            <a:ext cx="656771" cy="656771"/>
          </a:xfrm>
          <a:prstGeom prst="rect">
            <a:avLst/>
          </a:prstGeom>
        </p:spPr>
      </p:pic>
    </p:spTree>
    <p:extLst>
      <p:ext uri="{BB962C8B-B14F-4D97-AF65-F5344CB8AC3E}">
        <p14:creationId xmlns:p14="http://schemas.microsoft.com/office/powerpoint/2010/main" val="228371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185983-2726-49B2-A8AA-F5292A6527CA}"/>
              </a:ext>
            </a:extLst>
          </p:cNvPr>
          <p:cNvPicPr>
            <a:picLocks noChangeAspect="1"/>
          </p:cNvPicPr>
          <p:nvPr/>
        </p:nvPicPr>
        <p:blipFill>
          <a:blip r:embed="rId3"/>
          <a:stretch>
            <a:fillRect/>
          </a:stretch>
        </p:blipFill>
        <p:spPr>
          <a:xfrm>
            <a:off x="680418" y="1292692"/>
            <a:ext cx="3604964" cy="3208149"/>
          </a:xfrm>
          <a:prstGeom prst="rect">
            <a:avLst/>
          </a:prstGeom>
        </p:spPr>
      </p:pic>
      <p:sp>
        <p:nvSpPr>
          <p:cNvPr id="14" name="Text Placeholder 13">
            <a:extLst>
              <a:ext uri="{FF2B5EF4-FFF2-40B4-BE49-F238E27FC236}">
                <a16:creationId xmlns:a16="http://schemas.microsoft.com/office/drawing/2014/main" id="{33E84943-2B04-436A-8022-8765E5363306}"/>
              </a:ext>
            </a:extLst>
          </p:cNvPr>
          <p:cNvSpPr>
            <a:spLocks noGrp="1"/>
          </p:cNvSpPr>
          <p:nvPr>
            <p:ph type="body" sz="quarter" idx="14"/>
          </p:nvPr>
        </p:nvSpPr>
        <p:spPr>
          <a:xfrm>
            <a:off x="240998" y="693553"/>
            <a:ext cx="7696154" cy="276999"/>
          </a:xfrm>
        </p:spPr>
        <p:txBody>
          <a:bodyPr/>
          <a:lstStyle/>
          <a:p>
            <a:r>
              <a:rPr lang="en-GB"/>
              <a:t>Probability of declaring at least one false positive test, assuming the null hypothesis</a:t>
            </a:r>
          </a:p>
        </p:txBody>
      </p:sp>
      <p:sp>
        <p:nvSpPr>
          <p:cNvPr id="5" name="Title 4">
            <a:extLst>
              <a:ext uri="{FF2B5EF4-FFF2-40B4-BE49-F238E27FC236}">
                <a16:creationId xmlns:a16="http://schemas.microsoft.com/office/drawing/2014/main" id="{18509DCA-8E0D-4B8A-B3FC-963E422DFE19}"/>
              </a:ext>
            </a:extLst>
          </p:cNvPr>
          <p:cNvSpPr>
            <a:spLocks noGrp="1"/>
          </p:cNvSpPr>
          <p:nvPr>
            <p:ph type="title"/>
          </p:nvPr>
        </p:nvSpPr>
        <p:spPr>
          <a:xfrm>
            <a:off x="240998" y="293444"/>
            <a:ext cx="7577139" cy="338554"/>
          </a:xfrm>
        </p:spPr>
        <p:txBody>
          <a:bodyPr/>
          <a:lstStyle/>
          <a:p>
            <a:r>
              <a:rPr lang="en-GB"/>
              <a:t>How likely are we to make the wrong decision?</a:t>
            </a:r>
          </a:p>
        </p:txBody>
      </p:sp>
      <p:sp>
        <p:nvSpPr>
          <p:cNvPr id="4" name="Slide Number Placeholder 3">
            <a:extLst>
              <a:ext uri="{FF2B5EF4-FFF2-40B4-BE49-F238E27FC236}">
                <a16:creationId xmlns:a16="http://schemas.microsoft.com/office/drawing/2014/main" id="{385ECA1E-6832-4A7D-B480-E41B1BDE5742}"/>
              </a:ext>
            </a:extLst>
          </p:cNvPr>
          <p:cNvSpPr>
            <a:spLocks noGrp="1"/>
          </p:cNvSpPr>
          <p:nvPr>
            <p:ph type="sldNum" sz="quarter" idx="21"/>
          </p:nvPr>
        </p:nvSpPr>
        <p:spPr/>
        <p:txBody>
          <a:bodyPr/>
          <a:lstStyle/>
          <a:p>
            <a:fld id="{9F9F533D-B52E-4A2F-BF72-0ADD2D94BD75}" type="slidenum">
              <a:rPr lang="en-GB" smtClean="0"/>
              <a:pPr/>
              <a:t>6</a:t>
            </a:fld>
            <a:endParaRPr lang="en-GB"/>
          </a:p>
        </p:txBody>
      </p:sp>
      <p:sp>
        <p:nvSpPr>
          <p:cNvPr id="11" name="Date Placeholder 1">
            <a:extLst>
              <a:ext uri="{FF2B5EF4-FFF2-40B4-BE49-F238E27FC236}">
                <a16:creationId xmlns:a16="http://schemas.microsoft.com/office/drawing/2014/main" id="{22C720F5-091E-48EC-9689-6EA250D2B264}"/>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sp>
        <p:nvSpPr>
          <p:cNvPr id="31" name="Rectangle 30">
            <a:extLst>
              <a:ext uri="{FF2B5EF4-FFF2-40B4-BE49-F238E27FC236}">
                <a16:creationId xmlns:a16="http://schemas.microsoft.com/office/drawing/2014/main" id="{FFD40589-DA2C-40E1-B461-41D1A8283F21}"/>
              </a:ext>
            </a:extLst>
          </p:cNvPr>
          <p:cNvSpPr/>
          <p:nvPr/>
        </p:nvSpPr>
        <p:spPr bwMode="auto">
          <a:xfrm>
            <a:off x="2263855" y="4245897"/>
            <a:ext cx="1353600" cy="228311"/>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cxnSp>
        <p:nvCxnSpPr>
          <p:cNvPr id="10" name="Straight Connector 9">
            <a:extLst>
              <a:ext uri="{FF2B5EF4-FFF2-40B4-BE49-F238E27FC236}">
                <a16:creationId xmlns:a16="http://schemas.microsoft.com/office/drawing/2014/main" id="{601E81BB-AC91-4D96-B9E0-1E1419763911}"/>
              </a:ext>
            </a:extLst>
          </p:cNvPr>
          <p:cNvCxnSpPr/>
          <p:nvPr/>
        </p:nvCxnSpPr>
        <p:spPr>
          <a:xfrm>
            <a:off x="1344975" y="3789367"/>
            <a:ext cx="230400" cy="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777CC7-88B8-4449-817B-DD915FCAF9CF}"/>
              </a:ext>
            </a:extLst>
          </p:cNvPr>
          <p:cNvCxnSpPr/>
          <p:nvPr/>
        </p:nvCxnSpPr>
        <p:spPr>
          <a:xfrm>
            <a:off x="1575375" y="3789367"/>
            <a:ext cx="0" cy="28080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0C5A6DA-8D27-49A5-B129-195107193D52}"/>
              </a:ext>
            </a:extLst>
          </p:cNvPr>
          <p:cNvCxnSpPr/>
          <p:nvPr/>
        </p:nvCxnSpPr>
        <p:spPr>
          <a:xfrm flipV="1">
            <a:off x="1906575" y="3270967"/>
            <a:ext cx="0" cy="799200"/>
          </a:xfrm>
          <a:prstGeom prst="line">
            <a:avLst/>
          </a:prstGeom>
          <a:ln w="12700">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A61EEE6-136E-4D83-B48E-C52300F20D14}"/>
              </a:ext>
            </a:extLst>
          </p:cNvPr>
          <p:cNvCxnSpPr/>
          <p:nvPr/>
        </p:nvCxnSpPr>
        <p:spPr>
          <a:xfrm flipH="1">
            <a:off x="1344975" y="3263767"/>
            <a:ext cx="561600" cy="0"/>
          </a:xfrm>
          <a:prstGeom prst="line">
            <a:avLst/>
          </a:prstGeom>
          <a:ln w="12700">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F6D157C-CCA3-4675-ACA1-618435928A1D}"/>
              </a:ext>
            </a:extLst>
          </p:cNvPr>
          <p:cNvCxnSpPr>
            <a:cxnSpLocks/>
          </p:cNvCxnSpPr>
          <p:nvPr/>
        </p:nvCxnSpPr>
        <p:spPr>
          <a:xfrm>
            <a:off x="1344975" y="2385367"/>
            <a:ext cx="1296000" cy="0"/>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7306280-10C3-4763-A6A8-FAF2E0D4800E}"/>
              </a:ext>
            </a:extLst>
          </p:cNvPr>
          <p:cNvCxnSpPr>
            <a:cxnSpLocks/>
          </p:cNvCxnSpPr>
          <p:nvPr/>
        </p:nvCxnSpPr>
        <p:spPr>
          <a:xfrm>
            <a:off x="2655375" y="2385367"/>
            <a:ext cx="0" cy="1684800"/>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12D58B0-F63D-45E1-B3F4-FBDCE8002372}"/>
              </a:ext>
            </a:extLst>
          </p:cNvPr>
          <p:cNvSpPr txBox="1"/>
          <p:nvPr/>
        </p:nvSpPr>
        <p:spPr>
          <a:xfrm>
            <a:off x="1625775" y="4266433"/>
            <a:ext cx="2246105" cy="276999"/>
          </a:xfrm>
          <a:prstGeom prst="rect">
            <a:avLst/>
          </a:prstGeom>
          <a:solidFill>
            <a:schemeClr val="bg1"/>
          </a:solidFill>
        </p:spPr>
        <p:txBody>
          <a:bodyPr wrap="square" rtlCol="0">
            <a:spAutoFit/>
          </a:bodyPr>
          <a:lstStyle/>
          <a:p>
            <a:pPr>
              <a:buClr>
                <a:schemeClr val="tx1"/>
              </a:buClr>
            </a:pPr>
            <a:r>
              <a:rPr lang="en-GB" sz="1200"/>
              <a:t>Number of independent tests</a:t>
            </a:r>
          </a:p>
        </p:txBody>
      </p:sp>
      <p:sp>
        <p:nvSpPr>
          <p:cNvPr id="7" name="TextBox 6">
            <a:extLst>
              <a:ext uri="{FF2B5EF4-FFF2-40B4-BE49-F238E27FC236}">
                <a16:creationId xmlns:a16="http://schemas.microsoft.com/office/drawing/2014/main" id="{C7C40C63-9FE8-4C7C-B1F6-F1A153AFADE3}"/>
              </a:ext>
            </a:extLst>
          </p:cNvPr>
          <p:cNvSpPr txBox="1"/>
          <p:nvPr/>
        </p:nvSpPr>
        <p:spPr>
          <a:xfrm>
            <a:off x="4690330" y="1459976"/>
            <a:ext cx="4092822" cy="2431435"/>
          </a:xfrm>
          <a:prstGeom prst="rect">
            <a:avLst/>
          </a:prstGeom>
          <a:noFill/>
        </p:spPr>
        <p:txBody>
          <a:bodyPr wrap="square" rtlCol="0">
            <a:spAutoFit/>
          </a:bodyPr>
          <a:lstStyle/>
          <a:p>
            <a:pPr algn="ctr">
              <a:buClr>
                <a:schemeClr val="tx1"/>
              </a:buClr>
            </a:pPr>
            <a:r>
              <a:rPr lang="en-GB" sz="1600"/>
              <a:t>What is the chance of at least one false positive result when the type 1 error rate per test is 5%?</a:t>
            </a:r>
          </a:p>
          <a:p>
            <a:pPr algn="ctr">
              <a:buClr>
                <a:schemeClr val="tx1"/>
              </a:buClr>
            </a:pPr>
            <a:endParaRPr lang="en-GB"/>
          </a:p>
          <a:p>
            <a:pPr marL="171450" indent="-171450" algn="ctr">
              <a:lnSpc>
                <a:spcPct val="150000"/>
              </a:lnSpc>
              <a:buClr>
                <a:schemeClr val="tx1"/>
              </a:buClr>
              <a:buFont typeface="Arial" panose="020B0604020202020204" pitchFamily="34" charset="0"/>
              <a:buChar char="•"/>
            </a:pPr>
            <a:r>
              <a:rPr lang="en-GB" sz="1500"/>
              <a:t>For 1 test, the probability is </a:t>
            </a:r>
            <a:r>
              <a:rPr lang="en-GB" sz="1500" b="1">
                <a:solidFill>
                  <a:schemeClr val="accent4"/>
                </a:solidFill>
              </a:rPr>
              <a:t>5%</a:t>
            </a:r>
          </a:p>
          <a:p>
            <a:pPr marL="171450" indent="-171450" algn="ctr">
              <a:lnSpc>
                <a:spcPct val="150000"/>
              </a:lnSpc>
              <a:buClr>
                <a:schemeClr val="tx1"/>
              </a:buClr>
              <a:buFont typeface="Arial" panose="020B0604020202020204" pitchFamily="34" charset="0"/>
              <a:buChar char="•"/>
            </a:pPr>
            <a:r>
              <a:rPr lang="en-GB" sz="1500"/>
              <a:t>For 5 tests, the probability is </a:t>
            </a:r>
            <a:r>
              <a:rPr lang="en-GB" sz="1500" b="1">
                <a:solidFill>
                  <a:schemeClr val="bg2"/>
                </a:solidFill>
              </a:rPr>
              <a:t>23%</a:t>
            </a:r>
          </a:p>
          <a:p>
            <a:pPr marL="176213" indent="-171450" algn="ctr">
              <a:lnSpc>
                <a:spcPct val="150000"/>
              </a:lnSpc>
              <a:buClr>
                <a:schemeClr val="tx1"/>
              </a:buClr>
              <a:buFont typeface="Arial" panose="020B0604020202020204" pitchFamily="34" charset="0"/>
              <a:buChar char="•"/>
            </a:pPr>
            <a:r>
              <a:rPr lang="en-GB" sz="1500"/>
              <a:t>For 14 tests, the probability is </a:t>
            </a:r>
            <a:r>
              <a:rPr lang="en-GB" sz="1500" b="1">
                <a:solidFill>
                  <a:schemeClr val="tx2"/>
                </a:solidFill>
              </a:rPr>
              <a:t>51%</a:t>
            </a:r>
          </a:p>
          <a:p>
            <a:pPr marL="171450" indent="-171450">
              <a:buClr>
                <a:schemeClr val="tx1"/>
              </a:buClr>
              <a:buFont typeface="Arial" pitchFamily="34" charset="0"/>
              <a:buChar char="–"/>
            </a:pPr>
            <a:endParaRPr lang="en-GB" sz="1400" err="1"/>
          </a:p>
        </p:txBody>
      </p:sp>
    </p:spTree>
    <p:extLst>
      <p:ext uri="{BB962C8B-B14F-4D97-AF65-F5344CB8AC3E}">
        <p14:creationId xmlns:p14="http://schemas.microsoft.com/office/powerpoint/2010/main" val="153241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5ECA1E-6832-4A7D-B480-E41B1BDE5742}"/>
              </a:ext>
            </a:extLst>
          </p:cNvPr>
          <p:cNvSpPr>
            <a:spLocks noGrp="1"/>
          </p:cNvSpPr>
          <p:nvPr>
            <p:ph type="sldNum" sz="quarter" idx="21"/>
          </p:nvPr>
        </p:nvSpPr>
        <p:spPr/>
        <p:txBody>
          <a:bodyPr/>
          <a:lstStyle/>
          <a:p>
            <a:fld id="{9F9F533D-B52E-4A2F-BF72-0ADD2D94BD75}" type="slidenum">
              <a:rPr lang="en-GB" smtClean="0"/>
              <a:pPr/>
              <a:t>7</a:t>
            </a:fld>
            <a:endParaRPr lang="en-GB"/>
          </a:p>
        </p:txBody>
      </p:sp>
      <p:sp>
        <p:nvSpPr>
          <p:cNvPr id="16" name="Rectangle 15">
            <a:extLst>
              <a:ext uri="{FF2B5EF4-FFF2-40B4-BE49-F238E27FC236}">
                <a16:creationId xmlns:a16="http://schemas.microsoft.com/office/drawing/2014/main" id="{35DBB39A-F6FE-4F4F-938B-DA47459C6092}"/>
              </a:ext>
            </a:extLst>
          </p:cNvPr>
          <p:cNvSpPr/>
          <p:nvPr/>
        </p:nvSpPr>
        <p:spPr>
          <a:xfrm>
            <a:off x="1355309" y="1232161"/>
            <a:ext cx="1511952" cy="276999"/>
          </a:xfrm>
          <a:prstGeom prst="rect">
            <a:avLst/>
          </a:prstGeom>
        </p:spPr>
        <p:txBody>
          <a:bodyPr wrap="none">
            <a:spAutoFit/>
          </a:bodyPr>
          <a:lstStyle/>
          <a:p>
            <a:r>
              <a:rPr lang="en-GB" sz="1200"/>
              <a:t>alpha = 5% per test</a:t>
            </a:r>
          </a:p>
        </p:txBody>
      </p:sp>
      <p:sp>
        <p:nvSpPr>
          <p:cNvPr id="3" name="Rectangle 2">
            <a:extLst>
              <a:ext uri="{FF2B5EF4-FFF2-40B4-BE49-F238E27FC236}">
                <a16:creationId xmlns:a16="http://schemas.microsoft.com/office/drawing/2014/main" id="{C40B3613-996D-4173-B01E-2ADB37471DA3}"/>
              </a:ext>
            </a:extLst>
          </p:cNvPr>
          <p:cNvSpPr/>
          <p:nvPr/>
        </p:nvSpPr>
        <p:spPr bwMode="auto">
          <a:xfrm>
            <a:off x="1355309" y="1232161"/>
            <a:ext cx="1511952" cy="276999"/>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7" name="Rectangle 16">
            <a:extLst>
              <a:ext uri="{FF2B5EF4-FFF2-40B4-BE49-F238E27FC236}">
                <a16:creationId xmlns:a16="http://schemas.microsoft.com/office/drawing/2014/main" id="{F54F822A-5A38-4C2A-8982-91BF56C49565}"/>
              </a:ext>
            </a:extLst>
          </p:cNvPr>
          <p:cNvSpPr/>
          <p:nvPr/>
        </p:nvSpPr>
        <p:spPr bwMode="auto">
          <a:xfrm>
            <a:off x="6237027" y="1678200"/>
            <a:ext cx="1842448" cy="205192"/>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8" name="Rectangle 17">
            <a:extLst>
              <a:ext uri="{FF2B5EF4-FFF2-40B4-BE49-F238E27FC236}">
                <a16:creationId xmlns:a16="http://schemas.microsoft.com/office/drawing/2014/main" id="{C20CC0BD-8694-477E-8C15-45AA42B4175F}"/>
              </a:ext>
            </a:extLst>
          </p:cNvPr>
          <p:cNvSpPr/>
          <p:nvPr/>
        </p:nvSpPr>
        <p:spPr bwMode="auto">
          <a:xfrm>
            <a:off x="4006639" y="2185071"/>
            <a:ext cx="1842448" cy="205192"/>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graphicFrame>
        <p:nvGraphicFramePr>
          <p:cNvPr id="19" name="Table 18">
            <a:extLst>
              <a:ext uri="{FF2B5EF4-FFF2-40B4-BE49-F238E27FC236}">
                <a16:creationId xmlns:a16="http://schemas.microsoft.com/office/drawing/2014/main" id="{6769AE73-4A98-4CC0-B047-1B110FD6E683}"/>
              </a:ext>
            </a:extLst>
          </p:cNvPr>
          <p:cNvGraphicFramePr>
            <a:graphicFrameLocks noGrp="1"/>
          </p:cNvGraphicFramePr>
          <p:nvPr>
            <p:extLst>
              <p:ext uri="{D42A27DB-BD31-4B8C-83A1-F6EECF244321}">
                <p14:modId xmlns:p14="http://schemas.microsoft.com/office/powerpoint/2010/main" val="3132903860"/>
              </p:ext>
            </p:extLst>
          </p:nvPr>
        </p:nvGraphicFramePr>
        <p:xfrm>
          <a:off x="452557" y="1201678"/>
          <a:ext cx="3295220" cy="3254022"/>
        </p:xfrm>
        <a:graphic>
          <a:graphicData uri="http://schemas.openxmlformats.org/drawingml/2006/table">
            <a:tbl>
              <a:tblPr firstRow="1" firstCol="1" bandRow="1">
                <a:tableStyleId>{3B4B98B0-60AC-42C2-AFA5-B58CD77FA1E5}</a:tableStyleId>
              </a:tblPr>
              <a:tblGrid>
                <a:gridCol w="1504078">
                  <a:extLst>
                    <a:ext uri="{9D8B030D-6E8A-4147-A177-3AD203B41FA5}">
                      <a16:colId xmlns:a16="http://schemas.microsoft.com/office/drawing/2014/main" val="3934306853"/>
                    </a:ext>
                  </a:extLst>
                </a:gridCol>
                <a:gridCol w="1791142">
                  <a:extLst>
                    <a:ext uri="{9D8B030D-6E8A-4147-A177-3AD203B41FA5}">
                      <a16:colId xmlns:a16="http://schemas.microsoft.com/office/drawing/2014/main" val="2835517768"/>
                    </a:ext>
                  </a:extLst>
                </a:gridCol>
              </a:tblGrid>
              <a:tr h="428479">
                <a:tc>
                  <a:txBody>
                    <a:bodyPr/>
                    <a:lstStyle/>
                    <a:p>
                      <a:pPr>
                        <a:spcBef>
                          <a:spcPts val="100"/>
                        </a:spcBef>
                        <a:spcAft>
                          <a:spcPts val="100"/>
                        </a:spcAft>
                      </a:pPr>
                      <a:r>
                        <a:rPr lang="en-GB" sz="1200">
                          <a:effectLst/>
                        </a:rPr>
                        <a:t>Subgroup</a:t>
                      </a:r>
                      <a:endParaRPr lang="en-GB" sz="12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nchor="ctr"/>
                </a:tc>
                <a:tc>
                  <a:txBody>
                    <a:bodyPr/>
                    <a:lstStyle/>
                    <a:p>
                      <a:pPr>
                        <a:spcBef>
                          <a:spcPts val="100"/>
                        </a:spcBef>
                        <a:spcAft>
                          <a:spcPts val="100"/>
                        </a:spcAft>
                      </a:pPr>
                      <a:r>
                        <a:rPr lang="en-GB" sz="1200">
                          <a:effectLst/>
                        </a:rPr>
                        <a:t>Categories </a:t>
                      </a:r>
                      <a:endParaRPr lang="en-GB" sz="12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nchor="ctr"/>
                </a:tc>
                <a:extLst>
                  <a:ext uri="{0D108BD9-81ED-4DB2-BD59-A6C34878D82A}">
                    <a16:rowId xmlns:a16="http://schemas.microsoft.com/office/drawing/2014/main" val="3624808995"/>
                  </a:ext>
                </a:extLst>
              </a:tr>
              <a:tr h="397865">
                <a:tc>
                  <a:txBody>
                    <a:bodyPr/>
                    <a:lstStyle/>
                    <a:p>
                      <a:pPr>
                        <a:spcBef>
                          <a:spcPts val="100"/>
                        </a:spcBef>
                        <a:spcAft>
                          <a:spcPts val="100"/>
                        </a:spcAft>
                      </a:pPr>
                      <a:r>
                        <a:rPr lang="en-GB" sz="1100" b="1">
                          <a:effectLst/>
                        </a:rPr>
                        <a:t>Gender</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Male</a:t>
                      </a:r>
                    </a:p>
                    <a:p>
                      <a:pPr>
                        <a:spcBef>
                          <a:spcPts val="100"/>
                        </a:spcBef>
                        <a:spcAft>
                          <a:spcPts val="100"/>
                        </a:spcAft>
                      </a:pPr>
                      <a:r>
                        <a:rPr lang="en-GB" sz="1100">
                          <a:effectLst/>
                        </a:rPr>
                        <a:t>Female</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2283976094"/>
                  </a:ext>
                </a:extLst>
              </a:tr>
              <a:tr h="438354">
                <a:tc>
                  <a:txBody>
                    <a:bodyPr/>
                    <a:lstStyle/>
                    <a:p>
                      <a:pPr>
                        <a:spcBef>
                          <a:spcPts val="100"/>
                        </a:spcBef>
                        <a:spcAft>
                          <a:spcPts val="100"/>
                        </a:spcAft>
                      </a:pPr>
                      <a:r>
                        <a:rPr lang="en-GB" sz="1100" b="1">
                          <a:effectLst/>
                        </a:rPr>
                        <a:t>Age (years)</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&lt;65</a:t>
                      </a:r>
                    </a:p>
                    <a:p>
                      <a:pPr>
                        <a:spcBef>
                          <a:spcPts val="100"/>
                        </a:spcBef>
                        <a:spcAft>
                          <a:spcPts val="100"/>
                        </a:spcAft>
                      </a:pPr>
                      <a:r>
                        <a:rPr lang="en-GB" sz="1100">
                          <a:effectLst/>
                        </a:rPr>
                        <a:t>≥65</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4066978034"/>
                  </a:ext>
                </a:extLst>
              </a:tr>
              <a:tr h="829447">
                <a:tc>
                  <a:txBody>
                    <a:bodyPr/>
                    <a:lstStyle/>
                    <a:p>
                      <a:pPr>
                        <a:spcBef>
                          <a:spcPts val="100"/>
                        </a:spcBef>
                        <a:spcAft>
                          <a:spcPts val="100"/>
                        </a:spcAft>
                      </a:pPr>
                      <a:r>
                        <a:rPr lang="en-GB" sz="1100" b="1">
                          <a:effectLst/>
                        </a:rPr>
                        <a:t>Region</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Europe</a:t>
                      </a:r>
                    </a:p>
                    <a:p>
                      <a:pPr>
                        <a:spcBef>
                          <a:spcPts val="100"/>
                        </a:spcBef>
                        <a:spcAft>
                          <a:spcPts val="100"/>
                        </a:spcAft>
                      </a:pPr>
                      <a:r>
                        <a:rPr lang="en-GB" sz="1100">
                          <a:effectLst/>
                        </a:rPr>
                        <a:t>Russia</a:t>
                      </a:r>
                    </a:p>
                    <a:p>
                      <a:pPr>
                        <a:spcBef>
                          <a:spcPts val="100"/>
                        </a:spcBef>
                        <a:spcAft>
                          <a:spcPts val="100"/>
                        </a:spcAft>
                      </a:pPr>
                      <a:r>
                        <a:rPr lang="en-GB" sz="1100">
                          <a:effectLst/>
                        </a:rPr>
                        <a:t>United States (USA)</a:t>
                      </a:r>
                    </a:p>
                    <a:p>
                      <a:pPr>
                        <a:spcBef>
                          <a:spcPts val="100"/>
                        </a:spcBef>
                        <a:spcAft>
                          <a:spcPts val="100"/>
                        </a:spcAft>
                      </a:pPr>
                      <a:r>
                        <a:rPr lang="en-GB" sz="1100">
                          <a:effectLst/>
                        </a:rPr>
                        <a:t>Rest of World (</a:t>
                      </a:r>
                      <a:r>
                        <a:rPr lang="en-GB" sz="1100" err="1">
                          <a:effectLst/>
                        </a:rPr>
                        <a:t>RoW</a:t>
                      </a:r>
                      <a:r>
                        <a:rPr lang="en-GB" sz="1100">
                          <a:effectLst/>
                        </a:rPr>
                        <a:t>)</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402179674"/>
                  </a:ext>
                </a:extLst>
              </a:tr>
              <a:tr h="397865">
                <a:tc>
                  <a:txBody>
                    <a:bodyPr/>
                    <a:lstStyle/>
                    <a:p>
                      <a:pPr>
                        <a:spcBef>
                          <a:spcPts val="100"/>
                        </a:spcBef>
                        <a:spcAft>
                          <a:spcPts val="100"/>
                        </a:spcAft>
                      </a:pPr>
                      <a:r>
                        <a:rPr lang="en-GB" sz="1100" b="1">
                          <a:effectLst/>
                        </a:rPr>
                        <a:t>Pre-study ICS dosage at screening</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Mid</a:t>
                      </a:r>
                    </a:p>
                    <a:p>
                      <a:pPr>
                        <a:spcBef>
                          <a:spcPts val="100"/>
                        </a:spcBef>
                        <a:spcAft>
                          <a:spcPts val="100"/>
                        </a:spcAft>
                      </a:pPr>
                      <a:r>
                        <a:rPr lang="en-GB" sz="1100">
                          <a:effectLst/>
                        </a:rPr>
                        <a:t>High</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4222880922"/>
                  </a:ext>
                </a:extLst>
              </a:tr>
              <a:tr h="364147">
                <a:tc>
                  <a:txBody>
                    <a:bodyPr/>
                    <a:lstStyle/>
                    <a:p>
                      <a:pPr>
                        <a:spcBef>
                          <a:spcPts val="100"/>
                        </a:spcBef>
                        <a:spcAft>
                          <a:spcPts val="100"/>
                        </a:spcAft>
                      </a:pPr>
                      <a:r>
                        <a:rPr lang="en-GB" sz="1100" b="1">
                          <a:effectLst/>
                        </a:rPr>
                        <a:t>Body Mass Index (BMI)</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&lt;25 kg/m</a:t>
                      </a:r>
                      <a:r>
                        <a:rPr lang="en-GB" sz="1100" baseline="30000">
                          <a:effectLst/>
                        </a:rPr>
                        <a:t>2</a:t>
                      </a:r>
                      <a:br>
                        <a:rPr lang="en-GB" sz="1100">
                          <a:effectLst/>
                        </a:rPr>
                      </a:br>
                      <a:r>
                        <a:rPr lang="en-GB" sz="1100">
                          <a:effectLst/>
                        </a:rPr>
                        <a:t>≥25 kg/m</a:t>
                      </a:r>
                      <a:r>
                        <a:rPr lang="en-GB" sz="1100" baseline="30000">
                          <a:effectLst/>
                        </a:rPr>
                        <a:t>2</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1443717171"/>
                  </a:ext>
                </a:extLst>
              </a:tr>
              <a:tr h="397865">
                <a:tc>
                  <a:txBody>
                    <a:bodyPr/>
                    <a:lstStyle/>
                    <a:p>
                      <a:pPr>
                        <a:spcBef>
                          <a:spcPts val="100"/>
                        </a:spcBef>
                        <a:spcAft>
                          <a:spcPts val="100"/>
                        </a:spcAft>
                      </a:pPr>
                      <a:r>
                        <a:rPr lang="en-GB" sz="1100" b="1">
                          <a:effectLst/>
                        </a:rPr>
                        <a:t>CV History/Risk Factor at Screening</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Yes</a:t>
                      </a:r>
                    </a:p>
                    <a:p>
                      <a:pPr>
                        <a:spcBef>
                          <a:spcPts val="100"/>
                        </a:spcBef>
                        <a:spcAft>
                          <a:spcPts val="100"/>
                        </a:spcAft>
                      </a:pPr>
                      <a:r>
                        <a:rPr lang="en-GB" sz="1100">
                          <a:effectLst/>
                        </a:rPr>
                        <a:t>No</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970770852"/>
                  </a:ext>
                </a:extLst>
              </a:tr>
            </a:tbl>
          </a:graphicData>
        </a:graphic>
      </p:graphicFrame>
      <p:sp>
        <p:nvSpPr>
          <p:cNvPr id="13" name="Title 12">
            <a:extLst>
              <a:ext uri="{FF2B5EF4-FFF2-40B4-BE49-F238E27FC236}">
                <a16:creationId xmlns:a16="http://schemas.microsoft.com/office/drawing/2014/main" id="{3CCB4332-2454-45BE-BFD6-24DD7A9B83CD}"/>
              </a:ext>
            </a:extLst>
          </p:cNvPr>
          <p:cNvSpPr>
            <a:spLocks noGrp="1"/>
          </p:cNvSpPr>
          <p:nvPr>
            <p:ph type="title"/>
          </p:nvPr>
        </p:nvSpPr>
        <p:spPr/>
        <p:txBody>
          <a:bodyPr/>
          <a:lstStyle/>
          <a:p>
            <a:r>
              <a:rPr lang="en-GB"/>
              <a:t>Knowledge Check </a:t>
            </a:r>
          </a:p>
        </p:txBody>
      </p:sp>
      <p:pic>
        <p:nvPicPr>
          <p:cNvPr id="24" name="Graphic 23" descr="Head with gears">
            <a:extLst>
              <a:ext uri="{FF2B5EF4-FFF2-40B4-BE49-F238E27FC236}">
                <a16:creationId xmlns:a16="http://schemas.microsoft.com/office/drawing/2014/main" id="{58F5711F-644D-48F8-937D-48D2887995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
        <p:nvSpPr>
          <p:cNvPr id="23" name="Date Placeholder 1">
            <a:extLst>
              <a:ext uri="{FF2B5EF4-FFF2-40B4-BE49-F238E27FC236}">
                <a16:creationId xmlns:a16="http://schemas.microsoft.com/office/drawing/2014/main" id="{7BB548C6-1913-4D7B-A57F-9719321EA211}"/>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cxnSp>
        <p:nvCxnSpPr>
          <p:cNvPr id="28" name="Straight Connector 27">
            <a:extLst>
              <a:ext uri="{FF2B5EF4-FFF2-40B4-BE49-F238E27FC236}">
                <a16:creationId xmlns:a16="http://schemas.microsoft.com/office/drawing/2014/main" id="{B0246641-5002-4426-BE05-0C1A9A438B8B}"/>
              </a:ext>
            </a:extLst>
          </p:cNvPr>
          <p:cNvCxnSpPr>
            <a:cxnSpLocks/>
          </p:cNvCxnSpPr>
          <p:nvPr/>
        </p:nvCxnSpPr>
        <p:spPr>
          <a:xfrm flipH="1">
            <a:off x="5790532" y="2412796"/>
            <a:ext cx="1325880" cy="0"/>
          </a:xfrm>
          <a:prstGeom prst="line">
            <a:avLst/>
          </a:prstGeom>
          <a:ln w="19050">
            <a:solidFill>
              <a:srgbClr val="40488D"/>
            </a:solidFill>
            <a:prstDash val="lg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CEE2240-C965-49E9-972A-E6FD281DD462}"/>
              </a:ext>
            </a:extLst>
          </p:cNvPr>
          <p:cNvSpPr txBox="1"/>
          <p:nvPr/>
        </p:nvSpPr>
        <p:spPr>
          <a:xfrm>
            <a:off x="4180114" y="1424801"/>
            <a:ext cx="4603038" cy="2160656"/>
          </a:xfrm>
          <a:prstGeom prst="rect">
            <a:avLst/>
          </a:prstGeom>
          <a:solidFill>
            <a:schemeClr val="bg1">
              <a:lumMod val="95000"/>
            </a:schemeClr>
          </a:solidFill>
          <a:ln>
            <a:solidFill>
              <a:schemeClr val="bg1">
                <a:lumMod val="85000"/>
              </a:schemeClr>
            </a:solidFill>
          </a:ln>
        </p:spPr>
        <p:style>
          <a:lnRef idx="2">
            <a:schemeClr val="accent4"/>
          </a:lnRef>
          <a:fillRef idx="1">
            <a:schemeClr val="lt1"/>
          </a:fillRef>
          <a:effectRef idx="0">
            <a:schemeClr val="accent4"/>
          </a:effectRef>
          <a:fontRef idx="minor">
            <a:schemeClr val="dk1"/>
          </a:fontRef>
        </p:style>
        <p:txBody>
          <a:bodyPr wrap="square" rtlCol="0" anchor="t">
            <a:spAutoFit/>
          </a:bodyPr>
          <a:lstStyle/>
          <a:p>
            <a:pPr>
              <a:buClr>
                <a:schemeClr val="tx1"/>
              </a:buClr>
            </a:pPr>
            <a:r>
              <a:rPr lang="en-GB" sz="1500"/>
              <a:t>Assuming the null hypothesis is true, </a:t>
            </a:r>
            <a:r>
              <a:rPr lang="en-GB" sz="1500" b="1"/>
              <a:t>what is the probability of seeing a positive treatment effect in at least one of these (independent) subgroups?</a:t>
            </a:r>
          </a:p>
          <a:p>
            <a:pPr>
              <a:buClr>
                <a:schemeClr val="tx1"/>
              </a:buClr>
            </a:pPr>
            <a:endParaRPr lang="en-GB" sz="1400" b="1"/>
          </a:p>
          <a:p>
            <a:pPr marL="228600" indent="-228600">
              <a:lnSpc>
                <a:spcPct val="150000"/>
              </a:lnSpc>
              <a:buClr>
                <a:schemeClr val="tx1"/>
              </a:buClr>
              <a:buFont typeface="+mj-lt"/>
              <a:buAutoNum type="alphaLcParenR"/>
            </a:pPr>
            <a:r>
              <a:rPr lang="en-GB" sz="1400"/>
              <a:t>Approx. 26% (6 tests)</a:t>
            </a:r>
          </a:p>
          <a:p>
            <a:pPr marL="228600" indent="-228600">
              <a:lnSpc>
                <a:spcPct val="150000"/>
              </a:lnSpc>
              <a:buClr>
                <a:schemeClr val="tx1"/>
              </a:buClr>
              <a:buFont typeface="+mj-lt"/>
              <a:buAutoNum type="alphaLcParenR"/>
            </a:pPr>
            <a:r>
              <a:rPr lang="en-GB" sz="1400"/>
              <a:t>Approx. 51% (14 tests)</a:t>
            </a:r>
          </a:p>
          <a:p>
            <a:pPr>
              <a:lnSpc>
                <a:spcPct val="150000"/>
              </a:lnSpc>
              <a:buClr>
                <a:schemeClr val="tx1"/>
              </a:buClr>
            </a:pPr>
            <a:endParaRPr lang="en-GB" sz="1400"/>
          </a:p>
        </p:txBody>
      </p:sp>
    </p:spTree>
    <p:extLst>
      <p:ext uri="{BB962C8B-B14F-4D97-AF65-F5344CB8AC3E}">
        <p14:creationId xmlns:p14="http://schemas.microsoft.com/office/powerpoint/2010/main" val="110192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mph" presetSubtype="1" nodeType="clickEffect">
                                  <p:stCondLst>
                                    <p:cond delay="0"/>
                                  </p:stCondLst>
                                  <p:childTnLst>
                                    <p:set>
                                      <p:cBhvr override="childStyle">
                                        <p:cTn id="20" dur="indefinite"/>
                                        <p:tgtEl>
                                          <p:spTgt spid="22">
                                            <p:txEl>
                                              <p:pRg st="3" end="3"/>
                                            </p:txEl>
                                          </p:spTgt>
                                        </p:tgtEl>
                                        <p:attrNameLst>
                                          <p:attrName>style.color</p:attrName>
                                        </p:attrNameLst>
                                      </p:cBhvr>
                                      <p:to>
                                        <p:clrVal>
                                          <a:srgbClr val="40488D"/>
                                        </p:clrVal>
                                      </p:to>
                                    </p:set>
                                  </p:childTnLst>
                                </p:cTn>
                              </p:par>
                              <p:par>
                                <p:cTn id="21" presetID="18" presetClass="emph" presetSubtype="0" fill="hold" nodeType="withEffect">
                                  <p:stCondLst>
                                    <p:cond delay="0"/>
                                  </p:stCondLst>
                                  <p:childTnLst>
                                    <p:set>
                                      <p:cBhvr override="childStyle">
                                        <p:cTn id="22" dur="500" fill="hold"/>
                                        <p:tgtEl>
                                          <p:spTgt spid="22">
                                            <p:txEl>
                                              <p:pRg st="3" end="3"/>
                                            </p:txEl>
                                          </p:spTgt>
                                        </p:tgtEl>
                                        <p:attrNameLst>
                                          <p:attrName>style.textDecorationUnderline</p:attrName>
                                        </p:attrNameLst>
                                      </p:cBhvr>
                                      <p:to>
                                        <p:strVal val="tru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uiExpand="1"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5ECA1E-6832-4A7D-B480-E41B1BDE5742}"/>
              </a:ext>
            </a:extLst>
          </p:cNvPr>
          <p:cNvSpPr>
            <a:spLocks noGrp="1"/>
          </p:cNvSpPr>
          <p:nvPr>
            <p:ph type="sldNum" sz="quarter" idx="21"/>
          </p:nvPr>
        </p:nvSpPr>
        <p:spPr/>
        <p:txBody>
          <a:bodyPr/>
          <a:lstStyle/>
          <a:p>
            <a:fld id="{9F9F533D-B52E-4A2F-BF72-0ADD2D94BD75}" type="slidenum">
              <a:rPr lang="en-GB" smtClean="0"/>
              <a:pPr/>
              <a:t>8</a:t>
            </a:fld>
            <a:endParaRPr lang="en-GB"/>
          </a:p>
        </p:txBody>
      </p:sp>
      <p:sp>
        <p:nvSpPr>
          <p:cNvPr id="16" name="Rectangle 15">
            <a:extLst>
              <a:ext uri="{FF2B5EF4-FFF2-40B4-BE49-F238E27FC236}">
                <a16:creationId xmlns:a16="http://schemas.microsoft.com/office/drawing/2014/main" id="{35DBB39A-F6FE-4F4F-938B-DA47459C6092}"/>
              </a:ext>
            </a:extLst>
          </p:cNvPr>
          <p:cNvSpPr/>
          <p:nvPr/>
        </p:nvSpPr>
        <p:spPr>
          <a:xfrm>
            <a:off x="1355309" y="1232161"/>
            <a:ext cx="1511952" cy="276999"/>
          </a:xfrm>
          <a:prstGeom prst="rect">
            <a:avLst/>
          </a:prstGeom>
        </p:spPr>
        <p:txBody>
          <a:bodyPr wrap="none">
            <a:spAutoFit/>
          </a:bodyPr>
          <a:lstStyle/>
          <a:p>
            <a:r>
              <a:rPr lang="en-GB" sz="1200"/>
              <a:t>alpha = 5% per test</a:t>
            </a:r>
          </a:p>
        </p:txBody>
      </p:sp>
      <p:sp>
        <p:nvSpPr>
          <p:cNvPr id="3" name="Rectangle 2">
            <a:extLst>
              <a:ext uri="{FF2B5EF4-FFF2-40B4-BE49-F238E27FC236}">
                <a16:creationId xmlns:a16="http://schemas.microsoft.com/office/drawing/2014/main" id="{C40B3613-996D-4173-B01E-2ADB37471DA3}"/>
              </a:ext>
            </a:extLst>
          </p:cNvPr>
          <p:cNvSpPr/>
          <p:nvPr/>
        </p:nvSpPr>
        <p:spPr bwMode="auto">
          <a:xfrm>
            <a:off x="1355309" y="1232161"/>
            <a:ext cx="1511952" cy="276999"/>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7" name="Rectangle 16">
            <a:extLst>
              <a:ext uri="{FF2B5EF4-FFF2-40B4-BE49-F238E27FC236}">
                <a16:creationId xmlns:a16="http://schemas.microsoft.com/office/drawing/2014/main" id="{F54F822A-5A38-4C2A-8982-91BF56C49565}"/>
              </a:ext>
            </a:extLst>
          </p:cNvPr>
          <p:cNvSpPr/>
          <p:nvPr/>
        </p:nvSpPr>
        <p:spPr bwMode="auto">
          <a:xfrm>
            <a:off x="6237027" y="1678200"/>
            <a:ext cx="1842448" cy="205192"/>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8" name="Rectangle 17">
            <a:extLst>
              <a:ext uri="{FF2B5EF4-FFF2-40B4-BE49-F238E27FC236}">
                <a16:creationId xmlns:a16="http://schemas.microsoft.com/office/drawing/2014/main" id="{C20CC0BD-8694-477E-8C15-45AA42B4175F}"/>
              </a:ext>
            </a:extLst>
          </p:cNvPr>
          <p:cNvSpPr/>
          <p:nvPr/>
        </p:nvSpPr>
        <p:spPr bwMode="auto">
          <a:xfrm>
            <a:off x="4006639" y="2185071"/>
            <a:ext cx="1842448" cy="205192"/>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3" name="Title 12">
            <a:extLst>
              <a:ext uri="{FF2B5EF4-FFF2-40B4-BE49-F238E27FC236}">
                <a16:creationId xmlns:a16="http://schemas.microsoft.com/office/drawing/2014/main" id="{3CCB4332-2454-45BE-BFD6-24DD7A9B83CD}"/>
              </a:ext>
            </a:extLst>
          </p:cNvPr>
          <p:cNvSpPr>
            <a:spLocks noGrp="1"/>
          </p:cNvSpPr>
          <p:nvPr>
            <p:ph type="title"/>
          </p:nvPr>
        </p:nvSpPr>
        <p:spPr/>
        <p:txBody>
          <a:bodyPr/>
          <a:lstStyle/>
          <a:p>
            <a:r>
              <a:rPr lang="en-GB"/>
              <a:t>Knowledge Check </a:t>
            </a:r>
          </a:p>
        </p:txBody>
      </p:sp>
      <p:pic>
        <p:nvPicPr>
          <p:cNvPr id="24" name="Graphic 23" descr="Head with gears">
            <a:extLst>
              <a:ext uri="{FF2B5EF4-FFF2-40B4-BE49-F238E27FC236}">
                <a16:creationId xmlns:a16="http://schemas.microsoft.com/office/drawing/2014/main" id="{58F5711F-644D-48F8-937D-48D2887995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
        <p:nvSpPr>
          <p:cNvPr id="23" name="Date Placeholder 1">
            <a:extLst>
              <a:ext uri="{FF2B5EF4-FFF2-40B4-BE49-F238E27FC236}">
                <a16:creationId xmlns:a16="http://schemas.microsoft.com/office/drawing/2014/main" id="{7BB548C6-1913-4D7B-A57F-9719321EA211}"/>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26" name="Picture 25">
            <a:extLst>
              <a:ext uri="{FF2B5EF4-FFF2-40B4-BE49-F238E27FC236}">
                <a16:creationId xmlns:a16="http://schemas.microsoft.com/office/drawing/2014/main" id="{996B96A2-E45F-4B56-A63F-E104FD77D29A}"/>
              </a:ext>
            </a:extLst>
          </p:cNvPr>
          <p:cNvPicPr>
            <a:picLocks noChangeAspect="1"/>
          </p:cNvPicPr>
          <p:nvPr/>
        </p:nvPicPr>
        <p:blipFill>
          <a:blip r:embed="rId5"/>
          <a:stretch>
            <a:fillRect/>
          </a:stretch>
        </p:blipFill>
        <p:spPr>
          <a:xfrm>
            <a:off x="4650990" y="1336856"/>
            <a:ext cx="3604964" cy="3208149"/>
          </a:xfrm>
          <a:prstGeom prst="rect">
            <a:avLst/>
          </a:prstGeom>
        </p:spPr>
      </p:pic>
      <p:cxnSp>
        <p:nvCxnSpPr>
          <p:cNvPr id="27" name="Straight Connector 26">
            <a:extLst>
              <a:ext uri="{FF2B5EF4-FFF2-40B4-BE49-F238E27FC236}">
                <a16:creationId xmlns:a16="http://schemas.microsoft.com/office/drawing/2014/main" id="{8E52A1AF-9445-49EF-AA8D-565C048CDAD7}"/>
              </a:ext>
            </a:extLst>
          </p:cNvPr>
          <p:cNvCxnSpPr>
            <a:cxnSpLocks/>
          </p:cNvCxnSpPr>
          <p:nvPr/>
        </p:nvCxnSpPr>
        <p:spPr>
          <a:xfrm flipV="1">
            <a:off x="6692206" y="2390263"/>
            <a:ext cx="0" cy="1702617"/>
          </a:xfrm>
          <a:prstGeom prst="line">
            <a:avLst/>
          </a:prstGeom>
          <a:ln w="19050">
            <a:solidFill>
              <a:srgbClr val="40488D"/>
            </a:solidFill>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246641-5002-4426-BE05-0C1A9A438B8B}"/>
              </a:ext>
            </a:extLst>
          </p:cNvPr>
          <p:cNvCxnSpPr>
            <a:cxnSpLocks/>
          </p:cNvCxnSpPr>
          <p:nvPr/>
        </p:nvCxnSpPr>
        <p:spPr>
          <a:xfrm flipH="1">
            <a:off x="5370794" y="2399224"/>
            <a:ext cx="1325880" cy="0"/>
          </a:xfrm>
          <a:prstGeom prst="line">
            <a:avLst/>
          </a:prstGeom>
          <a:ln w="19050">
            <a:solidFill>
              <a:srgbClr val="40488D"/>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7FBCAB20-3E4A-40D4-ABCE-24AE5F674F31}"/>
              </a:ext>
            </a:extLst>
          </p:cNvPr>
          <p:cNvGraphicFramePr>
            <a:graphicFrameLocks noGrp="1"/>
          </p:cNvGraphicFramePr>
          <p:nvPr>
            <p:extLst>
              <p:ext uri="{D42A27DB-BD31-4B8C-83A1-F6EECF244321}">
                <p14:modId xmlns:p14="http://schemas.microsoft.com/office/powerpoint/2010/main" val="511347473"/>
              </p:ext>
            </p:extLst>
          </p:nvPr>
        </p:nvGraphicFramePr>
        <p:xfrm>
          <a:off x="452557" y="1201678"/>
          <a:ext cx="3295220" cy="3254022"/>
        </p:xfrm>
        <a:graphic>
          <a:graphicData uri="http://schemas.openxmlformats.org/drawingml/2006/table">
            <a:tbl>
              <a:tblPr firstRow="1" firstCol="1" bandRow="1">
                <a:tableStyleId>{3B4B98B0-60AC-42C2-AFA5-B58CD77FA1E5}</a:tableStyleId>
              </a:tblPr>
              <a:tblGrid>
                <a:gridCol w="1504078">
                  <a:extLst>
                    <a:ext uri="{9D8B030D-6E8A-4147-A177-3AD203B41FA5}">
                      <a16:colId xmlns:a16="http://schemas.microsoft.com/office/drawing/2014/main" val="3934306853"/>
                    </a:ext>
                  </a:extLst>
                </a:gridCol>
                <a:gridCol w="1791142">
                  <a:extLst>
                    <a:ext uri="{9D8B030D-6E8A-4147-A177-3AD203B41FA5}">
                      <a16:colId xmlns:a16="http://schemas.microsoft.com/office/drawing/2014/main" val="2835517768"/>
                    </a:ext>
                  </a:extLst>
                </a:gridCol>
              </a:tblGrid>
              <a:tr h="428479">
                <a:tc>
                  <a:txBody>
                    <a:bodyPr/>
                    <a:lstStyle/>
                    <a:p>
                      <a:pPr>
                        <a:spcBef>
                          <a:spcPts val="100"/>
                        </a:spcBef>
                        <a:spcAft>
                          <a:spcPts val="100"/>
                        </a:spcAft>
                      </a:pPr>
                      <a:r>
                        <a:rPr lang="en-GB" sz="1200">
                          <a:effectLst/>
                        </a:rPr>
                        <a:t>Subgroup</a:t>
                      </a:r>
                      <a:endParaRPr lang="en-GB" sz="12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nchor="ctr"/>
                </a:tc>
                <a:tc>
                  <a:txBody>
                    <a:bodyPr/>
                    <a:lstStyle/>
                    <a:p>
                      <a:pPr>
                        <a:spcBef>
                          <a:spcPts val="100"/>
                        </a:spcBef>
                        <a:spcAft>
                          <a:spcPts val="100"/>
                        </a:spcAft>
                      </a:pPr>
                      <a:r>
                        <a:rPr lang="en-GB" sz="1200">
                          <a:effectLst/>
                        </a:rPr>
                        <a:t>Categories </a:t>
                      </a:r>
                      <a:endParaRPr lang="en-GB" sz="12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nchor="ctr"/>
                </a:tc>
                <a:extLst>
                  <a:ext uri="{0D108BD9-81ED-4DB2-BD59-A6C34878D82A}">
                    <a16:rowId xmlns:a16="http://schemas.microsoft.com/office/drawing/2014/main" val="3624808995"/>
                  </a:ext>
                </a:extLst>
              </a:tr>
              <a:tr h="397865">
                <a:tc>
                  <a:txBody>
                    <a:bodyPr/>
                    <a:lstStyle/>
                    <a:p>
                      <a:pPr>
                        <a:spcBef>
                          <a:spcPts val="100"/>
                        </a:spcBef>
                        <a:spcAft>
                          <a:spcPts val="100"/>
                        </a:spcAft>
                      </a:pPr>
                      <a:r>
                        <a:rPr lang="en-GB" sz="1100" b="1">
                          <a:effectLst/>
                        </a:rPr>
                        <a:t>Gender</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Male</a:t>
                      </a:r>
                    </a:p>
                    <a:p>
                      <a:pPr>
                        <a:spcBef>
                          <a:spcPts val="100"/>
                        </a:spcBef>
                        <a:spcAft>
                          <a:spcPts val="100"/>
                        </a:spcAft>
                      </a:pPr>
                      <a:r>
                        <a:rPr lang="en-GB" sz="1100">
                          <a:effectLst/>
                        </a:rPr>
                        <a:t>Female</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2283976094"/>
                  </a:ext>
                </a:extLst>
              </a:tr>
              <a:tr h="438354">
                <a:tc>
                  <a:txBody>
                    <a:bodyPr/>
                    <a:lstStyle/>
                    <a:p>
                      <a:pPr>
                        <a:spcBef>
                          <a:spcPts val="100"/>
                        </a:spcBef>
                        <a:spcAft>
                          <a:spcPts val="100"/>
                        </a:spcAft>
                      </a:pPr>
                      <a:r>
                        <a:rPr lang="en-GB" sz="1100" b="1">
                          <a:effectLst/>
                        </a:rPr>
                        <a:t>Age (years)</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&lt;65</a:t>
                      </a:r>
                    </a:p>
                    <a:p>
                      <a:pPr>
                        <a:spcBef>
                          <a:spcPts val="100"/>
                        </a:spcBef>
                        <a:spcAft>
                          <a:spcPts val="100"/>
                        </a:spcAft>
                      </a:pPr>
                      <a:r>
                        <a:rPr lang="en-GB" sz="1100">
                          <a:effectLst/>
                        </a:rPr>
                        <a:t>≥65</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4066978034"/>
                  </a:ext>
                </a:extLst>
              </a:tr>
              <a:tr h="829447">
                <a:tc>
                  <a:txBody>
                    <a:bodyPr/>
                    <a:lstStyle/>
                    <a:p>
                      <a:pPr>
                        <a:spcBef>
                          <a:spcPts val="100"/>
                        </a:spcBef>
                        <a:spcAft>
                          <a:spcPts val="100"/>
                        </a:spcAft>
                      </a:pPr>
                      <a:r>
                        <a:rPr lang="en-GB" sz="1100" b="1">
                          <a:effectLst/>
                        </a:rPr>
                        <a:t>Region</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Europe</a:t>
                      </a:r>
                    </a:p>
                    <a:p>
                      <a:pPr>
                        <a:spcBef>
                          <a:spcPts val="100"/>
                        </a:spcBef>
                        <a:spcAft>
                          <a:spcPts val="100"/>
                        </a:spcAft>
                      </a:pPr>
                      <a:r>
                        <a:rPr lang="en-GB" sz="1100">
                          <a:effectLst/>
                        </a:rPr>
                        <a:t>Russia</a:t>
                      </a:r>
                    </a:p>
                    <a:p>
                      <a:pPr>
                        <a:spcBef>
                          <a:spcPts val="100"/>
                        </a:spcBef>
                        <a:spcAft>
                          <a:spcPts val="100"/>
                        </a:spcAft>
                      </a:pPr>
                      <a:r>
                        <a:rPr lang="en-GB" sz="1100">
                          <a:effectLst/>
                        </a:rPr>
                        <a:t>United States (USA)</a:t>
                      </a:r>
                    </a:p>
                    <a:p>
                      <a:pPr>
                        <a:spcBef>
                          <a:spcPts val="100"/>
                        </a:spcBef>
                        <a:spcAft>
                          <a:spcPts val="100"/>
                        </a:spcAft>
                      </a:pPr>
                      <a:r>
                        <a:rPr lang="en-GB" sz="1100">
                          <a:effectLst/>
                        </a:rPr>
                        <a:t>Rest of World (</a:t>
                      </a:r>
                      <a:r>
                        <a:rPr lang="en-GB" sz="1100" err="1">
                          <a:effectLst/>
                        </a:rPr>
                        <a:t>RoW</a:t>
                      </a:r>
                      <a:r>
                        <a:rPr lang="en-GB" sz="1100">
                          <a:effectLst/>
                        </a:rPr>
                        <a:t>)</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402179674"/>
                  </a:ext>
                </a:extLst>
              </a:tr>
              <a:tr h="397865">
                <a:tc>
                  <a:txBody>
                    <a:bodyPr/>
                    <a:lstStyle/>
                    <a:p>
                      <a:pPr>
                        <a:spcBef>
                          <a:spcPts val="100"/>
                        </a:spcBef>
                        <a:spcAft>
                          <a:spcPts val="100"/>
                        </a:spcAft>
                      </a:pPr>
                      <a:r>
                        <a:rPr lang="en-GB" sz="1100" b="1">
                          <a:effectLst/>
                        </a:rPr>
                        <a:t>Pre-study ICS dosage at screening</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Mid</a:t>
                      </a:r>
                    </a:p>
                    <a:p>
                      <a:pPr>
                        <a:spcBef>
                          <a:spcPts val="100"/>
                        </a:spcBef>
                        <a:spcAft>
                          <a:spcPts val="100"/>
                        </a:spcAft>
                      </a:pPr>
                      <a:r>
                        <a:rPr lang="en-GB" sz="1100">
                          <a:effectLst/>
                        </a:rPr>
                        <a:t>High</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4222880922"/>
                  </a:ext>
                </a:extLst>
              </a:tr>
              <a:tr h="364147">
                <a:tc>
                  <a:txBody>
                    <a:bodyPr/>
                    <a:lstStyle/>
                    <a:p>
                      <a:pPr>
                        <a:spcBef>
                          <a:spcPts val="100"/>
                        </a:spcBef>
                        <a:spcAft>
                          <a:spcPts val="100"/>
                        </a:spcAft>
                      </a:pPr>
                      <a:r>
                        <a:rPr lang="en-GB" sz="1100" b="1">
                          <a:effectLst/>
                        </a:rPr>
                        <a:t>Body Mass Index (BMI)</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&lt;25 kg/m</a:t>
                      </a:r>
                      <a:r>
                        <a:rPr lang="en-GB" sz="1100" baseline="30000">
                          <a:effectLst/>
                        </a:rPr>
                        <a:t>2</a:t>
                      </a:r>
                      <a:br>
                        <a:rPr lang="en-GB" sz="1100">
                          <a:effectLst/>
                        </a:rPr>
                      </a:br>
                      <a:r>
                        <a:rPr lang="en-GB" sz="1100">
                          <a:effectLst/>
                        </a:rPr>
                        <a:t>≥25 kg/m</a:t>
                      </a:r>
                      <a:r>
                        <a:rPr lang="en-GB" sz="1100" baseline="30000">
                          <a:effectLst/>
                        </a:rPr>
                        <a:t>2</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1443717171"/>
                  </a:ext>
                </a:extLst>
              </a:tr>
              <a:tr h="397865">
                <a:tc>
                  <a:txBody>
                    <a:bodyPr/>
                    <a:lstStyle/>
                    <a:p>
                      <a:pPr>
                        <a:spcBef>
                          <a:spcPts val="100"/>
                        </a:spcBef>
                        <a:spcAft>
                          <a:spcPts val="100"/>
                        </a:spcAft>
                      </a:pPr>
                      <a:r>
                        <a:rPr lang="en-GB" sz="1100" b="1">
                          <a:effectLst/>
                        </a:rPr>
                        <a:t>CV History/Risk Factor at Screening</a:t>
                      </a:r>
                      <a:endParaRPr lang="en-GB" sz="1100" b="1">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tc>
                  <a:txBody>
                    <a:bodyPr/>
                    <a:lstStyle/>
                    <a:p>
                      <a:pPr>
                        <a:spcBef>
                          <a:spcPts val="100"/>
                        </a:spcBef>
                        <a:spcAft>
                          <a:spcPts val="100"/>
                        </a:spcAft>
                      </a:pPr>
                      <a:r>
                        <a:rPr lang="en-GB" sz="1100">
                          <a:effectLst/>
                        </a:rPr>
                        <a:t>Yes</a:t>
                      </a:r>
                    </a:p>
                    <a:p>
                      <a:pPr>
                        <a:spcBef>
                          <a:spcPts val="100"/>
                        </a:spcBef>
                        <a:spcAft>
                          <a:spcPts val="100"/>
                        </a:spcAft>
                      </a:pPr>
                      <a:r>
                        <a:rPr lang="en-GB" sz="1100">
                          <a:effectLst/>
                        </a:rPr>
                        <a:t>No</a:t>
                      </a:r>
                      <a:endParaRPr lang="en-GB" sz="1100">
                        <a:effectLst/>
                        <a:latin typeface="Arial Narrow" panose="020B0606020202030204" pitchFamily="34" charset="0"/>
                        <a:ea typeface="Times New Roman" panose="02020603050405020304" pitchFamily="18" charset="0"/>
                        <a:cs typeface="Arial Narrow" panose="020B0606020202030204" pitchFamily="34" charset="0"/>
                      </a:endParaRPr>
                    </a:p>
                  </a:txBody>
                  <a:tcPr marL="30352" marR="30352" marT="0" marB="0"/>
                </a:tc>
                <a:extLst>
                  <a:ext uri="{0D108BD9-81ED-4DB2-BD59-A6C34878D82A}">
                    <a16:rowId xmlns:a16="http://schemas.microsoft.com/office/drawing/2014/main" val="970770852"/>
                  </a:ext>
                </a:extLst>
              </a:tr>
            </a:tbl>
          </a:graphicData>
        </a:graphic>
      </p:graphicFrame>
    </p:spTree>
    <p:extLst>
      <p:ext uri="{BB962C8B-B14F-4D97-AF65-F5344CB8AC3E}">
        <p14:creationId xmlns:p14="http://schemas.microsoft.com/office/powerpoint/2010/main" val="79331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D50818-E185-4DBB-BB26-4858F0C2CEB9}"/>
              </a:ext>
            </a:extLst>
          </p:cNvPr>
          <p:cNvSpPr>
            <a:spLocks noGrp="1"/>
          </p:cNvSpPr>
          <p:nvPr>
            <p:ph sz="quarter" idx="12"/>
          </p:nvPr>
        </p:nvSpPr>
        <p:spPr>
          <a:xfrm>
            <a:off x="359152" y="1130572"/>
            <a:ext cx="8423275" cy="3070050"/>
          </a:xfrm>
        </p:spPr>
        <p:txBody>
          <a:bodyPr/>
          <a:lstStyle/>
          <a:p>
            <a:r>
              <a:rPr lang="en-GB" sz="1400"/>
              <a:t>Bonferroni – divides alpha equally between tests, so higher hurdle to achieve for each test (“or” framework)</a:t>
            </a:r>
          </a:p>
          <a:p>
            <a:r>
              <a:rPr lang="en-GB" sz="1400"/>
              <a:t>Hierarchies and Graphical Procedures – test sequentially (“and” framework)</a:t>
            </a:r>
          </a:p>
          <a:p>
            <a:r>
              <a:rPr lang="en-GB" sz="1400"/>
              <a:t>Step-up/Step-down procedures (</a:t>
            </a:r>
            <a:r>
              <a:rPr lang="en-GB" sz="1400" err="1"/>
              <a:t>Hochburg</a:t>
            </a:r>
            <a:r>
              <a:rPr lang="en-GB" sz="1400"/>
              <a:t>/Holm)</a:t>
            </a:r>
          </a:p>
          <a:p>
            <a:r>
              <a:rPr lang="en-GB" sz="1400"/>
              <a:t>And there are many more….</a:t>
            </a:r>
          </a:p>
          <a:p>
            <a:endParaRPr lang="en-GB" sz="1400"/>
          </a:p>
          <a:p>
            <a:r>
              <a:rPr lang="en-GB" sz="1400"/>
              <a:t>Interested in learning more? </a:t>
            </a:r>
          </a:p>
          <a:p>
            <a:pPr marL="268163" lvl="1" indent="0">
              <a:buNone/>
            </a:pPr>
            <a:r>
              <a:rPr lang="en-GB" sz="1600"/>
              <a:t>Check out the </a:t>
            </a:r>
            <a:r>
              <a:rPr lang="en-GB" sz="1600" b="1">
                <a:solidFill>
                  <a:schemeClr val="bg2"/>
                </a:solidFill>
              </a:rPr>
              <a:t>FoS multiplicity webinar </a:t>
            </a:r>
            <a:r>
              <a:rPr lang="en-GB" sz="1600"/>
              <a:t>on the Keep Growing Campus.</a:t>
            </a:r>
          </a:p>
          <a:p>
            <a:endParaRPr lang="en-GB" sz="1400"/>
          </a:p>
          <a:p>
            <a:r>
              <a:rPr lang="en-GB" sz="1400"/>
              <a:t>If you have questions for your project – ask your </a:t>
            </a:r>
            <a:r>
              <a:rPr lang="en-GB" sz="1400">
                <a:solidFill>
                  <a:schemeClr val="bg2"/>
                </a:solidFill>
              </a:rPr>
              <a:t>Statistician</a:t>
            </a:r>
            <a:r>
              <a:rPr lang="en-GB" sz="1400"/>
              <a:t>!</a:t>
            </a:r>
          </a:p>
        </p:txBody>
      </p:sp>
      <p:sp>
        <p:nvSpPr>
          <p:cNvPr id="5" name="Title 4">
            <a:extLst>
              <a:ext uri="{FF2B5EF4-FFF2-40B4-BE49-F238E27FC236}">
                <a16:creationId xmlns:a16="http://schemas.microsoft.com/office/drawing/2014/main" id="{4A33924C-E422-4343-99FE-97A61E0E300B}"/>
              </a:ext>
            </a:extLst>
          </p:cNvPr>
          <p:cNvSpPr>
            <a:spLocks noGrp="1"/>
          </p:cNvSpPr>
          <p:nvPr>
            <p:ph type="title"/>
          </p:nvPr>
        </p:nvSpPr>
        <p:spPr/>
        <p:txBody>
          <a:bodyPr/>
          <a:lstStyle/>
          <a:p>
            <a:r>
              <a:rPr lang="en-GB"/>
              <a:t>Some Common Methods to Handle Multiplicity</a:t>
            </a:r>
          </a:p>
        </p:txBody>
      </p:sp>
      <p:sp>
        <p:nvSpPr>
          <p:cNvPr id="8" name="Slide Number Placeholder 7">
            <a:extLst>
              <a:ext uri="{FF2B5EF4-FFF2-40B4-BE49-F238E27FC236}">
                <a16:creationId xmlns:a16="http://schemas.microsoft.com/office/drawing/2014/main" id="{0F713B8C-3200-436F-8D8A-A5329456C936}"/>
              </a:ext>
            </a:extLst>
          </p:cNvPr>
          <p:cNvSpPr>
            <a:spLocks noGrp="1"/>
          </p:cNvSpPr>
          <p:nvPr>
            <p:ph type="sldNum" sz="quarter" idx="21"/>
          </p:nvPr>
        </p:nvSpPr>
        <p:spPr/>
        <p:txBody>
          <a:bodyPr/>
          <a:lstStyle/>
          <a:p>
            <a:fld id="{9F9F533D-B52E-4A2F-BF72-0ADD2D94BD75}" type="slidenum">
              <a:rPr lang="en-GB" smtClean="0"/>
              <a:pPr/>
              <a:t>9</a:t>
            </a:fld>
            <a:endParaRPr lang="en-GB"/>
          </a:p>
        </p:txBody>
      </p:sp>
      <p:sp>
        <p:nvSpPr>
          <p:cNvPr id="9" name="Date Placeholder 1">
            <a:extLst>
              <a:ext uri="{FF2B5EF4-FFF2-40B4-BE49-F238E27FC236}">
                <a16:creationId xmlns:a16="http://schemas.microsoft.com/office/drawing/2014/main" id="{4E57F592-FDA4-49EE-BCAC-22B913DF775E}"/>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spTree>
    <p:extLst>
      <p:ext uri="{BB962C8B-B14F-4D97-AF65-F5344CB8AC3E}">
        <p14:creationId xmlns:p14="http://schemas.microsoft.com/office/powerpoint/2010/main" val="221064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EBEB3B-5AE2-43B0-B294-DE1467EA94AB}"/>
              </a:ext>
            </a:extLst>
          </p:cNvPr>
          <p:cNvSpPr>
            <a:spLocks noGrp="1"/>
          </p:cNvSpPr>
          <p:nvPr>
            <p:ph type="body" sz="quarter" idx="14"/>
          </p:nvPr>
        </p:nvSpPr>
        <p:spPr/>
        <p:txBody>
          <a:bodyPr/>
          <a:lstStyle/>
          <a:p>
            <a:r>
              <a:rPr lang="en-GB"/>
              <a:t>Trelegy Asthma Study 205832: Hierarchy</a:t>
            </a:r>
          </a:p>
        </p:txBody>
      </p:sp>
      <p:sp>
        <p:nvSpPr>
          <p:cNvPr id="5" name="Title 4">
            <a:extLst>
              <a:ext uri="{FF2B5EF4-FFF2-40B4-BE49-F238E27FC236}">
                <a16:creationId xmlns:a16="http://schemas.microsoft.com/office/drawing/2014/main" id="{87A6094E-5E3A-4E2E-9071-17E4FFA09D2C}"/>
              </a:ext>
            </a:extLst>
          </p:cNvPr>
          <p:cNvSpPr>
            <a:spLocks noGrp="1"/>
          </p:cNvSpPr>
          <p:nvPr>
            <p:ph type="title"/>
          </p:nvPr>
        </p:nvSpPr>
        <p:spPr/>
        <p:txBody>
          <a:bodyPr/>
          <a:lstStyle/>
          <a:p>
            <a:r>
              <a:rPr lang="en-GB"/>
              <a:t>Example: Hierarchical Testing</a:t>
            </a:r>
          </a:p>
        </p:txBody>
      </p:sp>
      <p:sp>
        <p:nvSpPr>
          <p:cNvPr id="8" name="Slide Number Placeholder 7">
            <a:extLst>
              <a:ext uri="{FF2B5EF4-FFF2-40B4-BE49-F238E27FC236}">
                <a16:creationId xmlns:a16="http://schemas.microsoft.com/office/drawing/2014/main" id="{0B6FED72-CB51-4B86-AA0A-E5ACE58E5312}"/>
              </a:ext>
            </a:extLst>
          </p:cNvPr>
          <p:cNvSpPr>
            <a:spLocks noGrp="1"/>
          </p:cNvSpPr>
          <p:nvPr>
            <p:ph type="sldNum" sz="quarter" idx="21"/>
          </p:nvPr>
        </p:nvSpPr>
        <p:spPr/>
        <p:txBody>
          <a:bodyPr/>
          <a:lstStyle/>
          <a:p>
            <a:fld id="{9F9F533D-B52E-4A2F-BF72-0ADD2D94BD75}" type="slidenum">
              <a:rPr lang="en-GB" smtClean="0"/>
              <a:pPr/>
              <a:t>10</a:t>
            </a:fld>
            <a:endParaRPr lang="en-GB"/>
          </a:p>
        </p:txBody>
      </p:sp>
      <p:pic>
        <p:nvPicPr>
          <p:cNvPr id="9" name="Picture 8">
            <a:extLst>
              <a:ext uri="{FF2B5EF4-FFF2-40B4-BE49-F238E27FC236}">
                <a16:creationId xmlns:a16="http://schemas.microsoft.com/office/drawing/2014/main" id="{DEF05AD0-7D21-4A22-8057-5866B1DCC135}"/>
              </a:ext>
            </a:extLst>
          </p:cNvPr>
          <p:cNvPicPr>
            <a:picLocks noChangeAspect="1"/>
          </p:cNvPicPr>
          <p:nvPr/>
        </p:nvPicPr>
        <p:blipFill>
          <a:blip r:embed="rId3"/>
          <a:stretch>
            <a:fillRect/>
          </a:stretch>
        </p:blipFill>
        <p:spPr>
          <a:xfrm>
            <a:off x="743865" y="1159723"/>
            <a:ext cx="6807712" cy="1659785"/>
          </a:xfrm>
          <a:prstGeom prst="rect">
            <a:avLst/>
          </a:prstGeom>
        </p:spPr>
      </p:pic>
      <p:sp>
        <p:nvSpPr>
          <p:cNvPr id="10" name="Oval 9">
            <a:extLst>
              <a:ext uri="{FF2B5EF4-FFF2-40B4-BE49-F238E27FC236}">
                <a16:creationId xmlns:a16="http://schemas.microsoft.com/office/drawing/2014/main" id="{745391A6-E612-4156-9C01-47135DADE342}"/>
              </a:ext>
            </a:extLst>
          </p:cNvPr>
          <p:cNvSpPr/>
          <p:nvPr/>
        </p:nvSpPr>
        <p:spPr bwMode="auto">
          <a:xfrm>
            <a:off x="3495676" y="1280956"/>
            <a:ext cx="2484210" cy="1538552"/>
          </a:xfrm>
          <a:prstGeom prst="ellipse">
            <a:avLst/>
          </a:prstGeom>
          <a:noFill/>
          <a:ln w="38100">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graphicFrame>
        <p:nvGraphicFramePr>
          <p:cNvPr id="2" name="Diagram 1">
            <a:extLst>
              <a:ext uri="{FF2B5EF4-FFF2-40B4-BE49-F238E27FC236}">
                <a16:creationId xmlns:a16="http://schemas.microsoft.com/office/drawing/2014/main" id="{C8D7BC69-0B47-40C9-8DCF-F4155FF4A6A5}"/>
              </a:ext>
            </a:extLst>
          </p:cNvPr>
          <p:cNvGraphicFramePr/>
          <p:nvPr>
            <p:extLst>
              <p:ext uri="{D42A27DB-BD31-4B8C-83A1-F6EECF244321}">
                <p14:modId xmlns:p14="http://schemas.microsoft.com/office/powerpoint/2010/main" val="3401916572"/>
              </p:ext>
            </p:extLst>
          </p:nvPr>
        </p:nvGraphicFramePr>
        <p:xfrm>
          <a:off x="1598641" y="2128545"/>
          <a:ext cx="6106132" cy="32070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Date Placeholder 1">
            <a:extLst>
              <a:ext uri="{FF2B5EF4-FFF2-40B4-BE49-F238E27FC236}">
                <a16:creationId xmlns:a16="http://schemas.microsoft.com/office/drawing/2014/main" id="{C088445C-8249-44DD-B281-111D2E3470A6}"/>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spTree>
    <p:extLst>
      <p:ext uri="{BB962C8B-B14F-4D97-AF65-F5344CB8AC3E}">
        <p14:creationId xmlns:p14="http://schemas.microsoft.com/office/powerpoint/2010/main" val="272571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8D7BC69-0B47-40C9-8DCF-F4155FF4A6A5}"/>
              </a:ext>
            </a:extLst>
          </p:cNvPr>
          <p:cNvGraphicFramePr/>
          <p:nvPr>
            <p:extLst>
              <p:ext uri="{D42A27DB-BD31-4B8C-83A1-F6EECF244321}">
                <p14:modId xmlns:p14="http://schemas.microsoft.com/office/powerpoint/2010/main" val="3105344831"/>
              </p:ext>
            </p:extLst>
          </p:nvPr>
        </p:nvGraphicFramePr>
        <p:xfrm>
          <a:off x="1818082" y="-109887"/>
          <a:ext cx="5504787" cy="3207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a:extLst>
              <a:ext uri="{FF2B5EF4-FFF2-40B4-BE49-F238E27FC236}">
                <a16:creationId xmlns:a16="http://schemas.microsoft.com/office/drawing/2014/main" id="{C27F345D-4EC8-4FBB-B024-E5293B08BD70}"/>
              </a:ext>
            </a:extLst>
          </p:cNvPr>
          <p:cNvGraphicFramePr/>
          <p:nvPr>
            <p:extLst>
              <p:ext uri="{D42A27DB-BD31-4B8C-83A1-F6EECF244321}">
                <p14:modId xmlns:p14="http://schemas.microsoft.com/office/powerpoint/2010/main" val="1295352618"/>
              </p:ext>
            </p:extLst>
          </p:nvPr>
        </p:nvGraphicFramePr>
        <p:xfrm>
          <a:off x="1808394" y="1515675"/>
          <a:ext cx="5539581" cy="32070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3" name="Diagram 12">
            <a:extLst>
              <a:ext uri="{FF2B5EF4-FFF2-40B4-BE49-F238E27FC236}">
                <a16:creationId xmlns:a16="http://schemas.microsoft.com/office/drawing/2014/main" id="{1AB7A382-E05E-45A2-A28C-EC110357DB4F}"/>
              </a:ext>
            </a:extLst>
          </p:cNvPr>
          <p:cNvGraphicFramePr/>
          <p:nvPr>
            <p:extLst>
              <p:ext uri="{D42A27DB-BD31-4B8C-83A1-F6EECF244321}">
                <p14:modId xmlns:p14="http://schemas.microsoft.com/office/powerpoint/2010/main" val="3569398112"/>
              </p:ext>
            </p:extLst>
          </p:nvPr>
        </p:nvGraphicFramePr>
        <p:xfrm>
          <a:off x="1834820" y="693553"/>
          <a:ext cx="5488049" cy="3207008"/>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4" name="Diagram 13">
            <a:extLst>
              <a:ext uri="{FF2B5EF4-FFF2-40B4-BE49-F238E27FC236}">
                <a16:creationId xmlns:a16="http://schemas.microsoft.com/office/drawing/2014/main" id="{A2292382-308E-46AE-B408-73F8B4506DED}"/>
              </a:ext>
            </a:extLst>
          </p:cNvPr>
          <p:cNvGraphicFramePr/>
          <p:nvPr>
            <p:extLst>
              <p:ext uri="{D42A27DB-BD31-4B8C-83A1-F6EECF244321}">
                <p14:modId xmlns:p14="http://schemas.microsoft.com/office/powerpoint/2010/main" val="3438945516"/>
              </p:ext>
            </p:extLst>
          </p:nvPr>
        </p:nvGraphicFramePr>
        <p:xfrm>
          <a:off x="1809054" y="2363417"/>
          <a:ext cx="5551658" cy="3207008"/>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3" name="Text Placeholder 2">
            <a:extLst>
              <a:ext uri="{FF2B5EF4-FFF2-40B4-BE49-F238E27FC236}">
                <a16:creationId xmlns:a16="http://schemas.microsoft.com/office/drawing/2014/main" id="{9AEBEB3B-5AE2-43B0-B294-DE1467EA94AB}"/>
              </a:ext>
            </a:extLst>
          </p:cNvPr>
          <p:cNvSpPr>
            <a:spLocks noGrp="1"/>
          </p:cNvSpPr>
          <p:nvPr>
            <p:ph type="body" sz="quarter" idx="14"/>
          </p:nvPr>
        </p:nvSpPr>
        <p:spPr/>
        <p:txBody>
          <a:bodyPr/>
          <a:lstStyle/>
          <a:p>
            <a:r>
              <a:rPr lang="en-GB"/>
              <a:t>Trelegy Asthma Study 205832: Hierarchy</a:t>
            </a:r>
          </a:p>
        </p:txBody>
      </p:sp>
      <p:sp>
        <p:nvSpPr>
          <p:cNvPr id="5" name="Title 4">
            <a:extLst>
              <a:ext uri="{FF2B5EF4-FFF2-40B4-BE49-F238E27FC236}">
                <a16:creationId xmlns:a16="http://schemas.microsoft.com/office/drawing/2014/main" id="{87A6094E-5E3A-4E2E-9071-17E4FFA09D2C}"/>
              </a:ext>
            </a:extLst>
          </p:cNvPr>
          <p:cNvSpPr>
            <a:spLocks noGrp="1"/>
          </p:cNvSpPr>
          <p:nvPr>
            <p:ph type="title"/>
          </p:nvPr>
        </p:nvSpPr>
        <p:spPr/>
        <p:txBody>
          <a:bodyPr/>
          <a:lstStyle/>
          <a:p>
            <a:r>
              <a:rPr lang="en-GB"/>
              <a:t>Example: Hierarchical Testing</a:t>
            </a:r>
          </a:p>
        </p:txBody>
      </p:sp>
      <p:sp>
        <p:nvSpPr>
          <p:cNvPr id="8" name="Slide Number Placeholder 7">
            <a:extLst>
              <a:ext uri="{FF2B5EF4-FFF2-40B4-BE49-F238E27FC236}">
                <a16:creationId xmlns:a16="http://schemas.microsoft.com/office/drawing/2014/main" id="{0B6FED72-CB51-4B86-AA0A-E5ACE58E5312}"/>
              </a:ext>
            </a:extLst>
          </p:cNvPr>
          <p:cNvSpPr>
            <a:spLocks noGrp="1"/>
          </p:cNvSpPr>
          <p:nvPr>
            <p:ph type="sldNum" sz="quarter" idx="21"/>
          </p:nvPr>
        </p:nvSpPr>
        <p:spPr/>
        <p:txBody>
          <a:bodyPr/>
          <a:lstStyle/>
          <a:p>
            <a:fld id="{9F9F533D-B52E-4A2F-BF72-0ADD2D94BD75}" type="slidenum">
              <a:rPr lang="en-GB" smtClean="0"/>
              <a:pPr/>
              <a:t>11</a:t>
            </a:fld>
            <a:endParaRPr lang="en-GB"/>
          </a:p>
        </p:txBody>
      </p:sp>
      <p:sp>
        <p:nvSpPr>
          <p:cNvPr id="11" name="Date Placeholder 1">
            <a:extLst>
              <a:ext uri="{FF2B5EF4-FFF2-40B4-BE49-F238E27FC236}">
                <a16:creationId xmlns:a16="http://schemas.microsoft.com/office/drawing/2014/main" id="{C088445C-8249-44DD-B281-111D2E3470A6}"/>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sp>
        <p:nvSpPr>
          <p:cNvPr id="4" name="TextBox 3">
            <a:extLst>
              <a:ext uri="{FF2B5EF4-FFF2-40B4-BE49-F238E27FC236}">
                <a16:creationId xmlns:a16="http://schemas.microsoft.com/office/drawing/2014/main" id="{89869185-4770-48BC-AF1B-48EDFE2D04D4}"/>
              </a:ext>
            </a:extLst>
          </p:cNvPr>
          <p:cNvSpPr txBox="1"/>
          <p:nvPr/>
        </p:nvSpPr>
        <p:spPr>
          <a:xfrm>
            <a:off x="157681" y="1324887"/>
            <a:ext cx="1965278" cy="276999"/>
          </a:xfrm>
          <a:prstGeom prst="rect">
            <a:avLst/>
          </a:prstGeom>
          <a:noFill/>
        </p:spPr>
        <p:txBody>
          <a:bodyPr wrap="square" rtlCol="0">
            <a:spAutoFit/>
          </a:bodyPr>
          <a:lstStyle/>
          <a:p>
            <a:pPr>
              <a:buClr>
                <a:schemeClr val="tx1"/>
              </a:buClr>
            </a:pPr>
            <a:r>
              <a:rPr lang="en-GB" sz="1200"/>
              <a:t>Multiplicity adjustment:</a:t>
            </a:r>
          </a:p>
        </p:txBody>
      </p:sp>
      <p:sp>
        <p:nvSpPr>
          <p:cNvPr id="12" name="TextBox 11">
            <a:extLst>
              <a:ext uri="{FF2B5EF4-FFF2-40B4-BE49-F238E27FC236}">
                <a16:creationId xmlns:a16="http://schemas.microsoft.com/office/drawing/2014/main" id="{5456B23D-5769-482A-9305-A05F81614198}"/>
              </a:ext>
            </a:extLst>
          </p:cNvPr>
          <p:cNvSpPr txBox="1"/>
          <p:nvPr/>
        </p:nvSpPr>
        <p:spPr>
          <a:xfrm>
            <a:off x="246175" y="2144617"/>
            <a:ext cx="1965278" cy="276999"/>
          </a:xfrm>
          <a:prstGeom prst="rect">
            <a:avLst/>
          </a:prstGeom>
          <a:noFill/>
        </p:spPr>
        <p:txBody>
          <a:bodyPr wrap="square" rtlCol="0">
            <a:spAutoFit/>
          </a:bodyPr>
          <a:lstStyle/>
          <a:p>
            <a:pPr>
              <a:buClr>
                <a:schemeClr val="tx1"/>
              </a:buClr>
            </a:pPr>
            <a:r>
              <a:rPr lang="en-GB" sz="1200"/>
              <a:t>Results scenario 1:</a:t>
            </a:r>
          </a:p>
        </p:txBody>
      </p:sp>
      <p:sp>
        <p:nvSpPr>
          <p:cNvPr id="16" name="TextBox 15">
            <a:extLst>
              <a:ext uri="{FF2B5EF4-FFF2-40B4-BE49-F238E27FC236}">
                <a16:creationId xmlns:a16="http://schemas.microsoft.com/office/drawing/2014/main" id="{7F91301E-B763-447D-A378-D5B5F93E0CA1}"/>
              </a:ext>
            </a:extLst>
          </p:cNvPr>
          <p:cNvSpPr txBox="1"/>
          <p:nvPr/>
        </p:nvSpPr>
        <p:spPr>
          <a:xfrm>
            <a:off x="271941" y="2964347"/>
            <a:ext cx="1965278" cy="276999"/>
          </a:xfrm>
          <a:prstGeom prst="rect">
            <a:avLst/>
          </a:prstGeom>
          <a:noFill/>
        </p:spPr>
        <p:txBody>
          <a:bodyPr wrap="square" rtlCol="0">
            <a:spAutoFit/>
          </a:bodyPr>
          <a:lstStyle/>
          <a:p>
            <a:pPr>
              <a:buClr>
                <a:schemeClr val="tx1"/>
              </a:buClr>
            </a:pPr>
            <a:r>
              <a:rPr lang="en-GB" sz="1200"/>
              <a:t>Results scenario 2:</a:t>
            </a:r>
          </a:p>
        </p:txBody>
      </p:sp>
      <p:sp>
        <p:nvSpPr>
          <p:cNvPr id="17" name="TextBox 16">
            <a:extLst>
              <a:ext uri="{FF2B5EF4-FFF2-40B4-BE49-F238E27FC236}">
                <a16:creationId xmlns:a16="http://schemas.microsoft.com/office/drawing/2014/main" id="{5EB31335-61F6-4B1D-B1B2-957EE7AF4811}"/>
              </a:ext>
            </a:extLst>
          </p:cNvPr>
          <p:cNvSpPr txBox="1"/>
          <p:nvPr/>
        </p:nvSpPr>
        <p:spPr>
          <a:xfrm>
            <a:off x="267379" y="3800729"/>
            <a:ext cx="1965278" cy="276999"/>
          </a:xfrm>
          <a:prstGeom prst="rect">
            <a:avLst/>
          </a:prstGeom>
          <a:noFill/>
        </p:spPr>
        <p:txBody>
          <a:bodyPr wrap="square" rtlCol="0">
            <a:spAutoFit/>
          </a:bodyPr>
          <a:lstStyle/>
          <a:p>
            <a:pPr>
              <a:buClr>
                <a:schemeClr val="tx1"/>
              </a:buClr>
            </a:pPr>
            <a:r>
              <a:rPr lang="en-GB" sz="1200"/>
              <a:t>Results scenario 3:</a:t>
            </a:r>
          </a:p>
        </p:txBody>
      </p:sp>
      <p:graphicFrame>
        <p:nvGraphicFramePr>
          <p:cNvPr id="7" name="Table 17">
            <a:extLst>
              <a:ext uri="{FF2B5EF4-FFF2-40B4-BE49-F238E27FC236}">
                <a16:creationId xmlns:a16="http://schemas.microsoft.com/office/drawing/2014/main" id="{9D6DCCEC-2B3A-4E29-BEA2-99B96250F9D6}"/>
              </a:ext>
            </a:extLst>
          </p:cNvPr>
          <p:cNvGraphicFramePr>
            <a:graphicFrameLocks noGrp="1"/>
          </p:cNvGraphicFramePr>
          <p:nvPr>
            <p:extLst>
              <p:ext uri="{D42A27DB-BD31-4B8C-83A1-F6EECF244321}">
                <p14:modId xmlns:p14="http://schemas.microsoft.com/office/powerpoint/2010/main" val="2664379972"/>
              </p:ext>
            </p:extLst>
          </p:nvPr>
        </p:nvGraphicFramePr>
        <p:xfrm>
          <a:off x="7410557" y="1324887"/>
          <a:ext cx="1666536" cy="426720"/>
        </p:xfrm>
        <a:graphic>
          <a:graphicData uri="http://schemas.openxmlformats.org/drawingml/2006/table">
            <a:tbl>
              <a:tblPr firstRow="1" bandRow="1">
                <a:tableStyleId>{5C22544A-7EE6-4342-B048-85BDC9FD1C3A}</a:tableStyleId>
              </a:tblPr>
              <a:tblGrid>
                <a:gridCol w="830554">
                  <a:extLst>
                    <a:ext uri="{9D8B030D-6E8A-4147-A177-3AD203B41FA5}">
                      <a16:colId xmlns:a16="http://schemas.microsoft.com/office/drawing/2014/main" val="341277192"/>
                    </a:ext>
                  </a:extLst>
                </a:gridCol>
                <a:gridCol w="835982">
                  <a:extLst>
                    <a:ext uri="{9D8B030D-6E8A-4147-A177-3AD203B41FA5}">
                      <a16:colId xmlns:a16="http://schemas.microsoft.com/office/drawing/2014/main" val="2501908504"/>
                    </a:ext>
                  </a:extLst>
                </a:gridCol>
              </a:tblGrid>
              <a:tr h="412760">
                <a:tc>
                  <a:txBody>
                    <a:bodyPr/>
                    <a:lstStyle/>
                    <a:p>
                      <a:r>
                        <a:rPr lang="en-GB" sz="1100"/>
                        <a:t>UMEC 62.5mcg</a:t>
                      </a:r>
                    </a:p>
                  </a:txBody>
                  <a:tcPr/>
                </a:tc>
                <a:tc>
                  <a:txBody>
                    <a:bodyPr/>
                    <a:lstStyle/>
                    <a:p>
                      <a:r>
                        <a:rPr lang="en-GB" sz="1100"/>
                        <a:t>UMEC 31.25mcg</a:t>
                      </a:r>
                    </a:p>
                  </a:txBody>
                  <a:tcPr/>
                </a:tc>
                <a:extLst>
                  <a:ext uri="{0D108BD9-81ED-4DB2-BD59-A6C34878D82A}">
                    <a16:rowId xmlns:a16="http://schemas.microsoft.com/office/drawing/2014/main" val="1491562062"/>
                  </a:ext>
                </a:extLst>
              </a:tr>
            </a:tbl>
          </a:graphicData>
        </a:graphic>
      </p:graphicFrame>
      <p:sp>
        <p:nvSpPr>
          <p:cNvPr id="19" name="TextBox 18">
            <a:extLst>
              <a:ext uri="{FF2B5EF4-FFF2-40B4-BE49-F238E27FC236}">
                <a16:creationId xmlns:a16="http://schemas.microsoft.com/office/drawing/2014/main" id="{E4156087-1E20-43C8-A721-04DE8653F796}"/>
              </a:ext>
            </a:extLst>
          </p:cNvPr>
          <p:cNvSpPr txBox="1"/>
          <p:nvPr/>
        </p:nvSpPr>
        <p:spPr>
          <a:xfrm>
            <a:off x="7385451" y="1043920"/>
            <a:ext cx="1965278" cy="276999"/>
          </a:xfrm>
          <a:prstGeom prst="rect">
            <a:avLst/>
          </a:prstGeom>
          <a:noFill/>
        </p:spPr>
        <p:txBody>
          <a:bodyPr wrap="square" rtlCol="0">
            <a:spAutoFit/>
          </a:bodyPr>
          <a:lstStyle/>
          <a:p>
            <a:pPr>
              <a:buClr>
                <a:schemeClr val="tx1"/>
              </a:buClr>
            </a:pPr>
            <a:r>
              <a:rPr lang="en-GB" sz="1200"/>
              <a:t>Statistically significant?</a:t>
            </a:r>
          </a:p>
        </p:txBody>
      </p:sp>
      <p:sp>
        <p:nvSpPr>
          <p:cNvPr id="20" name="Oval 19">
            <a:extLst>
              <a:ext uri="{FF2B5EF4-FFF2-40B4-BE49-F238E27FC236}">
                <a16:creationId xmlns:a16="http://schemas.microsoft.com/office/drawing/2014/main" id="{17A0A523-D10E-4C02-AA3C-6FA1F1A83B64}"/>
              </a:ext>
            </a:extLst>
          </p:cNvPr>
          <p:cNvSpPr/>
          <p:nvPr/>
        </p:nvSpPr>
        <p:spPr bwMode="auto">
          <a:xfrm>
            <a:off x="5745707" y="4077728"/>
            <a:ext cx="844504" cy="241525"/>
          </a:xfrm>
          <a:prstGeom prst="ellipse">
            <a:avLst/>
          </a:prstGeom>
          <a:noFill/>
          <a:ln w="28575">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21" name="TextBox 20">
            <a:extLst>
              <a:ext uri="{FF2B5EF4-FFF2-40B4-BE49-F238E27FC236}">
                <a16:creationId xmlns:a16="http://schemas.microsoft.com/office/drawing/2014/main" id="{68FA83BA-6E82-4B2E-85B5-219780FBC94D}"/>
              </a:ext>
            </a:extLst>
          </p:cNvPr>
          <p:cNvSpPr txBox="1"/>
          <p:nvPr/>
        </p:nvSpPr>
        <p:spPr>
          <a:xfrm>
            <a:off x="7491062" y="1940276"/>
            <a:ext cx="600502" cy="707886"/>
          </a:xfrm>
          <a:prstGeom prst="rect">
            <a:avLst/>
          </a:prstGeom>
          <a:noFill/>
        </p:spPr>
        <p:txBody>
          <a:bodyPr wrap="square" rtlCol="0">
            <a:spAutoFit/>
          </a:bodyPr>
          <a:lstStyle/>
          <a:p>
            <a:pPr>
              <a:buClr>
                <a:schemeClr val="tx1"/>
              </a:buClr>
            </a:pPr>
            <a:r>
              <a:rPr lang="en-GB" sz="4000">
                <a:solidFill>
                  <a:srgbClr val="00B050"/>
                </a:solidFill>
                <a:sym typeface="Wingdings" panose="05000000000000000000" pitchFamily="2" charset="2"/>
              </a:rPr>
              <a:t></a:t>
            </a:r>
            <a:endParaRPr lang="en-GB" sz="4000">
              <a:solidFill>
                <a:srgbClr val="00B050"/>
              </a:solidFill>
            </a:endParaRPr>
          </a:p>
        </p:txBody>
      </p:sp>
      <p:sp>
        <p:nvSpPr>
          <p:cNvPr id="22" name="TextBox 21">
            <a:extLst>
              <a:ext uri="{FF2B5EF4-FFF2-40B4-BE49-F238E27FC236}">
                <a16:creationId xmlns:a16="http://schemas.microsoft.com/office/drawing/2014/main" id="{C0AA24C7-B3D3-4AE3-AF67-2A0AE6992574}"/>
              </a:ext>
            </a:extLst>
          </p:cNvPr>
          <p:cNvSpPr txBox="1"/>
          <p:nvPr/>
        </p:nvSpPr>
        <p:spPr>
          <a:xfrm>
            <a:off x="8352884" y="2743178"/>
            <a:ext cx="600502" cy="707886"/>
          </a:xfrm>
          <a:prstGeom prst="rect">
            <a:avLst/>
          </a:prstGeom>
          <a:noFill/>
        </p:spPr>
        <p:txBody>
          <a:bodyPr wrap="square" rtlCol="0">
            <a:spAutoFit/>
          </a:bodyPr>
          <a:lstStyle/>
          <a:p>
            <a:pPr>
              <a:buClr>
                <a:schemeClr val="tx1"/>
              </a:buClr>
            </a:pPr>
            <a:r>
              <a:rPr lang="en-GB" sz="4000">
                <a:solidFill>
                  <a:srgbClr val="FF0000"/>
                </a:solidFill>
                <a:sym typeface="Wingdings" panose="05000000000000000000" pitchFamily="2" charset="2"/>
              </a:rPr>
              <a:t></a:t>
            </a:r>
            <a:endParaRPr lang="en-GB" sz="4000">
              <a:solidFill>
                <a:srgbClr val="FF0000"/>
              </a:solidFill>
            </a:endParaRPr>
          </a:p>
        </p:txBody>
      </p:sp>
      <p:sp>
        <p:nvSpPr>
          <p:cNvPr id="23" name="TextBox 22">
            <a:extLst>
              <a:ext uri="{FF2B5EF4-FFF2-40B4-BE49-F238E27FC236}">
                <a16:creationId xmlns:a16="http://schemas.microsoft.com/office/drawing/2014/main" id="{6EB2CAD0-C4AA-4BB5-8E7E-F33555811BBE}"/>
              </a:ext>
            </a:extLst>
          </p:cNvPr>
          <p:cNvSpPr txBox="1"/>
          <p:nvPr/>
        </p:nvSpPr>
        <p:spPr>
          <a:xfrm>
            <a:off x="8317928" y="1929173"/>
            <a:ext cx="600502" cy="707886"/>
          </a:xfrm>
          <a:prstGeom prst="rect">
            <a:avLst/>
          </a:prstGeom>
          <a:noFill/>
        </p:spPr>
        <p:txBody>
          <a:bodyPr wrap="square" rtlCol="0">
            <a:spAutoFit/>
          </a:bodyPr>
          <a:lstStyle/>
          <a:p>
            <a:pPr>
              <a:buClr>
                <a:schemeClr val="tx1"/>
              </a:buClr>
            </a:pPr>
            <a:r>
              <a:rPr lang="en-GB" sz="4000">
                <a:solidFill>
                  <a:srgbClr val="00B050"/>
                </a:solidFill>
                <a:sym typeface="Wingdings" panose="05000000000000000000" pitchFamily="2" charset="2"/>
              </a:rPr>
              <a:t></a:t>
            </a:r>
            <a:endParaRPr lang="en-GB" sz="4000">
              <a:solidFill>
                <a:srgbClr val="00B050"/>
              </a:solidFill>
            </a:endParaRPr>
          </a:p>
        </p:txBody>
      </p:sp>
      <p:sp>
        <p:nvSpPr>
          <p:cNvPr id="24" name="TextBox 23">
            <a:extLst>
              <a:ext uri="{FF2B5EF4-FFF2-40B4-BE49-F238E27FC236}">
                <a16:creationId xmlns:a16="http://schemas.microsoft.com/office/drawing/2014/main" id="{66B30967-EF30-4A70-B891-418175444A46}"/>
              </a:ext>
            </a:extLst>
          </p:cNvPr>
          <p:cNvSpPr txBox="1"/>
          <p:nvPr/>
        </p:nvSpPr>
        <p:spPr>
          <a:xfrm>
            <a:off x="7491062" y="2743178"/>
            <a:ext cx="600502" cy="707886"/>
          </a:xfrm>
          <a:prstGeom prst="rect">
            <a:avLst/>
          </a:prstGeom>
          <a:noFill/>
        </p:spPr>
        <p:txBody>
          <a:bodyPr wrap="square" rtlCol="0">
            <a:spAutoFit/>
          </a:bodyPr>
          <a:lstStyle/>
          <a:p>
            <a:pPr>
              <a:buClr>
                <a:schemeClr val="tx1"/>
              </a:buClr>
            </a:pPr>
            <a:r>
              <a:rPr lang="en-GB" sz="4000">
                <a:solidFill>
                  <a:srgbClr val="00B050"/>
                </a:solidFill>
                <a:sym typeface="Wingdings" panose="05000000000000000000" pitchFamily="2" charset="2"/>
              </a:rPr>
              <a:t></a:t>
            </a:r>
            <a:endParaRPr lang="en-GB" sz="4000">
              <a:solidFill>
                <a:srgbClr val="00B050"/>
              </a:solidFill>
            </a:endParaRPr>
          </a:p>
        </p:txBody>
      </p:sp>
      <p:sp>
        <p:nvSpPr>
          <p:cNvPr id="25" name="TextBox 24">
            <a:extLst>
              <a:ext uri="{FF2B5EF4-FFF2-40B4-BE49-F238E27FC236}">
                <a16:creationId xmlns:a16="http://schemas.microsoft.com/office/drawing/2014/main" id="{E272EB59-1136-4CB0-8BA5-CC8B466411B4}"/>
              </a:ext>
            </a:extLst>
          </p:cNvPr>
          <p:cNvSpPr txBox="1"/>
          <p:nvPr/>
        </p:nvSpPr>
        <p:spPr>
          <a:xfrm>
            <a:off x="7543354" y="3565925"/>
            <a:ext cx="600502" cy="707886"/>
          </a:xfrm>
          <a:prstGeom prst="rect">
            <a:avLst/>
          </a:prstGeom>
          <a:noFill/>
        </p:spPr>
        <p:txBody>
          <a:bodyPr wrap="square" rtlCol="0">
            <a:spAutoFit/>
          </a:bodyPr>
          <a:lstStyle/>
          <a:p>
            <a:pPr>
              <a:buClr>
                <a:schemeClr val="tx1"/>
              </a:buClr>
            </a:pPr>
            <a:r>
              <a:rPr lang="en-GB" sz="4000">
                <a:solidFill>
                  <a:srgbClr val="FF0000"/>
                </a:solidFill>
                <a:sym typeface="Wingdings" panose="05000000000000000000" pitchFamily="2" charset="2"/>
              </a:rPr>
              <a:t></a:t>
            </a:r>
            <a:endParaRPr lang="en-GB" sz="4000">
              <a:solidFill>
                <a:srgbClr val="FF0000"/>
              </a:solidFill>
            </a:endParaRPr>
          </a:p>
        </p:txBody>
      </p:sp>
      <p:sp>
        <p:nvSpPr>
          <p:cNvPr id="26" name="TextBox 25">
            <a:extLst>
              <a:ext uri="{FF2B5EF4-FFF2-40B4-BE49-F238E27FC236}">
                <a16:creationId xmlns:a16="http://schemas.microsoft.com/office/drawing/2014/main" id="{A31D2B8A-3F22-41B4-9127-27FD121A8DF9}"/>
              </a:ext>
            </a:extLst>
          </p:cNvPr>
          <p:cNvSpPr txBox="1"/>
          <p:nvPr/>
        </p:nvSpPr>
        <p:spPr>
          <a:xfrm>
            <a:off x="8317928" y="3546618"/>
            <a:ext cx="600502" cy="707886"/>
          </a:xfrm>
          <a:prstGeom prst="rect">
            <a:avLst/>
          </a:prstGeom>
          <a:noFill/>
        </p:spPr>
        <p:txBody>
          <a:bodyPr wrap="square" rtlCol="0">
            <a:spAutoFit/>
          </a:bodyPr>
          <a:lstStyle/>
          <a:p>
            <a:pPr>
              <a:buClr>
                <a:schemeClr val="tx1"/>
              </a:buClr>
            </a:pPr>
            <a:r>
              <a:rPr lang="en-GB" sz="4000">
                <a:solidFill>
                  <a:srgbClr val="FF0000"/>
                </a:solidFill>
                <a:sym typeface="Wingdings" panose="05000000000000000000" pitchFamily="2" charset="2"/>
              </a:rPr>
              <a:t></a:t>
            </a:r>
            <a:endParaRPr lang="en-GB" sz="4000">
              <a:solidFill>
                <a:srgbClr val="FF0000"/>
              </a:solidFill>
            </a:endParaRPr>
          </a:p>
        </p:txBody>
      </p:sp>
    </p:spTree>
    <p:extLst>
      <p:ext uri="{BB962C8B-B14F-4D97-AF65-F5344CB8AC3E}">
        <p14:creationId xmlns:p14="http://schemas.microsoft.com/office/powerpoint/2010/main" val="237668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Graphic spid="13" grpId="0">
        <p:bldAsOne/>
      </p:bldGraphic>
      <p:bldGraphic spid="14" grpId="0">
        <p:bldAsOne/>
      </p:bldGraphic>
      <p:bldP spid="12" grpId="0"/>
      <p:bldP spid="16" grpId="0"/>
      <p:bldP spid="17" grpId="0"/>
      <p:bldP spid="19" grpId="0"/>
      <p:bldP spid="20" grpId="0" animBg="1"/>
      <p:bldP spid="21" grpId="0"/>
      <p:bldP spid="22" grpId="0"/>
      <p:bldP spid="23" grpId="0"/>
      <p:bldP spid="24" grpId="0"/>
      <p:bldP spid="25" grpId="0"/>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EBEB3B-5AE2-43B0-B294-DE1467EA94AB}"/>
              </a:ext>
            </a:extLst>
          </p:cNvPr>
          <p:cNvSpPr>
            <a:spLocks noGrp="1"/>
          </p:cNvSpPr>
          <p:nvPr>
            <p:ph type="body" sz="quarter" idx="14"/>
          </p:nvPr>
        </p:nvSpPr>
        <p:spPr/>
        <p:txBody>
          <a:bodyPr/>
          <a:lstStyle/>
          <a:p>
            <a:r>
              <a:rPr lang="en-GB"/>
              <a:t>Trelegy Asthma Study 205832: Hierarchy</a:t>
            </a:r>
          </a:p>
        </p:txBody>
      </p:sp>
      <p:sp>
        <p:nvSpPr>
          <p:cNvPr id="5" name="Title 4">
            <a:extLst>
              <a:ext uri="{FF2B5EF4-FFF2-40B4-BE49-F238E27FC236}">
                <a16:creationId xmlns:a16="http://schemas.microsoft.com/office/drawing/2014/main" id="{87A6094E-5E3A-4E2E-9071-17E4FFA09D2C}"/>
              </a:ext>
            </a:extLst>
          </p:cNvPr>
          <p:cNvSpPr>
            <a:spLocks noGrp="1"/>
          </p:cNvSpPr>
          <p:nvPr>
            <p:ph type="title"/>
          </p:nvPr>
        </p:nvSpPr>
        <p:spPr/>
        <p:txBody>
          <a:bodyPr/>
          <a:lstStyle/>
          <a:p>
            <a:r>
              <a:rPr lang="en-GB"/>
              <a:t>Example: Hierarchical Testing</a:t>
            </a:r>
          </a:p>
        </p:txBody>
      </p:sp>
      <p:sp>
        <p:nvSpPr>
          <p:cNvPr id="8" name="Slide Number Placeholder 7">
            <a:extLst>
              <a:ext uri="{FF2B5EF4-FFF2-40B4-BE49-F238E27FC236}">
                <a16:creationId xmlns:a16="http://schemas.microsoft.com/office/drawing/2014/main" id="{0B6FED72-CB51-4B86-AA0A-E5ACE58E5312}"/>
              </a:ext>
            </a:extLst>
          </p:cNvPr>
          <p:cNvSpPr>
            <a:spLocks noGrp="1"/>
          </p:cNvSpPr>
          <p:nvPr>
            <p:ph type="sldNum" sz="quarter" idx="21"/>
          </p:nvPr>
        </p:nvSpPr>
        <p:spPr/>
        <p:txBody>
          <a:bodyPr/>
          <a:lstStyle/>
          <a:p>
            <a:fld id="{9F9F533D-B52E-4A2F-BF72-0ADD2D94BD75}" type="slidenum">
              <a:rPr lang="en-GB" smtClean="0"/>
              <a:pPr/>
              <a:t>12</a:t>
            </a:fld>
            <a:endParaRPr lang="en-GB"/>
          </a:p>
        </p:txBody>
      </p:sp>
      <p:pic>
        <p:nvPicPr>
          <p:cNvPr id="9" name="Picture 8">
            <a:extLst>
              <a:ext uri="{FF2B5EF4-FFF2-40B4-BE49-F238E27FC236}">
                <a16:creationId xmlns:a16="http://schemas.microsoft.com/office/drawing/2014/main" id="{DEF05AD0-7D21-4A22-8057-5866B1DCC135}"/>
              </a:ext>
            </a:extLst>
          </p:cNvPr>
          <p:cNvPicPr>
            <a:picLocks noChangeAspect="1"/>
          </p:cNvPicPr>
          <p:nvPr/>
        </p:nvPicPr>
        <p:blipFill>
          <a:blip r:embed="rId3"/>
          <a:stretch>
            <a:fillRect/>
          </a:stretch>
        </p:blipFill>
        <p:spPr>
          <a:xfrm>
            <a:off x="1439227" y="1240532"/>
            <a:ext cx="5000625" cy="1219200"/>
          </a:xfrm>
          <a:prstGeom prst="rect">
            <a:avLst/>
          </a:prstGeom>
        </p:spPr>
      </p:pic>
      <p:sp>
        <p:nvSpPr>
          <p:cNvPr id="11" name="TextBox 10">
            <a:extLst>
              <a:ext uri="{FF2B5EF4-FFF2-40B4-BE49-F238E27FC236}">
                <a16:creationId xmlns:a16="http://schemas.microsoft.com/office/drawing/2014/main" id="{A3B3C033-75CB-4E99-ACD5-343F4073DC33}"/>
              </a:ext>
            </a:extLst>
          </p:cNvPr>
          <p:cNvSpPr txBox="1"/>
          <p:nvPr/>
        </p:nvSpPr>
        <p:spPr>
          <a:xfrm>
            <a:off x="254692" y="2571750"/>
            <a:ext cx="8625840" cy="1908215"/>
          </a:xfrm>
          <a:prstGeom prst="rect">
            <a:avLst/>
          </a:prstGeom>
          <a:noFill/>
        </p:spPr>
        <p:txBody>
          <a:bodyPr wrap="square" rtlCol="0">
            <a:spAutoFit/>
          </a:bodyPr>
          <a:lstStyle/>
          <a:p>
            <a:r>
              <a:rPr lang="en-GB" sz="1000"/>
              <a:t>“In order to account for multiple tests involving the two UMEC doses a step-down testing procedure will be applied whereby inference for a test in the pre-defined hierarchy is dependent upon statistical significance having been achieved for the previous test in the hierarchy.</a:t>
            </a:r>
          </a:p>
          <a:p>
            <a:endParaRPr lang="en-GB" sz="1000"/>
          </a:p>
          <a:p>
            <a:r>
              <a:rPr lang="en-GB" sz="1000"/>
              <a:t>A step-down procedure with the following hierarchy will be used for the primary comparisons in the primary endpoint</a:t>
            </a:r>
          </a:p>
          <a:p>
            <a:pPr marL="171450" indent="-171450">
              <a:buFont typeface="Arial" panose="020B0604020202020204" pitchFamily="34" charset="0"/>
              <a:buChar char="•"/>
            </a:pPr>
            <a:r>
              <a:rPr lang="en-GB" sz="1000"/>
              <a:t>The contrast between UMEC 62.5 mcg vs Placebo (two-sided, alpha = 0.05. Null hypothesis of no treatment difference)</a:t>
            </a:r>
          </a:p>
          <a:p>
            <a:pPr marL="171450" indent="-171450">
              <a:buFont typeface="Arial" panose="020B0604020202020204" pitchFamily="34" charset="0"/>
              <a:buChar char="•"/>
            </a:pPr>
            <a:r>
              <a:rPr lang="en-GB" sz="1000"/>
              <a:t>The contrast between UMEC 31.25 mcg vs Placebo (two-sided, alpha = 0.05. Null hypothesis of no treatment difference)</a:t>
            </a:r>
          </a:p>
          <a:p>
            <a:r>
              <a:rPr lang="en-GB" sz="1000"/>
              <a:t>The second hypothesis will be formally tested only if the first hypothesis has been rejected, thus maintaining the overall significance level at 5%.</a:t>
            </a:r>
            <a:r>
              <a:rPr lang="en-GB"/>
              <a:t> </a:t>
            </a:r>
            <a:r>
              <a:rPr lang="en-GB" sz="1000"/>
              <a:t>Specifically, if the defined treatment comparison for the primary efficacy endpoint at the highest dose of UMEC 62.5 mcg is significant at 0.05 level then the efficacy of UMEC 62.5 mcg is demonstrated, and the treatment comparison can be repeated on the UMEC 31.25 mcg dose. Note that, in the event that the first hypothesis is not rejected a nominal p-value for the second hypothesis may be provided in the displays for descriptive purposes only and will not alter the conclusion of the step-down procedure.”</a:t>
            </a:r>
          </a:p>
        </p:txBody>
      </p:sp>
      <p:sp>
        <p:nvSpPr>
          <p:cNvPr id="12" name="Date Placeholder 1">
            <a:extLst>
              <a:ext uri="{FF2B5EF4-FFF2-40B4-BE49-F238E27FC236}">
                <a16:creationId xmlns:a16="http://schemas.microsoft.com/office/drawing/2014/main" id="{396C9252-4ED4-4FC8-BE74-3761EF24DD2A}"/>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cxnSp>
        <p:nvCxnSpPr>
          <p:cNvPr id="4" name="Straight Connector 3">
            <a:extLst>
              <a:ext uri="{FF2B5EF4-FFF2-40B4-BE49-F238E27FC236}">
                <a16:creationId xmlns:a16="http://schemas.microsoft.com/office/drawing/2014/main" id="{F0BB5141-1D0F-45BC-AFAB-D5885A007C29}"/>
              </a:ext>
            </a:extLst>
          </p:cNvPr>
          <p:cNvCxnSpPr>
            <a:cxnSpLocks/>
          </p:cNvCxnSpPr>
          <p:nvPr/>
        </p:nvCxnSpPr>
        <p:spPr>
          <a:xfrm>
            <a:off x="3125337" y="2770496"/>
            <a:ext cx="2743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E32B5C6-BDE5-4B1B-A20B-14CB719C1B09}"/>
              </a:ext>
            </a:extLst>
          </p:cNvPr>
          <p:cNvCxnSpPr>
            <a:cxnSpLocks/>
          </p:cNvCxnSpPr>
          <p:nvPr/>
        </p:nvCxnSpPr>
        <p:spPr>
          <a:xfrm>
            <a:off x="359152" y="2932521"/>
            <a:ext cx="115201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93662E-84EE-4B3F-911D-FF0524BE7DAC}"/>
              </a:ext>
            </a:extLst>
          </p:cNvPr>
          <p:cNvCxnSpPr>
            <a:cxnSpLocks/>
          </p:cNvCxnSpPr>
          <p:nvPr/>
        </p:nvCxnSpPr>
        <p:spPr>
          <a:xfrm>
            <a:off x="7506340" y="4114824"/>
            <a:ext cx="127681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8BE4F39-07FF-4D0C-9100-5207AA81F478}"/>
              </a:ext>
            </a:extLst>
          </p:cNvPr>
          <p:cNvCxnSpPr>
            <a:cxnSpLocks/>
          </p:cNvCxnSpPr>
          <p:nvPr/>
        </p:nvCxnSpPr>
        <p:spPr>
          <a:xfrm>
            <a:off x="359152" y="4267224"/>
            <a:ext cx="829396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998120-DEDC-45A0-A1FB-CBC4DC917881}"/>
              </a:ext>
            </a:extLst>
          </p:cNvPr>
          <p:cNvCxnSpPr>
            <a:cxnSpLocks/>
          </p:cNvCxnSpPr>
          <p:nvPr/>
        </p:nvCxnSpPr>
        <p:spPr>
          <a:xfrm>
            <a:off x="359152" y="4411603"/>
            <a:ext cx="3136524"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5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A6094E-5E3A-4E2E-9071-17E4FFA09D2C}"/>
              </a:ext>
            </a:extLst>
          </p:cNvPr>
          <p:cNvSpPr>
            <a:spLocks noGrp="1"/>
          </p:cNvSpPr>
          <p:nvPr>
            <p:ph type="title"/>
          </p:nvPr>
        </p:nvSpPr>
        <p:spPr/>
        <p:txBody>
          <a:bodyPr/>
          <a:lstStyle/>
          <a:p>
            <a:r>
              <a:rPr lang="en-GB"/>
              <a:t>Example: Bonferroni Adjustment</a:t>
            </a:r>
          </a:p>
        </p:txBody>
      </p:sp>
      <p:sp>
        <p:nvSpPr>
          <p:cNvPr id="6" name="Date Placeholder 5">
            <a:extLst>
              <a:ext uri="{FF2B5EF4-FFF2-40B4-BE49-F238E27FC236}">
                <a16:creationId xmlns:a16="http://schemas.microsoft.com/office/drawing/2014/main" id="{F7BCFAFD-EE1B-4CB1-A8C6-086772BC23B3}"/>
              </a:ext>
            </a:extLst>
          </p:cNvPr>
          <p:cNvSpPr>
            <a:spLocks noGrp="1"/>
          </p:cNvSpPr>
          <p:nvPr>
            <p:ph type="dt" sz="half" idx="19"/>
          </p:nvPr>
        </p:nvSpPr>
        <p:spPr/>
        <p:txBody>
          <a:bodyPr/>
          <a:lstStyle/>
          <a:p>
            <a:pPr algn="ctr"/>
            <a:r>
              <a:rPr lang="en-US"/>
              <a:t>FoS: Medical Affairs training</a:t>
            </a:r>
            <a:endParaRPr lang="en-GB"/>
          </a:p>
        </p:txBody>
      </p:sp>
      <p:sp>
        <p:nvSpPr>
          <p:cNvPr id="7" name="Footer Placeholder 6">
            <a:extLst>
              <a:ext uri="{FF2B5EF4-FFF2-40B4-BE49-F238E27FC236}">
                <a16:creationId xmlns:a16="http://schemas.microsoft.com/office/drawing/2014/main" id="{33A9AE5D-96B8-43D0-BA21-E0A4ED3C56B5}"/>
              </a:ext>
            </a:extLst>
          </p:cNvPr>
          <p:cNvSpPr>
            <a:spLocks noGrp="1"/>
          </p:cNvSpPr>
          <p:nvPr>
            <p:ph type="ftr" sz="quarter" idx="20"/>
          </p:nvPr>
        </p:nvSpPr>
        <p:spPr/>
        <p:txBody>
          <a:bodyPr/>
          <a:lstStyle/>
          <a:p>
            <a:r>
              <a:rPr lang="en-GB"/>
              <a:t>16x9 core template</a:t>
            </a:r>
          </a:p>
        </p:txBody>
      </p:sp>
      <p:sp>
        <p:nvSpPr>
          <p:cNvPr id="8" name="Slide Number Placeholder 7">
            <a:extLst>
              <a:ext uri="{FF2B5EF4-FFF2-40B4-BE49-F238E27FC236}">
                <a16:creationId xmlns:a16="http://schemas.microsoft.com/office/drawing/2014/main" id="{0B6FED72-CB51-4B86-AA0A-E5ACE58E5312}"/>
              </a:ext>
            </a:extLst>
          </p:cNvPr>
          <p:cNvSpPr>
            <a:spLocks noGrp="1"/>
          </p:cNvSpPr>
          <p:nvPr>
            <p:ph type="sldNum" sz="quarter" idx="21"/>
          </p:nvPr>
        </p:nvSpPr>
        <p:spPr/>
        <p:txBody>
          <a:bodyPr/>
          <a:lstStyle/>
          <a:p>
            <a:fld id="{9F9F533D-B52E-4A2F-BF72-0ADD2D94BD75}" type="slidenum">
              <a:rPr lang="en-GB" smtClean="0"/>
              <a:pPr/>
              <a:t>13</a:t>
            </a:fld>
            <a:endParaRPr lang="en-GB"/>
          </a:p>
        </p:txBody>
      </p:sp>
      <p:graphicFrame>
        <p:nvGraphicFramePr>
          <p:cNvPr id="11" name="Diagram 10">
            <a:extLst>
              <a:ext uri="{FF2B5EF4-FFF2-40B4-BE49-F238E27FC236}">
                <a16:creationId xmlns:a16="http://schemas.microsoft.com/office/drawing/2014/main" id="{34AE823E-8FC2-43F4-B48E-30DF906568DA}"/>
              </a:ext>
            </a:extLst>
          </p:cNvPr>
          <p:cNvGraphicFramePr/>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32919E24-3416-4C62-ADE5-AFD324DCA148}"/>
              </a:ext>
            </a:extLst>
          </p:cNvPr>
          <p:cNvSpPr/>
          <p:nvPr/>
        </p:nvSpPr>
        <p:spPr bwMode="auto">
          <a:xfrm>
            <a:off x="5159376" y="2025445"/>
            <a:ext cx="2338703" cy="422787"/>
          </a:xfrm>
          <a:prstGeom prst="ellipse">
            <a:avLst/>
          </a:prstGeom>
          <a:noFill/>
          <a:ln w="28575">
            <a:solidFill>
              <a:srgbClr val="7030A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3" name="Oval 12">
            <a:extLst>
              <a:ext uri="{FF2B5EF4-FFF2-40B4-BE49-F238E27FC236}">
                <a16:creationId xmlns:a16="http://schemas.microsoft.com/office/drawing/2014/main" id="{CCA3DA31-CE54-4E5E-93C9-9A70DBED8822}"/>
              </a:ext>
            </a:extLst>
          </p:cNvPr>
          <p:cNvSpPr/>
          <p:nvPr/>
        </p:nvSpPr>
        <p:spPr bwMode="auto">
          <a:xfrm>
            <a:off x="5159376" y="3913256"/>
            <a:ext cx="2338703" cy="422787"/>
          </a:xfrm>
          <a:prstGeom prst="ellipse">
            <a:avLst/>
          </a:prstGeom>
          <a:noFill/>
          <a:ln w="28575">
            <a:solidFill>
              <a:srgbClr val="7030A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4" name="Text Placeholder 3">
            <a:extLst>
              <a:ext uri="{FF2B5EF4-FFF2-40B4-BE49-F238E27FC236}">
                <a16:creationId xmlns:a16="http://schemas.microsoft.com/office/drawing/2014/main" id="{7DCB2033-A365-4898-8FC8-AB7296C9AB0F}"/>
              </a:ext>
            </a:extLst>
          </p:cNvPr>
          <p:cNvSpPr>
            <a:spLocks noGrp="1"/>
          </p:cNvSpPr>
          <p:nvPr>
            <p:ph type="body" sz="quarter" idx="14"/>
          </p:nvPr>
        </p:nvSpPr>
        <p:spPr/>
        <p:txBody>
          <a:bodyPr/>
          <a:lstStyle/>
          <a:p>
            <a:endParaRPr lang="en-GB"/>
          </a:p>
        </p:txBody>
      </p:sp>
    </p:spTree>
    <p:extLst>
      <p:ext uri="{BB962C8B-B14F-4D97-AF65-F5344CB8AC3E}">
        <p14:creationId xmlns:p14="http://schemas.microsoft.com/office/powerpoint/2010/main" val="347918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2E43DC-42C8-4CBE-8CC9-93B35B7D5741}"/>
              </a:ext>
            </a:extLst>
          </p:cNvPr>
          <p:cNvPicPr>
            <a:picLocks noChangeAspect="1"/>
          </p:cNvPicPr>
          <p:nvPr/>
        </p:nvPicPr>
        <p:blipFill>
          <a:blip r:embed="rId3"/>
          <a:stretch>
            <a:fillRect/>
          </a:stretch>
        </p:blipFill>
        <p:spPr>
          <a:xfrm>
            <a:off x="1992141" y="1100709"/>
            <a:ext cx="5591175" cy="3476625"/>
          </a:xfrm>
          <a:prstGeom prst="rect">
            <a:avLst/>
          </a:prstGeom>
        </p:spPr>
      </p:pic>
      <p:sp>
        <p:nvSpPr>
          <p:cNvPr id="3" name="Text Placeholder 2">
            <a:extLst>
              <a:ext uri="{FF2B5EF4-FFF2-40B4-BE49-F238E27FC236}">
                <a16:creationId xmlns:a16="http://schemas.microsoft.com/office/drawing/2014/main" id="{50C9DD68-6C38-457D-A2D3-D37B28B8021B}"/>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765C62E3-29DA-4A0D-80E4-8CA0DEE1F7ED}"/>
              </a:ext>
            </a:extLst>
          </p:cNvPr>
          <p:cNvSpPr>
            <a:spLocks noGrp="1"/>
          </p:cNvSpPr>
          <p:nvPr>
            <p:ph type="title"/>
          </p:nvPr>
        </p:nvSpPr>
        <p:spPr/>
        <p:txBody>
          <a:bodyPr/>
          <a:lstStyle/>
          <a:p>
            <a:r>
              <a:rPr lang="en-GB"/>
              <a:t>What to look out for…</a:t>
            </a:r>
          </a:p>
        </p:txBody>
      </p:sp>
      <p:sp>
        <p:nvSpPr>
          <p:cNvPr id="8" name="Slide Number Placeholder 7">
            <a:extLst>
              <a:ext uri="{FF2B5EF4-FFF2-40B4-BE49-F238E27FC236}">
                <a16:creationId xmlns:a16="http://schemas.microsoft.com/office/drawing/2014/main" id="{7D39BBFC-250D-4D2D-B3CF-D8AF27AEC17C}"/>
              </a:ext>
            </a:extLst>
          </p:cNvPr>
          <p:cNvSpPr>
            <a:spLocks noGrp="1"/>
          </p:cNvSpPr>
          <p:nvPr>
            <p:ph type="sldNum" sz="quarter" idx="21"/>
          </p:nvPr>
        </p:nvSpPr>
        <p:spPr/>
        <p:txBody>
          <a:bodyPr/>
          <a:lstStyle/>
          <a:p>
            <a:fld id="{9F9F533D-B52E-4A2F-BF72-0ADD2D94BD75}" type="slidenum">
              <a:rPr lang="en-GB" smtClean="0"/>
              <a:pPr/>
              <a:t>14</a:t>
            </a:fld>
            <a:endParaRPr lang="en-GB"/>
          </a:p>
        </p:txBody>
      </p:sp>
      <p:pic>
        <p:nvPicPr>
          <p:cNvPr id="9" name="Picture 8">
            <a:extLst>
              <a:ext uri="{FF2B5EF4-FFF2-40B4-BE49-F238E27FC236}">
                <a16:creationId xmlns:a16="http://schemas.microsoft.com/office/drawing/2014/main" id="{146DD474-68F0-4CC4-B35D-001EC6035FB6}"/>
              </a:ext>
            </a:extLst>
          </p:cNvPr>
          <p:cNvPicPr>
            <a:picLocks noChangeAspect="1"/>
          </p:cNvPicPr>
          <p:nvPr/>
        </p:nvPicPr>
        <p:blipFill>
          <a:blip r:embed="rId4"/>
          <a:stretch>
            <a:fillRect/>
          </a:stretch>
        </p:blipFill>
        <p:spPr>
          <a:xfrm>
            <a:off x="1560684" y="1147849"/>
            <a:ext cx="6263577" cy="3408219"/>
          </a:xfrm>
          <a:prstGeom prst="rect">
            <a:avLst/>
          </a:prstGeom>
        </p:spPr>
      </p:pic>
      <p:sp>
        <p:nvSpPr>
          <p:cNvPr id="10" name="Rectangle 9">
            <a:extLst>
              <a:ext uri="{FF2B5EF4-FFF2-40B4-BE49-F238E27FC236}">
                <a16:creationId xmlns:a16="http://schemas.microsoft.com/office/drawing/2014/main" id="{CA734484-5FE7-4488-927B-DE8B8475C307}"/>
              </a:ext>
            </a:extLst>
          </p:cNvPr>
          <p:cNvSpPr/>
          <p:nvPr/>
        </p:nvSpPr>
        <p:spPr bwMode="auto">
          <a:xfrm>
            <a:off x="2166650" y="3824274"/>
            <a:ext cx="2839452" cy="192505"/>
          </a:xfrm>
          <a:prstGeom prst="rect">
            <a:avLst/>
          </a:prstGeom>
          <a:noFill/>
          <a:ln w="28575">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pic>
        <p:nvPicPr>
          <p:cNvPr id="12" name="Picture 11">
            <a:extLst>
              <a:ext uri="{FF2B5EF4-FFF2-40B4-BE49-F238E27FC236}">
                <a16:creationId xmlns:a16="http://schemas.microsoft.com/office/drawing/2014/main" id="{40FF548B-3293-4F11-9F83-1F0A853E67BF}"/>
              </a:ext>
            </a:extLst>
          </p:cNvPr>
          <p:cNvPicPr>
            <a:picLocks noChangeAspect="1"/>
          </p:cNvPicPr>
          <p:nvPr/>
        </p:nvPicPr>
        <p:blipFill>
          <a:blip r:embed="rId5"/>
          <a:stretch>
            <a:fillRect/>
          </a:stretch>
        </p:blipFill>
        <p:spPr>
          <a:xfrm>
            <a:off x="1096339" y="1302229"/>
            <a:ext cx="7382777" cy="3073583"/>
          </a:xfrm>
          <a:prstGeom prst="rect">
            <a:avLst/>
          </a:prstGeom>
        </p:spPr>
      </p:pic>
      <p:sp>
        <p:nvSpPr>
          <p:cNvPr id="13" name="Date Placeholder 1">
            <a:extLst>
              <a:ext uri="{FF2B5EF4-FFF2-40B4-BE49-F238E27FC236}">
                <a16:creationId xmlns:a16="http://schemas.microsoft.com/office/drawing/2014/main" id="{8651547A-3137-406A-B709-26400E366757}"/>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4" name="Picture 3">
            <a:extLst>
              <a:ext uri="{FF2B5EF4-FFF2-40B4-BE49-F238E27FC236}">
                <a16:creationId xmlns:a16="http://schemas.microsoft.com/office/drawing/2014/main" id="{7AA5A7B3-9E3A-409C-9CA1-8BFFD5873643}"/>
              </a:ext>
            </a:extLst>
          </p:cNvPr>
          <p:cNvPicPr>
            <a:picLocks noChangeAspect="1"/>
          </p:cNvPicPr>
          <p:nvPr/>
        </p:nvPicPr>
        <p:blipFill>
          <a:blip r:embed="rId6"/>
          <a:stretch>
            <a:fillRect/>
          </a:stretch>
        </p:blipFill>
        <p:spPr>
          <a:xfrm>
            <a:off x="1147931" y="1191109"/>
            <a:ext cx="7172440" cy="3321698"/>
          </a:xfrm>
          <a:prstGeom prst="rect">
            <a:avLst/>
          </a:prstGeom>
        </p:spPr>
      </p:pic>
    </p:spTree>
    <p:extLst>
      <p:ext uri="{BB962C8B-B14F-4D97-AF65-F5344CB8AC3E}">
        <p14:creationId xmlns:p14="http://schemas.microsoft.com/office/powerpoint/2010/main" val="388476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xit" presetSubtype="0" fill="hold" nodeType="clickEffect">
                                  <p:stCondLst>
                                    <p:cond delay="0"/>
                                  </p:stCondLst>
                                  <p:childTnLst>
                                    <p:anim calcmode="lin" valueType="num">
                                      <p:cBhvr>
                                        <p:cTn id="10" dur="1000"/>
                                        <p:tgtEl>
                                          <p:spTgt spid="4"/>
                                        </p:tgtEl>
                                        <p:attrNameLst>
                                          <p:attrName>ppt_w</p:attrName>
                                        </p:attrNameLst>
                                      </p:cBhvr>
                                      <p:tavLst>
                                        <p:tav tm="0">
                                          <p:val>
                                            <p:strVal val="ppt_w"/>
                                          </p:val>
                                        </p:tav>
                                        <p:tav tm="100000">
                                          <p:val>
                                            <p:fltVal val="0"/>
                                          </p:val>
                                        </p:tav>
                                      </p:tavLst>
                                    </p:anim>
                                    <p:anim calcmode="lin" valueType="num">
                                      <p:cBhvr>
                                        <p:cTn id="11" dur="1000"/>
                                        <p:tgtEl>
                                          <p:spTgt spid="4"/>
                                        </p:tgtEl>
                                        <p:attrNameLst>
                                          <p:attrName>ppt_h</p:attrName>
                                        </p:attrNameLst>
                                      </p:cBhvr>
                                      <p:tavLst>
                                        <p:tav tm="0">
                                          <p:val>
                                            <p:strVal val="ppt_h"/>
                                          </p:val>
                                        </p:tav>
                                        <p:tav tm="100000">
                                          <p:val>
                                            <p:fltVal val="0"/>
                                          </p:val>
                                        </p:tav>
                                      </p:tavLst>
                                    </p:anim>
                                    <p:anim calcmode="lin" valueType="num">
                                      <p:cBhvr>
                                        <p:cTn id="12" dur="1000"/>
                                        <p:tgtEl>
                                          <p:spTgt spid="4"/>
                                        </p:tgtEl>
                                        <p:attrNameLst>
                                          <p:attrName>style.rotation</p:attrName>
                                        </p:attrNameLst>
                                      </p:cBhvr>
                                      <p:tavLst>
                                        <p:tav tm="0">
                                          <p:val>
                                            <p:fltVal val="0"/>
                                          </p:val>
                                        </p:tav>
                                        <p:tav tm="100000">
                                          <p:val>
                                            <p:fltVal val="90"/>
                                          </p:val>
                                        </p:tav>
                                      </p:tavLst>
                                    </p:anim>
                                    <p:animEffect transition="out" filter="fade">
                                      <p:cBhvr>
                                        <p:cTn id="13" dur="1000"/>
                                        <p:tgtEl>
                                          <p:spTgt spid="4"/>
                                        </p:tgtEl>
                                      </p:cBhvr>
                                    </p:animEffect>
                                    <p:set>
                                      <p:cBhvr>
                                        <p:cTn id="14" dur="1" fill="hold">
                                          <p:stCondLst>
                                            <p:cond delay="999"/>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31" presetClass="exit" presetSubtype="0" fill="hold" nodeType="withEffect">
                                  <p:stCondLst>
                                    <p:cond delay="0"/>
                                  </p:stCondLst>
                                  <p:childTnLst>
                                    <p:anim calcmode="lin" valueType="num">
                                      <p:cBhvr>
                                        <p:cTn id="32" dur="1000"/>
                                        <p:tgtEl>
                                          <p:spTgt spid="9"/>
                                        </p:tgtEl>
                                        <p:attrNameLst>
                                          <p:attrName>ppt_w</p:attrName>
                                        </p:attrNameLst>
                                      </p:cBhvr>
                                      <p:tavLst>
                                        <p:tav tm="0">
                                          <p:val>
                                            <p:strVal val="ppt_w"/>
                                          </p:val>
                                        </p:tav>
                                        <p:tav tm="100000">
                                          <p:val>
                                            <p:fltVal val="0"/>
                                          </p:val>
                                        </p:tav>
                                      </p:tavLst>
                                    </p:anim>
                                    <p:anim calcmode="lin" valueType="num">
                                      <p:cBhvr>
                                        <p:cTn id="33" dur="1000"/>
                                        <p:tgtEl>
                                          <p:spTgt spid="9"/>
                                        </p:tgtEl>
                                        <p:attrNameLst>
                                          <p:attrName>ppt_h</p:attrName>
                                        </p:attrNameLst>
                                      </p:cBhvr>
                                      <p:tavLst>
                                        <p:tav tm="0">
                                          <p:val>
                                            <p:strVal val="ppt_h"/>
                                          </p:val>
                                        </p:tav>
                                        <p:tav tm="100000">
                                          <p:val>
                                            <p:fltVal val="0"/>
                                          </p:val>
                                        </p:tav>
                                      </p:tavLst>
                                    </p:anim>
                                    <p:anim calcmode="lin" valueType="num">
                                      <p:cBhvr>
                                        <p:cTn id="34" dur="1000"/>
                                        <p:tgtEl>
                                          <p:spTgt spid="9"/>
                                        </p:tgtEl>
                                        <p:attrNameLst>
                                          <p:attrName>style.rotation</p:attrName>
                                        </p:attrNameLst>
                                      </p:cBhvr>
                                      <p:tavLst>
                                        <p:tav tm="0">
                                          <p:val>
                                            <p:fltVal val="0"/>
                                          </p:val>
                                        </p:tav>
                                        <p:tav tm="100000">
                                          <p:val>
                                            <p:fltVal val="90"/>
                                          </p:val>
                                        </p:tav>
                                      </p:tavLst>
                                    </p:anim>
                                    <p:animEffect transition="out" filter="fade">
                                      <p:cBhvr>
                                        <p:cTn id="35" dur="1000"/>
                                        <p:tgtEl>
                                          <p:spTgt spid="9"/>
                                        </p:tgtEl>
                                      </p:cBhvr>
                                    </p:animEffect>
                                    <p:set>
                                      <p:cBhvr>
                                        <p:cTn id="36" dur="1" fill="hold">
                                          <p:stCondLst>
                                            <p:cond delay="999"/>
                                          </p:stCondLst>
                                        </p:cTn>
                                        <p:tgtEl>
                                          <p:spTgt spid="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1000" fill="hold"/>
                                        <p:tgtEl>
                                          <p:spTgt spid="2"/>
                                        </p:tgtEl>
                                        <p:attrNameLst>
                                          <p:attrName>ppt_w</p:attrName>
                                        </p:attrNameLst>
                                      </p:cBhvr>
                                      <p:tavLst>
                                        <p:tav tm="0">
                                          <p:val>
                                            <p:fltVal val="0"/>
                                          </p:val>
                                        </p:tav>
                                        <p:tav tm="100000">
                                          <p:val>
                                            <p:strVal val="#ppt_w"/>
                                          </p:val>
                                        </p:tav>
                                      </p:tavLst>
                                    </p:anim>
                                    <p:anim calcmode="lin" valueType="num">
                                      <p:cBhvr>
                                        <p:cTn id="42" dur="1000" fill="hold"/>
                                        <p:tgtEl>
                                          <p:spTgt spid="2"/>
                                        </p:tgtEl>
                                        <p:attrNameLst>
                                          <p:attrName>ppt_h</p:attrName>
                                        </p:attrNameLst>
                                      </p:cBhvr>
                                      <p:tavLst>
                                        <p:tav tm="0">
                                          <p:val>
                                            <p:fltVal val="0"/>
                                          </p:val>
                                        </p:tav>
                                        <p:tav tm="100000">
                                          <p:val>
                                            <p:strVal val="#ppt_h"/>
                                          </p:val>
                                        </p:tav>
                                      </p:tavLst>
                                    </p:anim>
                                    <p:anim calcmode="lin" valueType="num">
                                      <p:cBhvr>
                                        <p:cTn id="43" dur="1000" fill="hold"/>
                                        <p:tgtEl>
                                          <p:spTgt spid="2"/>
                                        </p:tgtEl>
                                        <p:attrNameLst>
                                          <p:attrName>style.rotation</p:attrName>
                                        </p:attrNameLst>
                                      </p:cBhvr>
                                      <p:tavLst>
                                        <p:tav tm="0">
                                          <p:val>
                                            <p:fltVal val="90"/>
                                          </p:val>
                                        </p:tav>
                                        <p:tav tm="100000">
                                          <p:val>
                                            <p:fltVal val="0"/>
                                          </p:val>
                                        </p:tav>
                                      </p:tavLst>
                                    </p:anim>
                                    <p:animEffect transition="in" filter="fade">
                                      <p:cBhvr>
                                        <p:cTn id="44" dur="10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xit" presetSubtype="0" fill="hold" nodeType="clickEffect">
                                  <p:stCondLst>
                                    <p:cond delay="0"/>
                                  </p:stCondLst>
                                  <p:childTnLst>
                                    <p:anim calcmode="lin" valueType="num">
                                      <p:cBhvr>
                                        <p:cTn id="48" dur="1000"/>
                                        <p:tgtEl>
                                          <p:spTgt spid="2"/>
                                        </p:tgtEl>
                                        <p:attrNameLst>
                                          <p:attrName>ppt_w</p:attrName>
                                        </p:attrNameLst>
                                      </p:cBhvr>
                                      <p:tavLst>
                                        <p:tav tm="0">
                                          <p:val>
                                            <p:strVal val="ppt_w"/>
                                          </p:val>
                                        </p:tav>
                                        <p:tav tm="100000">
                                          <p:val>
                                            <p:fltVal val="0"/>
                                          </p:val>
                                        </p:tav>
                                      </p:tavLst>
                                    </p:anim>
                                    <p:anim calcmode="lin" valueType="num">
                                      <p:cBhvr>
                                        <p:cTn id="49" dur="1000"/>
                                        <p:tgtEl>
                                          <p:spTgt spid="2"/>
                                        </p:tgtEl>
                                        <p:attrNameLst>
                                          <p:attrName>ppt_h</p:attrName>
                                        </p:attrNameLst>
                                      </p:cBhvr>
                                      <p:tavLst>
                                        <p:tav tm="0">
                                          <p:val>
                                            <p:strVal val="ppt_h"/>
                                          </p:val>
                                        </p:tav>
                                        <p:tav tm="100000">
                                          <p:val>
                                            <p:fltVal val="0"/>
                                          </p:val>
                                        </p:tav>
                                      </p:tavLst>
                                    </p:anim>
                                    <p:anim calcmode="lin" valueType="num">
                                      <p:cBhvr>
                                        <p:cTn id="50" dur="1000"/>
                                        <p:tgtEl>
                                          <p:spTgt spid="2"/>
                                        </p:tgtEl>
                                        <p:attrNameLst>
                                          <p:attrName>style.rotation</p:attrName>
                                        </p:attrNameLst>
                                      </p:cBhvr>
                                      <p:tavLst>
                                        <p:tav tm="0">
                                          <p:val>
                                            <p:fltVal val="0"/>
                                          </p:val>
                                        </p:tav>
                                        <p:tav tm="100000">
                                          <p:val>
                                            <p:fltVal val="90"/>
                                          </p:val>
                                        </p:tav>
                                      </p:tavLst>
                                    </p:anim>
                                    <p:animEffect transition="out" filter="fade">
                                      <p:cBhvr>
                                        <p:cTn id="51" dur="1000"/>
                                        <p:tgtEl>
                                          <p:spTgt spid="2"/>
                                        </p:tgtEl>
                                      </p:cBhvr>
                                    </p:animEffect>
                                    <p:set>
                                      <p:cBhvr>
                                        <p:cTn id="52" dur="1" fill="hold">
                                          <p:stCondLst>
                                            <p:cond delay="999"/>
                                          </p:stCondLst>
                                        </p:cTn>
                                        <p:tgtEl>
                                          <p:spTgt spid="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1000" fill="hold"/>
                                        <p:tgtEl>
                                          <p:spTgt spid="12"/>
                                        </p:tgtEl>
                                        <p:attrNameLst>
                                          <p:attrName>ppt_w</p:attrName>
                                        </p:attrNameLst>
                                      </p:cBhvr>
                                      <p:tavLst>
                                        <p:tav tm="0">
                                          <p:val>
                                            <p:fltVal val="0"/>
                                          </p:val>
                                        </p:tav>
                                        <p:tav tm="100000">
                                          <p:val>
                                            <p:strVal val="#ppt_w"/>
                                          </p:val>
                                        </p:tav>
                                      </p:tavLst>
                                    </p:anim>
                                    <p:anim calcmode="lin" valueType="num">
                                      <p:cBhvr>
                                        <p:cTn id="58" dur="1000" fill="hold"/>
                                        <p:tgtEl>
                                          <p:spTgt spid="12"/>
                                        </p:tgtEl>
                                        <p:attrNameLst>
                                          <p:attrName>ppt_h</p:attrName>
                                        </p:attrNameLst>
                                      </p:cBhvr>
                                      <p:tavLst>
                                        <p:tav tm="0">
                                          <p:val>
                                            <p:fltVal val="0"/>
                                          </p:val>
                                        </p:tav>
                                        <p:tav tm="100000">
                                          <p:val>
                                            <p:strVal val="#ppt_h"/>
                                          </p:val>
                                        </p:tav>
                                      </p:tavLst>
                                    </p:anim>
                                    <p:anim calcmode="lin" valueType="num">
                                      <p:cBhvr>
                                        <p:cTn id="59" dur="1000" fill="hold"/>
                                        <p:tgtEl>
                                          <p:spTgt spid="12"/>
                                        </p:tgtEl>
                                        <p:attrNameLst>
                                          <p:attrName>style.rotation</p:attrName>
                                        </p:attrNameLst>
                                      </p:cBhvr>
                                      <p:tavLst>
                                        <p:tav tm="0">
                                          <p:val>
                                            <p:fltVal val="90"/>
                                          </p:val>
                                        </p:tav>
                                        <p:tav tm="100000">
                                          <p:val>
                                            <p:fltVal val="0"/>
                                          </p:val>
                                        </p:tav>
                                      </p:tavLst>
                                    </p:anim>
                                    <p:animEffect transition="in" filter="fade">
                                      <p:cBhvr>
                                        <p:cTn id="6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D0F3BA-E93C-4DFA-A594-B0EC9CCB1EEC}"/>
              </a:ext>
            </a:extLst>
          </p:cNvPr>
          <p:cNvSpPr>
            <a:spLocks noGrp="1"/>
          </p:cNvSpPr>
          <p:nvPr>
            <p:ph type="body" sz="quarter" idx="13"/>
          </p:nvPr>
        </p:nvSpPr>
        <p:spPr>
          <a:xfrm>
            <a:off x="235670" y="1193239"/>
            <a:ext cx="5476973" cy="3310128"/>
          </a:xfrm>
        </p:spPr>
        <p:txBody>
          <a:bodyPr>
            <a:noAutofit/>
          </a:bodyPr>
          <a:lstStyle/>
          <a:p>
            <a:pPr>
              <a:lnSpc>
                <a:spcPct val="90000"/>
              </a:lnSpc>
            </a:pPr>
            <a:r>
              <a:rPr lang="en-GB" sz="1400"/>
              <a:t>If a positive result is seen in an </a:t>
            </a:r>
            <a:r>
              <a:rPr lang="en-GB" sz="1400">
                <a:solidFill>
                  <a:schemeClr val="bg2"/>
                </a:solidFill>
              </a:rPr>
              <a:t>unadjusted endpoint</a:t>
            </a:r>
            <a:r>
              <a:rPr lang="en-GB" sz="1400"/>
              <a:t>, consider:</a:t>
            </a:r>
          </a:p>
          <a:p>
            <a:pPr marL="268163" lvl="1" indent="0">
              <a:lnSpc>
                <a:spcPct val="90000"/>
              </a:lnSpc>
              <a:buNone/>
            </a:pPr>
            <a:endParaRPr lang="en-GB"/>
          </a:p>
          <a:p>
            <a:pPr marL="268163" lvl="1" indent="0">
              <a:lnSpc>
                <a:spcPct val="90000"/>
              </a:lnSpc>
              <a:buNone/>
            </a:pPr>
            <a:endParaRPr lang="en-GB"/>
          </a:p>
        </p:txBody>
      </p:sp>
      <p:sp>
        <p:nvSpPr>
          <p:cNvPr id="5" name="Title 4">
            <a:extLst>
              <a:ext uri="{FF2B5EF4-FFF2-40B4-BE49-F238E27FC236}">
                <a16:creationId xmlns:a16="http://schemas.microsoft.com/office/drawing/2014/main" id="{D84A5045-7434-4681-892A-7D054375AB5B}"/>
              </a:ext>
            </a:extLst>
          </p:cNvPr>
          <p:cNvSpPr>
            <a:spLocks noGrp="1"/>
          </p:cNvSpPr>
          <p:nvPr>
            <p:ph type="title"/>
          </p:nvPr>
        </p:nvSpPr>
        <p:spPr>
          <a:xfrm>
            <a:off x="359152" y="288639"/>
            <a:ext cx="7577139" cy="338554"/>
          </a:xfrm>
        </p:spPr>
        <p:txBody>
          <a:bodyPr anchor="t">
            <a:normAutofit/>
          </a:bodyPr>
          <a:lstStyle/>
          <a:p>
            <a:pPr>
              <a:lnSpc>
                <a:spcPct val="90000"/>
              </a:lnSpc>
            </a:pPr>
            <a:r>
              <a:rPr lang="en-GB" sz="2400"/>
              <a:t>How do we know whether to believe the data?</a:t>
            </a:r>
          </a:p>
        </p:txBody>
      </p:sp>
      <p:sp>
        <p:nvSpPr>
          <p:cNvPr id="14" name="Date Placeholder 4">
            <a:extLst>
              <a:ext uri="{FF2B5EF4-FFF2-40B4-BE49-F238E27FC236}">
                <a16:creationId xmlns:a16="http://schemas.microsoft.com/office/drawing/2014/main" id="{C7113B05-73D9-4033-9527-A782DFE43CD0}"/>
              </a:ext>
            </a:extLst>
          </p:cNvPr>
          <p:cNvSpPr>
            <a:spLocks noGrp="1"/>
          </p:cNvSpPr>
          <p:nvPr>
            <p:ph type="dt" sz="half" idx="28"/>
          </p:nvPr>
        </p:nvSpPr>
        <p:spPr>
          <a:xfrm>
            <a:off x="2985246" y="4704001"/>
            <a:ext cx="3714491" cy="273844"/>
          </a:xfrm>
        </p:spPr>
        <p:txBody>
          <a:bodyPr/>
          <a:lstStyle/>
          <a:p>
            <a:pPr algn="ctr"/>
            <a:r>
              <a:rPr lang="en-US"/>
              <a:t>FoS: Medical Affairs training</a:t>
            </a:r>
            <a:endParaRPr lang="en-GB"/>
          </a:p>
        </p:txBody>
      </p:sp>
      <p:sp>
        <p:nvSpPr>
          <p:cNvPr id="8" name="Slide Number Placeholder 7">
            <a:extLst>
              <a:ext uri="{FF2B5EF4-FFF2-40B4-BE49-F238E27FC236}">
                <a16:creationId xmlns:a16="http://schemas.microsoft.com/office/drawing/2014/main" id="{E419E6BA-A75D-4835-AD5A-88DBD52D0BAF}"/>
              </a:ext>
            </a:extLst>
          </p:cNvPr>
          <p:cNvSpPr>
            <a:spLocks noGrp="1"/>
          </p:cNvSpPr>
          <p:nvPr>
            <p:ph type="sldNum" sz="quarter" idx="30"/>
          </p:nvPr>
        </p:nvSpPr>
        <p:spPr>
          <a:xfrm>
            <a:off x="7953029" y="4704001"/>
            <a:ext cx="830123" cy="273844"/>
          </a:xfrm>
        </p:spPr>
        <p:txBody>
          <a:bodyPr anchor="t">
            <a:normAutofit/>
          </a:bodyPr>
          <a:lstStyle/>
          <a:p>
            <a:pPr>
              <a:spcAft>
                <a:spcPts val="600"/>
              </a:spcAft>
            </a:pPr>
            <a:fld id="{9F9F533D-B52E-4A2F-BF72-0ADD2D94BD75}" type="slidenum">
              <a:rPr lang="en-GB" smtClean="0"/>
              <a:pPr>
                <a:spcAft>
                  <a:spcPts val="600"/>
                </a:spcAft>
              </a:pPr>
              <a:t>15</a:t>
            </a:fld>
            <a:endParaRPr lang="en-GB"/>
          </a:p>
        </p:txBody>
      </p:sp>
      <p:grpSp>
        <p:nvGrpSpPr>
          <p:cNvPr id="20" name="Group 19">
            <a:extLst>
              <a:ext uri="{FF2B5EF4-FFF2-40B4-BE49-F238E27FC236}">
                <a16:creationId xmlns:a16="http://schemas.microsoft.com/office/drawing/2014/main" id="{6F7627F5-B732-45B5-AF62-CB66B71671FE}"/>
              </a:ext>
            </a:extLst>
          </p:cNvPr>
          <p:cNvGrpSpPr/>
          <p:nvPr/>
        </p:nvGrpSpPr>
        <p:grpSpPr>
          <a:xfrm>
            <a:off x="749604" y="1511678"/>
            <a:ext cx="4471283" cy="517098"/>
            <a:chOff x="688534" y="1511678"/>
            <a:chExt cx="4471283" cy="517098"/>
          </a:xfrm>
        </p:grpSpPr>
        <p:sp>
          <p:nvSpPr>
            <p:cNvPr id="7" name="Rectangle 6">
              <a:extLst>
                <a:ext uri="{FF2B5EF4-FFF2-40B4-BE49-F238E27FC236}">
                  <a16:creationId xmlns:a16="http://schemas.microsoft.com/office/drawing/2014/main" id="{7150D426-51EE-4AF9-8B52-E04BCE44BF2D}"/>
                </a:ext>
              </a:extLst>
            </p:cNvPr>
            <p:cNvSpPr/>
            <p:nvPr/>
          </p:nvSpPr>
          <p:spPr>
            <a:xfrm>
              <a:off x="688534" y="1701176"/>
              <a:ext cx="4471283" cy="3276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9" name="Freeform: Shape 8">
              <a:extLst>
                <a:ext uri="{FF2B5EF4-FFF2-40B4-BE49-F238E27FC236}">
                  <a16:creationId xmlns:a16="http://schemas.microsoft.com/office/drawing/2014/main" id="{FFDDC3EC-F203-45F0-A44E-E4ACF2D292B9}"/>
                </a:ext>
              </a:extLst>
            </p:cNvPr>
            <p:cNvSpPr/>
            <p:nvPr/>
          </p:nvSpPr>
          <p:spPr>
            <a:xfrm>
              <a:off x="912099" y="1511678"/>
              <a:ext cx="3129898" cy="383760"/>
            </a:xfrm>
            <a:custGeom>
              <a:avLst/>
              <a:gdLst>
                <a:gd name="connsiteX0" fmla="*/ 0 w 3129898"/>
                <a:gd name="connsiteY0" fmla="*/ 63961 h 383760"/>
                <a:gd name="connsiteX1" fmla="*/ 63961 w 3129898"/>
                <a:gd name="connsiteY1" fmla="*/ 0 h 383760"/>
                <a:gd name="connsiteX2" fmla="*/ 3065937 w 3129898"/>
                <a:gd name="connsiteY2" fmla="*/ 0 h 383760"/>
                <a:gd name="connsiteX3" fmla="*/ 3129898 w 3129898"/>
                <a:gd name="connsiteY3" fmla="*/ 63961 h 383760"/>
                <a:gd name="connsiteX4" fmla="*/ 3129898 w 3129898"/>
                <a:gd name="connsiteY4" fmla="*/ 319799 h 383760"/>
                <a:gd name="connsiteX5" fmla="*/ 3065937 w 3129898"/>
                <a:gd name="connsiteY5" fmla="*/ 383760 h 383760"/>
                <a:gd name="connsiteX6" fmla="*/ 63961 w 3129898"/>
                <a:gd name="connsiteY6" fmla="*/ 383760 h 383760"/>
                <a:gd name="connsiteX7" fmla="*/ 0 w 3129898"/>
                <a:gd name="connsiteY7" fmla="*/ 319799 h 383760"/>
                <a:gd name="connsiteX8" fmla="*/ 0 w 3129898"/>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898" h="383760">
                  <a:moveTo>
                    <a:pt x="0" y="63961"/>
                  </a:moveTo>
                  <a:cubicBezTo>
                    <a:pt x="0" y="28636"/>
                    <a:pt x="28636" y="0"/>
                    <a:pt x="63961" y="0"/>
                  </a:cubicBezTo>
                  <a:lnTo>
                    <a:pt x="3065937" y="0"/>
                  </a:lnTo>
                  <a:cubicBezTo>
                    <a:pt x="3101262" y="0"/>
                    <a:pt x="3129898" y="28636"/>
                    <a:pt x="3129898" y="63961"/>
                  </a:cubicBezTo>
                  <a:lnTo>
                    <a:pt x="3129898" y="319799"/>
                  </a:lnTo>
                  <a:cubicBezTo>
                    <a:pt x="3129898" y="355124"/>
                    <a:pt x="3101262" y="383760"/>
                    <a:pt x="3065937" y="383760"/>
                  </a:cubicBezTo>
                  <a:lnTo>
                    <a:pt x="63961" y="383760"/>
                  </a:lnTo>
                  <a:cubicBezTo>
                    <a:pt x="28636" y="383760"/>
                    <a:pt x="0" y="355124"/>
                    <a:pt x="0" y="319799"/>
                  </a:cubicBezTo>
                  <a:lnTo>
                    <a:pt x="0" y="6396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037" tIns="18734" rIns="137037" bIns="18734" numCol="1" spcCol="1270" anchor="ctr" anchorCtr="0">
              <a:noAutofit/>
            </a:bodyPr>
            <a:lstStyle/>
            <a:p>
              <a:pPr marL="0" lvl="0" indent="0" algn="l" defTabSz="577850">
                <a:lnSpc>
                  <a:spcPct val="90000"/>
                </a:lnSpc>
                <a:spcBef>
                  <a:spcPct val="0"/>
                </a:spcBef>
                <a:spcAft>
                  <a:spcPct val="35000"/>
                </a:spcAft>
                <a:buNone/>
              </a:pPr>
              <a:r>
                <a:rPr lang="en-GB" sz="1300" kern="1200"/>
                <a:t>Was it pre-specified or post-hoc?</a:t>
              </a:r>
            </a:p>
          </p:txBody>
        </p:sp>
      </p:grpSp>
      <p:grpSp>
        <p:nvGrpSpPr>
          <p:cNvPr id="21" name="Group 20">
            <a:extLst>
              <a:ext uri="{FF2B5EF4-FFF2-40B4-BE49-F238E27FC236}">
                <a16:creationId xmlns:a16="http://schemas.microsoft.com/office/drawing/2014/main" id="{85A11366-2D1E-4103-BB2E-F4CF63EEEB52}"/>
              </a:ext>
            </a:extLst>
          </p:cNvPr>
          <p:cNvGrpSpPr/>
          <p:nvPr/>
        </p:nvGrpSpPr>
        <p:grpSpPr>
          <a:xfrm>
            <a:off x="749605" y="2123548"/>
            <a:ext cx="4471283" cy="493219"/>
            <a:chOff x="749605" y="2123548"/>
            <a:chExt cx="4471283" cy="493219"/>
          </a:xfrm>
        </p:grpSpPr>
        <p:sp>
          <p:nvSpPr>
            <p:cNvPr id="10" name="Rectangle 9">
              <a:extLst>
                <a:ext uri="{FF2B5EF4-FFF2-40B4-BE49-F238E27FC236}">
                  <a16:creationId xmlns:a16="http://schemas.microsoft.com/office/drawing/2014/main" id="{B2D82AAB-9C8A-42A6-9465-13ED5C83CFC9}"/>
                </a:ext>
              </a:extLst>
            </p:cNvPr>
            <p:cNvSpPr/>
            <p:nvPr/>
          </p:nvSpPr>
          <p:spPr>
            <a:xfrm>
              <a:off x="749605" y="2289167"/>
              <a:ext cx="4471283" cy="3276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1" name="Freeform: Shape 10">
              <a:extLst>
                <a:ext uri="{FF2B5EF4-FFF2-40B4-BE49-F238E27FC236}">
                  <a16:creationId xmlns:a16="http://schemas.microsoft.com/office/drawing/2014/main" id="{BF4F9814-9EB2-4EDC-BD40-E9C5ECC21A5B}"/>
                </a:ext>
              </a:extLst>
            </p:cNvPr>
            <p:cNvSpPr/>
            <p:nvPr/>
          </p:nvSpPr>
          <p:spPr>
            <a:xfrm>
              <a:off x="973169" y="2123548"/>
              <a:ext cx="3129898" cy="383760"/>
            </a:xfrm>
            <a:custGeom>
              <a:avLst/>
              <a:gdLst>
                <a:gd name="connsiteX0" fmla="*/ 0 w 3129898"/>
                <a:gd name="connsiteY0" fmla="*/ 63961 h 383760"/>
                <a:gd name="connsiteX1" fmla="*/ 63961 w 3129898"/>
                <a:gd name="connsiteY1" fmla="*/ 0 h 383760"/>
                <a:gd name="connsiteX2" fmla="*/ 3065937 w 3129898"/>
                <a:gd name="connsiteY2" fmla="*/ 0 h 383760"/>
                <a:gd name="connsiteX3" fmla="*/ 3129898 w 3129898"/>
                <a:gd name="connsiteY3" fmla="*/ 63961 h 383760"/>
                <a:gd name="connsiteX4" fmla="*/ 3129898 w 3129898"/>
                <a:gd name="connsiteY4" fmla="*/ 319799 h 383760"/>
                <a:gd name="connsiteX5" fmla="*/ 3065937 w 3129898"/>
                <a:gd name="connsiteY5" fmla="*/ 383760 h 383760"/>
                <a:gd name="connsiteX6" fmla="*/ 63961 w 3129898"/>
                <a:gd name="connsiteY6" fmla="*/ 383760 h 383760"/>
                <a:gd name="connsiteX7" fmla="*/ 0 w 3129898"/>
                <a:gd name="connsiteY7" fmla="*/ 319799 h 383760"/>
                <a:gd name="connsiteX8" fmla="*/ 0 w 3129898"/>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898" h="383760">
                  <a:moveTo>
                    <a:pt x="0" y="63961"/>
                  </a:moveTo>
                  <a:cubicBezTo>
                    <a:pt x="0" y="28636"/>
                    <a:pt x="28636" y="0"/>
                    <a:pt x="63961" y="0"/>
                  </a:cubicBezTo>
                  <a:lnTo>
                    <a:pt x="3065937" y="0"/>
                  </a:lnTo>
                  <a:cubicBezTo>
                    <a:pt x="3101262" y="0"/>
                    <a:pt x="3129898" y="28636"/>
                    <a:pt x="3129898" y="63961"/>
                  </a:cubicBezTo>
                  <a:lnTo>
                    <a:pt x="3129898" y="319799"/>
                  </a:lnTo>
                  <a:cubicBezTo>
                    <a:pt x="3129898" y="355124"/>
                    <a:pt x="3101262" y="383760"/>
                    <a:pt x="3065937" y="383760"/>
                  </a:cubicBezTo>
                  <a:lnTo>
                    <a:pt x="63961" y="383760"/>
                  </a:lnTo>
                  <a:cubicBezTo>
                    <a:pt x="28636" y="383760"/>
                    <a:pt x="0" y="355124"/>
                    <a:pt x="0" y="319799"/>
                  </a:cubicBezTo>
                  <a:lnTo>
                    <a:pt x="0" y="6396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037" tIns="18734" rIns="137037" bIns="18734" numCol="1" spcCol="1270" anchor="ctr" anchorCtr="0">
              <a:noAutofit/>
            </a:bodyPr>
            <a:lstStyle/>
            <a:p>
              <a:pPr marL="0" lvl="0" indent="0" algn="l" defTabSz="577850">
                <a:lnSpc>
                  <a:spcPct val="90000"/>
                </a:lnSpc>
                <a:spcBef>
                  <a:spcPct val="0"/>
                </a:spcBef>
                <a:spcAft>
                  <a:spcPct val="35000"/>
                </a:spcAft>
                <a:buNone/>
              </a:pPr>
              <a:r>
                <a:rPr lang="en-GB" sz="1300" kern="1200"/>
                <a:t>Magnitude of the result</a:t>
              </a:r>
            </a:p>
          </p:txBody>
        </p:sp>
      </p:grpSp>
      <p:grpSp>
        <p:nvGrpSpPr>
          <p:cNvPr id="22" name="Group 21">
            <a:extLst>
              <a:ext uri="{FF2B5EF4-FFF2-40B4-BE49-F238E27FC236}">
                <a16:creationId xmlns:a16="http://schemas.microsoft.com/office/drawing/2014/main" id="{0D710404-581E-46C8-AAA4-E1D4FC6D7EED}"/>
              </a:ext>
            </a:extLst>
          </p:cNvPr>
          <p:cNvGrpSpPr/>
          <p:nvPr/>
        </p:nvGrpSpPr>
        <p:grpSpPr>
          <a:xfrm>
            <a:off x="749605" y="2713228"/>
            <a:ext cx="4471283" cy="519480"/>
            <a:chOff x="749605" y="2713228"/>
            <a:chExt cx="4471283" cy="519480"/>
          </a:xfrm>
        </p:grpSpPr>
        <p:sp>
          <p:nvSpPr>
            <p:cNvPr id="12" name="Rectangle 11">
              <a:extLst>
                <a:ext uri="{FF2B5EF4-FFF2-40B4-BE49-F238E27FC236}">
                  <a16:creationId xmlns:a16="http://schemas.microsoft.com/office/drawing/2014/main" id="{084A3AE0-54CE-4C71-827E-8E2787F07EFD}"/>
                </a:ext>
              </a:extLst>
            </p:cNvPr>
            <p:cNvSpPr/>
            <p:nvPr/>
          </p:nvSpPr>
          <p:spPr>
            <a:xfrm>
              <a:off x="749605" y="2905108"/>
              <a:ext cx="4471283" cy="3276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3" name="Freeform: Shape 12">
              <a:extLst>
                <a:ext uri="{FF2B5EF4-FFF2-40B4-BE49-F238E27FC236}">
                  <a16:creationId xmlns:a16="http://schemas.microsoft.com/office/drawing/2014/main" id="{9361F5BD-C04B-481F-8408-4B4BCD593F03}"/>
                </a:ext>
              </a:extLst>
            </p:cNvPr>
            <p:cNvSpPr/>
            <p:nvPr/>
          </p:nvSpPr>
          <p:spPr>
            <a:xfrm>
              <a:off x="973169" y="2713228"/>
              <a:ext cx="3129898" cy="383760"/>
            </a:xfrm>
            <a:custGeom>
              <a:avLst/>
              <a:gdLst>
                <a:gd name="connsiteX0" fmla="*/ 0 w 3129898"/>
                <a:gd name="connsiteY0" fmla="*/ 63961 h 383760"/>
                <a:gd name="connsiteX1" fmla="*/ 63961 w 3129898"/>
                <a:gd name="connsiteY1" fmla="*/ 0 h 383760"/>
                <a:gd name="connsiteX2" fmla="*/ 3065937 w 3129898"/>
                <a:gd name="connsiteY2" fmla="*/ 0 h 383760"/>
                <a:gd name="connsiteX3" fmla="*/ 3129898 w 3129898"/>
                <a:gd name="connsiteY3" fmla="*/ 63961 h 383760"/>
                <a:gd name="connsiteX4" fmla="*/ 3129898 w 3129898"/>
                <a:gd name="connsiteY4" fmla="*/ 319799 h 383760"/>
                <a:gd name="connsiteX5" fmla="*/ 3065937 w 3129898"/>
                <a:gd name="connsiteY5" fmla="*/ 383760 h 383760"/>
                <a:gd name="connsiteX6" fmla="*/ 63961 w 3129898"/>
                <a:gd name="connsiteY6" fmla="*/ 383760 h 383760"/>
                <a:gd name="connsiteX7" fmla="*/ 0 w 3129898"/>
                <a:gd name="connsiteY7" fmla="*/ 319799 h 383760"/>
                <a:gd name="connsiteX8" fmla="*/ 0 w 3129898"/>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898" h="383760">
                  <a:moveTo>
                    <a:pt x="0" y="63961"/>
                  </a:moveTo>
                  <a:cubicBezTo>
                    <a:pt x="0" y="28636"/>
                    <a:pt x="28636" y="0"/>
                    <a:pt x="63961" y="0"/>
                  </a:cubicBezTo>
                  <a:lnTo>
                    <a:pt x="3065937" y="0"/>
                  </a:lnTo>
                  <a:cubicBezTo>
                    <a:pt x="3101262" y="0"/>
                    <a:pt x="3129898" y="28636"/>
                    <a:pt x="3129898" y="63961"/>
                  </a:cubicBezTo>
                  <a:lnTo>
                    <a:pt x="3129898" y="319799"/>
                  </a:lnTo>
                  <a:cubicBezTo>
                    <a:pt x="3129898" y="355124"/>
                    <a:pt x="3101262" y="383760"/>
                    <a:pt x="3065937" y="383760"/>
                  </a:cubicBezTo>
                  <a:lnTo>
                    <a:pt x="63961" y="383760"/>
                  </a:lnTo>
                  <a:cubicBezTo>
                    <a:pt x="28636" y="383760"/>
                    <a:pt x="0" y="355124"/>
                    <a:pt x="0" y="319799"/>
                  </a:cubicBezTo>
                  <a:lnTo>
                    <a:pt x="0" y="6396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037" tIns="18734" rIns="137037" bIns="18734" numCol="1" spcCol="1270" anchor="ctr" anchorCtr="0">
              <a:noAutofit/>
            </a:bodyPr>
            <a:lstStyle/>
            <a:p>
              <a:pPr marL="0" lvl="0" indent="0" algn="l" defTabSz="577850">
                <a:lnSpc>
                  <a:spcPct val="90000"/>
                </a:lnSpc>
                <a:spcBef>
                  <a:spcPct val="0"/>
                </a:spcBef>
                <a:spcAft>
                  <a:spcPct val="35000"/>
                </a:spcAft>
                <a:buNone/>
              </a:pPr>
              <a:r>
                <a:rPr lang="en-GB" sz="1300" kern="1200"/>
                <a:t>Biological plausibility</a:t>
              </a:r>
            </a:p>
          </p:txBody>
        </p:sp>
      </p:grpSp>
      <p:grpSp>
        <p:nvGrpSpPr>
          <p:cNvPr id="23" name="Group 22">
            <a:extLst>
              <a:ext uri="{FF2B5EF4-FFF2-40B4-BE49-F238E27FC236}">
                <a16:creationId xmlns:a16="http://schemas.microsoft.com/office/drawing/2014/main" id="{A29AA20B-12C4-466C-AE4B-2AC73F7CD7C7}"/>
              </a:ext>
            </a:extLst>
          </p:cNvPr>
          <p:cNvGrpSpPr/>
          <p:nvPr/>
        </p:nvGrpSpPr>
        <p:grpSpPr>
          <a:xfrm>
            <a:off x="749605" y="3302908"/>
            <a:ext cx="4471283" cy="519480"/>
            <a:chOff x="749605" y="3302908"/>
            <a:chExt cx="4471283" cy="519480"/>
          </a:xfrm>
        </p:grpSpPr>
        <p:sp>
          <p:nvSpPr>
            <p:cNvPr id="15" name="Rectangle 14">
              <a:extLst>
                <a:ext uri="{FF2B5EF4-FFF2-40B4-BE49-F238E27FC236}">
                  <a16:creationId xmlns:a16="http://schemas.microsoft.com/office/drawing/2014/main" id="{086407A9-49AD-4C26-91C3-DE0679E3306E}"/>
                </a:ext>
              </a:extLst>
            </p:cNvPr>
            <p:cNvSpPr/>
            <p:nvPr/>
          </p:nvSpPr>
          <p:spPr>
            <a:xfrm>
              <a:off x="749605" y="3494788"/>
              <a:ext cx="4471283" cy="3276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7" name="Freeform: Shape 16">
              <a:extLst>
                <a:ext uri="{FF2B5EF4-FFF2-40B4-BE49-F238E27FC236}">
                  <a16:creationId xmlns:a16="http://schemas.microsoft.com/office/drawing/2014/main" id="{B25D94AA-1C09-47F9-9BC6-04345625BF1A}"/>
                </a:ext>
              </a:extLst>
            </p:cNvPr>
            <p:cNvSpPr/>
            <p:nvPr/>
          </p:nvSpPr>
          <p:spPr>
            <a:xfrm>
              <a:off x="973169" y="3302908"/>
              <a:ext cx="3129898" cy="383760"/>
            </a:xfrm>
            <a:custGeom>
              <a:avLst/>
              <a:gdLst>
                <a:gd name="connsiteX0" fmla="*/ 0 w 3129898"/>
                <a:gd name="connsiteY0" fmla="*/ 63961 h 383760"/>
                <a:gd name="connsiteX1" fmla="*/ 63961 w 3129898"/>
                <a:gd name="connsiteY1" fmla="*/ 0 h 383760"/>
                <a:gd name="connsiteX2" fmla="*/ 3065937 w 3129898"/>
                <a:gd name="connsiteY2" fmla="*/ 0 h 383760"/>
                <a:gd name="connsiteX3" fmla="*/ 3129898 w 3129898"/>
                <a:gd name="connsiteY3" fmla="*/ 63961 h 383760"/>
                <a:gd name="connsiteX4" fmla="*/ 3129898 w 3129898"/>
                <a:gd name="connsiteY4" fmla="*/ 319799 h 383760"/>
                <a:gd name="connsiteX5" fmla="*/ 3065937 w 3129898"/>
                <a:gd name="connsiteY5" fmla="*/ 383760 h 383760"/>
                <a:gd name="connsiteX6" fmla="*/ 63961 w 3129898"/>
                <a:gd name="connsiteY6" fmla="*/ 383760 h 383760"/>
                <a:gd name="connsiteX7" fmla="*/ 0 w 3129898"/>
                <a:gd name="connsiteY7" fmla="*/ 319799 h 383760"/>
                <a:gd name="connsiteX8" fmla="*/ 0 w 3129898"/>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898" h="383760">
                  <a:moveTo>
                    <a:pt x="0" y="63961"/>
                  </a:moveTo>
                  <a:cubicBezTo>
                    <a:pt x="0" y="28636"/>
                    <a:pt x="28636" y="0"/>
                    <a:pt x="63961" y="0"/>
                  </a:cubicBezTo>
                  <a:lnTo>
                    <a:pt x="3065937" y="0"/>
                  </a:lnTo>
                  <a:cubicBezTo>
                    <a:pt x="3101262" y="0"/>
                    <a:pt x="3129898" y="28636"/>
                    <a:pt x="3129898" y="63961"/>
                  </a:cubicBezTo>
                  <a:lnTo>
                    <a:pt x="3129898" y="319799"/>
                  </a:lnTo>
                  <a:cubicBezTo>
                    <a:pt x="3129898" y="355124"/>
                    <a:pt x="3101262" y="383760"/>
                    <a:pt x="3065937" y="383760"/>
                  </a:cubicBezTo>
                  <a:lnTo>
                    <a:pt x="63961" y="383760"/>
                  </a:lnTo>
                  <a:cubicBezTo>
                    <a:pt x="28636" y="383760"/>
                    <a:pt x="0" y="355124"/>
                    <a:pt x="0" y="319799"/>
                  </a:cubicBezTo>
                  <a:lnTo>
                    <a:pt x="0" y="6396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037" tIns="18734" rIns="137037" bIns="18734" numCol="1" spcCol="1270" anchor="ctr" anchorCtr="0">
              <a:noAutofit/>
            </a:bodyPr>
            <a:lstStyle/>
            <a:p>
              <a:pPr marL="0" lvl="0" indent="0" algn="l" defTabSz="577850">
                <a:lnSpc>
                  <a:spcPct val="90000"/>
                </a:lnSpc>
                <a:spcBef>
                  <a:spcPct val="0"/>
                </a:spcBef>
                <a:spcAft>
                  <a:spcPct val="35000"/>
                </a:spcAft>
                <a:buNone/>
              </a:pPr>
              <a:r>
                <a:rPr lang="en-GB" sz="1300" kern="1200"/>
                <a:t>Replication (other studies/external literature)?</a:t>
              </a:r>
            </a:p>
          </p:txBody>
        </p:sp>
      </p:grpSp>
      <p:grpSp>
        <p:nvGrpSpPr>
          <p:cNvPr id="24" name="Group 23">
            <a:extLst>
              <a:ext uri="{FF2B5EF4-FFF2-40B4-BE49-F238E27FC236}">
                <a16:creationId xmlns:a16="http://schemas.microsoft.com/office/drawing/2014/main" id="{3A3D38F1-0A1E-4B9E-94C4-4A30FE82D420}"/>
              </a:ext>
            </a:extLst>
          </p:cNvPr>
          <p:cNvGrpSpPr/>
          <p:nvPr/>
        </p:nvGrpSpPr>
        <p:grpSpPr>
          <a:xfrm>
            <a:off x="749605" y="3892588"/>
            <a:ext cx="4471283" cy="519480"/>
            <a:chOff x="749605" y="3892588"/>
            <a:chExt cx="4471283" cy="519480"/>
          </a:xfrm>
        </p:grpSpPr>
        <p:sp>
          <p:nvSpPr>
            <p:cNvPr id="18" name="Rectangle 17">
              <a:extLst>
                <a:ext uri="{FF2B5EF4-FFF2-40B4-BE49-F238E27FC236}">
                  <a16:creationId xmlns:a16="http://schemas.microsoft.com/office/drawing/2014/main" id="{FC1A9415-49EB-4901-8742-C8082BBD1F80}"/>
                </a:ext>
              </a:extLst>
            </p:cNvPr>
            <p:cNvSpPr/>
            <p:nvPr/>
          </p:nvSpPr>
          <p:spPr>
            <a:xfrm>
              <a:off x="749605" y="4084468"/>
              <a:ext cx="4471283" cy="3276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9" name="Freeform: Shape 18">
              <a:extLst>
                <a:ext uri="{FF2B5EF4-FFF2-40B4-BE49-F238E27FC236}">
                  <a16:creationId xmlns:a16="http://schemas.microsoft.com/office/drawing/2014/main" id="{C153403C-A929-4A43-AB3A-4C24B529F6AE}"/>
                </a:ext>
              </a:extLst>
            </p:cNvPr>
            <p:cNvSpPr/>
            <p:nvPr/>
          </p:nvSpPr>
          <p:spPr>
            <a:xfrm>
              <a:off x="973169" y="3892588"/>
              <a:ext cx="3129898" cy="383760"/>
            </a:xfrm>
            <a:custGeom>
              <a:avLst/>
              <a:gdLst>
                <a:gd name="connsiteX0" fmla="*/ 0 w 3129898"/>
                <a:gd name="connsiteY0" fmla="*/ 63961 h 383760"/>
                <a:gd name="connsiteX1" fmla="*/ 63961 w 3129898"/>
                <a:gd name="connsiteY1" fmla="*/ 0 h 383760"/>
                <a:gd name="connsiteX2" fmla="*/ 3065937 w 3129898"/>
                <a:gd name="connsiteY2" fmla="*/ 0 h 383760"/>
                <a:gd name="connsiteX3" fmla="*/ 3129898 w 3129898"/>
                <a:gd name="connsiteY3" fmla="*/ 63961 h 383760"/>
                <a:gd name="connsiteX4" fmla="*/ 3129898 w 3129898"/>
                <a:gd name="connsiteY4" fmla="*/ 319799 h 383760"/>
                <a:gd name="connsiteX5" fmla="*/ 3065937 w 3129898"/>
                <a:gd name="connsiteY5" fmla="*/ 383760 h 383760"/>
                <a:gd name="connsiteX6" fmla="*/ 63961 w 3129898"/>
                <a:gd name="connsiteY6" fmla="*/ 383760 h 383760"/>
                <a:gd name="connsiteX7" fmla="*/ 0 w 3129898"/>
                <a:gd name="connsiteY7" fmla="*/ 319799 h 383760"/>
                <a:gd name="connsiteX8" fmla="*/ 0 w 3129898"/>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898" h="383760">
                  <a:moveTo>
                    <a:pt x="0" y="63961"/>
                  </a:moveTo>
                  <a:cubicBezTo>
                    <a:pt x="0" y="28636"/>
                    <a:pt x="28636" y="0"/>
                    <a:pt x="63961" y="0"/>
                  </a:cubicBezTo>
                  <a:lnTo>
                    <a:pt x="3065937" y="0"/>
                  </a:lnTo>
                  <a:cubicBezTo>
                    <a:pt x="3101262" y="0"/>
                    <a:pt x="3129898" y="28636"/>
                    <a:pt x="3129898" y="63961"/>
                  </a:cubicBezTo>
                  <a:lnTo>
                    <a:pt x="3129898" y="319799"/>
                  </a:lnTo>
                  <a:cubicBezTo>
                    <a:pt x="3129898" y="355124"/>
                    <a:pt x="3101262" y="383760"/>
                    <a:pt x="3065937" y="383760"/>
                  </a:cubicBezTo>
                  <a:lnTo>
                    <a:pt x="63961" y="383760"/>
                  </a:lnTo>
                  <a:cubicBezTo>
                    <a:pt x="28636" y="383760"/>
                    <a:pt x="0" y="355124"/>
                    <a:pt x="0" y="319799"/>
                  </a:cubicBezTo>
                  <a:lnTo>
                    <a:pt x="0" y="6396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037" tIns="18734" rIns="137037" bIns="18734" numCol="1" spcCol="1270" anchor="ctr" anchorCtr="0">
              <a:noAutofit/>
            </a:bodyPr>
            <a:lstStyle/>
            <a:p>
              <a:pPr marL="0" lvl="0" indent="0" algn="l" defTabSz="577850">
                <a:lnSpc>
                  <a:spcPct val="90000"/>
                </a:lnSpc>
                <a:spcBef>
                  <a:spcPct val="0"/>
                </a:spcBef>
                <a:spcAft>
                  <a:spcPct val="35000"/>
                </a:spcAft>
                <a:buNone/>
              </a:pPr>
              <a:r>
                <a:rPr lang="en-GB" sz="1300" kern="1200"/>
                <a:t>Consistency (associated endpoints/similar drugs)?</a:t>
              </a:r>
            </a:p>
          </p:txBody>
        </p:sp>
      </p:grpSp>
      <p:pic>
        <p:nvPicPr>
          <p:cNvPr id="25" name="Graphic 24" descr="Confused person">
            <a:extLst>
              <a:ext uri="{FF2B5EF4-FFF2-40B4-BE49-F238E27FC236}">
                <a16:creationId xmlns:a16="http://schemas.microsoft.com/office/drawing/2014/main" id="{030A6932-171C-4F10-A0DD-CC2D6B505E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46607" y="2650589"/>
            <a:ext cx="1688398" cy="1688398"/>
          </a:xfrm>
          <a:prstGeom prst="rect">
            <a:avLst/>
          </a:prstGeom>
        </p:spPr>
      </p:pic>
      <p:grpSp>
        <p:nvGrpSpPr>
          <p:cNvPr id="4" name="Group 3">
            <a:extLst>
              <a:ext uri="{FF2B5EF4-FFF2-40B4-BE49-F238E27FC236}">
                <a16:creationId xmlns:a16="http://schemas.microsoft.com/office/drawing/2014/main" id="{11ADB507-9493-40D8-86FE-16484CF3765A}"/>
              </a:ext>
            </a:extLst>
          </p:cNvPr>
          <p:cNvGrpSpPr/>
          <p:nvPr/>
        </p:nvGrpSpPr>
        <p:grpSpPr>
          <a:xfrm>
            <a:off x="5505523" y="1338114"/>
            <a:ext cx="1797837" cy="1797837"/>
            <a:chOff x="5505523" y="1338114"/>
            <a:chExt cx="1797837" cy="1797837"/>
          </a:xfrm>
        </p:grpSpPr>
        <p:pic>
          <p:nvPicPr>
            <p:cNvPr id="27" name="Graphic 26" descr="Thought bubble">
              <a:extLst>
                <a:ext uri="{FF2B5EF4-FFF2-40B4-BE49-F238E27FC236}">
                  <a16:creationId xmlns:a16="http://schemas.microsoft.com/office/drawing/2014/main" id="{8721BF20-19B6-4877-9145-63DB1C3D68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5505523" y="1338114"/>
              <a:ext cx="1797837" cy="1797837"/>
            </a:xfrm>
            <a:prstGeom prst="rect">
              <a:avLst/>
            </a:prstGeom>
          </p:spPr>
        </p:pic>
        <p:pic>
          <p:nvPicPr>
            <p:cNvPr id="28" name="Graphic 27" descr="Question mark">
              <a:extLst>
                <a:ext uri="{FF2B5EF4-FFF2-40B4-BE49-F238E27FC236}">
                  <a16:creationId xmlns:a16="http://schemas.microsoft.com/office/drawing/2014/main" id="{487FA5A3-3D2E-4EA0-9993-1000C115A9F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1963" y="1775766"/>
              <a:ext cx="522700" cy="522700"/>
            </a:xfrm>
            <a:prstGeom prst="rect">
              <a:avLst/>
            </a:prstGeom>
          </p:spPr>
        </p:pic>
      </p:grpSp>
      <p:sp>
        <p:nvSpPr>
          <p:cNvPr id="26" name="Text Placeholder 2">
            <a:extLst>
              <a:ext uri="{FF2B5EF4-FFF2-40B4-BE49-F238E27FC236}">
                <a16:creationId xmlns:a16="http://schemas.microsoft.com/office/drawing/2014/main" id="{CC85C325-B376-465E-8CFF-C7821745B7A7}"/>
              </a:ext>
            </a:extLst>
          </p:cNvPr>
          <p:cNvSpPr txBox="1">
            <a:spLocks/>
          </p:cNvSpPr>
          <p:nvPr/>
        </p:nvSpPr>
        <p:spPr>
          <a:xfrm>
            <a:off x="359152" y="693553"/>
            <a:ext cx="7578000" cy="276999"/>
          </a:xfrm>
          <a:prstGeom prst="rect">
            <a:avLst/>
          </a:prstGeom>
        </p:spPr>
        <p:txBody>
          <a:bodyPr lIns="0" tIns="0"/>
          <a:lstStyle>
            <a:lvl1pPr marL="0" indent="0" algn="l" defTabSz="914400" rtl="0" eaLnBrk="1" latinLnBrk="0" hangingPunct="1">
              <a:spcBef>
                <a:spcPts val="0"/>
              </a:spcBef>
              <a:spcAft>
                <a:spcPts val="600"/>
              </a:spcAft>
              <a:buClr>
                <a:schemeClr val="tx1"/>
              </a:buClr>
              <a:buFont typeface="Arial" pitchFamily="34" charset="0"/>
              <a:buNone/>
              <a:defRPr sz="1100" kern="1200" baseline="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r>
              <a:rPr lang="en-GB" sz="1600"/>
              <a:t>Interpreting data</a:t>
            </a:r>
          </a:p>
        </p:txBody>
      </p:sp>
    </p:spTree>
    <p:extLst>
      <p:ext uri="{BB962C8B-B14F-4D97-AF65-F5344CB8AC3E}">
        <p14:creationId xmlns:p14="http://schemas.microsoft.com/office/powerpoint/2010/main" val="329523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7B538F-6376-40FF-8CD7-9A60C0DCF3D5}"/>
              </a:ext>
            </a:extLst>
          </p:cNvPr>
          <p:cNvSpPr>
            <a:spLocks noGrp="1"/>
          </p:cNvSpPr>
          <p:nvPr>
            <p:ph sz="quarter" idx="12"/>
          </p:nvPr>
        </p:nvSpPr>
        <p:spPr>
          <a:xfrm>
            <a:off x="359152" y="1290592"/>
            <a:ext cx="8423275" cy="3070050"/>
          </a:xfrm>
        </p:spPr>
        <p:txBody>
          <a:bodyPr/>
          <a:lstStyle/>
          <a:p>
            <a:pPr marL="0" indent="0">
              <a:buNone/>
            </a:pPr>
            <a:r>
              <a:rPr lang="en-GB" sz="1800"/>
              <a:t>Which of these is a source of multiplicity in a clinical study?</a:t>
            </a:r>
          </a:p>
          <a:p>
            <a:endParaRPr lang="en-GB"/>
          </a:p>
          <a:p>
            <a:pPr marL="611063" lvl="1" indent="-342900">
              <a:buFont typeface="+mj-lt"/>
              <a:buAutoNum type="alphaLcParenR"/>
            </a:pPr>
            <a:r>
              <a:rPr lang="en-GB" sz="1600"/>
              <a:t>More than one endpoint</a:t>
            </a:r>
          </a:p>
          <a:p>
            <a:pPr marL="611063" lvl="1" indent="-342900">
              <a:buFont typeface="+mj-lt"/>
              <a:buAutoNum type="alphaLcParenR"/>
            </a:pPr>
            <a:r>
              <a:rPr lang="en-GB" sz="1600"/>
              <a:t>More than one dose of experimental treatment</a:t>
            </a:r>
          </a:p>
          <a:p>
            <a:pPr marL="611063" lvl="1" indent="-342900">
              <a:buFont typeface="+mj-lt"/>
              <a:buAutoNum type="alphaLcParenR"/>
            </a:pPr>
            <a:r>
              <a:rPr lang="en-GB" sz="1600"/>
              <a:t>Interim analysis</a:t>
            </a:r>
          </a:p>
          <a:p>
            <a:pPr marL="611063" lvl="1" indent="-342900">
              <a:buFont typeface="+mj-lt"/>
              <a:buAutoNum type="alphaLcParenR"/>
            </a:pPr>
            <a:r>
              <a:rPr lang="en-GB" sz="1600"/>
              <a:t>Subgroup analyses</a:t>
            </a:r>
          </a:p>
          <a:p>
            <a:pPr marL="611063" lvl="1" indent="-342900">
              <a:buFont typeface="+mj-lt"/>
              <a:buAutoNum type="alphaLcParenR"/>
            </a:pPr>
            <a:r>
              <a:rPr lang="en-GB" sz="1600"/>
              <a:t>All of the above</a:t>
            </a:r>
          </a:p>
        </p:txBody>
      </p:sp>
      <p:sp>
        <p:nvSpPr>
          <p:cNvPr id="3" name="Text Placeholder 2">
            <a:extLst>
              <a:ext uri="{FF2B5EF4-FFF2-40B4-BE49-F238E27FC236}">
                <a16:creationId xmlns:a16="http://schemas.microsoft.com/office/drawing/2014/main" id="{2560263F-0E72-4DCA-B4E0-E4143BF0C703}"/>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02FB68AC-F7AB-4A0E-9EBC-5CB7AF2D3DEF}"/>
              </a:ext>
            </a:extLst>
          </p:cNvPr>
          <p:cNvSpPr>
            <a:spLocks noGrp="1"/>
          </p:cNvSpPr>
          <p:nvPr>
            <p:ph type="title"/>
          </p:nvPr>
        </p:nvSpPr>
        <p:spPr/>
        <p:txBody>
          <a:bodyPr/>
          <a:lstStyle/>
          <a:p>
            <a:r>
              <a:rPr lang="en-GB"/>
              <a:t>Knowledge Check</a:t>
            </a:r>
          </a:p>
        </p:txBody>
      </p:sp>
      <p:sp>
        <p:nvSpPr>
          <p:cNvPr id="8" name="Slide Number Placeholder 7">
            <a:extLst>
              <a:ext uri="{FF2B5EF4-FFF2-40B4-BE49-F238E27FC236}">
                <a16:creationId xmlns:a16="http://schemas.microsoft.com/office/drawing/2014/main" id="{38F6EDDD-1DB9-484E-A3D4-CCE33E14E44B}"/>
              </a:ext>
            </a:extLst>
          </p:cNvPr>
          <p:cNvSpPr>
            <a:spLocks noGrp="1"/>
          </p:cNvSpPr>
          <p:nvPr>
            <p:ph type="sldNum" sz="quarter" idx="21"/>
          </p:nvPr>
        </p:nvSpPr>
        <p:spPr/>
        <p:txBody>
          <a:bodyPr/>
          <a:lstStyle/>
          <a:p>
            <a:fld id="{9F9F533D-B52E-4A2F-BF72-0ADD2D94BD75}" type="slidenum">
              <a:rPr lang="en-GB" smtClean="0"/>
              <a:pPr/>
              <a:t>16</a:t>
            </a:fld>
            <a:endParaRPr lang="en-GB"/>
          </a:p>
        </p:txBody>
      </p:sp>
      <p:sp>
        <p:nvSpPr>
          <p:cNvPr id="9" name="Date Placeholder 1">
            <a:extLst>
              <a:ext uri="{FF2B5EF4-FFF2-40B4-BE49-F238E27FC236}">
                <a16:creationId xmlns:a16="http://schemas.microsoft.com/office/drawing/2014/main" id="{D2C36DDF-AA19-49C3-BEAF-CD80191A0DCD}"/>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10" name="Graphic 9" descr="Head with gears">
            <a:extLst>
              <a:ext uri="{FF2B5EF4-FFF2-40B4-BE49-F238E27FC236}">
                <a16:creationId xmlns:a16="http://schemas.microsoft.com/office/drawing/2014/main" id="{9E21BD9B-4DC0-476F-A66E-0C97913E91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Tree>
    <p:extLst>
      <p:ext uri="{BB962C8B-B14F-4D97-AF65-F5344CB8AC3E}">
        <p14:creationId xmlns:p14="http://schemas.microsoft.com/office/powerpoint/2010/main" val="261914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iterate type="lt">
                                    <p:tmPct val="0"/>
                                  </p:iterate>
                                  <p:childTnLst>
                                    <p:animClr clrSpc="rgb" dir="cw">
                                      <p:cBhvr override="childStyle">
                                        <p:cTn id="6" dur="500" fill="hold"/>
                                        <p:tgtEl>
                                          <p:spTgt spid="2">
                                            <p:txEl>
                                              <p:pRg st="6" end="6"/>
                                            </p:txEl>
                                          </p:spTgt>
                                        </p:tgtEl>
                                        <p:attrNameLst>
                                          <p:attrName>style.color</p:attrName>
                                        </p:attrNameLst>
                                      </p:cBhvr>
                                      <p:to>
                                        <a:schemeClr val="tx2"/>
                                      </p:to>
                                    </p:animClr>
                                    <p:animClr clrSpc="rgb" dir="cw">
                                      <p:cBhvr>
                                        <p:cTn id="7" dur="500" fill="hold"/>
                                        <p:tgtEl>
                                          <p:spTgt spid="2">
                                            <p:txEl>
                                              <p:pRg st="6" end="6"/>
                                            </p:txEl>
                                          </p:spTgt>
                                        </p:tgtEl>
                                        <p:attrNameLst>
                                          <p:attrName>fillcolor</p:attrName>
                                        </p:attrNameLst>
                                      </p:cBhvr>
                                      <p:to>
                                        <a:schemeClr val="tx2"/>
                                      </p:to>
                                    </p:animClr>
                                    <p:set>
                                      <p:cBhvr>
                                        <p:cTn id="8" dur="500" fill="hold"/>
                                        <p:tgtEl>
                                          <p:spTgt spid="2">
                                            <p:txEl>
                                              <p:pRg st="6" end="6"/>
                                            </p:txEl>
                                          </p:spTgt>
                                        </p:tgtEl>
                                        <p:attrNameLst>
                                          <p:attrName>fill.type</p:attrName>
                                        </p:attrNameLst>
                                      </p:cBhvr>
                                      <p:to>
                                        <p:strVal val="solid"/>
                                      </p:to>
                                    </p:set>
                                    <p:set>
                                      <p:cBhvr>
                                        <p:cTn id="9" dur="500" fill="hold"/>
                                        <p:tgtEl>
                                          <p:spTgt spid="2">
                                            <p:txEl>
                                              <p:pRg st="6" end="6"/>
                                            </p:txEl>
                                          </p:spTgt>
                                        </p:tgtEl>
                                        <p:attrNameLst>
                                          <p:attrName>fill.on</p:attrName>
                                        </p:attrNameLst>
                                      </p:cBhvr>
                                      <p:to>
                                        <p:strVal val="true"/>
                                      </p:to>
                                    </p:set>
                                  </p:childTnLst>
                                </p:cTn>
                              </p:par>
                              <p:par>
                                <p:cTn id="10" presetID="18" presetClass="emph" presetSubtype="0" fill="hold" nodeType="withEffect">
                                  <p:stCondLst>
                                    <p:cond delay="0"/>
                                  </p:stCondLst>
                                  <p:iterate type="lt">
                                    <p:tmPct val="4000"/>
                                  </p:iterate>
                                  <p:childTnLst>
                                    <p:set>
                                      <p:cBhvr override="childStyle">
                                        <p:cTn id="11" dur="500" fill="hold"/>
                                        <p:tgtEl>
                                          <p:spTgt spid="2">
                                            <p:txEl>
                                              <p:pRg st="6" end="6"/>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59CBF3-608E-4411-8DB2-0FDD0ADDE66B}"/>
              </a:ext>
            </a:extLst>
          </p:cNvPr>
          <p:cNvSpPr>
            <a:spLocks noGrp="1"/>
          </p:cNvSpPr>
          <p:nvPr>
            <p:ph sz="quarter" idx="12"/>
          </p:nvPr>
        </p:nvSpPr>
        <p:spPr/>
        <p:txBody>
          <a:bodyPr/>
          <a:lstStyle/>
          <a:p>
            <a:pPr marL="0" indent="0">
              <a:buNone/>
            </a:pPr>
            <a:r>
              <a:rPr lang="en-GB" sz="1800"/>
              <a:t>Why is multiplicity an issue?</a:t>
            </a:r>
          </a:p>
          <a:p>
            <a:endParaRPr lang="en-GB"/>
          </a:p>
          <a:p>
            <a:pPr marL="611063" lvl="1" indent="-342900">
              <a:buAutoNum type="alphaLcParenR"/>
            </a:pPr>
            <a:r>
              <a:rPr lang="en-GB" sz="1600"/>
              <a:t>It’s not an issue in phase 3</a:t>
            </a:r>
          </a:p>
          <a:p>
            <a:pPr marL="611063" lvl="1" indent="-342900">
              <a:buAutoNum type="alphaLcParenR"/>
            </a:pPr>
            <a:r>
              <a:rPr lang="en-GB" sz="1600"/>
              <a:t>The result may be a false negative</a:t>
            </a:r>
          </a:p>
          <a:p>
            <a:pPr marL="611063" lvl="1" indent="-342900">
              <a:buAutoNum type="alphaLcParenR"/>
            </a:pPr>
            <a:r>
              <a:rPr lang="en-GB" sz="1600"/>
              <a:t>The result may be a false positive</a:t>
            </a:r>
          </a:p>
          <a:p>
            <a:pPr marL="611063" lvl="1" indent="-342900">
              <a:buAutoNum type="alphaLcParenR"/>
            </a:pPr>
            <a:r>
              <a:rPr lang="en-GB" sz="1600"/>
              <a:t>The study may be underpowered</a:t>
            </a:r>
          </a:p>
          <a:p>
            <a:pPr marL="611063" lvl="1" indent="-342900">
              <a:buAutoNum type="alphaLcParenR"/>
            </a:pPr>
            <a:r>
              <a:rPr lang="en-GB" sz="1600"/>
              <a:t>We may incorrectly accept the null hypothesis</a:t>
            </a:r>
          </a:p>
          <a:p>
            <a:pPr marL="0" indent="0">
              <a:buNone/>
            </a:pPr>
            <a:endParaRPr lang="en-GB"/>
          </a:p>
        </p:txBody>
      </p:sp>
      <p:sp>
        <p:nvSpPr>
          <p:cNvPr id="3" name="Text Placeholder 2">
            <a:extLst>
              <a:ext uri="{FF2B5EF4-FFF2-40B4-BE49-F238E27FC236}">
                <a16:creationId xmlns:a16="http://schemas.microsoft.com/office/drawing/2014/main" id="{F9C78ACF-9E91-42FF-85BD-F566474AD1BA}"/>
              </a:ext>
            </a:extLst>
          </p:cNvPr>
          <p:cNvSpPr>
            <a:spLocks noGrp="1"/>
          </p:cNvSpPr>
          <p:nvPr>
            <p:ph type="body" sz="quarter" idx="14"/>
          </p:nvPr>
        </p:nvSpPr>
        <p:spPr/>
        <p:txBody>
          <a:bodyPr/>
          <a:lstStyle/>
          <a:p>
            <a:endParaRPr lang="en-GB"/>
          </a:p>
        </p:txBody>
      </p:sp>
      <p:sp>
        <p:nvSpPr>
          <p:cNvPr id="4" name="Text Placeholder 3">
            <a:extLst>
              <a:ext uri="{FF2B5EF4-FFF2-40B4-BE49-F238E27FC236}">
                <a16:creationId xmlns:a16="http://schemas.microsoft.com/office/drawing/2014/main" id="{647AC05E-ED08-4C72-BE2D-B7BA346F2CD3}"/>
              </a:ext>
            </a:extLst>
          </p:cNvPr>
          <p:cNvSpPr>
            <a:spLocks noGrp="1"/>
          </p:cNvSpPr>
          <p:nvPr>
            <p:ph type="body" sz="quarter" idx="18"/>
          </p:nvPr>
        </p:nvSpPr>
        <p:spPr/>
        <p:txBody>
          <a:bodyPr/>
          <a:lstStyle/>
          <a:p>
            <a:endParaRPr lang="en-GB"/>
          </a:p>
        </p:txBody>
      </p:sp>
      <p:sp>
        <p:nvSpPr>
          <p:cNvPr id="5" name="Title 4">
            <a:extLst>
              <a:ext uri="{FF2B5EF4-FFF2-40B4-BE49-F238E27FC236}">
                <a16:creationId xmlns:a16="http://schemas.microsoft.com/office/drawing/2014/main" id="{0DA462E9-4729-409F-AFAF-5F5D81C605B2}"/>
              </a:ext>
            </a:extLst>
          </p:cNvPr>
          <p:cNvSpPr>
            <a:spLocks noGrp="1"/>
          </p:cNvSpPr>
          <p:nvPr>
            <p:ph type="title"/>
          </p:nvPr>
        </p:nvSpPr>
        <p:spPr/>
        <p:txBody>
          <a:bodyPr/>
          <a:lstStyle/>
          <a:p>
            <a:r>
              <a:rPr lang="en-GB"/>
              <a:t>Knowledge Check</a:t>
            </a:r>
          </a:p>
        </p:txBody>
      </p:sp>
      <p:sp>
        <p:nvSpPr>
          <p:cNvPr id="8" name="Slide Number Placeholder 7">
            <a:extLst>
              <a:ext uri="{FF2B5EF4-FFF2-40B4-BE49-F238E27FC236}">
                <a16:creationId xmlns:a16="http://schemas.microsoft.com/office/drawing/2014/main" id="{667EAF5B-E8FE-4C84-AF37-A4729DC55EDA}"/>
              </a:ext>
            </a:extLst>
          </p:cNvPr>
          <p:cNvSpPr>
            <a:spLocks noGrp="1"/>
          </p:cNvSpPr>
          <p:nvPr>
            <p:ph type="sldNum" sz="quarter" idx="21"/>
          </p:nvPr>
        </p:nvSpPr>
        <p:spPr/>
        <p:txBody>
          <a:bodyPr/>
          <a:lstStyle/>
          <a:p>
            <a:fld id="{9F9F533D-B52E-4A2F-BF72-0ADD2D94BD75}" type="slidenum">
              <a:rPr lang="en-GB" smtClean="0"/>
              <a:pPr/>
              <a:t>17</a:t>
            </a:fld>
            <a:endParaRPr lang="en-GB"/>
          </a:p>
        </p:txBody>
      </p:sp>
      <p:sp>
        <p:nvSpPr>
          <p:cNvPr id="9" name="Date Placeholder 1">
            <a:extLst>
              <a:ext uri="{FF2B5EF4-FFF2-40B4-BE49-F238E27FC236}">
                <a16:creationId xmlns:a16="http://schemas.microsoft.com/office/drawing/2014/main" id="{D9DB2F5A-A2F8-49A5-BE2D-E6D776EBEBD6}"/>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10" name="Graphic 9" descr="Head with gears">
            <a:extLst>
              <a:ext uri="{FF2B5EF4-FFF2-40B4-BE49-F238E27FC236}">
                <a16:creationId xmlns:a16="http://schemas.microsoft.com/office/drawing/2014/main" id="{02AF345E-8772-48D2-AE89-55446B6705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Tree>
    <p:extLst>
      <p:ext uri="{BB962C8B-B14F-4D97-AF65-F5344CB8AC3E}">
        <p14:creationId xmlns:p14="http://schemas.microsoft.com/office/powerpoint/2010/main" val="374651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iterate type="lt">
                                    <p:tmPct val="0"/>
                                  </p:iterate>
                                  <p:childTnLst>
                                    <p:animClr clrSpc="rgb" dir="cw">
                                      <p:cBhvr override="childStyle">
                                        <p:cTn id="6" dur="500" fill="hold"/>
                                        <p:tgtEl>
                                          <p:spTgt spid="2">
                                            <p:txEl>
                                              <p:pRg st="4" end="4"/>
                                            </p:txEl>
                                          </p:spTgt>
                                        </p:tgtEl>
                                        <p:attrNameLst>
                                          <p:attrName>style.color</p:attrName>
                                        </p:attrNameLst>
                                      </p:cBhvr>
                                      <p:to>
                                        <a:schemeClr val="tx2"/>
                                      </p:to>
                                    </p:animClr>
                                    <p:animClr clrSpc="rgb" dir="cw">
                                      <p:cBhvr>
                                        <p:cTn id="7" dur="500" fill="hold"/>
                                        <p:tgtEl>
                                          <p:spTgt spid="2">
                                            <p:txEl>
                                              <p:pRg st="4" end="4"/>
                                            </p:txEl>
                                          </p:spTgt>
                                        </p:tgtEl>
                                        <p:attrNameLst>
                                          <p:attrName>fillcolor</p:attrName>
                                        </p:attrNameLst>
                                      </p:cBhvr>
                                      <p:to>
                                        <a:schemeClr val="tx2"/>
                                      </p:to>
                                    </p:animClr>
                                    <p:set>
                                      <p:cBhvr>
                                        <p:cTn id="8" dur="500" fill="hold"/>
                                        <p:tgtEl>
                                          <p:spTgt spid="2">
                                            <p:txEl>
                                              <p:pRg st="4" end="4"/>
                                            </p:txEl>
                                          </p:spTgt>
                                        </p:tgtEl>
                                        <p:attrNameLst>
                                          <p:attrName>fill.type</p:attrName>
                                        </p:attrNameLst>
                                      </p:cBhvr>
                                      <p:to>
                                        <p:strVal val="solid"/>
                                      </p:to>
                                    </p:set>
                                    <p:set>
                                      <p:cBhvr>
                                        <p:cTn id="9" dur="500" fill="hold"/>
                                        <p:tgtEl>
                                          <p:spTgt spid="2">
                                            <p:txEl>
                                              <p:pRg st="4" end="4"/>
                                            </p:txEl>
                                          </p:spTgt>
                                        </p:tgtEl>
                                        <p:attrNameLst>
                                          <p:attrName>fill.on</p:attrName>
                                        </p:attrNameLst>
                                      </p:cBhvr>
                                      <p:to>
                                        <p:strVal val="true"/>
                                      </p:to>
                                    </p:set>
                                  </p:childTnLst>
                                </p:cTn>
                              </p:par>
                              <p:par>
                                <p:cTn id="10" presetID="18" presetClass="emph" presetSubtype="0" fill="hold" nodeType="withEffect">
                                  <p:stCondLst>
                                    <p:cond delay="0"/>
                                  </p:stCondLst>
                                  <p:iterate type="lt">
                                    <p:tmPct val="4000"/>
                                  </p:iterate>
                                  <p:childTnLst>
                                    <p:set>
                                      <p:cBhvr override="childStyle">
                                        <p:cTn id="11"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A53A730-F806-4FB5-B28B-77D508CAEDC0}"/>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18509DCA-8E0D-4B8A-B3FC-963E422DFE19}"/>
              </a:ext>
            </a:extLst>
          </p:cNvPr>
          <p:cNvSpPr>
            <a:spLocks noGrp="1"/>
          </p:cNvSpPr>
          <p:nvPr>
            <p:ph type="title"/>
          </p:nvPr>
        </p:nvSpPr>
        <p:spPr>
          <a:xfrm>
            <a:off x="359152" y="288639"/>
            <a:ext cx="7591078" cy="546303"/>
          </a:xfrm>
        </p:spPr>
        <p:txBody>
          <a:bodyPr/>
          <a:lstStyle/>
          <a:p>
            <a:r>
              <a:rPr lang="en-GB"/>
              <a:t>Knowledge Check </a:t>
            </a:r>
            <a:br>
              <a:rPr lang="en-GB" sz="1350"/>
            </a:br>
            <a:endParaRPr lang="en-GB" sz="1350" b="0">
              <a:cs typeface="Arial"/>
            </a:endParaRPr>
          </a:p>
        </p:txBody>
      </p:sp>
      <p:sp>
        <p:nvSpPr>
          <p:cNvPr id="4" name="Slide Number Placeholder 3">
            <a:extLst>
              <a:ext uri="{FF2B5EF4-FFF2-40B4-BE49-F238E27FC236}">
                <a16:creationId xmlns:a16="http://schemas.microsoft.com/office/drawing/2014/main" id="{385ECA1E-6832-4A7D-B480-E41B1BDE5742}"/>
              </a:ext>
            </a:extLst>
          </p:cNvPr>
          <p:cNvSpPr>
            <a:spLocks noGrp="1"/>
          </p:cNvSpPr>
          <p:nvPr>
            <p:ph type="sldNum" sz="quarter" idx="21"/>
          </p:nvPr>
        </p:nvSpPr>
        <p:spPr/>
        <p:txBody>
          <a:bodyPr/>
          <a:lstStyle/>
          <a:p>
            <a:fld id="{9F9F533D-B52E-4A2F-BF72-0ADD2D94BD75}" type="slidenum">
              <a:rPr lang="en-GB" smtClean="0"/>
              <a:pPr/>
              <a:t>18</a:t>
            </a:fld>
            <a:endParaRPr lang="en-GB"/>
          </a:p>
        </p:txBody>
      </p:sp>
      <p:sp>
        <p:nvSpPr>
          <p:cNvPr id="3" name="TextBox 2">
            <a:extLst>
              <a:ext uri="{FF2B5EF4-FFF2-40B4-BE49-F238E27FC236}">
                <a16:creationId xmlns:a16="http://schemas.microsoft.com/office/drawing/2014/main" id="{390540B6-49B5-4D94-B937-9E7F89503BB3}"/>
              </a:ext>
            </a:extLst>
          </p:cNvPr>
          <p:cNvSpPr txBox="1"/>
          <p:nvPr/>
        </p:nvSpPr>
        <p:spPr>
          <a:xfrm>
            <a:off x="359152" y="1284193"/>
            <a:ext cx="8190412" cy="2970557"/>
          </a:xfrm>
          <a:prstGeom prst="rect">
            <a:avLst/>
          </a:prstGeom>
          <a:noFill/>
        </p:spPr>
        <p:txBody>
          <a:bodyPr wrap="square" rtlCol="0">
            <a:spAutoFit/>
          </a:bodyPr>
          <a:lstStyle/>
          <a:p>
            <a:pPr>
              <a:buClr>
                <a:schemeClr val="tx1"/>
              </a:buClr>
            </a:pPr>
            <a:r>
              <a:rPr lang="en-GB"/>
              <a:t>The following result is reported. What can we claim?</a:t>
            </a:r>
          </a:p>
          <a:p>
            <a:pPr>
              <a:buClr>
                <a:schemeClr val="tx1"/>
              </a:buClr>
            </a:pPr>
            <a:endParaRPr lang="en-GB" sz="1600" b="1">
              <a:solidFill>
                <a:schemeClr val="accent5"/>
              </a:solidFill>
            </a:endParaRPr>
          </a:p>
          <a:p>
            <a:pPr algn="ctr">
              <a:buClr>
                <a:schemeClr val="tx1"/>
              </a:buClr>
            </a:pPr>
            <a:r>
              <a:rPr lang="en-GB">
                <a:solidFill>
                  <a:schemeClr val="accent5"/>
                </a:solidFill>
              </a:rPr>
              <a:t>“Treatment A reduced the annualised rate of severe exacerbations by 22% (p=0.050) compared with Treatment B”</a:t>
            </a:r>
          </a:p>
          <a:p>
            <a:pPr marL="800100" lvl="1" indent="-342900">
              <a:lnSpc>
                <a:spcPct val="150000"/>
              </a:lnSpc>
              <a:buClr>
                <a:schemeClr val="tx1"/>
              </a:buClr>
              <a:buFont typeface="+mj-lt"/>
              <a:buAutoNum type="alphaLcParenR"/>
            </a:pPr>
            <a:endParaRPr lang="en-GB" sz="1600"/>
          </a:p>
          <a:p>
            <a:pPr marL="800100" lvl="1" indent="-342900">
              <a:lnSpc>
                <a:spcPct val="150000"/>
              </a:lnSpc>
              <a:buClr>
                <a:schemeClr val="tx1"/>
              </a:buClr>
              <a:buFont typeface="+mj-lt"/>
              <a:buAutoNum type="alphaLcParenR"/>
            </a:pPr>
            <a:r>
              <a:rPr lang="en-GB" sz="1600"/>
              <a:t>There is a statistically significant reduction in severe exacerbations</a:t>
            </a:r>
          </a:p>
          <a:p>
            <a:pPr marL="800100" lvl="1" indent="-342900">
              <a:lnSpc>
                <a:spcPct val="150000"/>
              </a:lnSpc>
              <a:buClr>
                <a:schemeClr val="tx1"/>
              </a:buClr>
              <a:buFont typeface="+mj-lt"/>
              <a:buAutoNum type="alphaLcParenR"/>
            </a:pPr>
            <a:r>
              <a:rPr lang="en-GB" sz="1600"/>
              <a:t>There is a clinically meaningful reduction in severe exacerbations</a:t>
            </a:r>
          </a:p>
          <a:p>
            <a:pPr marL="800100" lvl="1" indent="-342900">
              <a:lnSpc>
                <a:spcPct val="150000"/>
              </a:lnSpc>
              <a:buClr>
                <a:schemeClr val="tx1"/>
              </a:buClr>
              <a:buFont typeface="+mj-lt"/>
              <a:buAutoNum type="alphaLcParenR"/>
            </a:pPr>
            <a:r>
              <a:rPr lang="en-GB" sz="1600"/>
              <a:t>There is not enough information provided to answer</a:t>
            </a:r>
          </a:p>
          <a:p>
            <a:pPr marL="800100" lvl="1" indent="-342900">
              <a:lnSpc>
                <a:spcPct val="150000"/>
              </a:lnSpc>
              <a:buClr>
                <a:schemeClr val="tx1"/>
              </a:buClr>
              <a:buFont typeface="+mj-lt"/>
              <a:buAutoNum type="alphaLcParenR"/>
            </a:pPr>
            <a:r>
              <a:rPr lang="en-GB" sz="1600"/>
              <a:t>There is no reduction in severe exacerbations</a:t>
            </a:r>
          </a:p>
        </p:txBody>
      </p:sp>
      <p:sp>
        <p:nvSpPr>
          <p:cNvPr id="8" name="Date Placeholder 1">
            <a:extLst>
              <a:ext uri="{FF2B5EF4-FFF2-40B4-BE49-F238E27FC236}">
                <a16:creationId xmlns:a16="http://schemas.microsoft.com/office/drawing/2014/main" id="{0CD096B9-2FBD-41F8-8697-233B2351D17D}"/>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a:t>
            </a:r>
            <a:endParaRPr lang="en-GB"/>
          </a:p>
        </p:txBody>
      </p:sp>
      <p:pic>
        <p:nvPicPr>
          <p:cNvPr id="9" name="Graphic 8" descr="Head with gears">
            <a:extLst>
              <a:ext uri="{FF2B5EF4-FFF2-40B4-BE49-F238E27FC236}">
                <a16:creationId xmlns:a16="http://schemas.microsoft.com/office/drawing/2014/main" id="{DC307941-E747-47DE-9166-CF057BE3F9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Tree>
    <p:extLst>
      <p:ext uri="{BB962C8B-B14F-4D97-AF65-F5344CB8AC3E}">
        <p14:creationId xmlns:p14="http://schemas.microsoft.com/office/powerpoint/2010/main" val="367062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mph" presetSubtype="1" nodeType="clickEffect">
                                  <p:stCondLst>
                                    <p:cond delay="0"/>
                                  </p:stCondLst>
                                  <p:childTnLst>
                                    <p:set>
                                      <p:cBhvr override="childStyle">
                                        <p:cTn id="22" dur="indefinite"/>
                                        <p:tgtEl>
                                          <p:spTgt spid="3">
                                            <p:txEl>
                                              <p:pRg st="6" end="6"/>
                                            </p:txEl>
                                          </p:spTgt>
                                        </p:tgtEl>
                                        <p:attrNameLst>
                                          <p:attrName>style.color</p:attrName>
                                        </p:attrNameLst>
                                      </p:cBhvr>
                                      <p:to>
                                        <p:clrVal>
                                          <a:srgbClr val="40488D"/>
                                        </p:clrVal>
                                      </p:to>
                                    </p:set>
                                  </p:childTnLst>
                                </p:cTn>
                              </p:par>
                              <p:par>
                                <p:cTn id="23" presetID="18" presetClass="emph" presetSubtype="0" fill="hold" nodeType="withEffect">
                                  <p:stCondLst>
                                    <p:cond delay="0"/>
                                  </p:stCondLst>
                                  <p:childTnLst>
                                    <p:set>
                                      <p:cBhvr override="childStyle">
                                        <p:cTn id="24" dur="500" fill="hold"/>
                                        <p:tgtEl>
                                          <p:spTgt spid="3">
                                            <p:txEl>
                                              <p:pRg st="6" end="6"/>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3AB7DE-E2BB-48E1-AAB5-967BC190F7D7}"/>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944B79AE-8C09-440E-92CE-7EFFC801EE76}"/>
              </a:ext>
            </a:extLst>
          </p:cNvPr>
          <p:cNvSpPr>
            <a:spLocks noGrp="1"/>
          </p:cNvSpPr>
          <p:nvPr>
            <p:ph type="title"/>
          </p:nvPr>
        </p:nvSpPr>
        <p:spPr/>
        <p:txBody>
          <a:bodyPr/>
          <a:lstStyle/>
          <a:p>
            <a:r>
              <a:rPr lang="en-GB"/>
              <a:t>Key Messages</a:t>
            </a:r>
          </a:p>
        </p:txBody>
      </p:sp>
      <p:graphicFrame>
        <p:nvGraphicFramePr>
          <p:cNvPr id="10" name="Content Placeholder 9">
            <a:extLst>
              <a:ext uri="{FF2B5EF4-FFF2-40B4-BE49-F238E27FC236}">
                <a16:creationId xmlns:a16="http://schemas.microsoft.com/office/drawing/2014/main" id="{E57B26B4-D971-4D1F-ADB3-CC66B892AEEE}"/>
              </a:ext>
            </a:extLst>
          </p:cNvPr>
          <p:cNvGraphicFramePr>
            <a:graphicFrameLocks noGrp="1"/>
          </p:cNvGraphicFramePr>
          <p:nvPr>
            <p:ph sz="quarter" idx="12"/>
            <p:extLst>
              <p:ext uri="{D42A27DB-BD31-4B8C-83A1-F6EECF244321}">
                <p14:modId xmlns:p14="http://schemas.microsoft.com/office/powerpoint/2010/main" val="2140928045"/>
              </p:ext>
            </p:extLst>
          </p:nvPr>
        </p:nvGraphicFramePr>
        <p:xfrm>
          <a:off x="358775" y="1192213"/>
          <a:ext cx="8423275" cy="3257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2A83017C-71A8-4C2D-84E3-FDAA1AC94FBE}"/>
              </a:ext>
            </a:extLst>
          </p:cNvPr>
          <p:cNvSpPr>
            <a:spLocks noGrp="1"/>
          </p:cNvSpPr>
          <p:nvPr>
            <p:ph type="dt" sz="half" idx="15"/>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
        <p:nvSpPr>
          <p:cNvPr id="8" name="Slide Number Placeholder 7">
            <a:extLst>
              <a:ext uri="{FF2B5EF4-FFF2-40B4-BE49-F238E27FC236}">
                <a16:creationId xmlns:a16="http://schemas.microsoft.com/office/drawing/2014/main" id="{C96DD0C1-3F04-45C2-ABEC-6B765CE8E0B6}"/>
              </a:ext>
            </a:extLst>
          </p:cNvPr>
          <p:cNvSpPr>
            <a:spLocks noGrp="1"/>
          </p:cNvSpPr>
          <p:nvPr>
            <p:ph type="sldNum" sz="quarter" idx="17"/>
          </p:nvPr>
        </p:nvSpPr>
        <p:spPr>
          <a:xfrm>
            <a:off x="7953029" y="4704001"/>
            <a:ext cx="830123"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F9F533D-B52E-4A2F-BF72-0ADD2D94BD75}" type="slidenum">
              <a:rPr lang="en-GB" smtClean="0"/>
              <a:pPr/>
              <a:t>19</a:t>
            </a:fld>
            <a:endParaRPr lang="en-GB"/>
          </a:p>
        </p:txBody>
      </p:sp>
    </p:spTree>
    <p:extLst>
      <p:ext uri="{BB962C8B-B14F-4D97-AF65-F5344CB8AC3E}">
        <p14:creationId xmlns:p14="http://schemas.microsoft.com/office/powerpoint/2010/main" val="3801885212"/>
      </p:ext>
    </p:extLst>
  </p:cSld>
  <p:clrMapOvr>
    <a:masterClrMapping/>
  </p:clrMapOvr>
</p:sld>
</file>

<file path=ppt/theme/theme1.xml><?xml version="1.0" encoding="utf-8"?>
<a:theme xmlns:a="http://schemas.openxmlformats.org/drawingml/2006/main" name="GSK ">
  <a:themeElements>
    <a:clrScheme name="GSK 2017 4">
      <a:dk1>
        <a:srgbClr val="544F40"/>
      </a:dk1>
      <a:lt1>
        <a:srgbClr val="FFFFFF"/>
      </a:lt1>
      <a:dk2>
        <a:srgbClr val="15717D"/>
      </a:dk2>
      <a:lt2>
        <a:srgbClr val="F36633"/>
      </a:lt2>
      <a:accent1>
        <a:srgbClr val="F36633"/>
      </a:accent1>
      <a:accent2>
        <a:srgbClr val="544F40"/>
      </a:accent2>
      <a:accent3>
        <a:srgbClr val="008A00"/>
      </a:accent3>
      <a:accent4>
        <a:srgbClr val="BC1077"/>
      </a:accent4>
      <a:accent5>
        <a:srgbClr val="40488D"/>
      </a:accent5>
      <a:accent6>
        <a:srgbClr val="ED003C"/>
      </a:accent6>
      <a:hlink>
        <a:srgbClr val="F36633"/>
      </a:hlink>
      <a:folHlink>
        <a:srgbClr val="F36633"/>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a:tailEnd/>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marL="180975" indent="-180975" eaLnBrk="0" fontAlgn="auto" hangingPunct="0">
          <a:spcBef>
            <a:spcPts val="0"/>
          </a:spcBef>
          <a:spcAft>
            <a:spcPts val="0"/>
          </a:spcAft>
          <a:buClr>
            <a:schemeClr val="bg1"/>
          </a:buClr>
          <a:buFont typeface="Arial" pitchFamily="34" charset="0"/>
          <a:buChar char="–"/>
          <a:defRPr sz="1200" b="1" kern="0" dirty="0" err="1" smtClean="0">
            <a:solidFill>
              <a:srgbClr val="FFFFFF"/>
            </a:solidFill>
            <a:latin typeface="Arial"/>
          </a:defRPr>
        </a:defPPr>
      </a:lstStyle>
      <a:style>
        <a:lnRef idx="1">
          <a:schemeClr val="accent1"/>
        </a:lnRef>
        <a:fillRef idx="3">
          <a:schemeClr val="accent1"/>
        </a:fillRef>
        <a:effectRef idx="2">
          <a:schemeClr val="accent1"/>
        </a:effectRef>
        <a:fontRef idx="minor">
          <a:schemeClr val="lt1"/>
        </a:fontRef>
      </a:style>
    </a:spDef>
    <a:txDef>
      <a:spPr>
        <a:noFill/>
      </a:spPr>
      <a:bodyPr wrap="square" rtlCol="0">
        <a:spAutoFit/>
      </a:bodyPr>
      <a:lstStyle>
        <a:defPPr marL="171450" indent="-171450">
          <a:buClr>
            <a:schemeClr val="tx1"/>
          </a:buClr>
          <a:buFont typeface="Arial" pitchFamily="34" charset="0"/>
          <a:buChar char="–"/>
          <a:defRPr sz="1200" dirty="0" err="1" smtClean="0"/>
        </a:defPPr>
      </a:lstStyle>
    </a:txDef>
  </a:objectDefaults>
  <a:extraClrSchemeLst/>
  <a:extLst>
    <a:ext uri="{05A4C25C-085E-4340-85A3-A5531E510DB2}">
      <thm15:themeFamily xmlns:thm15="http://schemas.microsoft.com/office/thememl/2012/main" name="GSK_16x9 PowerPoint_V1_20170629" id="{B8F049B3-8A91-4FD3-B156-B44F80C0BC27}" vid="{B103CDC2-14D8-4A5C-86DD-96EA2A18BF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2f27799-0169-4b70-93d7-49e0001469b7">
      <UserInfo>
        <DisplayName>Raj Sharma</DisplayName>
        <AccountId>32</AccountId>
        <AccountType/>
      </UserInfo>
      <UserInfo>
        <DisplayName>David Leather</DisplayName>
        <AccountId>24</AccountId>
        <AccountType/>
      </UserInfo>
      <UserInfo>
        <DisplayName>Jon Robertson</DisplayName>
        <AccountId>10</AccountId>
        <AccountType/>
      </UserInfo>
      <UserInfo>
        <DisplayName>Nigel Dallow</DisplayName>
        <AccountId>20</AccountId>
        <AccountType/>
      </UserInfo>
      <UserInfo>
        <DisplayName>Emily Jarvis</DisplayName>
        <AccountId>13</AccountId>
        <AccountType/>
      </UserInfo>
      <UserInfo>
        <DisplayName>Agne Zarankaite</DisplayName>
        <AccountId>21</AccountId>
        <AccountType/>
      </UserInfo>
      <UserInfo>
        <DisplayName>Dawn Midwinter</DisplayName>
        <AccountId>25</AccountId>
        <AccountType/>
      </UserInfo>
      <UserInfo>
        <DisplayName>Zelie Bailes</DisplayName>
        <AccountId>33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BDE2C101F8FE24EAE9C8B3E64B68458" ma:contentTypeVersion="8" ma:contentTypeDescription="Create a new document." ma:contentTypeScope="" ma:versionID="f13d9be91b28acf62ccaa10e213e4c8a">
  <xsd:schema xmlns:xsd="http://www.w3.org/2001/XMLSchema" xmlns:xs="http://www.w3.org/2001/XMLSchema" xmlns:p="http://schemas.microsoft.com/office/2006/metadata/properties" xmlns:ns2="b065ee36-be87-4344-8b29-f2acbb5bc7a3" xmlns:ns3="d2f27799-0169-4b70-93d7-49e0001469b7" targetNamespace="http://schemas.microsoft.com/office/2006/metadata/properties" ma:root="true" ma:fieldsID="cdeb94149ca64a908789746a34144e05" ns2:_="" ns3:_="">
    <xsd:import namespace="b065ee36-be87-4344-8b29-f2acbb5bc7a3"/>
    <xsd:import namespace="d2f27799-0169-4b70-93d7-49e0001469b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65ee36-be87-4344-8b29-f2acbb5bc7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f27799-0169-4b70-93d7-49e0001469b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7F6992-6940-4143-AC62-96142C4EF75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d2f27799-0169-4b70-93d7-49e0001469b7"/>
    <ds:schemaRef ds:uri="b065ee36-be87-4344-8b29-f2acbb5bc7a3"/>
    <ds:schemaRef ds:uri="http://www.w3.org/XML/1998/namespace"/>
    <ds:schemaRef ds:uri="http://purl.org/dc/dcmitype/"/>
  </ds:schemaRefs>
</ds:datastoreItem>
</file>

<file path=customXml/itemProps2.xml><?xml version="1.0" encoding="utf-8"?>
<ds:datastoreItem xmlns:ds="http://schemas.openxmlformats.org/officeDocument/2006/customXml" ds:itemID="{A3FF14A3-0B79-4250-A823-8E178C64B25C}">
  <ds:schemaRefs>
    <ds:schemaRef ds:uri="b065ee36-be87-4344-8b29-f2acbb5bc7a3"/>
    <ds:schemaRef ds:uri="d2f27799-0169-4b70-93d7-49e0001469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AD869F-BABB-40CE-B3FC-3DDCF75BCDE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232</TotalTime>
  <Words>1682</Words>
  <Application>Microsoft Office PowerPoint</Application>
  <PresentationFormat>On-screen Show (16:9)</PresentationFormat>
  <Paragraphs>324</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Narrow</vt:lpstr>
      <vt:lpstr>Calibri</vt:lpstr>
      <vt:lpstr>Cambria Math</vt:lpstr>
      <vt:lpstr>Wingdings</vt:lpstr>
      <vt:lpstr>GSK </vt:lpstr>
      <vt:lpstr>PowerPoint Presentation</vt:lpstr>
      <vt:lpstr>Multiplicity – why does it matter?</vt:lpstr>
      <vt:lpstr>             Smart risk-taking</vt:lpstr>
      <vt:lpstr>The language of testing</vt:lpstr>
      <vt:lpstr>How can multiplicity be introduced?</vt:lpstr>
      <vt:lpstr>How likely are we to make the wrong decision?</vt:lpstr>
      <vt:lpstr>Knowledge Check </vt:lpstr>
      <vt:lpstr>Knowledge Check </vt:lpstr>
      <vt:lpstr>Some Common Methods to Handle Multiplicity</vt:lpstr>
      <vt:lpstr>Example: Hierarchical Testing</vt:lpstr>
      <vt:lpstr>Example: Hierarchical Testing</vt:lpstr>
      <vt:lpstr>Example: Hierarchical Testing</vt:lpstr>
      <vt:lpstr>Example: Bonferroni Adjustment</vt:lpstr>
      <vt:lpstr>What to look out for…</vt:lpstr>
      <vt:lpstr>How do we know whether to believe the data?</vt:lpstr>
      <vt:lpstr>Knowledge Check</vt:lpstr>
      <vt:lpstr>Knowledge Check</vt:lpstr>
      <vt:lpstr>Knowledge Check  </vt:lpstr>
      <vt:lpstr>Key Messages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Affairs Statistical Training</dc:title>
  <dc:creator>Zelie Bailes</dc:creator>
  <cp:lastModifiedBy>Steve Mallett</cp:lastModifiedBy>
  <cp:revision>4</cp:revision>
  <cp:lastPrinted>2022-01-06T16:10:08Z</cp:lastPrinted>
  <dcterms:created xsi:type="dcterms:W3CDTF">2021-08-16T16:14:15Z</dcterms:created>
  <dcterms:modified xsi:type="dcterms:W3CDTF">2025-11-27T15:26:18Z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0x0101001BDE2C101F8FE24EAE9C8B3E64B68458</vt:lpwstr>
  </property>
</Properties>
</file>