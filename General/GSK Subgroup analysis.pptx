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8"/>
  </p:notesMasterIdLst>
  <p:sldIdLst>
    <p:sldId id="19629" r:id="rId5"/>
    <p:sldId id="19653" r:id="rId6"/>
    <p:sldId id="19622" r:id="rId7"/>
    <p:sldId id="19595" r:id="rId8"/>
    <p:sldId id="276" r:id="rId9"/>
    <p:sldId id="19681" r:id="rId10"/>
    <p:sldId id="19660" r:id="rId11"/>
    <p:sldId id="19662" r:id="rId12"/>
    <p:sldId id="19663" r:id="rId13"/>
    <p:sldId id="2145708149" r:id="rId14"/>
    <p:sldId id="19625" r:id="rId15"/>
    <p:sldId id="277" r:id="rId16"/>
    <p:sldId id="286" r:id="rId17"/>
    <p:sldId id="2145708164" r:id="rId18"/>
    <p:sldId id="19604" r:id="rId19"/>
    <p:sldId id="19617" r:id="rId20"/>
    <p:sldId id="2632" r:id="rId21"/>
    <p:sldId id="2634" r:id="rId22"/>
    <p:sldId id="2669" r:id="rId23"/>
    <p:sldId id="2635" r:id="rId24"/>
    <p:sldId id="2636" r:id="rId25"/>
    <p:sldId id="2941" r:id="rId26"/>
    <p:sldId id="2145708150" r:id="rId27"/>
  </p:sldIdLst>
  <p:sldSz cx="9144000" cy="5143500" type="screen16x9"/>
  <p:notesSz cx="6865938" cy="90471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y 1 Intro (5min)" id="{3FD90219-2FB5-4A0C-888B-736C3637EBF0}">
          <p14:sldIdLst/>
        </p14:section>
        <p14:section name="Data types (22min)" id="{2559A92C-2BAD-4220-B869-651668A45C9E}">
          <p14:sldIdLst/>
        </p14:section>
        <p14:section name="NNT and NNH (12min)" id="{97773DEE-88EA-4174-9B48-50759666DC48}">
          <p14:sldIdLst/>
        </p14:section>
        <p14:section name="Signficance testing (18min)" id="{9F60E464-46FD-4111-86B5-10DD1FD9D48E}">
          <p14:sldIdLst/>
        </p14:section>
        <p14:section name="Uncertainty (22min/15min)" id="{D5649482-5C0E-4FCE-9237-12A795FE360D}">
          <p14:sldIdLst/>
        </p14:section>
        <p14:section name="Adjusted vs Unadjusted (14min)" id="{8C04CADD-B6B7-43AB-8B4B-3E4257CE8B4F}">
          <p14:sldIdLst/>
        </p14:section>
        <p14:section name="Day 2 Intro" id="{D1639E2D-CB00-461F-A813-83038DEB90E5}">
          <p14:sldIdLst/>
        </p14:section>
        <p14:section name="Missing Data (25-30mins)" id="{1699B0CF-CAF4-4878-8065-D329560DF856}">
          <p14:sldIdLst/>
        </p14:section>
        <p14:section name="Multiplicity (23mins)" id="{81BA755E-B6C8-4751-B927-FDB8A8C372A8}">
          <p14:sldIdLst/>
        </p14:section>
        <p14:section name="Subgroup Analysis" id="{FE2359E8-8B55-4020-B15A-1DF57AAB9C5B}">
          <p14:sldIdLst>
            <p14:sldId id="19629"/>
            <p14:sldId id="19653"/>
            <p14:sldId id="19622"/>
            <p14:sldId id="19595"/>
            <p14:sldId id="276"/>
            <p14:sldId id="19681"/>
            <p14:sldId id="19660"/>
            <p14:sldId id="19662"/>
            <p14:sldId id="19663"/>
            <p14:sldId id="2145708149"/>
            <p14:sldId id="19625"/>
            <p14:sldId id="277"/>
            <p14:sldId id="286"/>
            <p14:sldId id="2145708164"/>
            <p14:sldId id="19604"/>
          </p14:sldIdLst>
        </p14:section>
        <p14:section name="Case Study" id="{E8E3C5D2-EEB0-4893-9F0C-6F74FAA4B1E5}">
          <p14:sldIdLst>
            <p14:sldId id="19617"/>
            <p14:sldId id="2632"/>
            <p14:sldId id="2634"/>
            <p14:sldId id="2669"/>
            <p14:sldId id="2635"/>
            <p14:sldId id="2636"/>
            <p14:sldId id="2941"/>
            <p14:sldId id="2145708150"/>
          </p14:sldIdLst>
        </p14:section>
        <p14:section name="Day 3 Core Claims" id="{0666949B-A69F-4A9D-837A-4C842BECDAF7}">
          <p14:sldIdLst/>
        </p14:section>
      </p14:sectionLst>
    </p:ext>
    <p:ext uri="{EFAFB233-063F-42B5-8137-9DF3F51BA10A}">
      <p15:sldGuideLst xmlns:p15="http://schemas.microsoft.com/office/powerpoint/2012/main">
        <p15:guide id="1" orient="horz" pos="752">
          <p15:clr>
            <a:srgbClr val="A4A3A4"/>
          </p15:clr>
        </p15:guide>
        <p15:guide id="2" orient="horz" pos="2685">
          <p15:clr>
            <a:srgbClr val="A4A3A4"/>
          </p15:clr>
        </p15:guide>
        <p15:guide id="3" pos="2879">
          <p15:clr>
            <a:srgbClr val="A4A3A4"/>
          </p15:clr>
        </p15:guide>
        <p15:guide id="4" pos="3027">
          <p15:clr>
            <a:srgbClr val="A4A3A4"/>
          </p15:clr>
        </p15:guide>
        <p15:guide id="5" pos="5533">
          <p15:clr>
            <a:srgbClr val="A4A3A4"/>
          </p15:clr>
        </p15:guide>
        <p15:guide id="6" pos="2733">
          <p15:clr>
            <a:srgbClr val="A4A3A4"/>
          </p15:clr>
        </p15:guide>
        <p15:guide id="7" pos="22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Rich Davies" initials="RD" lastIdx="5" clrIdx="6">
    <p:extLst>
      <p:ext uri="{19B8F6BF-5375-455C-9EA6-DF929625EA0E}">
        <p15:presenceInfo xmlns:p15="http://schemas.microsoft.com/office/powerpoint/2012/main" userId="S::richard.y.davies@gsk.com::8b5f16ec-b0bb-430c-9137-91526ccc0ab4" providerId="AD"/>
      </p:ext>
    </p:extLst>
  </p:cmAuthor>
  <p:cmAuthor id="1" name="Zelie Bailes" initials="ZB" lastIdx="119" clrIdx="0">
    <p:extLst>
      <p:ext uri="{19B8F6BF-5375-455C-9EA6-DF929625EA0E}">
        <p15:presenceInfo xmlns:p15="http://schemas.microsoft.com/office/powerpoint/2012/main" userId="Zelie Bailes" providerId="None"/>
      </p:ext>
    </p:extLst>
  </p:cmAuthor>
  <p:cmAuthor id="8" name="Nigel Dallow" initials="ND" lastIdx="6" clrIdx="7">
    <p:extLst>
      <p:ext uri="{19B8F6BF-5375-455C-9EA6-DF929625EA0E}">
        <p15:presenceInfo xmlns:p15="http://schemas.microsoft.com/office/powerpoint/2012/main" userId="S::nigel.s.dallow@gsk.com::22126230-7899-40dc-9c70-c90d97679fcc" providerId="AD"/>
      </p:ext>
    </p:extLst>
  </p:cmAuthor>
  <p:cmAuthor id="2" name="Zelie Bailes" initials="ZB [2]" lastIdx="4" clrIdx="1">
    <p:extLst>
      <p:ext uri="{19B8F6BF-5375-455C-9EA6-DF929625EA0E}">
        <p15:presenceInfo xmlns:p15="http://schemas.microsoft.com/office/powerpoint/2012/main" userId="S::zelie.a.bailes@gsk.com::016fc419-2509-4044-b219-254c2702790b" providerId="AD"/>
      </p:ext>
    </p:extLst>
  </p:cmAuthor>
  <p:cmAuthor id="9" name="Nigel Dallow" initials="ND [2]" lastIdx="5" clrIdx="8">
    <p:extLst>
      <p:ext uri="{19B8F6BF-5375-455C-9EA6-DF929625EA0E}">
        <p15:presenceInfo xmlns:p15="http://schemas.microsoft.com/office/powerpoint/2012/main" userId="Nigel Dallow" providerId="None"/>
      </p:ext>
    </p:extLst>
  </p:cmAuthor>
  <p:cmAuthor id="3" name="Katie Thorn" initials="KT" lastIdx="126" clrIdx="2">
    <p:extLst>
      <p:ext uri="{19B8F6BF-5375-455C-9EA6-DF929625EA0E}">
        <p15:presenceInfo xmlns:p15="http://schemas.microsoft.com/office/powerpoint/2012/main" userId="Katie Thorn" providerId="None"/>
      </p:ext>
    </p:extLst>
  </p:cmAuthor>
  <p:cmAuthor id="10" name="Dawn Midwinter" initials="DM [2]" lastIdx="21" clrIdx="9">
    <p:extLst>
      <p:ext uri="{19B8F6BF-5375-455C-9EA6-DF929625EA0E}">
        <p15:presenceInfo xmlns:p15="http://schemas.microsoft.com/office/powerpoint/2012/main" userId="Dawn Midwinter" providerId="None"/>
      </p:ext>
    </p:extLst>
  </p:cmAuthor>
  <p:cmAuthor id="4" name="Agne Zarankaite" initials="AZ" lastIdx="129" clrIdx="3">
    <p:extLst>
      <p:ext uri="{19B8F6BF-5375-455C-9EA6-DF929625EA0E}">
        <p15:presenceInfo xmlns:p15="http://schemas.microsoft.com/office/powerpoint/2012/main" userId="Agne Zarankaite" providerId="None"/>
      </p:ext>
    </p:extLst>
  </p:cmAuthor>
  <p:cmAuthor id="11" name="Alisa Urbano" initials="AU" lastIdx="6" clrIdx="10">
    <p:extLst>
      <p:ext uri="{19B8F6BF-5375-455C-9EA6-DF929625EA0E}">
        <p15:presenceInfo xmlns:p15="http://schemas.microsoft.com/office/powerpoint/2012/main" userId="Alisa Urbano" providerId="None"/>
      </p:ext>
    </p:extLst>
  </p:cmAuthor>
  <p:cmAuthor id="5" name="Dawn Midwinter" initials="DM" lastIdx="18" clrIdx="4">
    <p:extLst>
      <p:ext uri="{19B8F6BF-5375-455C-9EA6-DF929625EA0E}">
        <p15:presenceInfo xmlns:p15="http://schemas.microsoft.com/office/powerpoint/2012/main" userId="S::dawn.a.midwinter@gsk.com::12e9609d-3428-473d-a14d-db946382f5a8" providerId="AD"/>
      </p:ext>
    </p:extLst>
  </p:cmAuthor>
  <p:cmAuthor id="12" name="Zoe Guy" initials="ZG" lastIdx="7" clrIdx="11">
    <p:extLst>
      <p:ext uri="{19B8F6BF-5375-455C-9EA6-DF929625EA0E}">
        <p15:presenceInfo xmlns:p15="http://schemas.microsoft.com/office/powerpoint/2012/main" userId="Zoe Guy" providerId="None"/>
      </p:ext>
    </p:extLst>
  </p:cmAuthor>
  <p:cmAuthor id="6" name="Anny Stari" initials="AS" lastIdx="1" clrIdx="5">
    <p:extLst>
      <p:ext uri="{19B8F6BF-5375-455C-9EA6-DF929625EA0E}">
        <p15:presenceInfo xmlns:p15="http://schemas.microsoft.com/office/powerpoint/2012/main" userId="S::anny.x.stari@gsk.com::db1607f0-112a-4109-a9d7-c266bb6f20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a:srgbClr val="152C56"/>
    <a:srgbClr val="2F81A6"/>
    <a:srgbClr val="0F2842"/>
    <a:srgbClr val="163E51"/>
    <a:srgbClr val="D5D7EC"/>
    <a:srgbClr val="F9C6BE"/>
    <a:srgbClr val="BC1077"/>
    <a:srgbClr val="9E00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326" autoAdjust="0"/>
    <p:restoredTop sz="67215" autoAdjust="0"/>
  </p:normalViewPr>
  <p:slideViewPr>
    <p:cSldViewPr snapToGrid="0">
      <p:cViewPr varScale="1">
        <p:scale>
          <a:sx n="96" d="100"/>
          <a:sy n="96" d="100"/>
        </p:scale>
        <p:origin x="1584" y="78"/>
      </p:cViewPr>
      <p:guideLst>
        <p:guide orient="horz" pos="752"/>
        <p:guide orient="horz" pos="2685"/>
        <p:guide pos="2879"/>
        <p:guide pos="3027"/>
        <p:guide pos="5533"/>
        <p:guide pos="2733"/>
        <p:guide pos="22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B43B2D-09C8-4DAC-AADE-B434F184035F}" type="doc">
      <dgm:prSet loTypeId="urn:microsoft.com/office/officeart/2005/8/layout/list1" loCatId="list" qsTypeId="urn:microsoft.com/office/officeart/2005/8/quickstyle/simple1" qsCatId="simple" csTypeId="urn:microsoft.com/office/officeart/2005/8/colors/accent5_2" csCatId="accent5" phldr="1"/>
      <dgm:spPr/>
      <dgm:t>
        <a:bodyPr/>
        <a:lstStyle/>
        <a:p>
          <a:endParaRPr lang="en-GB"/>
        </a:p>
      </dgm:t>
    </dgm:pt>
    <dgm:pt modelId="{60CC55C2-FFC9-489C-963D-2BA0AF845837}">
      <dgm:prSet phldrT="[Text]"/>
      <dgm:spPr/>
      <dgm:t>
        <a:bodyPr/>
        <a:lstStyle/>
        <a:p>
          <a:r>
            <a:rPr lang="en-GB" err="1"/>
            <a:t>Leronlimab</a:t>
          </a:r>
          <a:endParaRPr lang="en-GB"/>
        </a:p>
      </dgm:t>
    </dgm:pt>
    <dgm:pt modelId="{3C3A8CA6-C958-4BF4-B06F-7E62DEA75C37}" type="parTrans" cxnId="{1174BC9B-05A1-49E1-AA97-CC70ECF5FD05}">
      <dgm:prSet/>
      <dgm:spPr/>
      <dgm:t>
        <a:bodyPr/>
        <a:lstStyle/>
        <a:p>
          <a:endParaRPr lang="en-GB"/>
        </a:p>
      </dgm:t>
    </dgm:pt>
    <dgm:pt modelId="{D4397C02-14ED-4479-85EE-D6FA20315C1E}" type="sibTrans" cxnId="{1174BC9B-05A1-49E1-AA97-CC70ECF5FD05}">
      <dgm:prSet/>
      <dgm:spPr/>
      <dgm:t>
        <a:bodyPr/>
        <a:lstStyle/>
        <a:p>
          <a:endParaRPr lang="en-GB"/>
        </a:p>
      </dgm:t>
    </dgm:pt>
    <dgm:pt modelId="{5347B3F0-4473-4C9E-B812-D6FEEC199424}">
      <dgm:prSet custT="1"/>
      <dgm:spPr/>
      <dgm:t>
        <a:bodyPr/>
        <a:lstStyle/>
        <a:p>
          <a:r>
            <a:rPr lang="en-GB" sz="1800"/>
            <a:t>A treatment in development for COVID-19</a:t>
          </a:r>
        </a:p>
      </dgm:t>
    </dgm:pt>
    <dgm:pt modelId="{28962B9F-D041-497E-9E8A-55A2226DF923}" type="parTrans" cxnId="{F2D6F3B1-9820-482C-94B9-AEE464F99016}">
      <dgm:prSet/>
      <dgm:spPr/>
      <dgm:t>
        <a:bodyPr/>
        <a:lstStyle/>
        <a:p>
          <a:endParaRPr lang="en-GB"/>
        </a:p>
      </dgm:t>
    </dgm:pt>
    <dgm:pt modelId="{31D7C109-5A83-4C7C-9525-CEAB4CA6A4EC}" type="sibTrans" cxnId="{F2D6F3B1-9820-482C-94B9-AEE464F99016}">
      <dgm:prSet/>
      <dgm:spPr/>
      <dgm:t>
        <a:bodyPr/>
        <a:lstStyle/>
        <a:p>
          <a:endParaRPr lang="en-GB"/>
        </a:p>
      </dgm:t>
    </dgm:pt>
    <dgm:pt modelId="{928734FA-E71C-4F67-B3AE-20A016039FBE}">
      <dgm:prSet custT="1"/>
      <dgm:spPr/>
      <dgm:t>
        <a:bodyPr/>
        <a:lstStyle/>
        <a:p>
          <a:r>
            <a:rPr lang="en-GB" sz="1800"/>
            <a:t>CD10: 86 subjects, mild to moderate disease</a:t>
          </a:r>
        </a:p>
      </dgm:t>
    </dgm:pt>
    <dgm:pt modelId="{A7DA6E17-CE99-488D-BD08-664594B165E3}" type="parTrans" cxnId="{23A25363-0B00-43B8-BC8C-34B2D3758E59}">
      <dgm:prSet/>
      <dgm:spPr/>
      <dgm:t>
        <a:bodyPr/>
        <a:lstStyle/>
        <a:p>
          <a:endParaRPr lang="en-GB"/>
        </a:p>
      </dgm:t>
    </dgm:pt>
    <dgm:pt modelId="{477D1CD6-3942-4FA8-BA3B-F5E17DE43669}" type="sibTrans" cxnId="{23A25363-0B00-43B8-BC8C-34B2D3758E59}">
      <dgm:prSet/>
      <dgm:spPr/>
      <dgm:t>
        <a:bodyPr/>
        <a:lstStyle/>
        <a:p>
          <a:endParaRPr lang="en-GB"/>
        </a:p>
      </dgm:t>
    </dgm:pt>
    <dgm:pt modelId="{6EC8F8DA-D5C9-4169-B860-63DB6494E12F}">
      <dgm:prSet custT="1"/>
      <dgm:spPr/>
      <dgm:t>
        <a:bodyPr/>
        <a:lstStyle/>
        <a:p>
          <a:r>
            <a:rPr lang="en-GB" sz="1800"/>
            <a:t>CD12: 394 subjects, severe respiratory symptoms associated with COVID-19 (pivotal Ph3 study)</a:t>
          </a:r>
        </a:p>
      </dgm:t>
    </dgm:pt>
    <dgm:pt modelId="{9E61A1C8-BA45-43F9-ADAC-E13EF98D6586}" type="parTrans" cxnId="{C217EA65-11E5-40ED-B34F-797A338D6B84}">
      <dgm:prSet/>
      <dgm:spPr/>
      <dgm:t>
        <a:bodyPr/>
        <a:lstStyle/>
        <a:p>
          <a:endParaRPr lang="en-GB"/>
        </a:p>
      </dgm:t>
    </dgm:pt>
    <dgm:pt modelId="{FBBDCD89-DD2A-453E-8070-2A0091199BED}" type="sibTrans" cxnId="{C217EA65-11E5-40ED-B34F-797A338D6B84}">
      <dgm:prSet/>
      <dgm:spPr/>
      <dgm:t>
        <a:bodyPr/>
        <a:lstStyle/>
        <a:p>
          <a:endParaRPr lang="en-GB"/>
        </a:p>
      </dgm:t>
    </dgm:pt>
    <dgm:pt modelId="{7E45BDFC-2EE9-4E66-B042-F45A77E6282E}" type="pres">
      <dgm:prSet presAssocID="{C5B43B2D-09C8-4DAC-AADE-B434F184035F}" presName="linear" presStyleCnt="0">
        <dgm:presLayoutVars>
          <dgm:dir/>
          <dgm:animLvl val="lvl"/>
          <dgm:resizeHandles val="exact"/>
        </dgm:presLayoutVars>
      </dgm:prSet>
      <dgm:spPr/>
    </dgm:pt>
    <dgm:pt modelId="{0941D055-94EA-415B-A76F-43D0ACB944A1}" type="pres">
      <dgm:prSet presAssocID="{60CC55C2-FFC9-489C-963D-2BA0AF845837}" presName="parentLin" presStyleCnt="0"/>
      <dgm:spPr/>
    </dgm:pt>
    <dgm:pt modelId="{AF8F09D2-AB5B-4221-903E-7A19CE2D2EDA}" type="pres">
      <dgm:prSet presAssocID="{60CC55C2-FFC9-489C-963D-2BA0AF845837}" presName="parentLeftMargin" presStyleLbl="node1" presStyleIdx="0" presStyleCnt="1"/>
      <dgm:spPr/>
    </dgm:pt>
    <dgm:pt modelId="{405F8801-4AD4-429A-9652-D330ACF4508A}" type="pres">
      <dgm:prSet presAssocID="{60CC55C2-FFC9-489C-963D-2BA0AF845837}" presName="parentText" presStyleLbl="node1" presStyleIdx="0" presStyleCnt="1">
        <dgm:presLayoutVars>
          <dgm:chMax val="0"/>
          <dgm:bulletEnabled val="1"/>
        </dgm:presLayoutVars>
      </dgm:prSet>
      <dgm:spPr/>
    </dgm:pt>
    <dgm:pt modelId="{BC7F8913-6D09-4849-9A9E-E4CA6ECB3988}" type="pres">
      <dgm:prSet presAssocID="{60CC55C2-FFC9-489C-963D-2BA0AF845837}" presName="negativeSpace" presStyleCnt="0"/>
      <dgm:spPr/>
    </dgm:pt>
    <dgm:pt modelId="{2BBCAEFB-085E-4293-B27A-550FFDE428AE}" type="pres">
      <dgm:prSet presAssocID="{60CC55C2-FFC9-489C-963D-2BA0AF845837}" presName="childText" presStyleLbl="conFgAcc1" presStyleIdx="0" presStyleCnt="1">
        <dgm:presLayoutVars>
          <dgm:bulletEnabled val="1"/>
        </dgm:presLayoutVars>
      </dgm:prSet>
      <dgm:spPr/>
    </dgm:pt>
  </dgm:ptLst>
  <dgm:cxnLst>
    <dgm:cxn modelId="{F7016C0B-3FD5-4B6E-B980-308C58317605}" type="presOf" srcId="{5347B3F0-4473-4C9E-B812-D6FEEC199424}" destId="{2BBCAEFB-085E-4293-B27A-550FFDE428AE}" srcOrd="0" destOrd="0" presId="urn:microsoft.com/office/officeart/2005/8/layout/list1"/>
    <dgm:cxn modelId="{D927550B-45C0-4126-9619-8E3505933718}" type="presOf" srcId="{928734FA-E71C-4F67-B3AE-20A016039FBE}" destId="{2BBCAEFB-085E-4293-B27A-550FFDE428AE}" srcOrd="0" destOrd="1" presId="urn:microsoft.com/office/officeart/2005/8/layout/list1"/>
    <dgm:cxn modelId="{3AD8EA11-5153-4ECB-AFFC-5BF7FD405C30}" type="presOf" srcId="{6EC8F8DA-D5C9-4169-B860-63DB6494E12F}" destId="{2BBCAEFB-085E-4293-B27A-550FFDE428AE}" srcOrd="0" destOrd="2" presId="urn:microsoft.com/office/officeart/2005/8/layout/list1"/>
    <dgm:cxn modelId="{AE3AFC61-FD4A-4A3A-931D-0CBE25282D45}" type="presOf" srcId="{60CC55C2-FFC9-489C-963D-2BA0AF845837}" destId="{AF8F09D2-AB5B-4221-903E-7A19CE2D2EDA}" srcOrd="0" destOrd="0" presId="urn:microsoft.com/office/officeart/2005/8/layout/list1"/>
    <dgm:cxn modelId="{23A25363-0B00-43B8-BC8C-34B2D3758E59}" srcId="{60CC55C2-FFC9-489C-963D-2BA0AF845837}" destId="{928734FA-E71C-4F67-B3AE-20A016039FBE}" srcOrd="1" destOrd="0" parTransId="{A7DA6E17-CE99-488D-BD08-664594B165E3}" sibTransId="{477D1CD6-3942-4FA8-BA3B-F5E17DE43669}"/>
    <dgm:cxn modelId="{C217EA65-11E5-40ED-B34F-797A338D6B84}" srcId="{60CC55C2-FFC9-489C-963D-2BA0AF845837}" destId="{6EC8F8DA-D5C9-4169-B860-63DB6494E12F}" srcOrd="2" destOrd="0" parTransId="{9E61A1C8-BA45-43F9-ADAC-E13EF98D6586}" sibTransId="{FBBDCD89-DD2A-453E-8070-2A0091199BED}"/>
    <dgm:cxn modelId="{1D76027E-512A-4D5B-AA15-FD768CC1DE79}" type="presOf" srcId="{60CC55C2-FFC9-489C-963D-2BA0AF845837}" destId="{405F8801-4AD4-429A-9652-D330ACF4508A}" srcOrd="1" destOrd="0" presId="urn:microsoft.com/office/officeart/2005/8/layout/list1"/>
    <dgm:cxn modelId="{B1A97096-27D0-4F53-8D6B-B6422948A41E}" type="presOf" srcId="{C5B43B2D-09C8-4DAC-AADE-B434F184035F}" destId="{7E45BDFC-2EE9-4E66-B042-F45A77E6282E}" srcOrd="0" destOrd="0" presId="urn:microsoft.com/office/officeart/2005/8/layout/list1"/>
    <dgm:cxn modelId="{1174BC9B-05A1-49E1-AA97-CC70ECF5FD05}" srcId="{C5B43B2D-09C8-4DAC-AADE-B434F184035F}" destId="{60CC55C2-FFC9-489C-963D-2BA0AF845837}" srcOrd="0" destOrd="0" parTransId="{3C3A8CA6-C958-4BF4-B06F-7E62DEA75C37}" sibTransId="{D4397C02-14ED-4479-85EE-D6FA20315C1E}"/>
    <dgm:cxn modelId="{F2D6F3B1-9820-482C-94B9-AEE464F99016}" srcId="{60CC55C2-FFC9-489C-963D-2BA0AF845837}" destId="{5347B3F0-4473-4C9E-B812-D6FEEC199424}" srcOrd="0" destOrd="0" parTransId="{28962B9F-D041-497E-9E8A-55A2226DF923}" sibTransId="{31D7C109-5A83-4C7C-9525-CEAB4CA6A4EC}"/>
    <dgm:cxn modelId="{64A4E4EE-B24B-4278-9273-DB5356188AC6}" type="presParOf" srcId="{7E45BDFC-2EE9-4E66-B042-F45A77E6282E}" destId="{0941D055-94EA-415B-A76F-43D0ACB944A1}" srcOrd="0" destOrd="0" presId="urn:microsoft.com/office/officeart/2005/8/layout/list1"/>
    <dgm:cxn modelId="{70F77CC7-F74D-41F1-A5C8-425206DA773B}" type="presParOf" srcId="{0941D055-94EA-415B-A76F-43D0ACB944A1}" destId="{AF8F09D2-AB5B-4221-903E-7A19CE2D2EDA}" srcOrd="0" destOrd="0" presId="urn:microsoft.com/office/officeart/2005/8/layout/list1"/>
    <dgm:cxn modelId="{0FD5BCEE-DCEB-4FB2-937F-38697DAF4E2E}" type="presParOf" srcId="{0941D055-94EA-415B-A76F-43D0ACB944A1}" destId="{405F8801-4AD4-429A-9652-D330ACF4508A}" srcOrd="1" destOrd="0" presId="urn:microsoft.com/office/officeart/2005/8/layout/list1"/>
    <dgm:cxn modelId="{0A015221-2EF6-4F40-991E-A59D9C819F93}" type="presParOf" srcId="{7E45BDFC-2EE9-4E66-B042-F45A77E6282E}" destId="{BC7F8913-6D09-4849-9A9E-E4CA6ECB3988}" srcOrd="1" destOrd="0" presId="urn:microsoft.com/office/officeart/2005/8/layout/list1"/>
    <dgm:cxn modelId="{E74E1835-9F9A-4BA1-9349-4AA44176F38C}" type="presParOf" srcId="{7E45BDFC-2EE9-4E66-B042-F45A77E6282E}" destId="{2BBCAEFB-085E-4293-B27A-550FFDE428AE}"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C96C80-FA7B-4ECC-AA5A-7A3BB9D786F1}"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GB"/>
        </a:p>
      </dgm:t>
    </dgm:pt>
    <dgm:pt modelId="{F6B07DF5-B29B-45AE-B091-BC97844B765A}">
      <dgm:prSet phldrT="[Text]"/>
      <dgm:spPr/>
      <dgm:t>
        <a:bodyPr/>
        <a:lstStyle/>
        <a:p>
          <a:r>
            <a:rPr lang="en-GB"/>
            <a:t>Identifying the right population for our drug</a:t>
          </a:r>
        </a:p>
      </dgm:t>
    </dgm:pt>
    <dgm:pt modelId="{3F523569-F7D6-445D-B10F-115B6D4D2DB7}" type="parTrans" cxnId="{A0ADDA01-D41B-48D2-9E14-CF070C8FDCC9}">
      <dgm:prSet/>
      <dgm:spPr/>
      <dgm:t>
        <a:bodyPr/>
        <a:lstStyle/>
        <a:p>
          <a:endParaRPr lang="en-GB"/>
        </a:p>
      </dgm:t>
    </dgm:pt>
    <dgm:pt modelId="{0CD238AA-5288-40BD-991B-745A101A4C27}" type="sibTrans" cxnId="{A0ADDA01-D41B-48D2-9E14-CF070C8FDCC9}">
      <dgm:prSet/>
      <dgm:spPr/>
      <dgm:t>
        <a:bodyPr/>
        <a:lstStyle/>
        <a:p>
          <a:endParaRPr lang="en-GB"/>
        </a:p>
      </dgm:t>
    </dgm:pt>
    <dgm:pt modelId="{4D0C6DE4-F21E-4CE1-91A1-F4340744E12D}">
      <dgm:prSet phldrT="[Text]"/>
      <dgm:spPr/>
      <dgm:t>
        <a:bodyPr/>
        <a:lstStyle/>
        <a:p>
          <a:pPr>
            <a:buNone/>
          </a:pPr>
          <a:r>
            <a:rPr lang="en-GB"/>
            <a:t>Informs treatment guidelines</a:t>
          </a:r>
        </a:p>
      </dgm:t>
    </dgm:pt>
    <dgm:pt modelId="{B38AF185-77F4-401A-A3EA-8967A08D02D5}" type="parTrans" cxnId="{A1B3D3CE-A22B-4BCF-A7EE-292F770A8838}">
      <dgm:prSet/>
      <dgm:spPr/>
      <dgm:t>
        <a:bodyPr/>
        <a:lstStyle/>
        <a:p>
          <a:endParaRPr lang="en-GB"/>
        </a:p>
      </dgm:t>
    </dgm:pt>
    <dgm:pt modelId="{1710A6A9-98A5-4734-840C-DD34A0CF36E3}" type="sibTrans" cxnId="{A1B3D3CE-A22B-4BCF-A7EE-292F770A8838}">
      <dgm:prSet/>
      <dgm:spPr/>
      <dgm:t>
        <a:bodyPr/>
        <a:lstStyle/>
        <a:p>
          <a:endParaRPr lang="en-GB"/>
        </a:p>
      </dgm:t>
    </dgm:pt>
    <dgm:pt modelId="{99E7F5B8-E13A-4305-90DC-5768302A7B4A}">
      <dgm:prSet/>
      <dgm:spPr/>
      <dgm:t>
        <a:bodyPr/>
        <a:lstStyle/>
        <a:p>
          <a:r>
            <a:rPr lang="en-GB"/>
            <a:t>Which helps inform physicians on which drug to prescribe for an individual</a:t>
          </a:r>
        </a:p>
      </dgm:t>
    </dgm:pt>
    <dgm:pt modelId="{3FCEAC24-5367-42A0-9E5E-F01CDD93CA1E}" type="parTrans" cxnId="{1B09CD0A-E8D1-4D3E-A382-D0FC78B5BFE8}">
      <dgm:prSet/>
      <dgm:spPr/>
      <dgm:t>
        <a:bodyPr/>
        <a:lstStyle/>
        <a:p>
          <a:endParaRPr lang="en-GB"/>
        </a:p>
      </dgm:t>
    </dgm:pt>
    <dgm:pt modelId="{855A4322-C5E4-4E3D-AB8F-3C603657DE10}" type="sibTrans" cxnId="{1B09CD0A-E8D1-4D3E-A382-D0FC78B5BFE8}">
      <dgm:prSet/>
      <dgm:spPr/>
      <dgm:t>
        <a:bodyPr/>
        <a:lstStyle/>
        <a:p>
          <a:endParaRPr lang="en-GB"/>
        </a:p>
      </dgm:t>
    </dgm:pt>
    <dgm:pt modelId="{264C7F0F-11A1-408F-BA47-2283AF651E75}" type="pres">
      <dgm:prSet presAssocID="{6BC96C80-FA7B-4ECC-AA5A-7A3BB9D786F1}" presName="rootnode" presStyleCnt="0">
        <dgm:presLayoutVars>
          <dgm:chMax/>
          <dgm:chPref/>
          <dgm:dir/>
          <dgm:animLvl val="lvl"/>
        </dgm:presLayoutVars>
      </dgm:prSet>
      <dgm:spPr/>
    </dgm:pt>
    <dgm:pt modelId="{D45AEF80-6CAA-45B9-A567-2829635912C7}" type="pres">
      <dgm:prSet presAssocID="{F6B07DF5-B29B-45AE-B091-BC97844B765A}" presName="composite" presStyleCnt="0"/>
      <dgm:spPr/>
    </dgm:pt>
    <dgm:pt modelId="{EABA4C18-83DD-47A5-BCEA-F1F08B500C62}" type="pres">
      <dgm:prSet presAssocID="{F6B07DF5-B29B-45AE-B091-BC97844B765A}" presName="bentUpArrow1" presStyleLbl="alignImgPlace1" presStyleIdx="0" presStyleCnt="2"/>
      <dgm:spPr>
        <a:solidFill>
          <a:srgbClr val="F9C6BE"/>
        </a:solidFill>
      </dgm:spPr>
    </dgm:pt>
    <dgm:pt modelId="{43604968-B812-4CDA-8D91-540090A9A36D}" type="pres">
      <dgm:prSet presAssocID="{F6B07DF5-B29B-45AE-B091-BC97844B765A}" presName="ParentText" presStyleLbl="node1" presStyleIdx="0" presStyleCnt="3">
        <dgm:presLayoutVars>
          <dgm:chMax val="1"/>
          <dgm:chPref val="1"/>
          <dgm:bulletEnabled val="1"/>
        </dgm:presLayoutVars>
      </dgm:prSet>
      <dgm:spPr/>
    </dgm:pt>
    <dgm:pt modelId="{198F0ACC-0625-43DC-920D-08412CE17E3F}" type="pres">
      <dgm:prSet presAssocID="{F6B07DF5-B29B-45AE-B091-BC97844B765A}" presName="ChildText" presStyleLbl="revTx" presStyleIdx="0" presStyleCnt="2">
        <dgm:presLayoutVars>
          <dgm:chMax val="0"/>
          <dgm:chPref val="0"/>
          <dgm:bulletEnabled val="1"/>
        </dgm:presLayoutVars>
      </dgm:prSet>
      <dgm:spPr/>
    </dgm:pt>
    <dgm:pt modelId="{688A2378-6FE7-462D-8B05-C8B06C0F4B3F}" type="pres">
      <dgm:prSet presAssocID="{0CD238AA-5288-40BD-991B-745A101A4C27}" presName="sibTrans" presStyleCnt="0"/>
      <dgm:spPr/>
    </dgm:pt>
    <dgm:pt modelId="{B4CC5F95-BCC0-4190-ADCE-9413AC4914F3}" type="pres">
      <dgm:prSet presAssocID="{99E7F5B8-E13A-4305-90DC-5768302A7B4A}" presName="composite" presStyleCnt="0"/>
      <dgm:spPr/>
    </dgm:pt>
    <dgm:pt modelId="{2B889CC1-2710-4627-8C03-1BF111E33A72}" type="pres">
      <dgm:prSet presAssocID="{99E7F5B8-E13A-4305-90DC-5768302A7B4A}" presName="bentUpArrow1" presStyleLbl="alignImgPlace1" presStyleIdx="1" presStyleCnt="2"/>
      <dgm:spPr/>
    </dgm:pt>
    <dgm:pt modelId="{1D64293A-00FB-4D8F-80A0-0004D145D007}" type="pres">
      <dgm:prSet presAssocID="{99E7F5B8-E13A-4305-90DC-5768302A7B4A}" presName="ParentText" presStyleLbl="node1" presStyleIdx="1" presStyleCnt="3">
        <dgm:presLayoutVars>
          <dgm:chMax val="1"/>
          <dgm:chPref val="1"/>
          <dgm:bulletEnabled val="1"/>
        </dgm:presLayoutVars>
      </dgm:prSet>
      <dgm:spPr/>
    </dgm:pt>
    <dgm:pt modelId="{EA9C11EA-E688-4720-964E-47B957D42917}" type="pres">
      <dgm:prSet presAssocID="{99E7F5B8-E13A-4305-90DC-5768302A7B4A}" presName="ChildText" presStyleLbl="revTx" presStyleIdx="1" presStyleCnt="2">
        <dgm:presLayoutVars>
          <dgm:chMax val="0"/>
          <dgm:chPref val="0"/>
          <dgm:bulletEnabled val="1"/>
        </dgm:presLayoutVars>
      </dgm:prSet>
      <dgm:spPr/>
    </dgm:pt>
    <dgm:pt modelId="{4415085F-F602-490B-AD82-C95C05EFB3E2}" type="pres">
      <dgm:prSet presAssocID="{855A4322-C5E4-4E3D-AB8F-3C603657DE10}" presName="sibTrans" presStyleCnt="0"/>
      <dgm:spPr/>
    </dgm:pt>
    <dgm:pt modelId="{5551BE4E-6A08-494D-AB25-A8E4ADBC7A1A}" type="pres">
      <dgm:prSet presAssocID="{4D0C6DE4-F21E-4CE1-91A1-F4340744E12D}" presName="composite" presStyleCnt="0"/>
      <dgm:spPr/>
    </dgm:pt>
    <dgm:pt modelId="{B3625E08-DDCF-472C-A629-B526B20FF615}" type="pres">
      <dgm:prSet presAssocID="{4D0C6DE4-F21E-4CE1-91A1-F4340744E12D}" presName="ParentText" presStyleLbl="node1" presStyleIdx="2" presStyleCnt="3">
        <dgm:presLayoutVars>
          <dgm:chMax val="1"/>
          <dgm:chPref val="1"/>
          <dgm:bulletEnabled val="1"/>
        </dgm:presLayoutVars>
      </dgm:prSet>
      <dgm:spPr/>
    </dgm:pt>
  </dgm:ptLst>
  <dgm:cxnLst>
    <dgm:cxn modelId="{A0ADDA01-D41B-48D2-9E14-CF070C8FDCC9}" srcId="{6BC96C80-FA7B-4ECC-AA5A-7A3BB9D786F1}" destId="{F6B07DF5-B29B-45AE-B091-BC97844B765A}" srcOrd="0" destOrd="0" parTransId="{3F523569-F7D6-445D-B10F-115B6D4D2DB7}" sibTransId="{0CD238AA-5288-40BD-991B-745A101A4C27}"/>
    <dgm:cxn modelId="{1B09CD0A-E8D1-4D3E-A382-D0FC78B5BFE8}" srcId="{6BC96C80-FA7B-4ECC-AA5A-7A3BB9D786F1}" destId="{99E7F5B8-E13A-4305-90DC-5768302A7B4A}" srcOrd="1" destOrd="0" parTransId="{3FCEAC24-5367-42A0-9E5E-F01CDD93CA1E}" sibTransId="{855A4322-C5E4-4E3D-AB8F-3C603657DE10}"/>
    <dgm:cxn modelId="{1020FE27-4877-4F92-B482-A5CC91646EE3}" type="presOf" srcId="{F6B07DF5-B29B-45AE-B091-BC97844B765A}" destId="{43604968-B812-4CDA-8D91-540090A9A36D}" srcOrd="0" destOrd="0" presId="urn:microsoft.com/office/officeart/2005/8/layout/StepDownProcess"/>
    <dgm:cxn modelId="{9B6BEB50-FDA1-44F9-B190-98DB126F7642}" type="presOf" srcId="{99E7F5B8-E13A-4305-90DC-5768302A7B4A}" destId="{1D64293A-00FB-4D8F-80A0-0004D145D007}" srcOrd="0" destOrd="0" presId="urn:microsoft.com/office/officeart/2005/8/layout/StepDownProcess"/>
    <dgm:cxn modelId="{CAD51785-8F42-4699-93B8-97B29E805937}" type="presOf" srcId="{4D0C6DE4-F21E-4CE1-91A1-F4340744E12D}" destId="{B3625E08-DDCF-472C-A629-B526B20FF615}" srcOrd="0" destOrd="0" presId="urn:microsoft.com/office/officeart/2005/8/layout/StepDownProcess"/>
    <dgm:cxn modelId="{7F6DC88A-3DE4-45A4-93F5-DFFA9938B5C2}" type="presOf" srcId="{6BC96C80-FA7B-4ECC-AA5A-7A3BB9D786F1}" destId="{264C7F0F-11A1-408F-BA47-2283AF651E75}" srcOrd="0" destOrd="0" presId="urn:microsoft.com/office/officeart/2005/8/layout/StepDownProcess"/>
    <dgm:cxn modelId="{A1B3D3CE-A22B-4BCF-A7EE-292F770A8838}" srcId="{6BC96C80-FA7B-4ECC-AA5A-7A3BB9D786F1}" destId="{4D0C6DE4-F21E-4CE1-91A1-F4340744E12D}" srcOrd="2" destOrd="0" parTransId="{B38AF185-77F4-401A-A3EA-8967A08D02D5}" sibTransId="{1710A6A9-98A5-4734-840C-DD34A0CF36E3}"/>
    <dgm:cxn modelId="{1BCD6275-CE13-4634-8593-92B5B256E477}" type="presParOf" srcId="{264C7F0F-11A1-408F-BA47-2283AF651E75}" destId="{D45AEF80-6CAA-45B9-A567-2829635912C7}" srcOrd="0" destOrd="0" presId="urn:microsoft.com/office/officeart/2005/8/layout/StepDownProcess"/>
    <dgm:cxn modelId="{2CDD898B-E576-4099-8749-E688520F1D72}" type="presParOf" srcId="{D45AEF80-6CAA-45B9-A567-2829635912C7}" destId="{EABA4C18-83DD-47A5-BCEA-F1F08B500C62}" srcOrd="0" destOrd="0" presId="urn:microsoft.com/office/officeart/2005/8/layout/StepDownProcess"/>
    <dgm:cxn modelId="{776C4C0F-D144-464D-B7B8-15104917680A}" type="presParOf" srcId="{D45AEF80-6CAA-45B9-A567-2829635912C7}" destId="{43604968-B812-4CDA-8D91-540090A9A36D}" srcOrd="1" destOrd="0" presId="urn:microsoft.com/office/officeart/2005/8/layout/StepDownProcess"/>
    <dgm:cxn modelId="{62AE31E0-D3B7-4ADC-8AA7-B30E217AC02D}" type="presParOf" srcId="{D45AEF80-6CAA-45B9-A567-2829635912C7}" destId="{198F0ACC-0625-43DC-920D-08412CE17E3F}" srcOrd="2" destOrd="0" presId="urn:microsoft.com/office/officeart/2005/8/layout/StepDownProcess"/>
    <dgm:cxn modelId="{F049CE38-B7F3-41B9-AD5A-1A9512802E46}" type="presParOf" srcId="{264C7F0F-11A1-408F-BA47-2283AF651E75}" destId="{688A2378-6FE7-462D-8B05-C8B06C0F4B3F}" srcOrd="1" destOrd="0" presId="urn:microsoft.com/office/officeart/2005/8/layout/StepDownProcess"/>
    <dgm:cxn modelId="{DEFD3548-3300-4685-A963-ACA7D50507E3}" type="presParOf" srcId="{264C7F0F-11A1-408F-BA47-2283AF651E75}" destId="{B4CC5F95-BCC0-4190-ADCE-9413AC4914F3}" srcOrd="2" destOrd="0" presId="urn:microsoft.com/office/officeart/2005/8/layout/StepDownProcess"/>
    <dgm:cxn modelId="{1B091BB9-088B-4449-8CC8-9BB3846AFC2E}" type="presParOf" srcId="{B4CC5F95-BCC0-4190-ADCE-9413AC4914F3}" destId="{2B889CC1-2710-4627-8C03-1BF111E33A72}" srcOrd="0" destOrd="0" presId="urn:microsoft.com/office/officeart/2005/8/layout/StepDownProcess"/>
    <dgm:cxn modelId="{8B5A9294-C8A5-423F-AD32-1E89D7B2444D}" type="presParOf" srcId="{B4CC5F95-BCC0-4190-ADCE-9413AC4914F3}" destId="{1D64293A-00FB-4D8F-80A0-0004D145D007}" srcOrd="1" destOrd="0" presId="urn:microsoft.com/office/officeart/2005/8/layout/StepDownProcess"/>
    <dgm:cxn modelId="{5D749F0D-48CD-46AA-A600-A26CDABDC3C1}" type="presParOf" srcId="{B4CC5F95-BCC0-4190-ADCE-9413AC4914F3}" destId="{EA9C11EA-E688-4720-964E-47B957D42917}" srcOrd="2" destOrd="0" presId="urn:microsoft.com/office/officeart/2005/8/layout/StepDownProcess"/>
    <dgm:cxn modelId="{B2813CF5-A0B5-47EF-9B1F-CAE0F7C71D64}" type="presParOf" srcId="{264C7F0F-11A1-408F-BA47-2283AF651E75}" destId="{4415085F-F602-490B-AD82-C95C05EFB3E2}" srcOrd="3" destOrd="0" presId="urn:microsoft.com/office/officeart/2005/8/layout/StepDownProcess"/>
    <dgm:cxn modelId="{A6C91149-0DDF-475A-9132-3B0B0DC095C7}" type="presParOf" srcId="{264C7F0F-11A1-408F-BA47-2283AF651E75}" destId="{5551BE4E-6A08-494D-AB25-A8E4ADBC7A1A}" srcOrd="4" destOrd="0" presId="urn:microsoft.com/office/officeart/2005/8/layout/StepDownProcess"/>
    <dgm:cxn modelId="{986E5232-1E63-44A1-B239-752F765B9ADC}" type="presParOf" srcId="{5551BE4E-6A08-494D-AB25-A8E4ADBC7A1A}" destId="{B3625E08-DDCF-472C-A629-B526B20FF615}" srcOrd="0"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31EFFB9-BD04-49BD-9694-02B3F4A9B724}"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GB"/>
        </a:p>
      </dgm:t>
    </dgm:pt>
    <dgm:pt modelId="{396139CA-4DC3-48EA-8CBA-B1D44B8C690F}">
      <dgm:prSet phldrT="[Text]" custT="1"/>
      <dgm:spPr>
        <a:solidFill>
          <a:srgbClr val="40488D"/>
        </a:solidFill>
      </dgm:spPr>
      <dgm:t>
        <a:bodyPr/>
        <a:lstStyle/>
        <a:p>
          <a:r>
            <a:rPr lang="en-GB" sz="1800"/>
            <a:t>Subgroup Analyses</a:t>
          </a:r>
        </a:p>
      </dgm:t>
    </dgm:pt>
    <dgm:pt modelId="{00854F48-D91F-47A1-A7C3-A30C6A2A49EE}" type="parTrans" cxnId="{B18F193B-40D0-4EE1-B589-7EEBB126A3FD}">
      <dgm:prSet/>
      <dgm:spPr/>
      <dgm:t>
        <a:bodyPr/>
        <a:lstStyle/>
        <a:p>
          <a:endParaRPr lang="en-GB" sz="1400"/>
        </a:p>
      </dgm:t>
    </dgm:pt>
    <dgm:pt modelId="{47620660-F6FA-4B08-8C3A-723AD425FCDA}" type="sibTrans" cxnId="{B18F193B-40D0-4EE1-B589-7EEBB126A3FD}">
      <dgm:prSet/>
      <dgm:spPr/>
      <dgm:t>
        <a:bodyPr/>
        <a:lstStyle/>
        <a:p>
          <a:endParaRPr lang="en-GB" sz="1400"/>
        </a:p>
      </dgm:t>
    </dgm:pt>
    <dgm:pt modelId="{46A9294B-E955-4C66-AD7A-00C623529141}">
      <dgm:prSet phldrT="[Text]" custT="1"/>
      <dgm:spPr>
        <a:solidFill>
          <a:schemeClr val="bg2"/>
        </a:solidFill>
      </dgm:spPr>
      <dgm:t>
        <a:bodyPr/>
        <a:lstStyle/>
        <a:p>
          <a:r>
            <a:rPr lang="en-GB" sz="1800"/>
            <a:t>What do you need to do?</a:t>
          </a:r>
        </a:p>
      </dgm:t>
    </dgm:pt>
    <dgm:pt modelId="{FDD06839-9DBC-4ADE-8ECC-4C4F2CF9C7B1}" type="parTrans" cxnId="{A309F978-F6B4-44F2-BD7D-05515C54CDB8}">
      <dgm:prSet/>
      <dgm:spPr/>
      <dgm:t>
        <a:bodyPr/>
        <a:lstStyle/>
        <a:p>
          <a:endParaRPr lang="en-GB" sz="1400"/>
        </a:p>
      </dgm:t>
    </dgm:pt>
    <dgm:pt modelId="{556F560E-2545-477C-B18D-D4DD7C002CAD}" type="sibTrans" cxnId="{A309F978-F6B4-44F2-BD7D-05515C54CDB8}">
      <dgm:prSet/>
      <dgm:spPr/>
      <dgm:t>
        <a:bodyPr/>
        <a:lstStyle/>
        <a:p>
          <a:endParaRPr lang="en-GB" sz="1400"/>
        </a:p>
      </dgm:t>
    </dgm:pt>
    <dgm:pt modelId="{0FEB305D-9D3D-40E3-9B11-D606B5B4CFC5}">
      <dgm:prSet/>
      <dgm:spPr>
        <a:ln>
          <a:solidFill>
            <a:schemeClr val="accent5"/>
          </a:solidFill>
        </a:ln>
      </dgm:spPr>
      <dgm:t>
        <a:bodyPr/>
        <a:lstStyle/>
        <a:p>
          <a:r>
            <a:rPr lang="en-GB"/>
            <a:t>Subgroup analyses tend to be </a:t>
          </a:r>
          <a:r>
            <a:rPr lang="en-GB">
              <a:solidFill>
                <a:srgbClr val="40488D"/>
              </a:solidFill>
            </a:rPr>
            <a:t>exploratory</a:t>
          </a:r>
          <a:r>
            <a:rPr lang="en-GB"/>
            <a:t> in nature. They are useful to show consistency of effect or to generate a hypothesis for a responder group (which would then require additional research)</a:t>
          </a:r>
        </a:p>
      </dgm:t>
    </dgm:pt>
    <dgm:pt modelId="{269C29B0-D780-4FA6-ABA5-2BC3D53DAB53}" type="parTrans" cxnId="{AE744C34-49BA-49BD-A147-D9085358F35B}">
      <dgm:prSet/>
      <dgm:spPr/>
      <dgm:t>
        <a:bodyPr/>
        <a:lstStyle/>
        <a:p>
          <a:endParaRPr lang="en-GB"/>
        </a:p>
      </dgm:t>
    </dgm:pt>
    <dgm:pt modelId="{7C8A264C-B2B5-4262-8EF8-FEDC94D8C42F}" type="sibTrans" cxnId="{AE744C34-49BA-49BD-A147-D9085358F35B}">
      <dgm:prSet/>
      <dgm:spPr/>
      <dgm:t>
        <a:bodyPr/>
        <a:lstStyle/>
        <a:p>
          <a:endParaRPr lang="en-GB"/>
        </a:p>
      </dgm:t>
    </dgm:pt>
    <dgm:pt modelId="{2B2C975A-7242-4C45-A126-4F76B97155E3}">
      <dgm:prSet/>
      <dgm:spPr>
        <a:ln>
          <a:solidFill>
            <a:schemeClr val="bg2"/>
          </a:solidFill>
        </a:ln>
      </dgm:spPr>
      <dgm:t>
        <a:bodyPr/>
        <a:lstStyle/>
        <a:p>
          <a:r>
            <a:rPr lang="en-GB"/>
            <a:t>Treat subgroup results with </a:t>
          </a:r>
          <a:r>
            <a:rPr lang="en-GB">
              <a:solidFill>
                <a:schemeClr val="bg2"/>
              </a:solidFill>
            </a:rPr>
            <a:t>caution</a:t>
          </a:r>
          <a:r>
            <a:rPr lang="en-GB"/>
            <a:t>. Results should always be put into </a:t>
          </a:r>
          <a:r>
            <a:rPr lang="en-GB">
              <a:solidFill>
                <a:schemeClr val="bg2"/>
              </a:solidFill>
            </a:rPr>
            <a:t>context</a:t>
          </a:r>
          <a:r>
            <a:rPr lang="en-GB"/>
            <a:t> with other data (either other results within the study or results from other studies).</a:t>
          </a:r>
        </a:p>
      </dgm:t>
    </dgm:pt>
    <dgm:pt modelId="{221732C5-2D94-4F66-9A46-D2BB7AA0761F}" type="parTrans" cxnId="{53BD0953-655C-4CFD-AE22-7F0C74A70F6A}">
      <dgm:prSet/>
      <dgm:spPr/>
      <dgm:t>
        <a:bodyPr/>
        <a:lstStyle/>
        <a:p>
          <a:endParaRPr lang="en-GB"/>
        </a:p>
      </dgm:t>
    </dgm:pt>
    <dgm:pt modelId="{C3649512-A06A-403D-8C7F-5B13E93D71E4}" type="sibTrans" cxnId="{53BD0953-655C-4CFD-AE22-7F0C74A70F6A}">
      <dgm:prSet/>
      <dgm:spPr/>
      <dgm:t>
        <a:bodyPr/>
        <a:lstStyle/>
        <a:p>
          <a:endParaRPr lang="en-GB"/>
        </a:p>
      </dgm:t>
    </dgm:pt>
    <dgm:pt modelId="{03121F59-57CB-4340-AB83-6FC8BDFA76E6}">
      <dgm:prSet/>
      <dgm:spPr/>
      <dgm:t>
        <a:bodyPr/>
        <a:lstStyle/>
        <a:p>
          <a:r>
            <a:rPr lang="en-GB"/>
            <a:t>However, they can lead us to </a:t>
          </a:r>
          <a:r>
            <a:rPr lang="en-GB">
              <a:solidFill>
                <a:srgbClr val="40488D"/>
              </a:solidFill>
            </a:rPr>
            <a:t>false claims and conclusions </a:t>
          </a:r>
          <a:r>
            <a:rPr lang="en-GB"/>
            <a:t>if multiplicity is not properly accounted for</a:t>
          </a:r>
        </a:p>
      </dgm:t>
    </dgm:pt>
    <dgm:pt modelId="{7C4463DA-2FB6-4C05-8FA1-A66A18F34BAA}" type="parTrans" cxnId="{1D296D11-D386-4BC0-8D83-824BD75575CE}">
      <dgm:prSet/>
      <dgm:spPr/>
      <dgm:t>
        <a:bodyPr/>
        <a:lstStyle/>
        <a:p>
          <a:endParaRPr lang="en-GB"/>
        </a:p>
      </dgm:t>
    </dgm:pt>
    <dgm:pt modelId="{E07612CF-7CAE-4A6F-86FD-C4F3466F27B1}" type="sibTrans" cxnId="{1D296D11-D386-4BC0-8D83-824BD75575CE}">
      <dgm:prSet/>
      <dgm:spPr/>
      <dgm:t>
        <a:bodyPr/>
        <a:lstStyle/>
        <a:p>
          <a:endParaRPr lang="en-GB"/>
        </a:p>
      </dgm:t>
    </dgm:pt>
    <dgm:pt modelId="{046EDAD7-5263-4499-8C7B-7ABCF267BD9B}">
      <dgm:prSet/>
      <dgm:spPr/>
      <dgm:t>
        <a:bodyPr/>
        <a:lstStyle/>
        <a:p>
          <a:r>
            <a:rPr lang="en-GB">
              <a:solidFill>
                <a:schemeClr val="bg2"/>
              </a:solidFill>
            </a:rPr>
            <a:t>Transparency</a:t>
          </a:r>
          <a:r>
            <a:rPr lang="en-GB"/>
            <a:t> needed when presenting our results</a:t>
          </a:r>
        </a:p>
      </dgm:t>
    </dgm:pt>
    <dgm:pt modelId="{26641713-5DE7-486C-B126-9FCFEDA776FC}" type="parTrans" cxnId="{DC8C5405-E741-4AC0-BA16-F103C28541AD}">
      <dgm:prSet/>
      <dgm:spPr/>
      <dgm:t>
        <a:bodyPr/>
        <a:lstStyle/>
        <a:p>
          <a:endParaRPr lang="en-GB"/>
        </a:p>
      </dgm:t>
    </dgm:pt>
    <dgm:pt modelId="{34F316D7-9525-40B7-BAAC-9B6D023FFE7B}" type="sibTrans" cxnId="{DC8C5405-E741-4AC0-BA16-F103C28541AD}">
      <dgm:prSet/>
      <dgm:spPr/>
      <dgm:t>
        <a:bodyPr/>
        <a:lstStyle/>
        <a:p>
          <a:endParaRPr lang="en-GB"/>
        </a:p>
      </dgm:t>
    </dgm:pt>
    <dgm:pt modelId="{14BABBD2-0914-4826-994C-5C9E21B0EAB8}">
      <dgm:prSet/>
      <dgm:spPr/>
      <dgm:t>
        <a:bodyPr/>
        <a:lstStyle/>
        <a:p>
          <a:r>
            <a:rPr lang="en-GB"/>
            <a:t>Beware of </a:t>
          </a:r>
          <a:r>
            <a:rPr lang="en-GB">
              <a:solidFill>
                <a:schemeClr val="bg2"/>
              </a:solidFill>
            </a:rPr>
            <a:t>overinterpreting</a:t>
          </a:r>
          <a:r>
            <a:rPr lang="en-GB"/>
            <a:t> small subgroups!</a:t>
          </a:r>
        </a:p>
      </dgm:t>
    </dgm:pt>
    <dgm:pt modelId="{F1E3A747-70E5-4C8A-85D2-ABE3B22A89D6}" type="parTrans" cxnId="{6A18BF79-3D9B-4375-90EC-7DA375125298}">
      <dgm:prSet/>
      <dgm:spPr/>
      <dgm:t>
        <a:bodyPr/>
        <a:lstStyle/>
        <a:p>
          <a:endParaRPr lang="en-GB"/>
        </a:p>
      </dgm:t>
    </dgm:pt>
    <dgm:pt modelId="{F53D6A3C-9A33-4B13-A739-226F7F52D916}" type="sibTrans" cxnId="{6A18BF79-3D9B-4375-90EC-7DA375125298}">
      <dgm:prSet/>
      <dgm:spPr/>
      <dgm:t>
        <a:bodyPr/>
        <a:lstStyle/>
        <a:p>
          <a:endParaRPr lang="en-GB"/>
        </a:p>
      </dgm:t>
    </dgm:pt>
    <dgm:pt modelId="{67140D47-E260-4594-8754-7CF12B83DA15}">
      <dgm:prSet/>
      <dgm:spPr/>
      <dgm:t>
        <a:bodyPr/>
        <a:lstStyle/>
        <a:p>
          <a:r>
            <a:rPr lang="en-GB">
              <a:solidFill>
                <a:schemeClr val="bg2"/>
              </a:solidFill>
            </a:rPr>
            <a:t>If in doubt: Talk to your Statistician!</a:t>
          </a:r>
        </a:p>
      </dgm:t>
    </dgm:pt>
    <dgm:pt modelId="{F9ADAA71-517E-4F52-ABB4-CF9428EC593E}" type="parTrans" cxnId="{D116431B-0049-4DC6-9E63-B1DA15EABC93}">
      <dgm:prSet/>
      <dgm:spPr/>
      <dgm:t>
        <a:bodyPr/>
        <a:lstStyle/>
        <a:p>
          <a:endParaRPr lang="en-GB"/>
        </a:p>
      </dgm:t>
    </dgm:pt>
    <dgm:pt modelId="{AB492C38-C68A-4410-A10F-0D3D193EF699}" type="sibTrans" cxnId="{D116431B-0049-4DC6-9E63-B1DA15EABC93}">
      <dgm:prSet/>
      <dgm:spPr/>
      <dgm:t>
        <a:bodyPr/>
        <a:lstStyle/>
        <a:p>
          <a:endParaRPr lang="en-GB"/>
        </a:p>
      </dgm:t>
    </dgm:pt>
    <dgm:pt modelId="{447DD49A-06A4-4E6D-8A8C-3BCE2337070F}" type="pres">
      <dgm:prSet presAssocID="{931EFFB9-BD04-49BD-9694-02B3F4A9B724}" presName="linear" presStyleCnt="0">
        <dgm:presLayoutVars>
          <dgm:dir/>
          <dgm:animLvl val="lvl"/>
          <dgm:resizeHandles val="exact"/>
        </dgm:presLayoutVars>
      </dgm:prSet>
      <dgm:spPr/>
    </dgm:pt>
    <dgm:pt modelId="{7ADD2E8F-30C1-42D1-ACE9-C545D2B2866D}" type="pres">
      <dgm:prSet presAssocID="{396139CA-4DC3-48EA-8CBA-B1D44B8C690F}" presName="parentLin" presStyleCnt="0"/>
      <dgm:spPr/>
    </dgm:pt>
    <dgm:pt modelId="{347990ED-8D0C-4161-B372-9B025C95341E}" type="pres">
      <dgm:prSet presAssocID="{396139CA-4DC3-48EA-8CBA-B1D44B8C690F}" presName="parentLeftMargin" presStyleLbl="node1" presStyleIdx="0" presStyleCnt="2"/>
      <dgm:spPr/>
    </dgm:pt>
    <dgm:pt modelId="{C08FE6A4-AFAA-401F-8788-5B2EF4404F28}" type="pres">
      <dgm:prSet presAssocID="{396139CA-4DC3-48EA-8CBA-B1D44B8C690F}" presName="parentText" presStyleLbl="node1" presStyleIdx="0" presStyleCnt="2" custScaleX="107889" custScaleY="81813">
        <dgm:presLayoutVars>
          <dgm:chMax val="0"/>
          <dgm:bulletEnabled val="1"/>
        </dgm:presLayoutVars>
      </dgm:prSet>
      <dgm:spPr/>
    </dgm:pt>
    <dgm:pt modelId="{33E3D091-0F1F-4AD1-9244-AF479C03FFCB}" type="pres">
      <dgm:prSet presAssocID="{396139CA-4DC3-48EA-8CBA-B1D44B8C690F}" presName="negativeSpace" presStyleCnt="0"/>
      <dgm:spPr/>
    </dgm:pt>
    <dgm:pt modelId="{E312D576-2262-4902-9BB8-7378FCFD3F79}" type="pres">
      <dgm:prSet presAssocID="{396139CA-4DC3-48EA-8CBA-B1D44B8C690F}" presName="childText" presStyleLbl="conFgAcc1" presStyleIdx="0" presStyleCnt="2" custLinFactNeighborX="4" custLinFactNeighborY="-5390">
        <dgm:presLayoutVars>
          <dgm:bulletEnabled val="1"/>
        </dgm:presLayoutVars>
      </dgm:prSet>
      <dgm:spPr/>
    </dgm:pt>
    <dgm:pt modelId="{FFE15786-8A0D-4C7A-BEFF-0A1922236FC7}" type="pres">
      <dgm:prSet presAssocID="{47620660-F6FA-4B08-8C3A-723AD425FCDA}" presName="spaceBetweenRectangles" presStyleCnt="0"/>
      <dgm:spPr/>
    </dgm:pt>
    <dgm:pt modelId="{631A932B-AD3F-4429-B224-2EA951F396FE}" type="pres">
      <dgm:prSet presAssocID="{46A9294B-E955-4C66-AD7A-00C623529141}" presName="parentLin" presStyleCnt="0"/>
      <dgm:spPr/>
    </dgm:pt>
    <dgm:pt modelId="{5F222D84-7399-4696-AF3C-EA782BD12598}" type="pres">
      <dgm:prSet presAssocID="{46A9294B-E955-4C66-AD7A-00C623529141}" presName="parentLeftMargin" presStyleLbl="node1" presStyleIdx="0" presStyleCnt="2"/>
      <dgm:spPr/>
    </dgm:pt>
    <dgm:pt modelId="{DBB2BA91-92B9-4D59-9135-38B4B0DBFBFE}" type="pres">
      <dgm:prSet presAssocID="{46A9294B-E955-4C66-AD7A-00C623529141}" presName="parentText" presStyleLbl="node1" presStyleIdx="1" presStyleCnt="2" custScaleY="81813">
        <dgm:presLayoutVars>
          <dgm:chMax val="0"/>
          <dgm:bulletEnabled val="1"/>
        </dgm:presLayoutVars>
      </dgm:prSet>
      <dgm:spPr/>
    </dgm:pt>
    <dgm:pt modelId="{36D1AE16-5482-47F7-AF7E-D3B6ECEA8328}" type="pres">
      <dgm:prSet presAssocID="{46A9294B-E955-4C66-AD7A-00C623529141}" presName="negativeSpace" presStyleCnt="0"/>
      <dgm:spPr/>
    </dgm:pt>
    <dgm:pt modelId="{E9878A77-7479-4CA0-90B1-B049D97040E7}" type="pres">
      <dgm:prSet presAssocID="{46A9294B-E955-4C66-AD7A-00C623529141}" presName="childText" presStyleLbl="conFgAcc1" presStyleIdx="1" presStyleCnt="2">
        <dgm:presLayoutVars>
          <dgm:bulletEnabled val="1"/>
        </dgm:presLayoutVars>
      </dgm:prSet>
      <dgm:spPr/>
    </dgm:pt>
  </dgm:ptLst>
  <dgm:cxnLst>
    <dgm:cxn modelId="{DC8C5405-E741-4AC0-BA16-F103C28541AD}" srcId="{46A9294B-E955-4C66-AD7A-00C623529141}" destId="{046EDAD7-5263-4499-8C7B-7ABCF267BD9B}" srcOrd="1" destOrd="0" parTransId="{26641713-5DE7-486C-B126-9FCFEDA776FC}" sibTransId="{34F316D7-9525-40B7-BAAC-9B6D023FFE7B}"/>
    <dgm:cxn modelId="{C9085010-FD0A-4E69-B78A-6AC5CF8BD346}" type="presOf" srcId="{46A9294B-E955-4C66-AD7A-00C623529141}" destId="{DBB2BA91-92B9-4D59-9135-38B4B0DBFBFE}" srcOrd="1" destOrd="0" presId="urn:microsoft.com/office/officeart/2005/8/layout/list1"/>
    <dgm:cxn modelId="{1D296D11-D386-4BC0-8D83-824BD75575CE}" srcId="{396139CA-4DC3-48EA-8CBA-B1D44B8C690F}" destId="{03121F59-57CB-4340-AB83-6FC8BDFA76E6}" srcOrd="1" destOrd="0" parTransId="{7C4463DA-2FB6-4C05-8FA1-A66A18F34BAA}" sibTransId="{E07612CF-7CAE-4A6F-86FD-C4F3466F27B1}"/>
    <dgm:cxn modelId="{FCF5A112-E0EC-416E-AD14-955723583FB3}" type="presOf" srcId="{396139CA-4DC3-48EA-8CBA-B1D44B8C690F}" destId="{347990ED-8D0C-4161-B372-9B025C95341E}" srcOrd="0" destOrd="0" presId="urn:microsoft.com/office/officeart/2005/8/layout/list1"/>
    <dgm:cxn modelId="{A2BA5B13-91D4-4710-87AE-B8CB22A070D8}" type="presOf" srcId="{14BABBD2-0914-4826-994C-5C9E21B0EAB8}" destId="{E9878A77-7479-4CA0-90B1-B049D97040E7}" srcOrd="0" destOrd="2" presId="urn:microsoft.com/office/officeart/2005/8/layout/list1"/>
    <dgm:cxn modelId="{D116431B-0049-4DC6-9E63-B1DA15EABC93}" srcId="{46A9294B-E955-4C66-AD7A-00C623529141}" destId="{67140D47-E260-4594-8754-7CF12B83DA15}" srcOrd="3" destOrd="0" parTransId="{F9ADAA71-517E-4F52-ABB4-CF9428EC593E}" sibTransId="{AB492C38-C68A-4410-A10F-0D3D193EF699}"/>
    <dgm:cxn modelId="{825B6034-58B9-42B7-9427-84ABB958CDF4}" type="presOf" srcId="{67140D47-E260-4594-8754-7CF12B83DA15}" destId="{E9878A77-7479-4CA0-90B1-B049D97040E7}" srcOrd="0" destOrd="3" presId="urn:microsoft.com/office/officeart/2005/8/layout/list1"/>
    <dgm:cxn modelId="{AE744C34-49BA-49BD-A147-D9085358F35B}" srcId="{396139CA-4DC3-48EA-8CBA-B1D44B8C690F}" destId="{0FEB305D-9D3D-40E3-9B11-D606B5B4CFC5}" srcOrd="0" destOrd="0" parTransId="{269C29B0-D780-4FA6-ABA5-2BC3D53DAB53}" sibTransId="{7C8A264C-B2B5-4262-8EF8-FEDC94D8C42F}"/>
    <dgm:cxn modelId="{B18F193B-40D0-4EE1-B589-7EEBB126A3FD}" srcId="{931EFFB9-BD04-49BD-9694-02B3F4A9B724}" destId="{396139CA-4DC3-48EA-8CBA-B1D44B8C690F}" srcOrd="0" destOrd="0" parTransId="{00854F48-D91F-47A1-A7C3-A30C6A2A49EE}" sibTransId="{47620660-F6FA-4B08-8C3A-723AD425FCDA}"/>
    <dgm:cxn modelId="{D1ECF65E-4864-404E-B14B-C021716D4D16}" type="presOf" srcId="{396139CA-4DC3-48EA-8CBA-B1D44B8C690F}" destId="{C08FE6A4-AFAA-401F-8788-5B2EF4404F28}" srcOrd="1" destOrd="0" presId="urn:microsoft.com/office/officeart/2005/8/layout/list1"/>
    <dgm:cxn modelId="{CE541465-B0F7-4BBD-80D6-A48EF28D020C}" type="presOf" srcId="{046EDAD7-5263-4499-8C7B-7ABCF267BD9B}" destId="{E9878A77-7479-4CA0-90B1-B049D97040E7}" srcOrd="0" destOrd="1" presId="urn:microsoft.com/office/officeart/2005/8/layout/list1"/>
    <dgm:cxn modelId="{AFDE716F-01C3-420D-8CE6-2404C125451C}" type="presOf" srcId="{03121F59-57CB-4340-AB83-6FC8BDFA76E6}" destId="{E312D576-2262-4902-9BB8-7378FCFD3F79}" srcOrd="0" destOrd="1" presId="urn:microsoft.com/office/officeart/2005/8/layout/list1"/>
    <dgm:cxn modelId="{53BD0953-655C-4CFD-AE22-7F0C74A70F6A}" srcId="{46A9294B-E955-4C66-AD7A-00C623529141}" destId="{2B2C975A-7242-4C45-A126-4F76B97155E3}" srcOrd="0" destOrd="0" parTransId="{221732C5-2D94-4F66-9A46-D2BB7AA0761F}" sibTransId="{C3649512-A06A-403D-8C7F-5B13E93D71E4}"/>
    <dgm:cxn modelId="{A309F978-F6B4-44F2-BD7D-05515C54CDB8}" srcId="{931EFFB9-BD04-49BD-9694-02B3F4A9B724}" destId="{46A9294B-E955-4C66-AD7A-00C623529141}" srcOrd="1" destOrd="0" parTransId="{FDD06839-9DBC-4ADE-8ECC-4C4F2CF9C7B1}" sibTransId="{556F560E-2545-477C-B18D-D4DD7C002CAD}"/>
    <dgm:cxn modelId="{85A63179-2C4D-4B5A-B8B8-6D4B50E77706}" type="presOf" srcId="{46A9294B-E955-4C66-AD7A-00C623529141}" destId="{5F222D84-7399-4696-AF3C-EA782BD12598}" srcOrd="0" destOrd="0" presId="urn:microsoft.com/office/officeart/2005/8/layout/list1"/>
    <dgm:cxn modelId="{6A18BF79-3D9B-4375-90EC-7DA375125298}" srcId="{46A9294B-E955-4C66-AD7A-00C623529141}" destId="{14BABBD2-0914-4826-994C-5C9E21B0EAB8}" srcOrd="2" destOrd="0" parTransId="{F1E3A747-70E5-4C8A-85D2-ABE3B22A89D6}" sibTransId="{F53D6A3C-9A33-4B13-A739-226F7F52D916}"/>
    <dgm:cxn modelId="{3D30768F-26A0-4E63-B191-6DD3D105D187}" type="presOf" srcId="{2B2C975A-7242-4C45-A126-4F76B97155E3}" destId="{E9878A77-7479-4CA0-90B1-B049D97040E7}" srcOrd="0" destOrd="0" presId="urn:microsoft.com/office/officeart/2005/8/layout/list1"/>
    <dgm:cxn modelId="{D858AEE1-888A-4A09-920E-E3EFE4A1C074}" type="presOf" srcId="{931EFFB9-BD04-49BD-9694-02B3F4A9B724}" destId="{447DD49A-06A4-4E6D-8A8C-3BCE2337070F}" srcOrd="0" destOrd="0" presId="urn:microsoft.com/office/officeart/2005/8/layout/list1"/>
    <dgm:cxn modelId="{FD7015E5-770B-4F75-A9C3-F5570AB768EC}" type="presOf" srcId="{0FEB305D-9D3D-40E3-9B11-D606B5B4CFC5}" destId="{E312D576-2262-4902-9BB8-7378FCFD3F79}" srcOrd="0" destOrd="0" presId="urn:microsoft.com/office/officeart/2005/8/layout/list1"/>
    <dgm:cxn modelId="{0454CE2D-C9BC-4BE9-ABCA-9CBEE81DEA32}" type="presParOf" srcId="{447DD49A-06A4-4E6D-8A8C-3BCE2337070F}" destId="{7ADD2E8F-30C1-42D1-ACE9-C545D2B2866D}" srcOrd="0" destOrd="0" presId="urn:microsoft.com/office/officeart/2005/8/layout/list1"/>
    <dgm:cxn modelId="{8D86E326-658F-4B92-87FC-D5DE2E8AC35E}" type="presParOf" srcId="{7ADD2E8F-30C1-42D1-ACE9-C545D2B2866D}" destId="{347990ED-8D0C-4161-B372-9B025C95341E}" srcOrd="0" destOrd="0" presId="urn:microsoft.com/office/officeart/2005/8/layout/list1"/>
    <dgm:cxn modelId="{ACE9C12D-09CB-4213-9B8D-B1C965B3D280}" type="presParOf" srcId="{7ADD2E8F-30C1-42D1-ACE9-C545D2B2866D}" destId="{C08FE6A4-AFAA-401F-8788-5B2EF4404F28}" srcOrd="1" destOrd="0" presId="urn:microsoft.com/office/officeart/2005/8/layout/list1"/>
    <dgm:cxn modelId="{AFC95DF0-129F-4D85-B26E-7912580A80F8}" type="presParOf" srcId="{447DD49A-06A4-4E6D-8A8C-3BCE2337070F}" destId="{33E3D091-0F1F-4AD1-9244-AF479C03FFCB}" srcOrd="1" destOrd="0" presId="urn:microsoft.com/office/officeart/2005/8/layout/list1"/>
    <dgm:cxn modelId="{A492B2A8-8B18-4299-A7DA-002C1F1931BD}" type="presParOf" srcId="{447DD49A-06A4-4E6D-8A8C-3BCE2337070F}" destId="{E312D576-2262-4902-9BB8-7378FCFD3F79}" srcOrd="2" destOrd="0" presId="urn:microsoft.com/office/officeart/2005/8/layout/list1"/>
    <dgm:cxn modelId="{210CC30D-B3DC-4C69-B04D-98320E47B4CD}" type="presParOf" srcId="{447DD49A-06A4-4E6D-8A8C-3BCE2337070F}" destId="{FFE15786-8A0D-4C7A-BEFF-0A1922236FC7}" srcOrd="3" destOrd="0" presId="urn:microsoft.com/office/officeart/2005/8/layout/list1"/>
    <dgm:cxn modelId="{12E27C0B-7FCD-4E88-8423-5C08940CE565}" type="presParOf" srcId="{447DD49A-06A4-4E6D-8A8C-3BCE2337070F}" destId="{631A932B-AD3F-4429-B224-2EA951F396FE}" srcOrd="4" destOrd="0" presId="urn:microsoft.com/office/officeart/2005/8/layout/list1"/>
    <dgm:cxn modelId="{688B9CE1-7CA6-4919-93D7-44FEE195F7B7}" type="presParOf" srcId="{631A932B-AD3F-4429-B224-2EA951F396FE}" destId="{5F222D84-7399-4696-AF3C-EA782BD12598}" srcOrd="0" destOrd="0" presId="urn:microsoft.com/office/officeart/2005/8/layout/list1"/>
    <dgm:cxn modelId="{3FACF7CA-115D-4C04-B955-775CA2AF6F40}" type="presParOf" srcId="{631A932B-AD3F-4429-B224-2EA951F396FE}" destId="{DBB2BA91-92B9-4D59-9135-38B4B0DBFBFE}" srcOrd="1" destOrd="0" presId="urn:microsoft.com/office/officeart/2005/8/layout/list1"/>
    <dgm:cxn modelId="{88F463C2-AE35-4493-B24B-564A80CD3C77}" type="presParOf" srcId="{447DD49A-06A4-4E6D-8A8C-3BCE2337070F}" destId="{36D1AE16-5482-47F7-AF7E-D3B6ECEA8328}" srcOrd="5" destOrd="0" presId="urn:microsoft.com/office/officeart/2005/8/layout/list1"/>
    <dgm:cxn modelId="{5CB9CF38-103C-4B4B-8256-04385B0C5CF5}" type="presParOf" srcId="{447DD49A-06A4-4E6D-8A8C-3BCE2337070F}" destId="{E9878A77-7479-4CA0-90B1-B049D97040E7}"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BCAEFB-085E-4293-B27A-550FFDE428AE}">
      <dsp:nvSpPr>
        <dsp:cNvPr id="0" name=""/>
        <dsp:cNvSpPr/>
      </dsp:nvSpPr>
      <dsp:spPr>
        <a:xfrm>
          <a:off x="0" y="308327"/>
          <a:ext cx="8423275" cy="1575000"/>
        </a:xfrm>
        <a:prstGeom prst="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3740" tIns="416560" rIns="653740" bIns="128016" numCol="1" spcCol="1270" anchor="t" anchorCtr="0">
          <a:noAutofit/>
        </a:bodyPr>
        <a:lstStyle/>
        <a:p>
          <a:pPr marL="171450" lvl="1" indent="-171450" algn="l" defTabSz="800100">
            <a:lnSpc>
              <a:spcPct val="90000"/>
            </a:lnSpc>
            <a:spcBef>
              <a:spcPct val="0"/>
            </a:spcBef>
            <a:spcAft>
              <a:spcPct val="15000"/>
            </a:spcAft>
            <a:buChar char="•"/>
          </a:pPr>
          <a:r>
            <a:rPr lang="en-GB" sz="1800" kern="1200"/>
            <a:t>A treatment in development for COVID-19</a:t>
          </a:r>
        </a:p>
        <a:p>
          <a:pPr marL="171450" lvl="1" indent="-171450" algn="l" defTabSz="800100">
            <a:lnSpc>
              <a:spcPct val="90000"/>
            </a:lnSpc>
            <a:spcBef>
              <a:spcPct val="0"/>
            </a:spcBef>
            <a:spcAft>
              <a:spcPct val="15000"/>
            </a:spcAft>
            <a:buChar char="•"/>
          </a:pPr>
          <a:r>
            <a:rPr lang="en-GB" sz="1800" kern="1200"/>
            <a:t>CD10: 86 subjects, mild to moderate disease</a:t>
          </a:r>
        </a:p>
        <a:p>
          <a:pPr marL="171450" lvl="1" indent="-171450" algn="l" defTabSz="800100">
            <a:lnSpc>
              <a:spcPct val="90000"/>
            </a:lnSpc>
            <a:spcBef>
              <a:spcPct val="0"/>
            </a:spcBef>
            <a:spcAft>
              <a:spcPct val="15000"/>
            </a:spcAft>
            <a:buChar char="•"/>
          </a:pPr>
          <a:r>
            <a:rPr lang="en-GB" sz="1800" kern="1200"/>
            <a:t>CD12: 394 subjects, severe respiratory symptoms associated with COVID-19 (pivotal Ph3 study)</a:t>
          </a:r>
        </a:p>
      </dsp:txBody>
      <dsp:txXfrm>
        <a:off x="0" y="308327"/>
        <a:ext cx="8423275" cy="1575000"/>
      </dsp:txXfrm>
    </dsp:sp>
    <dsp:sp modelId="{405F8801-4AD4-429A-9652-D330ACF4508A}">
      <dsp:nvSpPr>
        <dsp:cNvPr id="0" name=""/>
        <dsp:cNvSpPr/>
      </dsp:nvSpPr>
      <dsp:spPr>
        <a:xfrm>
          <a:off x="421163" y="13127"/>
          <a:ext cx="5896292" cy="59040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866" tIns="0" rIns="222866" bIns="0" numCol="1" spcCol="1270" anchor="ctr" anchorCtr="0">
          <a:noAutofit/>
        </a:bodyPr>
        <a:lstStyle/>
        <a:p>
          <a:pPr marL="0" lvl="0" indent="0" algn="l" defTabSz="889000">
            <a:lnSpc>
              <a:spcPct val="90000"/>
            </a:lnSpc>
            <a:spcBef>
              <a:spcPct val="0"/>
            </a:spcBef>
            <a:spcAft>
              <a:spcPct val="35000"/>
            </a:spcAft>
            <a:buNone/>
          </a:pPr>
          <a:r>
            <a:rPr lang="en-GB" sz="2000" kern="1200" err="1"/>
            <a:t>Leronlimab</a:t>
          </a:r>
          <a:endParaRPr lang="en-GB" sz="2000" kern="1200"/>
        </a:p>
      </dsp:txBody>
      <dsp:txXfrm>
        <a:off x="449984" y="41948"/>
        <a:ext cx="5838650" cy="5327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BA4C18-83DD-47A5-BCEA-F1F08B500C62}">
      <dsp:nvSpPr>
        <dsp:cNvPr id="0" name=""/>
        <dsp:cNvSpPr/>
      </dsp:nvSpPr>
      <dsp:spPr>
        <a:xfrm rot="5400000">
          <a:off x="961803" y="938352"/>
          <a:ext cx="829892" cy="944803"/>
        </a:xfrm>
        <a:prstGeom prst="bentUpArrow">
          <a:avLst>
            <a:gd name="adj1" fmla="val 32840"/>
            <a:gd name="adj2" fmla="val 25000"/>
            <a:gd name="adj3" fmla="val 35780"/>
          </a:avLst>
        </a:prstGeom>
        <a:solidFill>
          <a:srgbClr val="F9C6BE"/>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3604968-B812-4CDA-8D91-540090A9A36D}">
      <dsp:nvSpPr>
        <dsp:cNvPr id="0" name=""/>
        <dsp:cNvSpPr/>
      </dsp:nvSpPr>
      <dsp:spPr>
        <a:xfrm>
          <a:off x="741932" y="18400"/>
          <a:ext cx="1397050" cy="977889"/>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Identifying the right population for our drug</a:t>
          </a:r>
        </a:p>
      </dsp:txBody>
      <dsp:txXfrm>
        <a:off x="789677" y="66145"/>
        <a:ext cx="1301560" cy="882399"/>
      </dsp:txXfrm>
    </dsp:sp>
    <dsp:sp modelId="{198F0ACC-0625-43DC-920D-08412CE17E3F}">
      <dsp:nvSpPr>
        <dsp:cNvPr id="0" name=""/>
        <dsp:cNvSpPr/>
      </dsp:nvSpPr>
      <dsp:spPr>
        <a:xfrm>
          <a:off x="2138983" y="111664"/>
          <a:ext cx="1016081" cy="790373"/>
        </a:xfrm>
        <a:prstGeom prst="rect">
          <a:avLst/>
        </a:prstGeom>
        <a:noFill/>
        <a:ln>
          <a:noFill/>
        </a:ln>
        <a:effectLst/>
      </dsp:spPr>
      <dsp:style>
        <a:lnRef idx="0">
          <a:scrgbClr r="0" g="0" b="0"/>
        </a:lnRef>
        <a:fillRef idx="0">
          <a:scrgbClr r="0" g="0" b="0"/>
        </a:fillRef>
        <a:effectRef idx="0">
          <a:scrgbClr r="0" g="0" b="0"/>
        </a:effectRef>
        <a:fontRef idx="minor"/>
      </dsp:style>
    </dsp:sp>
    <dsp:sp modelId="{2B889CC1-2710-4627-8C03-1BF111E33A72}">
      <dsp:nvSpPr>
        <dsp:cNvPr id="0" name=""/>
        <dsp:cNvSpPr/>
      </dsp:nvSpPr>
      <dsp:spPr>
        <a:xfrm rot="5400000">
          <a:off x="2120106" y="2036845"/>
          <a:ext cx="829892" cy="944803"/>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D64293A-00FB-4D8F-80A0-0004D145D007}">
      <dsp:nvSpPr>
        <dsp:cNvPr id="0" name=""/>
        <dsp:cNvSpPr/>
      </dsp:nvSpPr>
      <dsp:spPr>
        <a:xfrm>
          <a:off x="1900235" y="1116893"/>
          <a:ext cx="1397050" cy="977889"/>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Which helps inform physicians on which drug to prescribe for an individual</a:t>
          </a:r>
        </a:p>
      </dsp:txBody>
      <dsp:txXfrm>
        <a:off x="1947980" y="1164638"/>
        <a:ext cx="1301560" cy="882399"/>
      </dsp:txXfrm>
    </dsp:sp>
    <dsp:sp modelId="{EA9C11EA-E688-4720-964E-47B957D42917}">
      <dsp:nvSpPr>
        <dsp:cNvPr id="0" name=""/>
        <dsp:cNvSpPr/>
      </dsp:nvSpPr>
      <dsp:spPr>
        <a:xfrm>
          <a:off x="3297286" y="1210157"/>
          <a:ext cx="1016081" cy="790373"/>
        </a:xfrm>
        <a:prstGeom prst="rect">
          <a:avLst/>
        </a:prstGeom>
        <a:noFill/>
        <a:ln>
          <a:noFill/>
        </a:ln>
        <a:effectLst/>
      </dsp:spPr>
      <dsp:style>
        <a:lnRef idx="0">
          <a:scrgbClr r="0" g="0" b="0"/>
        </a:lnRef>
        <a:fillRef idx="0">
          <a:scrgbClr r="0" g="0" b="0"/>
        </a:fillRef>
        <a:effectRef idx="0">
          <a:scrgbClr r="0" g="0" b="0"/>
        </a:effectRef>
        <a:fontRef idx="minor"/>
      </dsp:style>
    </dsp:sp>
    <dsp:sp modelId="{B3625E08-DDCF-472C-A629-B526B20FF615}">
      <dsp:nvSpPr>
        <dsp:cNvPr id="0" name=""/>
        <dsp:cNvSpPr/>
      </dsp:nvSpPr>
      <dsp:spPr>
        <a:xfrm>
          <a:off x="3058538" y="2215386"/>
          <a:ext cx="1397050" cy="977889"/>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Informs treatment guidelines</a:t>
          </a:r>
        </a:p>
      </dsp:txBody>
      <dsp:txXfrm>
        <a:off x="3106283" y="2263131"/>
        <a:ext cx="1301560" cy="8823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2D576-2262-4902-9BB8-7378FCFD3F79}">
      <dsp:nvSpPr>
        <dsp:cNvPr id="0" name=""/>
        <dsp:cNvSpPr/>
      </dsp:nvSpPr>
      <dsp:spPr>
        <a:xfrm>
          <a:off x="0" y="208775"/>
          <a:ext cx="8423275" cy="1345050"/>
        </a:xfrm>
        <a:prstGeom prst="rect">
          <a:avLst/>
        </a:prstGeom>
        <a:solidFill>
          <a:schemeClr val="lt1">
            <a:alpha val="90000"/>
            <a:hueOff val="0"/>
            <a:satOff val="0"/>
            <a:lumOff val="0"/>
            <a:alphaOff val="0"/>
          </a:schemeClr>
        </a:solidFill>
        <a:ln w="25400" cap="flat" cmpd="sng" algn="ctr">
          <a:solidFill>
            <a:schemeClr val="accent5"/>
          </a:solidFill>
          <a:prstDash val="solid"/>
        </a:ln>
        <a:effectLst/>
      </dsp:spPr>
      <dsp:style>
        <a:lnRef idx="2">
          <a:scrgbClr r="0" g="0" b="0"/>
        </a:lnRef>
        <a:fillRef idx="1">
          <a:scrgbClr r="0" g="0" b="0"/>
        </a:fillRef>
        <a:effectRef idx="0">
          <a:scrgbClr r="0" g="0" b="0"/>
        </a:effectRef>
        <a:fontRef idx="minor"/>
      </dsp:style>
      <dsp:txBody>
        <a:bodyPr spcFirstLastPara="0" vert="horz" wrap="square" lIns="653740" tIns="291592" rIns="653740" bIns="99568" numCol="1" spcCol="1270" anchor="t" anchorCtr="0">
          <a:noAutofit/>
        </a:bodyPr>
        <a:lstStyle/>
        <a:p>
          <a:pPr marL="114300" lvl="1" indent="-114300" algn="l" defTabSz="622300">
            <a:lnSpc>
              <a:spcPct val="90000"/>
            </a:lnSpc>
            <a:spcBef>
              <a:spcPct val="0"/>
            </a:spcBef>
            <a:spcAft>
              <a:spcPct val="15000"/>
            </a:spcAft>
            <a:buChar char="•"/>
          </a:pPr>
          <a:r>
            <a:rPr lang="en-GB" sz="1400" kern="1200"/>
            <a:t>Subgroup analyses tend to be </a:t>
          </a:r>
          <a:r>
            <a:rPr lang="en-GB" sz="1400" kern="1200">
              <a:solidFill>
                <a:srgbClr val="40488D"/>
              </a:solidFill>
            </a:rPr>
            <a:t>exploratory</a:t>
          </a:r>
          <a:r>
            <a:rPr lang="en-GB" sz="1400" kern="1200"/>
            <a:t> in nature. They are useful to show consistency of effect or to generate a hypothesis for a responder group (which would then require additional research)</a:t>
          </a:r>
        </a:p>
        <a:p>
          <a:pPr marL="114300" lvl="1" indent="-114300" algn="l" defTabSz="622300">
            <a:lnSpc>
              <a:spcPct val="90000"/>
            </a:lnSpc>
            <a:spcBef>
              <a:spcPct val="0"/>
            </a:spcBef>
            <a:spcAft>
              <a:spcPct val="15000"/>
            </a:spcAft>
            <a:buChar char="•"/>
          </a:pPr>
          <a:r>
            <a:rPr lang="en-GB" sz="1400" kern="1200"/>
            <a:t>However, they can lead us to </a:t>
          </a:r>
          <a:r>
            <a:rPr lang="en-GB" sz="1400" kern="1200">
              <a:solidFill>
                <a:srgbClr val="40488D"/>
              </a:solidFill>
            </a:rPr>
            <a:t>false claims and conclusions </a:t>
          </a:r>
          <a:r>
            <a:rPr lang="en-GB" sz="1400" kern="1200"/>
            <a:t>if multiplicity is not properly accounted for</a:t>
          </a:r>
        </a:p>
      </dsp:txBody>
      <dsp:txXfrm>
        <a:off x="0" y="208775"/>
        <a:ext cx="8423275" cy="1345050"/>
      </dsp:txXfrm>
    </dsp:sp>
    <dsp:sp modelId="{C08FE6A4-AFAA-401F-8788-5B2EF4404F28}">
      <dsp:nvSpPr>
        <dsp:cNvPr id="0" name=""/>
        <dsp:cNvSpPr/>
      </dsp:nvSpPr>
      <dsp:spPr>
        <a:xfrm>
          <a:off x="421163" y="81373"/>
          <a:ext cx="6361451" cy="338116"/>
        </a:xfrm>
        <a:prstGeom prst="roundRect">
          <a:avLst/>
        </a:prstGeom>
        <a:solidFill>
          <a:srgbClr val="40488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866" tIns="0" rIns="222866" bIns="0" numCol="1" spcCol="1270" anchor="ctr" anchorCtr="0">
          <a:noAutofit/>
        </a:bodyPr>
        <a:lstStyle/>
        <a:p>
          <a:pPr marL="0" lvl="0" indent="0" algn="l" defTabSz="800100">
            <a:lnSpc>
              <a:spcPct val="90000"/>
            </a:lnSpc>
            <a:spcBef>
              <a:spcPct val="0"/>
            </a:spcBef>
            <a:spcAft>
              <a:spcPct val="35000"/>
            </a:spcAft>
            <a:buNone/>
          </a:pPr>
          <a:r>
            <a:rPr lang="en-GB" sz="1800" kern="1200"/>
            <a:t>Subgroup Analyses</a:t>
          </a:r>
        </a:p>
      </dsp:txBody>
      <dsp:txXfrm>
        <a:off x="437668" y="97878"/>
        <a:ext cx="6328441" cy="305106"/>
      </dsp:txXfrm>
    </dsp:sp>
    <dsp:sp modelId="{E9878A77-7479-4CA0-90B1-B049D97040E7}">
      <dsp:nvSpPr>
        <dsp:cNvPr id="0" name=""/>
        <dsp:cNvSpPr/>
      </dsp:nvSpPr>
      <dsp:spPr>
        <a:xfrm>
          <a:off x="0" y="1764976"/>
          <a:ext cx="8423275" cy="1411200"/>
        </a:xfrm>
        <a:prstGeom prst="rect">
          <a:avLst/>
        </a:prstGeom>
        <a:solidFill>
          <a:schemeClr val="lt1">
            <a:alpha val="90000"/>
            <a:hueOff val="0"/>
            <a:satOff val="0"/>
            <a:lumOff val="0"/>
            <a:alphaOff val="0"/>
          </a:schemeClr>
        </a:solidFill>
        <a:ln w="25400" cap="flat" cmpd="sng" algn="ctr">
          <a:solidFill>
            <a:schemeClr val="bg2"/>
          </a:solidFill>
          <a:prstDash val="solid"/>
        </a:ln>
        <a:effectLst/>
      </dsp:spPr>
      <dsp:style>
        <a:lnRef idx="2">
          <a:scrgbClr r="0" g="0" b="0"/>
        </a:lnRef>
        <a:fillRef idx="1">
          <a:scrgbClr r="0" g="0" b="0"/>
        </a:fillRef>
        <a:effectRef idx="0">
          <a:scrgbClr r="0" g="0" b="0"/>
        </a:effectRef>
        <a:fontRef idx="minor"/>
      </dsp:style>
      <dsp:txBody>
        <a:bodyPr spcFirstLastPara="0" vert="horz" wrap="square" lIns="653740" tIns="291592" rIns="653740" bIns="99568" numCol="1" spcCol="1270" anchor="t" anchorCtr="0">
          <a:noAutofit/>
        </a:bodyPr>
        <a:lstStyle/>
        <a:p>
          <a:pPr marL="114300" lvl="1" indent="-114300" algn="l" defTabSz="622300">
            <a:lnSpc>
              <a:spcPct val="90000"/>
            </a:lnSpc>
            <a:spcBef>
              <a:spcPct val="0"/>
            </a:spcBef>
            <a:spcAft>
              <a:spcPct val="15000"/>
            </a:spcAft>
            <a:buChar char="•"/>
          </a:pPr>
          <a:r>
            <a:rPr lang="en-GB" sz="1400" kern="1200"/>
            <a:t>Treat subgroup results with </a:t>
          </a:r>
          <a:r>
            <a:rPr lang="en-GB" sz="1400" kern="1200">
              <a:solidFill>
                <a:schemeClr val="bg2"/>
              </a:solidFill>
            </a:rPr>
            <a:t>caution</a:t>
          </a:r>
          <a:r>
            <a:rPr lang="en-GB" sz="1400" kern="1200"/>
            <a:t>. Results should always be put into </a:t>
          </a:r>
          <a:r>
            <a:rPr lang="en-GB" sz="1400" kern="1200">
              <a:solidFill>
                <a:schemeClr val="bg2"/>
              </a:solidFill>
            </a:rPr>
            <a:t>context</a:t>
          </a:r>
          <a:r>
            <a:rPr lang="en-GB" sz="1400" kern="1200"/>
            <a:t> with other data (either other results within the study or results from other studies).</a:t>
          </a:r>
        </a:p>
        <a:p>
          <a:pPr marL="114300" lvl="1" indent="-114300" algn="l" defTabSz="622300">
            <a:lnSpc>
              <a:spcPct val="90000"/>
            </a:lnSpc>
            <a:spcBef>
              <a:spcPct val="0"/>
            </a:spcBef>
            <a:spcAft>
              <a:spcPct val="15000"/>
            </a:spcAft>
            <a:buChar char="•"/>
          </a:pPr>
          <a:r>
            <a:rPr lang="en-GB" sz="1400" kern="1200">
              <a:solidFill>
                <a:schemeClr val="bg2"/>
              </a:solidFill>
            </a:rPr>
            <a:t>Transparency</a:t>
          </a:r>
          <a:r>
            <a:rPr lang="en-GB" sz="1400" kern="1200"/>
            <a:t> needed when presenting our results</a:t>
          </a:r>
        </a:p>
        <a:p>
          <a:pPr marL="114300" lvl="1" indent="-114300" algn="l" defTabSz="622300">
            <a:lnSpc>
              <a:spcPct val="90000"/>
            </a:lnSpc>
            <a:spcBef>
              <a:spcPct val="0"/>
            </a:spcBef>
            <a:spcAft>
              <a:spcPct val="15000"/>
            </a:spcAft>
            <a:buChar char="•"/>
          </a:pPr>
          <a:r>
            <a:rPr lang="en-GB" sz="1400" kern="1200"/>
            <a:t>Beware of </a:t>
          </a:r>
          <a:r>
            <a:rPr lang="en-GB" sz="1400" kern="1200">
              <a:solidFill>
                <a:schemeClr val="bg2"/>
              </a:solidFill>
            </a:rPr>
            <a:t>overinterpreting</a:t>
          </a:r>
          <a:r>
            <a:rPr lang="en-GB" sz="1400" kern="1200"/>
            <a:t> small subgroups!</a:t>
          </a:r>
        </a:p>
        <a:p>
          <a:pPr marL="114300" lvl="1" indent="-114300" algn="l" defTabSz="622300">
            <a:lnSpc>
              <a:spcPct val="90000"/>
            </a:lnSpc>
            <a:spcBef>
              <a:spcPct val="0"/>
            </a:spcBef>
            <a:spcAft>
              <a:spcPct val="15000"/>
            </a:spcAft>
            <a:buChar char="•"/>
          </a:pPr>
          <a:r>
            <a:rPr lang="en-GB" sz="1400" kern="1200">
              <a:solidFill>
                <a:schemeClr val="bg2"/>
              </a:solidFill>
            </a:rPr>
            <a:t>If in doubt: Talk to your Statistician!</a:t>
          </a:r>
        </a:p>
      </dsp:txBody>
      <dsp:txXfrm>
        <a:off x="0" y="1764976"/>
        <a:ext cx="8423275" cy="1411200"/>
      </dsp:txXfrm>
    </dsp:sp>
    <dsp:sp modelId="{DBB2BA91-92B9-4D59-9135-38B4B0DBFBFE}">
      <dsp:nvSpPr>
        <dsp:cNvPr id="0" name=""/>
        <dsp:cNvSpPr/>
      </dsp:nvSpPr>
      <dsp:spPr>
        <a:xfrm>
          <a:off x="421163" y="1633500"/>
          <a:ext cx="5896292" cy="338116"/>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866" tIns="0" rIns="222866" bIns="0" numCol="1" spcCol="1270" anchor="ctr" anchorCtr="0">
          <a:noAutofit/>
        </a:bodyPr>
        <a:lstStyle/>
        <a:p>
          <a:pPr marL="0" lvl="0" indent="0" algn="l" defTabSz="800100">
            <a:lnSpc>
              <a:spcPct val="90000"/>
            </a:lnSpc>
            <a:spcBef>
              <a:spcPct val="0"/>
            </a:spcBef>
            <a:spcAft>
              <a:spcPct val="35000"/>
            </a:spcAft>
            <a:buNone/>
          </a:pPr>
          <a:r>
            <a:rPr lang="en-GB" sz="1800" kern="1200"/>
            <a:t>What do you need to do?</a:t>
          </a:r>
        </a:p>
      </dsp:txBody>
      <dsp:txXfrm>
        <a:off x="437668" y="1650005"/>
        <a:ext cx="5863282" cy="30510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5240" cy="45235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9109" y="0"/>
            <a:ext cx="2975240" cy="452358"/>
          </a:xfrm>
          <a:prstGeom prst="rect">
            <a:avLst/>
          </a:prstGeom>
        </p:spPr>
        <p:txBody>
          <a:bodyPr vert="horz" lIns="91440" tIns="45720" rIns="91440" bIns="45720" rtlCol="0"/>
          <a:lstStyle>
            <a:lvl1pPr algn="r">
              <a:defRPr sz="1200"/>
            </a:lvl1pPr>
          </a:lstStyle>
          <a:p>
            <a:fld id="{050A8971-52B8-4C5A-99D8-986A596F2912}" type="datetimeFigureOut">
              <a:rPr lang="en-GB" smtClean="0"/>
              <a:pPr/>
              <a:t>27/11/2025</a:t>
            </a:fld>
            <a:endParaRPr lang="en-GB"/>
          </a:p>
        </p:txBody>
      </p:sp>
      <p:sp>
        <p:nvSpPr>
          <p:cNvPr id="4" name="Slide Image Placeholder 3"/>
          <p:cNvSpPr>
            <a:spLocks noGrp="1" noRot="1" noChangeAspect="1"/>
          </p:cNvSpPr>
          <p:nvPr>
            <p:ph type="sldImg" idx="2"/>
          </p:nvPr>
        </p:nvSpPr>
        <p:spPr>
          <a:xfrm>
            <a:off x="415925" y="677863"/>
            <a:ext cx="6034088" cy="33940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6594" y="4297403"/>
            <a:ext cx="5492750" cy="407122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593235"/>
            <a:ext cx="2975240" cy="45235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9109" y="8593235"/>
            <a:ext cx="2975240" cy="452358"/>
          </a:xfrm>
          <a:prstGeom prst="rect">
            <a:avLst/>
          </a:prstGeom>
        </p:spPr>
        <p:txBody>
          <a:bodyPr vert="horz" lIns="91440" tIns="45720" rIns="91440" bIns="45720" rtlCol="0" anchor="b"/>
          <a:lstStyle>
            <a:lvl1pPr algn="r">
              <a:defRPr sz="1200"/>
            </a:lvl1pPr>
          </a:lstStyle>
          <a:p>
            <a:fld id="{026B53C8-14E4-49A7-A1A5-3BF810B81EBE}" type="slidenum">
              <a:rPr lang="en-GB" smtClean="0"/>
              <a:pPr/>
              <a:t>‹#›</a:t>
            </a:fld>
            <a:endParaRPr lang="en-GB"/>
          </a:p>
        </p:txBody>
      </p:sp>
    </p:spTree>
    <p:extLst>
      <p:ext uri="{BB962C8B-B14F-4D97-AF65-F5344CB8AC3E}">
        <p14:creationId xmlns:p14="http://schemas.microsoft.com/office/powerpoint/2010/main" val="4209032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a:t>
            </a:fld>
            <a:endParaRPr lang="en-GB"/>
          </a:p>
        </p:txBody>
      </p:sp>
    </p:spTree>
    <p:extLst>
      <p:ext uri="{BB962C8B-B14F-4D97-AF65-F5344CB8AC3E}">
        <p14:creationId xmlns:p14="http://schemas.microsoft.com/office/powerpoint/2010/main" val="1889345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2</a:t>
            </a:fld>
            <a:endParaRPr lang="en-GB"/>
          </a:p>
        </p:txBody>
      </p:sp>
    </p:spTree>
    <p:extLst>
      <p:ext uri="{BB962C8B-B14F-4D97-AF65-F5344CB8AC3E}">
        <p14:creationId xmlns:p14="http://schemas.microsoft.com/office/powerpoint/2010/main" val="3546909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3</a:t>
            </a:fld>
            <a:endParaRPr lang="en-GB"/>
          </a:p>
        </p:txBody>
      </p:sp>
    </p:spTree>
    <p:extLst>
      <p:ext uri="{BB962C8B-B14F-4D97-AF65-F5344CB8AC3E}">
        <p14:creationId xmlns:p14="http://schemas.microsoft.com/office/powerpoint/2010/main" val="2498744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4</a:t>
            </a:fld>
            <a:endParaRPr lang="en-GB"/>
          </a:p>
        </p:txBody>
      </p:sp>
    </p:spTree>
    <p:extLst>
      <p:ext uri="{BB962C8B-B14F-4D97-AF65-F5344CB8AC3E}">
        <p14:creationId xmlns:p14="http://schemas.microsoft.com/office/powerpoint/2010/main" val="118053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GB"/>
          </a:p>
        </p:txBody>
      </p:sp>
      <p:sp>
        <p:nvSpPr>
          <p:cNvPr id="4" name="Slide Number Placeholder 3"/>
          <p:cNvSpPr>
            <a:spLocks noGrp="1"/>
          </p:cNvSpPr>
          <p:nvPr>
            <p:ph type="sldNum" sz="quarter" idx="10"/>
          </p:nvPr>
        </p:nvSpPr>
        <p:spPr/>
        <p:txBody>
          <a:bodyPr/>
          <a:lstStyle/>
          <a:p>
            <a:fld id="{026B53C8-14E4-49A7-A1A5-3BF810B81EBE}" type="slidenum">
              <a:rPr lang="en-GB" smtClean="0"/>
              <a:pPr/>
              <a:t>5</a:t>
            </a:fld>
            <a:endParaRPr lang="en-GB"/>
          </a:p>
        </p:txBody>
      </p:sp>
    </p:spTree>
    <p:extLst>
      <p:ext uri="{BB962C8B-B14F-4D97-AF65-F5344CB8AC3E}">
        <p14:creationId xmlns:p14="http://schemas.microsoft.com/office/powerpoint/2010/main" val="4130731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26B53C8-14E4-49A7-A1A5-3BF810B81EBE}" type="slidenum">
              <a:rPr lang="en-GB" smtClean="0"/>
              <a:pPr/>
              <a:t>6</a:t>
            </a:fld>
            <a:endParaRPr lang="en-GB"/>
          </a:p>
        </p:txBody>
      </p:sp>
    </p:spTree>
    <p:extLst>
      <p:ext uri="{BB962C8B-B14F-4D97-AF65-F5344CB8AC3E}">
        <p14:creationId xmlns:p14="http://schemas.microsoft.com/office/powerpoint/2010/main" val="187809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6B53C8-14E4-49A7-A1A5-3BF810B81EBE}" type="slidenum">
              <a:rPr lang="en-GB" smtClean="0"/>
              <a:pPr/>
              <a:t>7</a:t>
            </a:fld>
            <a:endParaRPr lang="en-GB"/>
          </a:p>
        </p:txBody>
      </p:sp>
    </p:spTree>
    <p:extLst>
      <p:ext uri="{BB962C8B-B14F-4D97-AF65-F5344CB8AC3E}">
        <p14:creationId xmlns:p14="http://schemas.microsoft.com/office/powerpoint/2010/main" val="37031966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8</a:t>
            </a:fld>
            <a:endParaRPr lang="en-GB"/>
          </a:p>
        </p:txBody>
      </p:sp>
    </p:spTree>
    <p:extLst>
      <p:ext uri="{BB962C8B-B14F-4D97-AF65-F5344CB8AC3E}">
        <p14:creationId xmlns:p14="http://schemas.microsoft.com/office/powerpoint/2010/main" val="29848693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9</a:t>
            </a:fld>
            <a:endParaRPr lang="en-GB"/>
          </a:p>
        </p:txBody>
      </p:sp>
    </p:spTree>
    <p:extLst>
      <p:ext uri="{BB962C8B-B14F-4D97-AF65-F5344CB8AC3E}">
        <p14:creationId xmlns:p14="http://schemas.microsoft.com/office/powerpoint/2010/main" val="42488750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10</a:t>
            </a:fld>
            <a:endParaRPr lang="en-GB"/>
          </a:p>
        </p:txBody>
      </p:sp>
    </p:spTree>
    <p:extLst>
      <p:ext uri="{BB962C8B-B14F-4D97-AF65-F5344CB8AC3E}">
        <p14:creationId xmlns:p14="http://schemas.microsoft.com/office/powerpoint/2010/main" val="6411356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26B53C8-14E4-49A7-A1A5-3BF810B81EBE}" type="slidenum">
              <a:rPr lang="en-GB" smtClean="0"/>
              <a:pPr/>
              <a:t>11</a:t>
            </a:fld>
            <a:endParaRPr lang="en-GB"/>
          </a:p>
        </p:txBody>
      </p:sp>
    </p:spTree>
    <p:extLst>
      <p:ext uri="{BB962C8B-B14F-4D97-AF65-F5344CB8AC3E}">
        <p14:creationId xmlns:p14="http://schemas.microsoft.com/office/powerpoint/2010/main" val="29174975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6B53C8-14E4-49A7-A1A5-3BF810B81EBE}" type="slidenum">
              <a:rPr lang="en-GB" smtClean="0"/>
              <a:pPr/>
              <a:t>12</a:t>
            </a:fld>
            <a:endParaRPr lang="en-GB"/>
          </a:p>
        </p:txBody>
      </p:sp>
    </p:spTree>
    <p:extLst>
      <p:ext uri="{BB962C8B-B14F-4D97-AF65-F5344CB8AC3E}">
        <p14:creationId xmlns:p14="http://schemas.microsoft.com/office/powerpoint/2010/main" val="14571076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13</a:t>
            </a:fld>
            <a:endParaRPr lang="en-GB"/>
          </a:p>
        </p:txBody>
      </p:sp>
    </p:spTree>
    <p:extLst>
      <p:ext uri="{BB962C8B-B14F-4D97-AF65-F5344CB8AC3E}">
        <p14:creationId xmlns:p14="http://schemas.microsoft.com/office/powerpoint/2010/main" val="4356190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14</a:t>
            </a:fld>
            <a:endParaRPr lang="en-GB"/>
          </a:p>
        </p:txBody>
      </p:sp>
    </p:spTree>
    <p:extLst>
      <p:ext uri="{BB962C8B-B14F-4D97-AF65-F5344CB8AC3E}">
        <p14:creationId xmlns:p14="http://schemas.microsoft.com/office/powerpoint/2010/main" val="26790504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15</a:t>
            </a:fld>
            <a:endParaRPr lang="en-GB"/>
          </a:p>
        </p:txBody>
      </p:sp>
    </p:spTree>
    <p:extLst>
      <p:ext uri="{BB962C8B-B14F-4D97-AF65-F5344CB8AC3E}">
        <p14:creationId xmlns:p14="http://schemas.microsoft.com/office/powerpoint/2010/main" val="31189287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16</a:t>
            </a:fld>
            <a:endParaRPr lang="en-GB"/>
          </a:p>
        </p:txBody>
      </p:sp>
    </p:spTree>
    <p:extLst>
      <p:ext uri="{BB962C8B-B14F-4D97-AF65-F5344CB8AC3E}">
        <p14:creationId xmlns:p14="http://schemas.microsoft.com/office/powerpoint/2010/main" val="11242181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5013" y="20638"/>
            <a:ext cx="4711700" cy="2649537"/>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17</a:t>
            </a:fld>
            <a:endParaRPr lang="en-GB"/>
          </a:p>
        </p:txBody>
      </p:sp>
    </p:spTree>
    <p:extLst>
      <p:ext uri="{BB962C8B-B14F-4D97-AF65-F5344CB8AC3E}">
        <p14:creationId xmlns:p14="http://schemas.microsoft.com/office/powerpoint/2010/main" val="7925813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5013" y="20638"/>
            <a:ext cx="4711700" cy="2649537"/>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18</a:t>
            </a:fld>
            <a:endParaRPr lang="en-GB"/>
          </a:p>
        </p:txBody>
      </p:sp>
    </p:spTree>
    <p:extLst>
      <p:ext uri="{BB962C8B-B14F-4D97-AF65-F5344CB8AC3E}">
        <p14:creationId xmlns:p14="http://schemas.microsoft.com/office/powerpoint/2010/main" val="7158585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5013" y="20638"/>
            <a:ext cx="4711700" cy="2649537"/>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19</a:t>
            </a:fld>
            <a:endParaRPr lang="en-GB"/>
          </a:p>
        </p:txBody>
      </p:sp>
    </p:spTree>
    <p:extLst>
      <p:ext uri="{BB962C8B-B14F-4D97-AF65-F5344CB8AC3E}">
        <p14:creationId xmlns:p14="http://schemas.microsoft.com/office/powerpoint/2010/main" val="13971535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5013" y="20638"/>
            <a:ext cx="4711700" cy="2649537"/>
          </a:xfrm>
        </p:spPr>
      </p:sp>
      <p:sp>
        <p:nvSpPr>
          <p:cNvPr id="3" name="Notes Placeholder 2"/>
          <p:cNvSpPr>
            <a:spLocks noGrp="1"/>
          </p:cNvSpPr>
          <p:nvPr>
            <p:ph type="body" idx="1"/>
          </p:nvPr>
        </p:nvSpPr>
        <p:spPr/>
        <p:txBody>
          <a:bodyPr/>
          <a:lstStyle/>
          <a:p>
            <a:pPr eaLnBrk="1" hangingPunct="1"/>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20</a:t>
            </a:fld>
            <a:endParaRPr lang="en-GB"/>
          </a:p>
        </p:txBody>
      </p:sp>
    </p:spTree>
    <p:extLst>
      <p:ext uri="{BB962C8B-B14F-4D97-AF65-F5344CB8AC3E}">
        <p14:creationId xmlns:p14="http://schemas.microsoft.com/office/powerpoint/2010/main" val="15735507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5013" y="20638"/>
            <a:ext cx="4711700" cy="2649537"/>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21</a:t>
            </a:fld>
            <a:endParaRPr lang="en-GB"/>
          </a:p>
        </p:txBody>
      </p:sp>
    </p:spTree>
    <p:extLst>
      <p:ext uri="{BB962C8B-B14F-4D97-AF65-F5344CB8AC3E}">
        <p14:creationId xmlns:p14="http://schemas.microsoft.com/office/powerpoint/2010/main" val="15658255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5013" y="20638"/>
            <a:ext cx="4711700" cy="2649537"/>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22</a:t>
            </a:fld>
            <a:endParaRPr lang="en-GB"/>
          </a:p>
        </p:txBody>
      </p:sp>
    </p:spTree>
    <p:extLst>
      <p:ext uri="{BB962C8B-B14F-4D97-AF65-F5344CB8AC3E}">
        <p14:creationId xmlns:p14="http://schemas.microsoft.com/office/powerpoint/2010/main" val="22190169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23</a:t>
            </a:fld>
            <a:endParaRPr lang="en-GB"/>
          </a:p>
        </p:txBody>
      </p:sp>
    </p:spTree>
    <p:extLst>
      <p:ext uri="{BB962C8B-B14F-4D97-AF65-F5344CB8AC3E}">
        <p14:creationId xmlns:p14="http://schemas.microsoft.com/office/powerpoint/2010/main" val="4401457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Blank">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2534"/>
          <a:stretch/>
        </p:blipFill>
        <p:spPr>
          <a:xfrm>
            <a:off x="0" y="1065924"/>
            <a:ext cx="4102298" cy="3827396"/>
          </a:xfrm>
          <a:prstGeom prst="rect">
            <a:avLst/>
          </a:prstGeom>
        </p:spPr>
      </p:pic>
      <p:sp>
        <p:nvSpPr>
          <p:cNvPr id="17" name="Title 1"/>
          <p:cNvSpPr>
            <a:spLocks noGrp="1"/>
          </p:cNvSpPr>
          <p:nvPr>
            <p:ph type="ctrTitle" hasCustomPrompt="1"/>
          </p:nvPr>
        </p:nvSpPr>
        <p:spPr>
          <a:xfrm>
            <a:off x="296521" y="2068940"/>
            <a:ext cx="2876985" cy="1000274"/>
          </a:xfrm>
          <a:prstGeom prst="rect">
            <a:avLst/>
          </a:prstGeom>
        </p:spPr>
        <p:txBody>
          <a:bodyPr anchor="b" anchorCtr="0"/>
          <a:lstStyle>
            <a:lvl1pPr>
              <a:lnSpc>
                <a:spcPts val="2600"/>
              </a:lnSpc>
              <a:defRPr sz="2600">
                <a:solidFill>
                  <a:schemeClr val="bg1"/>
                </a:solidFill>
              </a:defRPr>
            </a:lvl1pPr>
          </a:lstStyle>
          <a:p>
            <a:r>
              <a:rPr lang="en-US"/>
              <a:t>Click to edit Master heading style</a:t>
            </a:r>
            <a:endParaRPr lang="en-GB"/>
          </a:p>
        </p:txBody>
      </p:sp>
      <p:sp>
        <p:nvSpPr>
          <p:cNvPr id="20" name="Subtitle 2"/>
          <p:cNvSpPr>
            <a:spLocks noGrp="1"/>
          </p:cNvSpPr>
          <p:nvPr>
            <p:ph type="subTitle" idx="1" hasCustomPrompt="1"/>
          </p:nvPr>
        </p:nvSpPr>
        <p:spPr>
          <a:xfrm>
            <a:off x="296521" y="3427589"/>
            <a:ext cx="2554256" cy="492443"/>
          </a:xfrm>
          <a:prstGeom prst="rect">
            <a:avLst/>
          </a:prstGeom>
        </p:spPr>
        <p:txBody>
          <a:bodyPr wrap="square" lIns="0" tIns="0" rIns="0" bIns="0" anchor="t" anchorCtr="0">
            <a:spAutoFit/>
          </a:bodyPr>
          <a:lstStyle>
            <a:lvl1pPr marL="0" indent="0" algn="l">
              <a:spcAft>
                <a:spcPts val="0"/>
              </a:spcAft>
              <a:buNone/>
              <a:defRPr i="0">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subheading</a:t>
            </a:r>
            <a:endParaRPr lang="en-GB"/>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7038" y="237109"/>
            <a:ext cx="1464646" cy="722376"/>
          </a:xfrm>
          <a:prstGeom prst="rect">
            <a:avLst/>
          </a:prstGeom>
        </p:spPr>
      </p:pic>
    </p:spTree>
    <p:extLst>
      <p:ext uri="{BB962C8B-B14F-4D97-AF65-F5344CB8AC3E}">
        <p14:creationId xmlns:p14="http://schemas.microsoft.com/office/powerpoint/2010/main" val="2016613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Text Only">
    <p:spTree>
      <p:nvGrpSpPr>
        <p:cNvPr id="1" name=""/>
        <p:cNvGrpSpPr/>
        <p:nvPr/>
      </p:nvGrpSpPr>
      <p:grpSpPr>
        <a:xfrm>
          <a:off x="0" y="0"/>
          <a:ext cx="0" cy="0"/>
          <a:chOff x="0" y="0"/>
          <a:chExt cx="0" cy="0"/>
        </a:xfrm>
      </p:grpSpPr>
      <p:sp>
        <p:nvSpPr>
          <p:cNvPr id="9" name="Title 1"/>
          <p:cNvSpPr>
            <a:spLocks noGrp="1"/>
          </p:cNvSpPr>
          <p:nvPr>
            <p:ph type="ctrTitle" hasCustomPrompt="1"/>
          </p:nvPr>
        </p:nvSpPr>
        <p:spPr>
          <a:xfrm>
            <a:off x="296520" y="2402365"/>
            <a:ext cx="5042395" cy="666849"/>
          </a:xfrm>
          <a:prstGeom prst="rect">
            <a:avLst/>
          </a:prstGeom>
        </p:spPr>
        <p:txBody>
          <a:bodyPr anchor="b" anchorCtr="0"/>
          <a:lstStyle>
            <a:lvl1pPr>
              <a:lnSpc>
                <a:spcPts val="2600"/>
              </a:lnSpc>
              <a:defRPr sz="2600">
                <a:solidFill>
                  <a:schemeClr val="bg2"/>
                </a:solidFill>
              </a:defRPr>
            </a:lvl1pPr>
          </a:lstStyle>
          <a:p>
            <a:r>
              <a:rPr lang="en-US"/>
              <a:t>Click to edit Master </a:t>
            </a:r>
            <a:br>
              <a:rPr lang="en-US"/>
            </a:br>
            <a:r>
              <a:rPr lang="en-US"/>
              <a:t>heading style</a:t>
            </a:r>
            <a:endParaRPr lang="en-GB"/>
          </a:p>
        </p:txBody>
      </p:sp>
      <p:sp>
        <p:nvSpPr>
          <p:cNvPr id="10" name="Subtitle 2"/>
          <p:cNvSpPr>
            <a:spLocks noGrp="1"/>
          </p:cNvSpPr>
          <p:nvPr>
            <p:ph type="subTitle" idx="1" hasCustomPrompt="1"/>
          </p:nvPr>
        </p:nvSpPr>
        <p:spPr>
          <a:xfrm>
            <a:off x="296520" y="3427590"/>
            <a:ext cx="5042395" cy="338554"/>
          </a:xfrm>
          <a:prstGeom prst="rect">
            <a:avLst/>
          </a:prstGeom>
        </p:spPr>
        <p:txBody>
          <a:bodyPr wrap="square" lIns="0" anchor="t" anchorCtr="0">
            <a:spAutoFit/>
          </a:bodyPr>
          <a:lstStyle>
            <a:lvl1pPr marL="0" indent="0" algn="l">
              <a:spcAft>
                <a:spcPts val="0"/>
              </a:spcAft>
              <a:buNone/>
              <a:defRPr i="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subheading</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87038" y="237109"/>
            <a:ext cx="1464646" cy="722376"/>
          </a:xfrm>
          <a:prstGeom prst="rect">
            <a:avLst/>
          </a:prstGeom>
        </p:spPr>
      </p:pic>
    </p:spTree>
    <p:extLst>
      <p:ext uri="{BB962C8B-B14F-4D97-AF65-F5344CB8AC3E}">
        <p14:creationId xmlns:p14="http://schemas.microsoft.com/office/powerpoint/2010/main" val="2032220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Text and Table">
    <p:spTree>
      <p:nvGrpSpPr>
        <p:cNvPr id="1" name=""/>
        <p:cNvGrpSpPr/>
        <p:nvPr/>
      </p:nvGrpSpPr>
      <p:grpSpPr>
        <a:xfrm>
          <a:off x="0" y="0"/>
          <a:ext cx="0" cy="0"/>
          <a:chOff x="0" y="0"/>
          <a:chExt cx="0" cy="0"/>
        </a:xfrm>
      </p:grpSpPr>
      <p:sp>
        <p:nvSpPr>
          <p:cNvPr id="21" name="Title 1"/>
          <p:cNvSpPr>
            <a:spLocks noGrp="1"/>
          </p:cNvSpPr>
          <p:nvPr>
            <p:ph type="ctrTitle" hasCustomPrompt="1"/>
          </p:nvPr>
        </p:nvSpPr>
        <p:spPr>
          <a:xfrm>
            <a:off x="296521" y="1109709"/>
            <a:ext cx="5042394" cy="666849"/>
          </a:xfrm>
          <a:prstGeom prst="rect">
            <a:avLst/>
          </a:prstGeom>
        </p:spPr>
        <p:txBody>
          <a:bodyPr anchor="b" anchorCtr="0"/>
          <a:lstStyle>
            <a:lvl1pPr>
              <a:lnSpc>
                <a:spcPts val="2600"/>
              </a:lnSpc>
              <a:defRPr sz="2600">
                <a:solidFill>
                  <a:schemeClr val="bg2"/>
                </a:solidFill>
              </a:defRPr>
            </a:lvl1pPr>
          </a:lstStyle>
          <a:p>
            <a:r>
              <a:rPr lang="en-US"/>
              <a:t>Click to edit Master </a:t>
            </a:r>
            <a:br>
              <a:rPr lang="en-US"/>
            </a:br>
            <a:r>
              <a:rPr lang="en-US"/>
              <a:t>heading style</a:t>
            </a:r>
            <a:endParaRPr lang="en-GB"/>
          </a:p>
        </p:txBody>
      </p:sp>
      <p:sp>
        <p:nvSpPr>
          <p:cNvPr id="22" name="Subtitle 2"/>
          <p:cNvSpPr>
            <a:spLocks noGrp="1"/>
          </p:cNvSpPr>
          <p:nvPr>
            <p:ph type="subTitle" idx="1" hasCustomPrompt="1"/>
          </p:nvPr>
        </p:nvSpPr>
        <p:spPr>
          <a:xfrm>
            <a:off x="296520" y="2134932"/>
            <a:ext cx="5009911" cy="338554"/>
          </a:xfrm>
          <a:prstGeom prst="rect">
            <a:avLst/>
          </a:prstGeom>
        </p:spPr>
        <p:txBody>
          <a:bodyPr wrap="square" lIns="0" anchor="t" anchorCtr="0">
            <a:spAutoFit/>
          </a:bodyPr>
          <a:lstStyle>
            <a:lvl1pPr marL="0" indent="0" algn="l">
              <a:spcAft>
                <a:spcPts val="0"/>
              </a:spcAft>
              <a:buNone/>
              <a:defRPr i="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subheading</a:t>
            </a:r>
            <a:endParaRPr lang="en-GB"/>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87038" y="237109"/>
            <a:ext cx="1464646" cy="72237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6" name="Content Placeholder 15"/>
          <p:cNvSpPr>
            <a:spLocks noGrp="1" noChangeAspect="1"/>
          </p:cNvSpPr>
          <p:nvPr>
            <p:ph sz="quarter" idx="12"/>
          </p:nvPr>
        </p:nvSpPr>
        <p:spPr>
          <a:xfrm>
            <a:off x="359152" y="1192388"/>
            <a:ext cx="8423275" cy="3070050"/>
          </a:xfrm>
          <a:prstGeom prst="rect">
            <a:avLst/>
          </a:prstGeom>
        </p:spPr>
        <p:txBody>
          <a:bodyPr l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2"/>
          <p:cNvSpPr>
            <a:spLocks noGrp="1"/>
          </p:cNvSpPr>
          <p:nvPr>
            <p:ph type="body" sz="quarter" idx="14"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Text Placeholder 5"/>
          <p:cNvSpPr>
            <a:spLocks noGrp="1"/>
          </p:cNvSpPr>
          <p:nvPr>
            <p:ph type="body" sz="quarter" idx="18" hasCustomPrompt="1"/>
          </p:nvPr>
        </p:nvSpPr>
        <p:spPr>
          <a:xfrm>
            <a:off x="359152" y="4322020"/>
            <a:ext cx="8424000" cy="123111"/>
          </a:xfrm>
          <a:prstGeom prst="rect">
            <a:avLst/>
          </a:prstGeom>
        </p:spPr>
        <p:txBody>
          <a:bodyPr wrap="square"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4" name="Title 3"/>
          <p:cNvSpPr>
            <a:spLocks noGrp="1"/>
          </p:cNvSpPr>
          <p:nvPr>
            <p:ph type="title" hasCustomPrompt="1"/>
          </p:nvPr>
        </p:nvSpPr>
        <p:spPr>
          <a:xfrm>
            <a:off x="359152" y="288639"/>
            <a:ext cx="7577139" cy="338554"/>
          </a:xfrm>
        </p:spPr>
        <p:txBody>
          <a:bodyPr/>
          <a:lstStyle/>
          <a:p>
            <a:r>
              <a:rPr lang="en-US"/>
              <a:t>Click to edit Master heading style</a:t>
            </a:r>
            <a:endParaRPr lang="en-GB"/>
          </a:p>
        </p:txBody>
      </p:sp>
      <p:sp>
        <p:nvSpPr>
          <p:cNvPr id="7" name="Date Placeholder 6"/>
          <p:cNvSpPr>
            <a:spLocks noGrp="1"/>
          </p:cNvSpPr>
          <p:nvPr>
            <p:ph type="dt" sz="half" idx="19"/>
          </p:nvPr>
        </p:nvSpPr>
        <p:spPr/>
        <p:txBody>
          <a:bodyPr/>
          <a:lstStyle/>
          <a:p>
            <a:pPr algn="ctr"/>
            <a:r>
              <a:rPr lang="en-US"/>
              <a:t>Insert your date / confidentiality text here</a:t>
            </a:r>
            <a:endParaRPr lang="en-GB"/>
          </a:p>
        </p:txBody>
      </p:sp>
      <p:sp>
        <p:nvSpPr>
          <p:cNvPr id="9" name="Footer Placeholder 8"/>
          <p:cNvSpPr>
            <a:spLocks noGrp="1"/>
          </p:cNvSpPr>
          <p:nvPr>
            <p:ph type="ftr" sz="quarter" idx="20"/>
          </p:nvPr>
        </p:nvSpPr>
        <p:spPr/>
        <p:txBody>
          <a:bodyPr/>
          <a:lstStyle>
            <a:lvl1pPr>
              <a:defRPr/>
            </a:lvl1pPr>
          </a:lstStyle>
          <a:p>
            <a:r>
              <a:rPr lang="en-GB"/>
              <a:t>16x9 core template</a:t>
            </a:r>
          </a:p>
        </p:txBody>
      </p:sp>
      <p:sp>
        <p:nvSpPr>
          <p:cNvPr id="10" name="Slide Number Placeholder 9"/>
          <p:cNvSpPr>
            <a:spLocks noGrp="1"/>
          </p:cNvSpPr>
          <p:nvPr>
            <p:ph type="sldNum" sz="quarter" idx="21"/>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3314054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with Subheading">
    <p:spTree>
      <p:nvGrpSpPr>
        <p:cNvPr id="1" name=""/>
        <p:cNvGrpSpPr/>
        <p:nvPr/>
      </p:nvGrpSpPr>
      <p:grpSpPr>
        <a:xfrm>
          <a:off x="0" y="0"/>
          <a:ext cx="0" cy="0"/>
          <a:chOff x="0" y="0"/>
          <a:chExt cx="0" cy="0"/>
        </a:xfrm>
      </p:grpSpPr>
      <p:sp>
        <p:nvSpPr>
          <p:cNvPr id="10" name="Content Placeholder 9"/>
          <p:cNvSpPr>
            <a:spLocks noGrp="1" noChangeAspect="1"/>
          </p:cNvSpPr>
          <p:nvPr>
            <p:ph sz="quarter" idx="19"/>
          </p:nvPr>
        </p:nvSpPr>
        <p:spPr>
          <a:xfrm>
            <a:off x="360000" y="1539685"/>
            <a:ext cx="8418513" cy="2729104"/>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2"/>
          <p:cNvSpPr>
            <a:spLocks noGrp="1"/>
          </p:cNvSpPr>
          <p:nvPr>
            <p:ph type="body" sz="quarter" idx="13" hasCustomPrompt="1"/>
          </p:nvPr>
        </p:nvSpPr>
        <p:spPr>
          <a:xfrm>
            <a:off x="359152" y="1191711"/>
            <a:ext cx="8418513" cy="338554"/>
          </a:xfrm>
          <a:prstGeom prst="rect">
            <a:avLst/>
          </a:prstGeom>
        </p:spPr>
        <p:txBody>
          <a:bodyPr lIns="0" anchor="t" anchorCtr="0">
            <a:spAutoFit/>
          </a:bodyPr>
          <a:lstStyle>
            <a:lvl1pPr marL="0" indent="0">
              <a:spcAft>
                <a:spcPts val="0"/>
              </a:spcAft>
              <a:buNone/>
              <a:defRPr sz="1600" b="1">
                <a:solidFill>
                  <a:schemeClr val="accent1"/>
                </a:solidFill>
              </a:defRPr>
            </a:lvl1pPr>
            <a:lvl2pPr marL="271463" indent="0">
              <a:buNone/>
              <a:defRPr/>
            </a:lvl2pPr>
            <a:lvl3pPr marL="533400" indent="0">
              <a:buNone/>
              <a:defRPr/>
            </a:lvl3pPr>
            <a:lvl4pPr marL="815975" indent="0">
              <a:buNone/>
              <a:defRPr/>
            </a:lvl4pPr>
            <a:lvl5pPr marL="1104900" indent="0">
              <a:buNone/>
              <a:defRPr/>
            </a:lvl5pPr>
          </a:lstStyle>
          <a:p>
            <a:pPr lvl="0"/>
            <a:r>
              <a:rPr lang="en-US"/>
              <a:t>Subheading here if required</a:t>
            </a:r>
          </a:p>
        </p:txBody>
      </p:sp>
      <p:sp>
        <p:nvSpPr>
          <p:cNvPr id="14" name="Text Placeholder 2"/>
          <p:cNvSpPr>
            <a:spLocks noGrp="1"/>
          </p:cNvSpPr>
          <p:nvPr>
            <p:ph type="body" sz="quarter" idx="14"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6" name="Text Placeholder 5"/>
          <p:cNvSpPr>
            <a:spLocks noGrp="1"/>
          </p:cNvSpPr>
          <p:nvPr>
            <p:ph type="body" sz="quarter" idx="18" hasCustomPrompt="1"/>
          </p:nvPr>
        </p:nvSpPr>
        <p:spPr>
          <a:xfrm>
            <a:off x="359152" y="4322020"/>
            <a:ext cx="8424000" cy="123111"/>
          </a:xfrm>
          <a:prstGeom prst="rect">
            <a:avLst/>
          </a:prstGeom>
        </p:spPr>
        <p:txBody>
          <a:bodyPr wrap="square" anchor="b" anchorCtr="0">
            <a:spAutoFit/>
          </a:bodyPr>
          <a:lstStyle>
            <a:lvl1pPr marL="0" marR="0" indent="0" algn="l" defTabSz="914400" rtl="0" eaLnBrk="1" fontAlgn="auto" latinLnBrk="0" hangingPunct="1">
              <a:lnSpc>
                <a:spcPct val="100000"/>
              </a:lnSpc>
              <a:spcBef>
                <a:spcPts val="0"/>
              </a:spcBef>
              <a:spcAft>
                <a:spcPts val="600"/>
              </a:spcAft>
              <a:buClr>
                <a:schemeClr val="tx1"/>
              </a:buClr>
              <a:buSzTx/>
              <a:buFont typeface="Arial" pitchFamily="34" charset="0"/>
              <a:buNone/>
              <a:tabLst/>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20" name="Title 19"/>
          <p:cNvSpPr>
            <a:spLocks noGrp="1"/>
          </p:cNvSpPr>
          <p:nvPr>
            <p:ph type="title" hasCustomPrompt="1"/>
          </p:nvPr>
        </p:nvSpPr>
        <p:spPr/>
        <p:txBody>
          <a:bodyPr/>
          <a:lstStyle/>
          <a:p>
            <a:r>
              <a:rPr lang="en-US"/>
              <a:t>Click to edit Master heading style</a:t>
            </a:r>
            <a:endParaRPr lang="en-GB"/>
          </a:p>
        </p:txBody>
      </p:sp>
      <p:sp>
        <p:nvSpPr>
          <p:cNvPr id="5" name="Date Placeholder 4"/>
          <p:cNvSpPr>
            <a:spLocks noGrp="1"/>
          </p:cNvSpPr>
          <p:nvPr>
            <p:ph type="dt" sz="half" idx="20"/>
          </p:nvPr>
        </p:nvSpPr>
        <p:spPr/>
        <p:txBody>
          <a:bodyPr/>
          <a:lstStyle/>
          <a:p>
            <a:pPr algn="ctr"/>
            <a:r>
              <a:rPr lang="en-US"/>
              <a:t>Insert your date / confidentiality text here</a:t>
            </a:r>
            <a:endParaRPr lang="en-GB"/>
          </a:p>
        </p:txBody>
      </p:sp>
      <p:sp>
        <p:nvSpPr>
          <p:cNvPr id="6" name="Footer Placeholder 5"/>
          <p:cNvSpPr>
            <a:spLocks noGrp="1"/>
          </p:cNvSpPr>
          <p:nvPr>
            <p:ph type="ftr" sz="quarter" idx="21"/>
          </p:nvPr>
        </p:nvSpPr>
        <p:spPr/>
        <p:txBody>
          <a:bodyPr/>
          <a:lstStyle>
            <a:lvl1pPr>
              <a:defRPr/>
            </a:lvl1pPr>
          </a:lstStyle>
          <a:p>
            <a:r>
              <a:rPr lang="en-GB"/>
              <a:t>16x9 core template</a:t>
            </a:r>
          </a:p>
        </p:txBody>
      </p:sp>
      <p:sp>
        <p:nvSpPr>
          <p:cNvPr id="7" name="Slide Number Placeholder 6"/>
          <p:cNvSpPr>
            <a:spLocks noGrp="1"/>
          </p:cNvSpPr>
          <p:nvPr>
            <p:ph type="sldNum" sz="quarter" idx="2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35123329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rge Bullet">
    <p:spTree>
      <p:nvGrpSpPr>
        <p:cNvPr id="1" name=""/>
        <p:cNvGrpSpPr/>
        <p:nvPr/>
      </p:nvGrpSpPr>
      <p:grpSpPr>
        <a:xfrm>
          <a:off x="0" y="0"/>
          <a:ext cx="0" cy="0"/>
          <a:chOff x="0" y="0"/>
          <a:chExt cx="0" cy="0"/>
        </a:xfrm>
      </p:grpSpPr>
      <p:sp>
        <p:nvSpPr>
          <p:cNvPr id="14" name="Text Placeholder 2"/>
          <p:cNvSpPr>
            <a:spLocks noGrp="1"/>
          </p:cNvSpPr>
          <p:nvPr>
            <p:ph type="body" sz="quarter" idx="14" hasCustomPrompt="1"/>
          </p:nvPr>
        </p:nvSpPr>
        <p:spPr>
          <a:xfrm>
            <a:off x="360000"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5" name="Text Placeholder 5"/>
          <p:cNvSpPr>
            <a:spLocks noGrp="1"/>
          </p:cNvSpPr>
          <p:nvPr>
            <p:ph type="body" sz="quarter" idx="18" hasCustomPrompt="1"/>
          </p:nvPr>
        </p:nvSpPr>
        <p:spPr>
          <a:xfrm>
            <a:off x="360000" y="4229687"/>
            <a:ext cx="8424000" cy="215444"/>
          </a:xfrm>
          <a:prstGeom prst="rect">
            <a:avLst/>
          </a:prstGeom>
        </p:spPr>
        <p:txBody>
          <a:bodyPr wrap="square" lIns="0"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19" name="Title 18"/>
          <p:cNvSpPr>
            <a:spLocks noGrp="1"/>
          </p:cNvSpPr>
          <p:nvPr>
            <p:ph type="title" hasCustomPrompt="1"/>
          </p:nvPr>
        </p:nvSpPr>
        <p:spPr>
          <a:xfrm>
            <a:off x="360000" y="288639"/>
            <a:ext cx="7577139" cy="338554"/>
          </a:xfrm>
        </p:spPr>
        <p:txBody>
          <a:bodyPr/>
          <a:lstStyle/>
          <a:p>
            <a:r>
              <a:rPr lang="en-US"/>
              <a:t>Click to edit Master heading style</a:t>
            </a:r>
            <a:endParaRPr lang="en-GB"/>
          </a:p>
        </p:txBody>
      </p:sp>
      <p:sp>
        <p:nvSpPr>
          <p:cNvPr id="5" name="Date Placeholder 4"/>
          <p:cNvSpPr>
            <a:spLocks noGrp="1"/>
          </p:cNvSpPr>
          <p:nvPr>
            <p:ph type="dt" sz="half" idx="19"/>
          </p:nvPr>
        </p:nvSpPr>
        <p:spPr/>
        <p:txBody>
          <a:bodyPr/>
          <a:lstStyle/>
          <a:p>
            <a:pPr algn="ctr"/>
            <a:r>
              <a:rPr lang="en-US"/>
              <a:t>Insert your date / confidentiality text here</a:t>
            </a:r>
            <a:endParaRPr lang="en-GB"/>
          </a:p>
        </p:txBody>
      </p:sp>
      <p:sp>
        <p:nvSpPr>
          <p:cNvPr id="6" name="Footer Placeholder 5"/>
          <p:cNvSpPr>
            <a:spLocks noGrp="1"/>
          </p:cNvSpPr>
          <p:nvPr>
            <p:ph type="ftr" sz="quarter" idx="20"/>
          </p:nvPr>
        </p:nvSpPr>
        <p:spPr/>
        <p:txBody>
          <a:bodyPr/>
          <a:lstStyle>
            <a:lvl1pPr>
              <a:defRPr/>
            </a:lvl1pPr>
          </a:lstStyle>
          <a:p>
            <a:r>
              <a:rPr lang="en-GB"/>
              <a:t>16x9 core template</a:t>
            </a:r>
          </a:p>
        </p:txBody>
      </p:sp>
      <p:sp>
        <p:nvSpPr>
          <p:cNvPr id="7" name="Slide Number Placeholder 6"/>
          <p:cNvSpPr>
            <a:spLocks noGrp="1"/>
          </p:cNvSpPr>
          <p:nvPr>
            <p:ph type="sldNum" sz="quarter" idx="21"/>
          </p:nvPr>
        </p:nvSpPr>
        <p:spPr/>
        <p:txBody>
          <a:bodyPr/>
          <a:lstStyle/>
          <a:p>
            <a:fld id="{9F9F533D-B52E-4A2F-BF72-0ADD2D94BD75}" type="slidenum">
              <a:rPr lang="en-GB" smtClean="0"/>
              <a:pPr/>
              <a:t>‹#›</a:t>
            </a:fld>
            <a:endParaRPr lang="en-GB"/>
          </a:p>
        </p:txBody>
      </p:sp>
      <p:sp>
        <p:nvSpPr>
          <p:cNvPr id="9" name="Content Placeholder 12"/>
          <p:cNvSpPr>
            <a:spLocks noGrp="1" noChangeAspect="1"/>
          </p:cNvSpPr>
          <p:nvPr>
            <p:ph sz="quarter" idx="17"/>
          </p:nvPr>
        </p:nvSpPr>
        <p:spPr>
          <a:xfrm>
            <a:off x="360000" y="1192389"/>
            <a:ext cx="8423275" cy="3076400"/>
          </a:xfrm>
          <a:prstGeom prst="rect">
            <a:avLst/>
          </a:prstGeom>
        </p:spPr>
        <p:txBody>
          <a:bodyPr lIns="0"/>
          <a:lstStyle>
            <a:lvl1pPr>
              <a:defRPr sz="2400"/>
            </a:lvl1pPr>
            <a:lvl2pPr>
              <a:defRPr sz="2400"/>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317225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4" name="Content Placeholder 13"/>
          <p:cNvSpPr>
            <a:spLocks noGrp="1" noChangeAspect="1"/>
          </p:cNvSpPr>
          <p:nvPr>
            <p:ph sz="quarter" idx="18"/>
          </p:nvPr>
        </p:nvSpPr>
        <p:spPr>
          <a:xfrm>
            <a:off x="4805363" y="1193800"/>
            <a:ext cx="3978275" cy="3065463"/>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hasCustomPrompt="1"/>
          </p:nvPr>
        </p:nvSpPr>
        <p:spPr>
          <a:xfrm>
            <a:off x="359152" y="288639"/>
            <a:ext cx="7577139" cy="338554"/>
          </a:xfrm>
        </p:spPr>
        <p:txBody>
          <a:bodyPr/>
          <a:lstStyle/>
          <a:p>
            <a:r>
              <a:rPr lang="en-US"/>
              <a:t>Click to edit Master heading style</a:t>
            </a:r>
            <a:endParaRPr lang="en-GB"/>
          </a:p>
        </p:txBody>
      </p:sp>
      <p:sp>
        <p:nvSpPr>
          <p:cNvPr id="18" name="Text Placeholder 2"/>
          <p:cNvSpPr>
            <a:spLocks noGrp="1"/>
          </p:cNvSpPr>
          <p:nvPr>
            <p:ph type="body" sz="quarter" idx="14"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9" name="Text Placeholder 5"/>
          <p:cNvSpPr>
            <a:spLocks noGrp="1"/>
          </p:cNvSpPr>
          <p:nvPr>
            <p:ph type="body" sz="quarter" idx="19" hasCustomPrompt="1"/>
          </p:nvPr>
        </p:nvSpPr>
        <p:spPr>
          <a:xfrm>
            <a:off x="359152" y="4229687"/>
            <a:ext cx="3979486" cy="215444"/>
          </a:xfrm>
          <a:prstGeom prst="rect">
            <a:avLst/>
          </a:prstGeom>
        </p:spPr>
        <p:txBody>
          <a:bodyPr wrap="square" lIns="0"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20" name="Text Placeholder 5"/>
          <p:cNvSpPr>
            <a:spLocks noGrp="1"/>
          </p:cNvSpPr>
          <p:nvPr>
            <p:ph type="body" sz="quarter" idx="20" hasCustomPrompt="1"/>
          </p:nvPr>
        </p:nvSpPr>
        <p:spPr>
          <a:xfrm>
            <a:off x="4797217" y="4229687"/>
            <a:ext cx="3996000" cy="215444"/>
          </a:xfrm>
          <a:prstGeom prst="rect">
            <a:avLst/>
          </a:prstGeom>
        </p:spPr>
        <p:txBody>
          <a:bodyPr wrap="square" lIns="0"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3" name="Date Placeholder 2"/>
          <p:cNvSpPr>
            <a:spLocks noGrp="1"/>
          </p:cNvSpPr>
          <p:nvPr>
            <p:ph type="dt" sz="half" idx="21"/>
          </p:nvPr>
        </p:nvSpPr>
        <p:spPr/>
        <p:txBody>
          <a:bodyPr/>
          <a:lstStyle/>
          <a:p>
            <a:pPr algn="ctr"/>
            <a:r>
              <a:rPr lang="en-US"/>
              <a:t>Insert your date / confidentiality text here</a:t>
            </a:r>
            <a:endParaRPr lang="en-GB"/>
          </a:p>
        </p:txBody>
      </p:sp>
      <p:sp>
        <p:nvSpPr>
          <p:cNvPr id="4" name="Footer Placeholder 3"/>
          <p:cNvSpPr>
            <a:spLocks noGrp="1"/>
          </p:cNvSpPr>
          <p:nvPr>
            <p:ph type="ftr" sz="quarter" idx="22"/>
          </p:nvPr>
        </p:nvSpPr>
        <p:spPr/>
        <p:txBody>
          <a:bodyPr/>
          <a:lstStyle>
            <a:lvl1pPr>
              <a:defRPr/>
            </a:lvl1pPr>
          </a:lstStyle>
          <a:p>
            <a:r>
              <a:rPr lang="en-GB"/>
              <a:t>16x9 core template</a:t>
            </a:r>
          </a:p>
        </p:txBody>
      </p:sp>
      <p:sp>
        <p:nvSpPr>
          <p:cNvPr id="5" name="Slide Number Placeholder 4"/>
          <p:cNvSpPr>
            <a:spLocks noGrp="1"/>
          </p:cNvSpPr>
          <p:nvPr>
            <p:ph type="sldNum" sz="quarter" idx="23"/>
          </p:nvPr>
        </p:nvSpPr>
        <p:spPr/>
        <p:txBody>
          <a:bodyPr/>
          <a:lstStyle/>
          <a:p>
            <a:fld id="{9F9F533D-B52E-4A2F-BF72-0ADD2D94BD75}" type="slidenum">
              <a:rPr lang="en-GB" smtClean="0"/>
              <a:pPr/>
              <a:t>‹#›</a:t>
            </a:fld>
            <a:endParaRPr lang="en-GB"/>
          </a:p>
        </p:txBody>
      </p:sp>
      <p:sp>
        <p:nvSpPr>
          <p:cNvPr id="11" name="Content Placeholder 11"/>
          <p:cNvSpPr>
            <a:spLocks noGrp="1" noChangeAspect="1"/>
          </p:cNvSpPr>
          <p:nvPr>
            <p:ph sz="quarter" idx="17"/>
          </p:nvPr>
        </p:nvSpPr>
        <p:spPr>
          <a:xfrm>
            <a:off x="360000" y="1193800"/>
            <a:ext cx="3973875" cy="3065463"/>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706052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8" name="Text Placeholder 2"/>
          <p:cNvSpPr>
            <a:spLocks noGrp="1"/>
          </p:cNvSpPr>
          <p:nvPr>
            <p:ph type="body" idx="19" hasCustomPrompt="1"/>
          </p:nvPr>
        </p:nvSpPr>
        <p:spPr>
          <a:xfrm>
            <a:off x="360000" y="1194204"/>
            <a:ext cx="3973875" cy="338554"/>
          </a:xfrm>
          <a:prstGeom prst="rect">
            <a:avLst/>
          </a:prstGeom>
        </p:spPr>
        <p:txBody>
          <a:bodyPr wrap="square" lIns="0" anchor="t" anchorCtr="0">
            <a:spAutoFit/>
          </a:bodyPr>
          <a:lstStyle>
            <a:lvl1pPr marL="0" indent="0">
              <a:buNone/>
              <a:defRPr sz="1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Subheading here if required</a:t>
            </a:r>
          </a:p>
        </p:txBody>
      </p:sp>
      <p:sp>
        <p:nvSpPr>
          <p:cNvPr id="20" name="Text Placeholder 2"/>
          <p:cNvSpPr>
            <a:spLocks noGrp="1"/>
          </p:cNvSpPr>
          <p:nvPr>
            <p:ph type="body" idx="21" hasCustomPrompt="1"/>
          </p:nvPr>
        </p:nvSpPr>
        <p:spPr>
          <a:xfrm>
            <a:off x="4805363" y="1194204"/>
            <a:ext cx="3978275" cy="246221"/>
          </a:xfrm>
          <a:prstGeom prst="rect">
            <a:avLst/>
          </a:prstGeom>
        </p:spPr>
        <p:txBody>
          <a:bodyPr wrap="square" anchor="t" anchorCtr="0">
            <a:spAutoFit/>
          </a:bodyPr>
          <a:lstStyle>
            <a:lvl1pPr marL="0" indent="0">
              <a:buNone/>
              <a:defRPr sz="1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Subheading here if required</a:t>
            </a:r>
          </a:p>
        </p:txBody>
      </p:sp>
      <p:sp>
        <p:nvSpPr>
          <p:cNvPr id="2" name="Title 1"/>
          <p:cNvSpPr>
            <a:spLocks noGrp="1"/>
          </p:cNvSpPr>
          <p:nvPr>
            <p:ph type="title" hasCustomPrompt="1"/>
          </p:nvPr>
        </p:nvSpPr>
        <p:spPr>
          <a:xfrm>
            <a:off x="360000" y="288639"/>
            <a:ext cx="7577139" cy="338554"/>
          </a:xfrm>
        </p:spPr>
        <p:txBody>
          <a:bodyPr/>
          <a:lstStyle/>
          <a:p>
            <a:r>
              <a:rPr lang="en-US"/>
              <a:t>Click to edit Master heading style</a:t>
            </a:r>
            <a:endParaRPr lang="en-GB"/>
          </a:p>
        </p:txBody>
      </p:sp>
      <p:sp>
        <p:nvSpPr>
          <p:cNvPr id="17" name="Content Placeholder 11"/>
          <p:cNvSpPr>
            <a:spLocks noGrp="1" noChangeAspect="1"/>
          </p:cNvSpPr>
          <p:nvPr>
            <p:ph sz="quarter" idx="17"/>
          </p:nvPr>
        </p:nvSpPr>
        <p:spPr>
          <a:xfrm>
            <a:off x="360000" y="1516484"/>
            <a:ext cx="3973875" cy="2742779"/>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Content Placeholder 13"/>
          <p:cNvSpPr>
            <a:spLocks noGrp="1" noChangeAspect="1"/>
          </p:cNvSpPr>
          <p:nvPr>
            <p:ph sz="quarter" idx="18"/>
          </p:nvPr>
        </p:nvSpPr>
        <p:spPr>
          <a:xfrm>
            <a:off x="4805363" y="1516484"/>
            <a:ext cx="3978275" cy="2745954"/>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Text Placeholder 5"/>
          <p:cNvSpPr>
            <a:spLocks noGrp="1"/>
          </p:cNvSpPr>
          <p:nvPr>
            <p:ph type="body" sz="quarter" idx="31" hasCustomPrompt="1"/>
          </p:nvPr>
        </p:nvSpPr>
        <p:spPr>
          <a:xfrm>
            <a:off x="360000" y="4229687"/>
            <a:ext cx="3973875" cy="215444"/>
          </a:xfrm>
          <a:prstGeom prst="rect">
            <a:avLst/>
          </a:prstGeom>
        </p:spPr>
        <p:txBody>
          <a:bodyPr wrap="square" lIns="0"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24" name="Text Placeholder 5"/>
          <p:cNvSpPr>
            <a:spLocks noGrp="1"/>
          </p:cNvSpPr>
          <p:nvPr>
            <p:ph type="body" sz="quarter" idx="20" hasCustomPrompt="1"/>
          </p:nvPr>
        </p:nvSpPr>
        <p:spPr>
          <a:xfrm>
            <a:off x="4798800" y="4229687"/>
            <a:ext cx="3984838" cy="215444"/>
          </a:xfrm>
          <a:prstGeom prst="rect">
            <a:avLst/>
          </a:prstGeom>
        </p:spPr>
        <p:txBody>
          <a:bodyPr wrap="square" lIns="0"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28" name="Text Placeholder 2"/>
          <p:cNvSpPr>
            <a:spLocks noGrp="1"/>
          </p:cNvSpPr>
          <p:nvPr>
            <p:ph type="body" sz="quarter" idx="14" hasCustomPrompt="1"/>
          </p:nvPr>
        </p:nvSpPr>
        <p:spPr>
          <a:xfrm>
            <a:off x="360000"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Date Placeholder 5"/>
          <p:cNvSpPr>
            <a:spLocks noGrp="1"/>
          </p:cNvSpPr>
          <p:nvPr>
            <p:ph type="dt" sz="half" idx="32"/>
          </p:nvPr>
        </p:nvSpPr>
        <p:spPr/>
        <p:txBody>
          <a:bodyPr/>
          <a:lstStyle/>
          <a:p>
            <a:pPr algn="ctr"/>
            <a:r>
              <a:rPr lang="en-US"/>
              <a:t>Insert your date / confidentiality text here</a:t>
            </a:r>
            <a:endParaRPr lang="en-GB"/>
          </a:p>
        </p:txBody>
      </p:sp>
      <p:sp>
        <p:nvSpPr>
          <p:cNvPr id="7" name="Footer Placeholder 6"/>
          <p:cNvSpPr>
            <a:spLocks noGrp="1"/>
          </p:cNvSpPr>
          <p:nvPr>
            <p:ph type="ftr" sz="quarter" idx="33"/>
          </p:nvPr>
        </p:nvSpPr>
        <p:spPr/>
        <p:txBody>
          <a:bodyPr/>
          <a:lstStyle>
            <a:lvl1pPr>
              <a:defRPr/>
            </a:lvl1pPr>
          </a:lstStyle>
          <a:p>
            <a:r>
              <a:rPr lang="en-GB"/>
              <a:t>16x9 core template</a:t>
            </a:r>
          </a:p>
        </p:txBody>
      </p:sp>
      <p:sp>
        <p:nvSpPr>
          <p:cNvPr id="8" name="Slide Number Placeholder 7"/>
          <p:cNvSpPr>
            <a:spLocks noGrp="1"/>
          </p:cNvSpPr>
          <p:nvPr>
            <p:ph type="sldNum" sz="quarter" idx="34"/>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3618036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ideo Standard (4x3)">
    <p:spTree>
      <p:nvGrpSpPr>
        <p:cNvPr id="1" name=""/>
        <p:cNvGrpSpPr/>
        <p:nvPr/>
      </p:nvGrpSpPr>
      <p:grpSpPr>
        <a:xfrm>
          <a:off x="0" y="0"/>
          <a:ext cx="0" cy="0"/>
          <a:chOff x="0" y="0"/>
          <a:chExt cx="0" cy="0"/>
        </a:xfrm>
      </p:grpSpPr>
      <p:sp>
        <p:nvSpPr>
          <p:cNvPr id="6" name="Media Placeholder 5"/>
          <p:cNvSpPr>
            <a:spLocks noGrp="1" noChangeAspect="1"/>
          </p:cNvSpPr>
          <p:nvPr>
            <p:ph type="media" sz="quarter" idx="12" hasCustomPrompt="1"/>
          </p:nvPr>
        </p:nvSpPr>
        <p:spPr>
          <a:xfrm>
            <a:off x="2363400" y="1193800"/>
            <a:ext cx="4417200" cy="3311525"/>
          </a:xfrm>
          <a:prstGeom prst="rect">
            <a:avLst/>
          </a:prstGeom>
        </p:spPr>
        <p:txBody>
          <a:bodyPr lIns="108000" tIns="108000"/>
          <a:lstStyle>
            <a:lvl1pPr marL="0" indent="0">
              <a:buNone/>
              <a:defRPr baseline="0">
                <a:solidFill>
                  <a:schemeClr val="tx1"/>
                </a:solidFill>
              </a:defRPr>
            </a:lvl1pPr>
          </a:lstStyle>
          <a:p>
            <a:r>
              <a:rPr lang="en-GB"/>
              <a:t>Click on the film icon to insert your Standard (4x3 video)</a:t>
            </a:r>
          </a:p>
        </p:txBody>
      </p:sp>
      <p:sp>
        <p:nvSpPr>
          <p:cNvPr id="2" name="Title 1"/>
          <p:cNvSpPr>
            <a:spLocks noGrp="1"/>
          </p:cNvSpPr>
          <p:nvPr>
            <p:ph type="title" hasCustomPrompt="1"/>
          </p:nvPr>
        </p:nvSpPr>
        <p:spPr/>
        <p:txBody>
          <a:bodyPr/>
          <a:lstStyle/>
          <a:p>
            <a:r>
              <a:rPr lang="en-US"/>
              <a:t>Click to edit Master heading style</a:t>
            </a:r>
            <a:endParaRPr lang="en-GB"/>
          </a:p>
        </p:txBody>
      </p:sp>
      <p:sp>
        <p:nvSpPr>
          <p:cNvPr id="3" name="Date Placeholder 2"/>
          <p:cNvSpPr>
            <a:spLocks noGrp="1"/>
          </p:cNvSpPr>
          <p:nvPr>
            <p:ph type="dt" sz="half" idx="15"/>
          </p:nvPr>
        </p:nvSpPr>
        <p:spPr/>
        <p:txBody>
          <a:bodyPr/>
          <a:lstStyle/>
          <a:p>
            <a:pPr algn="ctr"/>
            <a:r>
              <a:rPr lang="en-US"/>
              <a:t>Insert your date / confidentiality text here</a:t>
            </a:r>
            <a:endParaRPr lang="en-GB"/>
          </a:p>
        </p:txBody>
      </p:sp>
      <p:sp>
        <p:nvSpPr>
          <p:cNvPr id="4" name="Footer Placeholder 3"/>
          <p:cNvSpPr>
            <a:spLocks noGrp="1"/>
          </p:cNvSpPr>
          <p:nvPr>
            <p:ph type="ftr" sz="quarter" idx="16"/>
          </p:nvPr>
        </p:nvSpPr>
        <p:spPr/>
        <p:txBody>
          <a:bodyPr/>
          <a:lstStyle>
            <a:lvl1pPr>
              <a:defRPr/>
            </a:lvl1pPr>
          </a:lstStyle>
          <a:p>
            <a:r>
              <a:rPr lang="en-GB"/>
              <a:t>16x9 core template</a:t>
            </a:r>
          </a:p>
        </p:txBody>
      </p:sp>
      <p:sp>
        <p:nvSpPr>
          <p:cNvPr id="9" name="Slide Number Placeholder 8"/>
          <p:cNvSpPr>
            <a:spLocks noGrp="1"/>
          </p:cNvSpPr>
          <p:nvPr>
            <p:ph type="sldNum" sz="quarter" idx="17"/>
          </p:nvPr>
        </p:nvSpPr>
        <p:spPr/>
        <p:txBody>
          <a:bodyPr/>
          <a:lstStyle/>
          <a:p>
            <a:fld id="{9F9F533D-B52E-4A2F-BF72-0ADD2D94BD75}" type="slidenum">
              <a:rPr lang="en-GB" smtClean="0"/>
              <a:pPr/>
              <a:t>‹#›</a:t>
            </a:fld>
            <a:endParaRPr lang="en-GB"/>
          </a:p>
        </p:txBody>
      </p:sp>
      <p:sp>
        <p:nvSpPr>
          <p:cNvPr id="8" name="Text Placeholder 2"/>
          <p:cNvSpPr>
            <a:spLocks noGrp="1"/>
          </p:cNvSpPr>
          <p:nvPr>
            <p:ph type="body" sz="quarter" idx="14" hasCustomPrompt="1"/>
          </p:nvPr>
        </p:nvSpPr>
        <p:spPr>
          <a:xfrm>
            <a:off x="360000"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Tree>
    <p:extLst>
      <p:ext uri="{BB962C8B-B14F-4D97-AF65-F5344CB8AC3E}">
        <p14:creationId xmlns:p14="http://schemas.microsoft.com/office/powerpoint/2010/main" val="2851349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ideo Widescreen (16x9)">
    <p:spTree>
      <p:nvGrpSpPr>
        <p:cNvPr id="1" name=""/>
        <p:cNvGrpSpPr/>
        <p:nvPr/>
      </p:nvGrpSpPr>
      <p:grpSpPr>
        <a:xfrm>
          <a:off x="0" y="0"/>
          <a:ext cx="0" cy="0"/>
          <a:chOff x="0" y="0"/>
          <a:chExt cx="0" cy="0"/>
        </a:xfrm>
      </p:grpSpPr>
      <p:sp>
        <p:nvSpPr>
          <p:cNvPr id="5" name="Media Placeholder 5"/>
          <p:cNvSpPr>
            <a:spLocks noGrp="1" noChangeAspect="1"/>
          </p:cNvSpPr>
          <p:nvPr>
            <p:ph type="media" sz="quarter" idx="12" hasCustomPrompt="1"/>
          </p:nvPr>
        </p:nvSpPr>
        <p:spPr>
          <a:xfrm>
            <a:off x="1627200" y="1193800"/>
            <a:ext cx="5889600" cy="3312000"/>
          </a:xfrm>
          <a:prstGeom prst="rect">
            <a:avLst/>
          </a:prstGeom>
        </p:spPr>
        <p:txBody>
          <a:bodyPr lIns="108000" tIns="108000"/>
          <a:lstStyle>
            <a:lvl1pPr marL="0" indent="0">
              <a:buNone/>
              <a:defRPr baseline="0">
                <a:solidFill>
                  <a:schemeClr val="tx1"/>
                </a:solidFill>
              </a:defRPr>
            </a:lvl1pPr>
          </a:lstStyle>
          <a:p>
            <a:r>
              <a:rPr lang="en-GB"/>
              <a:t>Click on the film icon to insert your widescreen (16x9) video</a:t>
            </a:r>
          </a:p>
        </p:txBody>
      </p:sp>
      <p:sp>
        <p:nvSpPr>
          <p:cNvPr id="10" name="Title 9"/>
          <p:cNvSpPr>
            <a:spLocks noGrp="1"/>
          </p:cNvSpPr>
          <p:nvPr>
            <p:ph type="title" hasCustomPrompt="1"/>
          </p:nvPr>
        </p:nvSpPr>
        <p:spPr/>
        <p:txBody>
          <a:bodyPr/>
          <a:lstStyle/>
          <a:p>
            <a:r>
              <a:rPr lang="en-US"/>
              <a:t>Click to edit Master heading style</a:t>
            </a:r>
            <a:endParaRPr lang="en-GB"/>
          </a:p>
        </p:txBody>
      </p:sp>
      <p:sp>
        <p:nvSpPr>
          <p:cNvPr id="2" name="Date Placeholder 1"/>
          <p:cNvSpPr>
            <a:spLocks noGrp="1"/>
          </p:cNvSpPr>
          <p:nvPr>
            <p:ph type="dt" sz="half" idx="17"/>
          </p:nvPr>
        </p:nvSpPr>
        <p:spPr/>
        <p:txBody>
          <a:bodyPr/>
          <a:lstStyle/>
          <a:p>
            <a:pPr algn="ctr"/>
            <a:r>
              <a:rPr lang="en-US"/>
              <a:t>Insert your date / confidentiality text here</a:t>
            </a:r>
            <a:endParaRPr lang="en-GB"/>
          </a:p>
        </p:txBody>
      </p:sp>
      <p:sp>
        <p:nvSpPr>
          <p:cNvPr id="3" name="Footer Placeholder 2"/>
          <p:cNvSpPr>
            <a:spLocks noGrp="1"/>
          </p:cNvSpPr>
          <p:nvPr>
            <p:ph type="ftr" sz="quarter" idx="18"/>
          </p:nvPr>
        </p:nvSpPr>
        <p:spPr/>
        <p:txBody>
          <a:bodyPr/>
          <a:lstStyle>
            <a:lvl1pPr>
              <a:defRPr/>
            </a:lvl1pPr>
          </a:lstStyle>
          <a:p>
            <a:r>
              <a:rPr lang="en-GB"/>
              <a:t>16x9 core template</a:t>
            </a:r>
          </a:p>
        </p:txBody>
      </p:sp>
      <p:sp>
        <p:nvSpPr>
          <p:cNvPr id="4" name="Slide Number Placeholder 3"/>
          <p:cNvSpPr>
            <a:spLocks noGrp="1"/>
          </p:cNvSpPr>
          <p:nvPr>
            <p:ph type="sldNum" sz="quarter" idx="19"/>
          </p:nvPr>
        </p:nvSpPr>
        <p:spPr/>
        <p:txBody>
          <a:bodyPr/>
          <a:lstStyle/>
          <a:p>
            <a:fld id="{9F9F533D-B52E-4A2F-BF72-0ADD2D94BD75}" type="slidenum">
              <a:rPr lang="en-GB" smtClean="0"/>
              <a:pPr/>
              <a:t>‹#›</a:t>
            </a:fld>
            <a:endParaRPr lang="en-GB"/>
          </a:p>
        </p:txBody>
      </p:sp>
      <p:sp>
        <p:nvSpPr>
          <p:cNvPr id="8" name="Text Placeholder 2"/>
          <p:cNvSpPr>
            <a:spLocks noGrp="1"/>
          </p:cNvSpPr>
          <p:nvPr>
            <p:ph type="body" sz="quarter" idx="14" hasCustomPrompt="1"/>
          </p:nvPr>
        </p:nvSpPr>
        <p:spPr>
          <a:xfrm>
            <a:off x="360000"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Tree>
    <p:extLst>
      <p:ext uri="{BB962C8B-B14F-4D97-AF65-F5344CB8AC3E}">
        <p14:creationId xmlns:p14="http://schemas.microsoft.com/office/powerpoint/2010/main" val="2599322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and Non Bulleted Text">
    <p:spTree>
      <p:nvGrpSpPr>
        <p:cNvPr id="1" name=""/>
        <p:cNvGrpSpPr/>
        <p:nvPr/>
      </p:nvGrpSpPr>
      <p:grpSpPr>
        <a:xfrm>
          <a:off x="0" y="0"/>
          <a:ext cx="0" cy="0"/>
          <a:chOff x="0" y="0"/>
          <a:chExt cx="0" cy="0"/>
        </a:xfrm>
      </p:grpSpPr>
      <p:sp>
        <p:nvSpPr>
          <p:cNvPr id="16" name="Text Placeholder 6"/>
          <p:cNvSpPr>
            <a:spLocks noGrp="1"/>
          </p:cNvSpPr>
          <p:nvPr>
            <p:ph type="body" sz="quarter" idx="13"/>
          </p:nvPr>
        </p:nvSpPr>
        <p:spPr>
          <a:xfrm>
            <a:off x="359153" y="1193239"/>
            <a:ext cx="3979484" cy="3310128"/>
          </a:xfrm>
          <a:prstGeom prst="rect">
            <a:avLst/>
          </a:prstGeom>
        </p:spPr>
        <p:txBody>
          <a:bodyPr lIns="0"/>
          <a:lstStyle>
            <a:lvl1pPr marL="0" indent="0">
              <a:buNone/>
              <a:defRPr/>
            </a:lvl1pPr>
          </a:lstStyle>
          <a:p>
            <a:pPr lvl="0"/>
            <a:r>
              <a:rPr lang="en-US"/>
              <a:t>Click to edit Master text styles</a:t>
            </a:r>
          </a:p>
        </p:txBody>
      </p:sp>
      <p:sp>
        <p:nvSpPr>
          <p:cNvPr id="6" name="Title 5"/>
          <p:cNvSpPr>
            <a:spLocks noGrp="1"/>
          </p:cNvSpPr>
          <p:nvPr>
            <p:ph type="title" hasCustomPrompt="1"/>
          </p:nvPr>
        </p:nvSpPr>
        <p:spPr>
          <a:xfrm>
            <a:off x="359152" y="288639"/>
            <a:ext cx="7577139" cy="338554"/>
          </a:xfrm>
        </p:spPr>
        <p:txBody>
          <a:bodyPr/>
          <a:lstStyle/>
          <a:p>
            <a:r>
              <a:rPr lang="en-US"/>
              <a:t>Click to edit Master heading style</a:t>
            </a:r>
            <a:endParaRPr lang="en-GB"/>
          </a:p>
        </p:txBody>
      </p:sp>
      <p:sp>
        <p:nvSpPr>
          <p:cNvPr id="12" name="Text Placeholder 2"/>
          <p:cNvSpPr>
            <a:spLocks noGrp="1"/>
          </p:cNvSpPr>
          <p:nvPr>
            <p:ph type="body" sz="quarter" idx="27"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2" name="Date Placeholder 1"/>
          <p:cNvSpPr>
            <a:spLocks noGrp="1"/>
          </p:cNvSpPr>
          <p:nvPr>
            <p:ph type="dt" sz="half" idx="28"/>
          </p:nvPr>
        </p:nvSpPr>
        <p:spPr/>
        <p:txBody>
          <a:bodyPr/>
          <a:lstStyle/>
          <a:p>
            <a:pPr algn="ctr"/>
            <a:r>
              <a:rPr lang="en-US"/>
              <a:t>Insert your date / confidentiality text here</a:t>
            </a:r>
            <a:endParaRPr lang="en-GB"/>
          </a:p>
        </p:txBody>
      </p:sp>
      <p:sp>
        <p:nvSpPr>
          <p:cNvPr id="3" name="Footer Placeholder 2"/>
          <p:cNvSpPr>
            <a:spLocks noGrp="1"/>
          </p:cNvSpPr>
          <p:nvPr>
            <p:ph type="ftr" sz="quarter" idx="29"/>
          </p:nvPr>
        </p:nvSpPr>
        <p:spPr/>
        <p:txBody>
          <a:bodyPr/>
          <a:lstStyle>
            <a:lvl1pPr>
              <a:defRPr/>
            </a:lvl1pPr>
          </a:lstStyle>
          <a:p>
            <a:r>
              <a:rPr lang="en-GB"/>
              <a:t>16x9 core template</a:t>
            </a:r>
          </a:p>
        </p:txBody>
      </p:sp>
      <p:sp>
        <p:nvSpPr>
          <p:cNvPr id="4" name="Slide Number Placeholder 3"/>
          <p:cNvSpPr>
            <a:spLocks noGrp="1"/>
          </p:cNvSpPr>
          <p:nvPr>
            <p:ph type="sldNum" sz="quarter" idx="30"/>
          </p:nvPr>
        </p:nvSpPr>
        <p:spPr/>
        <p:txBody>
          <a:bodyPr/>
          <a:lstStyle/>
          <a:p>
            <a:fld id="{9F9F533D-B52E-4A2F-BF72-0ADD2D94BD75}" type="slidenum">
              <a:rPr lang="en-GB" smtClean="0"/>
              <a:pPr/>
              <a:t>‹#›</a:t>
            </a:fld>
            <a:endParaRPr lang="en-GB"/>
          </a:p>
        </p:txBody>
      </p:sp>
      <p:sp>
        <p:nvSpPr>
          <p:cNvPr id="13" name="Picture Placeholder 8"/>
          <p:cNvSpPr>
            <a:spLocks noGrp="1"/>
          </p:cNvSpPr>
          <p:nvPr>
            <p:ph type="pic" sz="quarter" idx="14" hasCustomPrompt="1"/>
          </p:nvPr>
        </p:nvSpPr>
        <p:spPr>
          <a:xfrm>
            <a:off x="4798800" y="1193799"/>
            <a:ext cx="3982697" cy="3309567"/>
          </a:xfrm>
          <a:prstGeom prst="rect">
            <a:avLst/>
          </a:prstGeom>
        </p:spPr>
        <p:txBody>
          <a:bodyPr lIns="0" tIns="0"/>
          <a:lstStyle>
            <a:lvl1pPr marL="0" indent="0">
              <a:buNone/>
              <a:defRPr sz="1100" baseline="0"/>
            </a:lvl1pPr>
          </a:lstStyle>
          <a:p>
            <a:r>
              <a:rPr lang="en-GB"/>
              <a:t>Click on the picture icon to insert your picture</a:t>
            </a:r>
          </a:p>
        </p:txBody>
      </p:sp>
    </p:spTree>
    <p:extLst>
      <p:ext uri="{BB962C8B-B14F-4D97-AF65-F5344CB8AC3E}">
        <p14:creationId xmlns:p14="http://schemas.microsoft.com/office/powerpoint/2010/main" val="41240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nd Text">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359152" y="288639"/>
            <a:ext cx="7577139" cy="338554"/>
          </a:xfrm>
        </p:spPr>
        <p:txBody>
          <a:bodyPr/>
          <a:lstStyle/>
          <a:p>
            <a:r>
              <a:rPr lang="en-US"/>
              <a:t>Click to edit Master heading style</a:t>
            </a:r>
            <a:endParaRPr lang="en-GB"/>
          </a:p>
        </p:txBody>
      </p:sp>
      <p:sp>
        <p:nvSpPr>
          <p:cNvPr id="12" name="Text Placeholder 2"/>
          <p:cNvSpPr>
            <a:spLocks noGrp="1"/>
          </p:cNvSpPr>
          <p:nvPr>
            <p:ph type="body" sz="quarter" idx="27"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2" name="Date Placeholder 1"/>
          <p:cNvSpPr>
            <a:spLocks noGrp="1"/>
          </p:cNvSpPr>
          <p:nvPr>
            <p:ph type="dt" sz="half" idx="28"/>
          </p:nvPr>
        </p:nvSpPr>
        <p:spPr/>
        <p:txBody>
          <a:bodyPr/>
          <a:lstStyle/>
          <a:p>
            <a:pPr algn="ctr"/>
            <a:r>
              <a:rPr lang="en-US"/>
              <a:t>Insert your date / confidentiality text here</a:t>
            </a:r>
            <a:endParaRPr lang="en-GB"/>
          </a:p>
        </p:txBody>
      </p:sp>
      <p:sp>
        <p:nvSpPr>
          <p:cNvPr id="3" name="Footer Placeholder 2"/>
          <p:cNvSpPr>
            <a:spLocks noGrp="1"/>
          </p:cNvSpPr>
          <p:nvPr>
            <p:ph type="ftr" sz="quarter" idx="29"/>
          </p:nvPr>
        </p:nvSpPr>
        <p:spPr/>
        <p:txBody>
          <a:bodyPr/>
          <a:lstStyle>
            <a:lvl1pPr>
              <a:defRPr/>
            </a:lvl1pPr>
          </a:lstStyle>
          <a:p>
            <a:r>
              <a:rPr lang="en-GB"/>
              <a:t>16x9 core template</a:t>
            </a:r>
          </a:p>
        </p:txBody>
      </p:sp>
      <p:sp>
        <p:nvSpPr>
          <p:cNvPr id="4" name="Slide Number Placeholder 3"/>
          <p:cNvSpPr>
            <a:spLocks noGrp="1"/>
          </p:cNvSpPr>
          <p:nvPr>
            <p:ph type="sldNum" sz="quarter" idx="30"/>
          </p:nvPr>
        </p:nvSpPr>
        <p:spPr/>
        <p:txBody>
          <a:bodyPr/>
          <a:lstStyle/>
          <a:p>
            <a:fld id="{9F9F533D-B52E-4A2F-BF72-0ADD2D94BD75}" type="slidenum">
              <a:rPr lang="en-GB" smtClean="0"/>
              <a:pPr/>
              <a:t>‹#›</a:t>
            </a:fld>
            <a:endParaRPr lang="en-GB"/>
          </a:p>
        </p:txBody>
      </p:sp>
      <p:sp>
        <p:nvSpPr>
          <p:cNvPr id="13" name="Picture Placeholder 8"/>
          <p:cNvSpPr>
            <a:spLocks noGrp="1"/>
          </p:cNvSpPr>
          <p:nvPr>
            <p:ph type="pic" sz="quarter" idx="14" hasCustomPrompt="1"/>
          </p:nvPr>
        </p:nvSpPr>
        <p:spPr>
          <a:xfrm>
            <a:off x="4798800" y="1193799"/>
            <a:ext cx="3982697" cy="3309567"/>
          </a:xfrm>
          <a:prstGeom prst="rect">
            <a:avLst/>
          </a:prstGeom>
        </p:spPr>
        <p:txBody>
          <a:bodyPr lIns="0" tIns="0"/>
          <a:lstStyle>
            <a:lvl1pPr marL="0" indent="0">
              <a:buNone/>
              <a:defRPr sz="1100" baseline="0"/>
            </a:lvl1pPr>
          </a:lstStyle>
          <a:p>
            <a:r>
              <a:rPr lang="en-GB"/>
              <a:t>Click on the picture icon to insert your picture</a:t>
            </a:r>
          </a:p>
        </p:txBody>
      </p:sp>
      <p:sp>
        <p:nvSpPr>
          <p:cNvPr id="9" name="Text Placeholder 6"/>
          <p:cNvSpPr>
            <a:spLocks noGrp="1"/>
          </p:cNvSpPr>
          <p:nvPr>
            <p:ph type="body" sz="quarter" idx="13"/>
          </p:nvPr>
        </p:nvSpPr>
        <p:spPr>
          <a:xfrm>
            <a:off x="359152" y="1190625"/>
            <a:ext cx="3986213" cy="3312741"/>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90162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6" name="Title 5"/>
          <p:cNvSpPr>
            <a:spLocks noGrp="1"/>
          </p:cNvSpPr>
          <p:nvPr>
            <p:ph type="title" hasCustomPrompt="1"/>
          </p:nvPr>
        </p:nvSpPr>
        <p:spPr/>
        <p:txBody>
          <a:bodyPr/>
          <a:lstStyle/>
          <a:p>
            <a:r>
              <a:rPr lang="en-US"/>
              <a:t>Click to edit Master heading style</a:t>
            </a:r>
            <a:endParaRPr lang="en-GB"/>
          </a:p>
        </p:txBody>
      </p:sp>
      <p:sp>
        <p:nvSpPr>
          <p:cNvPr id="19" name="Text Placeholder 6"/>
          <p:cNvSpPr>
            <a:spLocks noGrp="1"/>
          </p:cNvSpPr>
          <p:nvPr>
            <p:ph type="body" sz="quarter" idx="13"/>
          </p:nvPr>
        </p:nvSpPr>
        <p:spPr>
          <a:xfrm>
            <a:off x="359152" y="1190625"/>
            <a:ext cx="3986213" cy="3312741"/>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Picture Placeholder 8"/>
          <p:cNvSpPr>
            <a:spLocks noGrp="1" noChangeAspect="1"/>
          </p:cNvSpPr>
          <p:nvPr>
            <p:ph type="pic" sz="quarter" idx="14" hasCustomPrompt="1"/>
          </p:nvPr>
        </p:nvSpPr>
        <p:spPr>
          <a:xfrm>
            <a:off x="4798800" y="1190626"/>
            <a:ext cx="3996794" cy="1228724"/>
          </a:xfrm>
          <a:prstGeom prst="rect">
            <a:avLst/>
          </a:prstGeom>
        </p:spPr>
        <p:txBody>
          <a:bodyPr lIns="0" tIns="0"/>
          <a:lstStyle>
            <a:lvl1pPr marL="0" indent="0">
              <a:buNone/>
              <a:defRPr sz="1100" baseline="0"/>
            </a:lvl1pPr>
          </a:lstStyle>
          <a:p>
            <a:r>
              <a:rPr lang="en-GB"/>
              <a:t>Click on the picture icon to insert your picture</a:t>
            </a:r>
          </a:p>
        </p:txBody>
      </p:sp>
      <p:sp>
        <p:nvSpPr>
          <p:cNvPr id="21" name="Text Placeholder 7"/>
          <p:cNvSpPr>
            <a:spLocks noGrp="1"/>
          </p:cNvSpPr>
          <p:nvPr>
            <p:ph type="body" sz="quarter" idx="26" hasCustomPrompt="1"/>
          </p:nvPr>
        </p:nvSpPr>
        <p:spPr>
          <a:xfrm>
            <a:off x="4798800" y="2517776"/>
            <a:ext cx="3996266" cy="253999"/>
          </a:xfrm>
          <a:prstGeom prst="rect">
            <a:avLst/>
          </a:prstGeom>
        </p:spPr>
        <p:txBody>
          <a:bodyPr lIns="0" tIns="0" rIns="0" bIns="0"/>
          <a:lstStyle>
            <a:lvl1pPr marL="0" indent="0">
              <a:spcAft>
                <a:spcPts val="0"/>
              </a:spcAft>
              <a:buNone/>
              <a:defRPr sz="800">
                <a:solidFill>
                  <a:schemeClr val="accent1"/>
                </a:solidFill>
              </a:defRPr>
            </a:lvl1pPr>
            <a:lvl2pPr marL="268163" indent="0">
              <a:buNone/>
              <a:defRPr sz="800">
                <a:solidFill>
                  <a:schemeClr val="bg2"/>
                </a:solidFill>
              </a:defRPr>
            </a:lvl2pPr>
            <a:lvl3pPr marL="540000" indent="0">
              <a:buNone/>
              <a:defRPr sz="800">
                <a:solidFill>
                  <a:schemeClr val="bg2"/>
                </a:solidFill>
              </a:defRPr>
            </a:lvl3pPr>
            <a:lvl4pPr marL="811088" indent="0">
              <a:buNone/>
              <a:defRPr sz="800">
                <a:solidFill>
                  <a:schemeClr val="bg2"/>
                </a:solidFill>
              </a:defRPr>
            </a:lvl4pPr>
            <a:lvl5pPr marL="1080000" indent="0">
              <a:buNone/>
              <a:defRPr sz="800">
                <a:solidFill>
                  <a:schemeClr val="bg2"/>
                </a:solidFill>
              </a:defRPr>
            </a:lvl5pPr>
          </a:lstStyle>
          <a:p>
            <a:pPr lvl="0"/>
            <a:r>
              <a:rPr lang="en-US"/>
              <a:t>Enter your image caption text here</a:t>
            </a:r>
          </a:p>
        </p:txBody>
      </p:sp>
      <p:sp>
        <p:nvSpPr>
          <p:cNvPr id="35" name="Picture Placeholder 8"/>
          <p:cNvSpPr>
            <a:spLocks noGrp="1" noChangeAspect="1"/>
          </p:cNvSpPr>
          <p:nvPr>
            <p:ph type="pic" sz="quarter" idx="27" hasCustomPrompt="1"/>
          </p:nvPr>
        </p:nvSpPr>
        <p:spPr>
          <a:xfrm>
            <a:off x="4798800" y="2922217"/>
            <a:ext cx="3996794" cy="1228724"/>
          </a:xfrm>
          <a:prstGeom prst="rect">
            <a:avLst/>
          </a:prstGeom>
        </p:spPr>
        <p:txBody>
          <a:bodyPr lIns="0" tIns="0"/>
          <a:lstStyle>
            <a:lvl1pPr marL="0" indent="0">
              <a:buNone/>
              <a:defRPr sz="1100" baseline="0"/>
            </a:lvl1pPr>
          </a:lstStyle>
          <a:p>
            <a:r>
              <a:rPr lang="en-GB"/>
              <a:t>Click on the picture icon to insert your picture</a:t>
            </a:r>
          </a:p>
        </p:txBody>
      </p:sp>
      <p:sp>
        <p:nvSpPr>
          <p:cNvPr id="36" name="Text Placeholder 7"/>
          <p:cNvSpPr>
            <a:spLocks noGrp="1"/>
          </p:cNvSpPr>
          <p:nvPr>
            <p:ph type="body" sz="quarter" idx="28" hasCustomPrompt="1"/>
          </p:nvPr>
        </p:nvSpPr>
        <p:spPr>
          <a:xfrm>
            <a:off x="4798800" y="4249367"/>
            <a:ext cx="3996266" cy="253999"/>
          </a:xfrm>
          <a:prstGeom prst="rect">
            <a:avLst/>
          </a:prstGeom>
        </p:spPr>
        <p:txBody>
          <a:bodyPr lIns="0" tIns="0" rIns="0" bIns="0"/>
          <a:lstStyle>
            <a:lvl1pPr marL="0" indent="0">
              <a:spcAft>
                <a:spcPts val="0"/>
              </a:spcAft>
              <a:buNone/>
              <a:defRPr sz="800">
                <a:solidFill>
                  <a:schemeClr val="accent1"/>
                </a:solidFill>
              </a:defRPr>
            </a:lvl1pPr>
            <a:lvl2pPr marL="268163" indent="0">
              <a:buNone/>
              <a:defRPr sz="800">
                <a:solidFill>
                  <a:schemeClr val="bg2"/>
                </a:solidFill>
              </a:defRPr>
            </a:lvl2pPr>
            <a:lvl3pPr marL="540000" indent="0">
              <a:buNone/>
              <a:defRPr sz="800">
                <a:solidFill>
                  <a:schemeClr val="bg2"/>
                </a:solidFill>
              </a:defRPr>
            </a:lvl3pPr>
            <a:lvl4pPr marL="811088" indent="0">
              <a:buNone/>
              <a:defRPr sz="800">
                <a:solidFill>
                  <a:schemeClr val="bg2"/>
                </a:solidFill>
              </a:defRPr>
            </a:lvl4pPr>
            <a:lvl5pPr marL="1080000" indent="0">
              <a:buNone/>
              <a:defRPr sz="800">
                <a:solidFill>
                  <a:schemeClr val="bg2"/>
                </a:solidFill>
              </a:defRPr>
            </a:lvl5pPr>
          </a:lstStyle>
          <a:p>
            <a:pPr lvl="0"/>
            <a:r>
              <a:rPr lang="en-US"/>
              <a:t>Enter your image caption text here</a:t>
            </a:r>
          </a:p>
        </p:txBody>
      </p:sp>
      <p:sp>
        <p:nvSpPr>
          <p:cNvPr id="37" name="Text Placeholder 2"/>
          <p:cNvSpPr>
            <a:spLocks noGrp="1"/>
          </p:cNvSpPr>
          <p:nvPr>
            <p:ph type="body" sz="quarter" idx="29"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5" name="Date Placeholder 4"/>
          <p:cNvSpPr>
            <a:spLocks noGrp="1"/>
          </p:cNvSpPr>
          <p:nvPr>
            <p:ph type="dt" sz="half" idx="30"/>
          </p:nvPr>
        </p:nvSpPr>
        <p:spPr/>
        <p:txBody>
          <a:bodyPr/>
          <a:lstStyle/>
          <a:p>
            <a:pPr algn="ctr"/>
            <a:r>
              <a:rPr lang="en-US"/>
              <a:t>Insert your date / confidentiality text here</a:t>
            </a:r>
            <a:endParaRPr lang="en-GB"/>
          </a:p>
        </p:txBody>
      </p:sp>
      <p:sp>
        <p:nvSpPr>
          <p:cNvPr id="7" name="Footer Placeholder 6"/>
          <p:cNvSpPr>
            <a:spLocks noGrp="1"/>
          </p:cNvSpPr>
          <p:nvPr>
            <p:ph type="ftr" sz="quarter" idx="31"/>
          </p:nvPr>
        </p:nvSpPr>
        <p:spPr/>
        <p:txBody>
          <a:bodyPr/>
          <a:lstStyle>
            <a:lvl1pPr>
              <a:defRPr/>
            </a:lvl1pPr>
          </a:lstStyle>
          <a:p>
            <a:r>
              <a:rPr lang="en-GB"/>
              <a:t>16x9 core template</a:t>
            </a:r>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11272122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heading style</a:t>
            </a:r>
            <a:endParaRPr lang="en-GB"/>
          </a:p>
        </p:txBody>
      </p:sp>
      <p:sp>
        <p:nvSpPr>
          <p:cNvPr id="11" name="Text Placeholder 2"/>
          <p:cNvSpPr>
            <a:spLocks noGrp="1"/>
          </p:cNvSpPr>
          <p:nvPr>
            <p:ph type="body" sz="quarter" idx="29"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Date Placeholder 5"/>
          <p:cNvSpPr>
            <a:spLocks noGrp="1"/>
          </p:cNvSpPr>
          <p:nvPr>
            <p:ph type="dt" sz="half" idx="30"/>
          </p:nvPr>
        </p:nvSpPr>
        <p:spPr/>
        <p:txBody>
          <a:bodyPr/>
          <a:lstStyle/>
          <a:p>
            <a:pPr algn="ctr"/>
            <a:r>
              <a:rPr lang="en-US"/>
              <a:t>Insert your date / confidentiality text here</a:t>
            </a:r>
            <a:endParaRPr lang="en-GB"/>
          </a:p>
        </p:txBody>
      </p:sp>
      <p:sp>
        <p:nvSpPr>
          <p:cNvPr id="7" name="Footer Placeholder 6"/>
          <p:cNvSpPr>
            <a:spLocks noGrp="1"/>
          </p:cNvSpPr>
          <p:nvPr>
            <p:ph type="ftr" sz="quarter" idx="31"/>
          </p:nvPr>
        </p:nvSpPr>
        <p:spPr/>
        <p:txBody>
          <a:bodyPr/>
          <a:lstStyle>
            <a:lvl1pPr>
              <a:defRPr/>
            </a:lvl1pPr>
          </a:lstStyle>
          <a:p>
            <a:r>
              <a:rPr lang="en-GB"/>
              <a:t>16x9 core template</a:t>
            </a:r>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17691909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cxnSp>
        <p:nvCxnSpPr>
          <p:cNvPr id="12" name="Straight Connector 11"/>
          <p:cNvCxnSpPr/>
          <p:nvPr userDrawn="1"/>
        </p:nvCxnSpPr>
        <p:spPr>
          <a:xfrm>
            <a:off x="359152" y="4599183"/>
            <a:ext cx="842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Date Placeholder 4"/>
          <p:cNvSpPr>
            <a:spLocks noGrp="1"/>
          </p:cNvSpPr>
          <p:nvPr>
            <p:ph type="dt" sz="half" idx="10"/>
          </p:nvPr>
        </p:nvSpPr>
        <p:spPr/>
        <p:txBody>
          <a:bodyPr/>
          <a:lstStyle/>
          <a:p>
            <a:pPr algn="ctr"/>
            <a:r>
              <a:rPr lang="en-US"/>
              <a:t>Insert your date / confidentiality text here</a:t>
            </a:r>
            <a:endParaRPr lang="en-GB"/>
          </a:p>
        </p:txBody>
      </p:sp>
      <p:sp>
        <p:nvSpPr>
          <p:cNvPr id="6" name="Footer Placeholder 5"/>
          <p:cNvSpPr>
            <a:spLocks noGrp="1"/>
          </p:cNvSpPr>
          <p:nvPr>
            <p:ph type="ftr" sz="quarter" idx="11"/>
          </p:nvPr>
        </p:nvSpPr>
        <p:spPr/>
        <p:txBody>
          <a:bodyPr/>
          <a:lstStyle>
            <a:lvl1pPr>
              <a:defRPr/>
            </a:lvl1pPr>
          </a:lstStyle>
          <a:p>
            <a:r>
              <a:rPr lang="en-GB"/>
              <a:t>16x9 core template</a:t>
            </a:r>
          </a:p>
        </p:txBody>
      </p:sp>
      <p:sp>
        <p:nvSpPr>
          <p:cNvPr id="7" name="Slide Number Placeholder 6"/>
          <p:cNvSpPr>
            <a:spLocks noGrp="1"/>
          </p:cNvSpPr>
          <p:nvPr>
            <p:ph type="sldNum" sz="quarter" idx="1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1448223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Header WHITE with ORANGE Text">
    <p:spTree>
      <p:nvGrpSpPr>
        <p:cNvPr id="1" name=""/>
        <p:cNvGrpSpPr/>
        <p:nvPr/>
      </p:nvGrpSpPr>
      <p:grpSpPr>
        <a:xfrm>
          <a:off x="0" y="0"/>
          <a:ext cx="0" cy="0"/>
          <a:chOff x="0" y="0"/>
          <a:chExt cx="0" cy="0"/>
        </a:xfrm>
      </p:grpSpPr>
      <p:sp>
        <p:nvSpPr>
          <p:cNvPr id="12" name="Text Placeholder 5"/>
          <p:cNvSpPr>
            <a:spLocks noGrp="1"/>
          </p:cNvSpPr>
          <p:nvPr>
            <p:ph type="body" sz="quarter" idx="11" hasCustomPrompt="1"/>
          </p:nvPr>
        </p:nvSpPr>
        <p:spPr>
          <a:xfrm>
            <a:off x="360000" y="3743011"/>
            <a:ext cx="8193024" cy="400110"/>
          </a:xfrm>
          <a:prstGeom prst="rect">
            <a:avLst/>
          </a:prstGeom>
        </p:spPr>
        <p:txBody>
          <a:bodyPr lIns="0" anchor="t" anchorCtr="0">
            <a:spAutoFit/>
          </a:bodyPr>
          <a:lstStyle>
            <a:lvl1pPr marL="0" marR="0" indent="0" algn="l" defTabSz="914400" rtl="0" eaLnBrk="1" fontAlgn="auto" latinLnBrk="0" hangingPunct="1">
              <a:lnSpc>
                <a:spcPts val="2400"/>
              </a:lnSpc>
              <a:spcBef>
                <a:spcPts val="0"/>
              </a:spcBef>
              <a:spcAft>
                <a:spcPts val="0"/>
              </a:spcAft>
              <a:buClr>
                <a:schemeClr val="tx1"/>
              </a:buClr>
              <a:buSzTx/>
              <a:buFont typeface="Arial" pitchFamily="34" charset="0"/>
              <a:buNone/>
              <a:tabLst/>
              <a:defRPr sz="2200" i="0">
                <a:solidFill>
                  <a:schemeClr val="bg2"/>
                </a:solidFill>
                <a:latin typeface="+mn-lt"/>
              </a:defRPr>
            </a:lvl1pPr>
            <a:lvl2pPr marL="271463" indent="0">
              <a:spcAft>
                <a:spcPts val="0"/>
              </a:spcAft>
              <a:buNone/>
              <a:defRPr>
                <a:solidFill>
                  <a:schemeClr val="bg1"/>
                </a:solidFill>
              </a:defRPr>
            </a:lvl2pPr>
            <a:lvl3pPr marL="533400" indent="0">
              <a:spcAft>
                <a:spcPts val="0"/>
              </a:spcAft>
              <a:buNone/>
              <a:defRPr>
                <a:solidFill>
                  <a:schemeClr val="bg1"/>
                </a:solidFill>
              </a:defRPr>
            </a:lvl3pPr>
            <a:lvl4pPr marL="815975" indent="0">
              <a:spcAft>
                <a:spcPts val="0"/>
              </a:spcAft>
              <a:buNone/>
              <a:defRPr>
                <a:solidFill>
                  <a:schemeClr val="bg1"/>
                </a:solidFill>
              </a:defRPr>
            </a:lvl4pPr>
            <a:lvl5pPr marL="1104900" indent="0">
              <a:spcAft>
                <a:spcPts val="0"/>
              </a:spcAft>
              <a:buNone/>
              <a:defRPr>
                <a:solidFill>
                  <a:schemeClr val="bg1"/>
                </a:solidFill>
              </a:defRPr>
            </a:lvl5pPr>
          </a:lstStyle>
          <a:p>
            <a:pPr marL="0" marR="0" lvl="0" indent="0" algn="l" defTabSz="914400" rtl="0" eaLnBrk="1" fontAlgn="auto" latinLnBrk="0" hangingPunct="1">
              <a:lnSpc>
                <a:spcPts val="24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3" name="Text Placeholder 3"/>
          <p:cNvSpPr>
            <a:spLocks noGrp="1"/>
          </p:cNvSpPr>
          <p:nvPr>
            <p:ph type="body" sz="quarter" idx="10" hasCustomPrompt="1"/>
          </p:nvPr>
        </p:nvSpPr>
        <p:spPr>
          <a:xfrm>
            <a:off x="360000" y="2840385"/>
            <a:ext cx="8196702" cy="823302"/>
          </a:xfrm>
          <a:prstGeom prst="rect">
            <a:avLst/>
          </a:prstGeom>
        </p:spPr>
        <p:txBody>
          <a:bodyPr wrap="square" lIns="0" anchor="b" anchorCtr="0">
            <a:spAutoFit/>
          </a:bodyPr>
          <a:lstStyle>
            <a:lvl1pPr marL="0" indent="0">
              <a:lnSpc>
                <a:spcPts val="5700"/>
              </a:lnSpc>
              <a:spcAft>
                <a:spcPts val="0"/>
              </a:spcAft>
              <a:buNone/>
              <a:defRPr sz="5500" b="1">
                <a:solidFill>
                  <a:schemeClr val="bg2"/>
                </a:solidFill>
              </a:defRPr>
            </a:lvl1pPr>
            <a:lvl2pPr marL="271463" indent="0">
              <a:buNone/>
              <a:defRPr sz="2600" b="1">
                <a:solidFill>
                  <a:schemeClr val="bg1"/>
                </a:solidFill>
              </a:defRPr>
            </a:lvl2pPr>
            <a:lvl3pPr marL="533400" indent="0">
              <a:buNone/>
              <a:defRPr sz="2600" b="1">
                <a:solidFill>
                  <a:schemeClr val="bg1"/>
                </a:solidFill>
              </a:defRPr>
            </a:lvl3pPr>
            <a:lvl4pPr marL="815975" indent="0">
              <a:buNone/>
              <a:defRPr sz="2600" b="1">
                <a:solidFill>
                  <a:schemeClr val="bg1"/>
                </a:solidFill>
              </a:defRPr>
            </a:lvl4pPr>
            <a:lvl5pPr marL="1104900" indent="0">
              <a:buNone/>
              <a:defRPr sz="2600" b="1">
                <a:solidFill>
                  <a:schemeClr val="bg1"/>
                </a:solidFill>
              </a:defRPr>
            </a:lvl5pPr>
          </a:lstStyle>
          <a:p>
            <a:pPr lvl="0"/>
            <a:r>
              <a:rPr lang="en-US"/>
              <a:t>Section Heading title</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31783" y="237109"/>
            <a:ext cx="749683" cy="719489"/>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Header WHITE with GREY Text">
    <p:spTree>
      <p:nvGrpSpPr>
        <p:cNvPr id="1" name=""/>
        <p:cNvGrpSpPr/>
        <p:nvPr/>
      </p:nvGrpSpPr>
      <p:grpSpPr>
        <a:xfrm>
          <a:off x="0" y="0"/>
          <a:ext cx="0" cy="0"/>
          <a:chOff x="0" y="0"/>
          <a:chExt cx="0" cy="0"/>
        </a:xfrm>
      </p:grpSpPr>
      <p:sp>
        <p:nvSpPr>
          <p:cNvPr id="12" name="Text Placeholder 5"/>
          <p:cNvSpPr>
            <a:spLocks noGrp="1"/>
          </p:cNvSpPr>
          <p:nvPr>
            <p:ph type="body" sz="quarter" idx="11" hasCustomPrompt="1"/>
          </p:nvPr>
        </p:nvSpPr>
        <p:spPr>
          <a:xfrm>
            <a:off x="360000" y="3743011"/>
            <a:ext cx="8193024" cy="400110"/>
          </a:xfrm>
          <a:prstGeom prst="rect">
            <a:avLst/>
          </a:prstGeom>
        </p:spPr>
        <p:txBody>
          <a:bodyPr lIns="0" anchor="t" anchorCtr="0">
            <a:spAutoFit/>
          </a:bodyPr>
          <a:lstStyle>
            <a:lvl1pPr marL="0" marR="0" indent="0" algn="l" defTabSz="914400" rtl="0" eaLnBrk="1" fontAlgn="auto" latinLnBrk="0" hangingPunct="1">
              <a:lnSpc>
                <a:spcPts val="2400"/>
              </a:lnSpc>
              <a:spcBef>
                <a:spcPts val="0"/>
              </a:spcBef>
              <a:spcAft>
                <a:spcPts val="0"/>
              </a:spcAft>
              <a:buClr>
                <a:schemeClr val="tx1"/>
              </a:buClr>
              <a:buSzTx/>
              <a:buFont typeface="Arial" pitchFamily="34" charset="0"/>
              <a:buNone/>
              <a:tabLst/>
              <a:defRPr sz="2200" i="0">
                <a:solidFill>
                  <a:schemeClr val="tx1"/>
                </a:solidFill>
                <a:latin typeface="+mn-lt"/>
              </a:defRPr>
            </a:lvl1pPr>
            <a:lvl2pPr marL="271463" indent="0">
              <a:spcAft>
                <a:spcPts val="0"/>
              </a:spcAft>
              <a:buNone/>
              <a:defRPr>
                <a:solidFill>
                  <a:schemeClr val="bg1"/>
                </a:solidFill>
              </a:defRPr>
            </a:lvl2pPr>
            <a:lvl3pPr marL="533400" indent="0">
              <a:spcAft>
                <a:spcPts val="0"/>
              </a:spcAft>
              <a:buNone/>
              <a:defRPr>
                <a:solidFill>
                  <a:schemeClr val="bg1"/>
                </a:solidFill>
              </a:defRPr>
            </a:lvl3pPr>
            <a:lvl4pPr marL="815975" indent="0">
              <a:spcAft>
                <a:spcPts val="0"/>
              </a:spcAft>
              <a:buNone/>
              <a:defRPr>
                <a:solidFill>
                  <a:schemeClr val="bg1"/>
                </a:solidFill>
              </a:defRPr>
            </a:lvl4pPr>
            <a:lvl5pPr marL="1104900" indent="0">
              <a:spcAft>
                <a:spcPts val="0"/>
              </a:spcAft>
              <a:buNone/>
              <a:defRPr>
                <a:solidFill>
                  <a:schemeClr val="bg1"/>
                </a:solidFill>
              </a:defRPr>
            </a:lvl5pPr>
          </a:lstStyle>
          <a:p>
            <a:pPr marL="0" marR="0" lvl="0" indent="0" algn="l" defTabSz="914400" rtl="0" eaLnBrk="1" fontAlgn="auto" latinLnBrk="0" hangingPunct="1">
              <a:lnSpc>
                <a:spcPts val="24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3" name="Text Placeholder 3"/>
          <p:cNvSpPr>
            <a:spLocks noGrp="1"/>
          </p:cNvSpPr>
          <p:nvPr>
            <p:ph type="body" sz="quarter" idx="10" hasCustomPrompt="1"/>
          </p:nvPr>
        </p:nvSpPr>
        <p:spPr>
          <a:xfrm>
            <a:off x="360000" y="2840385"/>
            <a:ext cx="8196702" cy="823302"/>
          </a:xfrm>
          <a:prstGeom prst="rect">
            <a:avLst/>
          </a:prstGeom>
        </p:spPr>
        <p:txBody>
          <a:bodyPr wrap="square" lIns="0" anchor="b" anchorCtr="0">
            <a:spAutoFit/>
          </a:bodyPr>
          <a:lstStyle>
            <a:lvl1pPr marL="0" indent="0">
              <a:lnSpc>
                <a:spcPts val="5700"/>
              </a:lnSpc>
              <a:spcAft>
                <a:spcPts val="0"/>
              </a:spcAft>
              <a:buNone/>
              <a:defRPr sz="5500" b="1">
                <a:solidFill>
                  <a:schemeClr val="tx1"/>
                </a:solidFill>
              </a:defRPr>
            </a:lvl1pPr>
            <a:lvl2pPr marL="271463" indent="0">
              <a:buNone/>
              <a:defRPr sz="2600" b="1">
                <a:solidFill>
                  <a:schemeClr val="bg1"/>
                </a:solidFill>
              </a:defRPr>
            </a:lvl2pPr>
            <a:lvl3pPr marL="533400" indent="0">
              <a:buNone/>
              <a:defRPr sz="2600" b="1">
                <a:solidFill>
                  <a:schemeClr val="bg1"/>
                </a:solidFill>
              </a:defRPr>
            </a:lvl3pPr>
            <a:lvl4pPr marL="815975" indent="0">
              <a:buNone/>
              <a:defRPr sz="2600" b="1">
                <a:solidFill>
                  <a:schemeClr val="bg1"/>
                </a:solidFill>
              </a:defRPr>
            </a:lvl4pPr>
            <a:lvl5pPr marL="1104900" indent="0">
              <a:buNone/>
              <a:defRPr sz="2600" b="1">
                <a:solidFill>
                  <a:schemeClr val="bg1"/>
                </a:solidFill>
              </a:defRPr>
            </a:lvl5pPr>
          </a:lstStyle>
          <a:p>
            <a:pPr lvl="0"/>
            <a:r>
              <a:rPr lang="en-US"/>
              <a:t>Section Heading title</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31783" y="237109"/>
            <a:ext cx="749683" cy="719489"/>
          </a:xfrm>
          <a:prstGeom prst="rect">
            <a:avLst/>
          </a:prstGeom>
        </p:spPr>
      </p:pic>
    </p:spTree>
    <p:extLst>
      <p:ext uri="{BB962C8B-B14F-4D97-AF65-F5344CB8AC3E}">
        <p14:creationId xmlns:p14="http://schemas.microsoft.com/office/powerpoint/2010/main" val="5101612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Header INNOVATION White">
    <p:spTree>
      <p:nvGrpSpPr>
        <p:cNvPr id="1" name=""/>
        <p:cNvGrpSpPr/>
        <p:nvPr/>
      </p:nvGrpSpPr>
      <p:grpSpPr>
        <a:xfrm>
          <a:off x="0" y="0"/>
          <a:ext cx="0" cy="0"/>
          <a:chOff x="0" y="0"/>
          <a:chExt cx="0" cy="0"/>
        </a:xfrm>
      </p:grpSpPr>
      <p:sp>
        <p:nvSpPr>
          <p:cNvPr id="6" name="TextBox 5"/>
          <p:cNvSpPr txBox="1"/>
          <p:nvPr userDrawn="1"/>
        </p:nvSpPr>
        <p:spPr>
          <a:xfrm>
            <a:off x="356840" y="2753758"/>
            <a:ext cx="7872760" cy="923330"/>
          </a:xfrm>
          <a:prstGeom prst="rect">
            <a:avLst/>
          </a:prstGeom>
        </p:spPr>
        <p:txBody>
          <a:bodyPr vert="horz" wrap="square" lIns="0" tIns="0" rIns="0" bIns="0" rtlCol="0" anchor="b" anchorCtr="0">
            <a:spAutoFit/>
          </a:bodyPr>
          <a:lstStyle>
            <a:lvl1pPr lvl="0" indent="0">
              <a:lnSpc>
                <a:spcPts val="7200"/>
              </a:lnSpc>
              <a:spcBef>
                <a:spcPts val="0"/>
              </a:spcBef>
              <a:spcAft>
                <a:spcPts val="0"/>
              </a:spcAft>
              <a:buClr>
                <a:schemeClr val="tx1"/>
              </a:buClr>
              <a:buFont typeface="Arial" pitchFamily="34" charset="0"/>
              <a:buNone/>
              <a:tabLst/>
              <a:defRPr sz="7000" b="1" baseline="0">
                <a:solidFill>
                  <a:schemeClr val="bg1"/>
                </a:solidFill>
              </a:defRPr>
            </a:lvl1pPr>
            <a:lvl2pPr marL="271463" indent="0">
              <a:spcBef>
                <a:spcPts val="0"/>
              </a:spcBef>
              <a:spcAft>
                <a:spcPts val="600"/>
              </a:spcAft>
              <a:buFont typeface="Arial" pitchFamily="34" charset="0"/>
              <a:buNone/>
              <a:defRPr sz="2600" b="1">
                <a:solidFill>
                  <a:schemeClr val="bg1"/>
                </a:solidFill>
              </a:defRPr>
            </a:lvl2pPr>
            <a:lvl3pPr marL="533400" indent="0">
              <a:spcBef>
                <a:spcPts val="0"/>
              </a:spcBef>
              <a:spcAft>
                <a:spcPts val="600"/>
              </a:spcAft>
              <a:buFont typeface="Arial" pitchFamily="34" charset="0"/>
              <a:buNone/>
              <a:defRPr sz="2600" b="1">
                <a:solidFill>
                  <a:schemeClr val="bg1"/>
                </a:solidFill>
              </a:defRPr>
            </a:lvl3pPr>
            <a:lvl4pPr marL="815975" indent="0">
              <a:spcBef>
                <a:spcPts val="0"/>
              </a:spcBef>
              <a:spcAft>
                <a:spcPts val="600"/>
              </a:spcAft>
              <a:buFont typeface="Arial" pitchFamily="34" charset="0"/>
              <a:buNone/>
              <a:defRPr sz="2600" b="1">
                <a:solidFill>
                  <a:schemeClr val="bg1"/>
                </a:solidFill>
              </a:defRPr>
            </a:lvl4pPr>
            <a:lvl5pPr marL="1104900" indent="0">
              <a:spcBef>
                <a:spcPts val="0"/>
              </a:spcBef>
              <a:spcAft>
                <a:spcPts val="600"/>
              </a:spcAft>
              <a:buFont typeface="Arial" pitchFamily="34" charset="0"/>
              <a:buNone/>
              <a:defRPr sz="2600" b="1">
                <a:solidFill>
                  <a:schemeClr val="bg1"/>
                </a:solidFill>
              </a:defRPr>
            </a:lvl5pPr>
            <a:lvl6pPr marL="1620000" indent="-270000">
              <a:spcBef>
                <a:spcPts val="0"/>
              </a:spcBef>
              <a:spcAft>
                <a:spcPts val="600"/>
              </a:spcAft>
              <a:buFont typeface="Arial" pitchFamily="34" charset="0"/>
              <a:buChar char="–"/>
              <a:defRPr sz="1200"/>
            </a:lvl6pPr>
            <a:lvl7pPr marL="1800000" indent="-270000">
              <a:spcBef>
                <a:spcPts val="0"/>
              </a:spcBef>
              <a:spcAft>
                <a:spcPts val="600"/>
              </a:spcAft>
              <a:buFont typeface="Arial" pitchFamily="34" charset="0"/>
              <a:buChar char="–"/>
              <a:defRPr sz="1200"/>
            </a:lvl7pPr>
            <a:lvl8pPr marL="2070000" indent="-270000">
              <a:spcBef>
                <a:spcPts val="0"/>
              </a:spcBef>
              <a:spcAft>
                <a:spcPts val="600"/>
              </a:spcAft>
              <a:buFont typeface="Arial" pitchFamily="34" charset="0"/>
              <a:buChar char="–"/>
              <a:defRPr sz="1200"/>
            </a:lvl8pPr>
            <a:lvl9pPr marL="2340000" indent="-270000">
              <a:spcBef>
                <a:spcPts val="0"/>
              </a:spcBef>
              <a:spcAft>
                <a:spcPts val="600"/>
              </a:spcAft>
              <a:buFont typeface="Arial" pitchFamily="34" charset="0"/>
              <a:buChar char="–"/>
              <a:defRPr sz="1200"/>
            </a:lvl9pPr>
          </a:lstStyle>
          <a:p>
            <a:pPr lvl="0"/>
            <a:r>
              <a:rPr lang="en-US">
                <a:solidFill>
                  <a:schemeClr val="accent5"/>
                </a:solidFill>
              </a:rPr>
              <a:t>Innovation</a:t>
            </a: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31783" y="237109"/>
            <a:ext cx="749683" cy="719489"/>
          </a:xfrm>
          <a:prstGeom prst="rect">
            <a:avLst/>
          </a:prstGeom>
        </p:spPr>
      </p:pic>
    </p:spTree>
    <p:extLst>
      <p:ext uri="{BB962C8B-B14F-4D97-AF65-F5344CB8AC3E}">
        <p14:creationId xmlns:p14="http://schemas.microsoft.com/office/powerpoint/2010/main" val="18130975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Header PERFORMANCE White">
    <p:spTree>
      <p:nvGrpSpPr>
        <p:cNvPr id="1" name=""/>
        <p:cNvGrpSpPr/>
        <p:nvPr/>
      </p:nvGrpSpPr>
      <p:grpSpPr>
        <a:xfrm>
          <a:off x="0" y="0"/>
          <a:ext cx="0" cy="0"/>
          <a:chOff x="0" y="0"/>
          <a:chExt cx="0" cy="0"/>
        </a:xfrm>
      </p:grpSpPr>
      <p:sp>
        <p:nvSpPr>
          <p:cNvPr id="8" name="TextBox 7"/>
          <p:cNvSpPr txBox="1"/>
          <p:nvPr userDrawn="1"/>
        </p:nvSpPr>
        <p:spPr>
          <a:xfrm>
            <a:off x="356840" y="2753758"/>
            <a:ext cx="7872760" cy="923330"/>
          </a:xfrm>
          <a:prstGeom prst="rect">
            <a:avLst/>
          </a:prstGeom>
        </p:spPr>
        <p:txBody>
          <a:bodyPr vert="horz" wrap="square" lIns="0" tIns="0" rIns="0" bIns="0" rtlCol="0" anchor="b" anchorCtr="0">
            <a:spAutoFit/>
          </a:bodyPr>
          <a:lstStyle>
            <a:lvl1pPr lvl="0" indent="0">
              <a:lnSpc>
                <a:spcPts val="7200"/>
              </a:lnSpc>
              <a:spcBef>
                <a:spcPts val="0"/>
              </a:spcBef>
              <a:spcAft>
                <a:spcPts val="0"/>
              </a:spcAft>
              <a:buClr>
                <a:schemeClr val="tx1"/>
              </a:buClr>
              <a:buFont typeface="Arial" pitchFamily="34" charset="0"/>
              <a:buNone/>
              <a:tabLst/>
              <a:defRPr sz="7000" b="1" baseline="0">
                <a:solidFill>
                  <a:schemeClr val="bg1"/>
                </a:solidFill>
              </a:defRPr>
            </a:lvl1pPr>
            <a:lvl2pPr marL="271463" indent="0">
              <a:spcBef>
                <a:spcPts val="0"/>
              </a:spcBef>
              <a:spcAft>
                <a:spcPts val="600"/>
              </a:spcAft>
              <a:buFont typeface="Arial" pitchFamily="34" charset="0"/>
              <a:buNone/>
              <a:defRPr sz="2600" b="1">
                <a:solidFill>
                  <a:schemeClr val="bg1"/>
                </a:solidFill>
              </a:defRPr>
            </a:lvl2pPr>
            <a:lvl3pPr marL="533400" indent="0">
              <a:spcBef>
                <a:spcPts val="0"/>
              </a:spcBef>
              <a:spcAft>
                <a:spcPts val="600"/>
              </a:spcAft>
              <a:buFont typeface="Arial" pitchFamily="34" charset="0"/>
              <a:buNone/>
              <a:defRPr sz="2600" b="1">
                <a:solidFill>
                  <a:schemeClr val="bg1"/>
                </a:solidFill>
              </a:defRPr>
            </a:lvl3pPr>
            <a:lvl4pPr marL="815975" indent="0">
              <a:spcBef>
                <a:spcPts val="0"/>
              </a:spcBef>
              <a:spcAft>
                <a:spcPts val="600"/>
              </a:spcAft>
              <a:buFont typeface="Arial" pitchFamily="34" charset="0"/>
              <a:buNone/>
              <a:defRPr sz="2600" b="1">
                <a:solidFill>
                  <a:schemeClr val="bg1"/>
                </a:solidFill>
              </a:defRPr>
            </a:lvl4pPr>
            <a:lvl5pPr marL="1104900" indent="0">
              <a:spcBef>
                <a:spcPts val="0"/>
              </a:spcBef>
              <a:spcAft>
                <a:spcPts val="600"/>
              </a:spcAft>
              <a:buFont typeface="Arial" pitchFamily="34" charset="0"/>
              <a:buNone/>
              <a:defRPr sz="2600" b="1">
                <a:solidFill>
                  <a:schemeClr val="bg1"/>
                </a:solidFill>
              </a:defRPr>
            </a:lvl5pPr>
            <a:lvl6pPr marL="1620000" indent="-270000">
              <a:spcBef>
                <a:spcPts val="0"/>
              </a:spcBef>
              <a:spcAft>
                <a:spcPts val="600"/>
              </a:spcAft>
              <a:buFont typeface="Arial" pitchFamily="34" charset="0"/>
              <a:buChar char="–"/>
              <a:defRPr sz="1200"/>
            </a:lvl6pPr>
            <a:lvl7pPr marL="1800000" indent="-270000">
              <a:spcBef>
                <a:spcPts val="0"/>
              </a:spcBef>
              <a:spcAft>
                <a:spcPts val="600"/>
              </a:spcAft>
              <a:buFont typeface="Arial" pitchFamily="34" charset="0"/>
              <a:buChar char="–"/>
              <a:defRPr sz="1200"/>
            </a:lvl7pPr>
            <a:lvl8pPr marL="2070000" indent="-270000">
              <a:spcBef>
                <a:spcPts val="0"/>
              </a:spcBef>
              <a:spcAft>
                <a:spcPts val="600"/>
              </a:spcAft>
              <a:buFont typeface="Arial" pitchFamily="34" charset="0"/>
              <a:buChar char="–"/>
              <a:defRPr sz="1200"/>
            </a:lvl8pPr>
            <a:lvl9pPr marL="2340000" indent="-270000">
              <a:spcBef>
                <a:spcPts val="0"/>
              </a:spcBef>
              <a:spcAft>
                <a:spcPts val="600"/>
              </a:spcAft>
              <a:buFont typeface="Arial" pitchFamily="34" charset="0"/>
              <a:buChar char="–"/>
              <a:defRPr sz="1200"/>
            </a:lvl9pPr>
          </a:lstStyle>
          <a:p>
            <a:pPr marL="0" marR="0" lvl="0" indent="0" algn="l" defTabSz="914400" rtl="0" eaLnBrk="1" fontAlgn="auto" latinLnBrk="0" hangingPunct="1">
              <a:lnSpc>
                <a:spcPts val="7200"/>
              </a:lnSpc>
              <a:spcBef>
                <a:spcPts val="0"/>
              </a:spcBef>
              <a:spcAft>
                <a:spcPts val="0"/>
              </a:spcAft>
              <a:buClr>
                <a:schemeClr val="tx1"/>
              </a:buClr>
              <a:buSzTx/>
              <a:buFont typeface="Arial" pitchFamily="34" charset="0"/>
              <a:buNone/>
              <a:tabLst/>
              <a:defRPr/>
            </a:pPr>
            <a:r>
              <a:rPr lang="en-US">
                <a:solidFill>
                  <a:schemeClr val="accent4"/>
                </a:solidFill>
              </a:rPr>
              <a:t>Pe</a:t>
            </a:r>
            <a:r>
              <a:rPr lang="en-US" spc="500" baseline="0">
                <a:solidFill>
                  <a:schemeClr val="accent4"/>
                </a:solidFill>
              </a:rPr>
              <a:t>r</a:t>
            </a:r>
            <a:r>
              <a:rPr lang="en-US">
                <a:solidFill>
                  <a:schemeClr val="accent4"/>
                </a:solidFill>
              </a:rPr>
              <a:t>formance</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31783" y="237109"/>
            <a:ext cx="749683" cy="719489"/>
          </a:xfrm>
          <a:prstGeom prst="rect">
            <a:avLst/>
          </a:prstGeom>
        </p:spPr>
      </p:pic>
    </p:spTree>
    <p:extLst>
      <p:ext uri="{BB962C8B-B14F-4D97-AF65-F5344CB8AC3E}">
        <p14:creationId xmlns:p14="http://schemas.microsoft.com/office/powerpoint/2010/main" val="2510566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Header TRUST White">
    <p:spTree>
      <p:nvGrpSpPr>
        <p:cNvPr id="1" name=""/>
        <p:cNvGrpSpPr/>
        <p:nvPr/>
      </p:nvGrpSpPr>
      <p:grpSpPr>
        <a:xfrm>
          <a:off x="0" y="0"/>
          <a:ext cx="0" cy="0"/>
          <a:chOff x="0" y="0"/>
          <a:chExt cx="0" cy="0"/>
        </a:xfrm>
      </p:grpSpPr>
      <p:sp>
        <p:nvSpPr>
          <p:cNvPr id="6" name="TextBox 5"/>
          <p:cNvSpPr txBox="1"/>
          <p:nvPr userDrawn="1"/>
        </p:nvSpPr>
        <p:spPr>
          <a:xfrm>
            <a:off x="356840" y="2753758"/>
            <a:ext cx="7872760" cy="923330"/>
          </a:xfrm>
          <a:prstGeom prst="rect">
            <a:avLst/>
          </a:prstGeom>
        </p:spPr>
        <p:txBody>
          <a:bodyPr vert="horz" wrap="square" lIns="0" tIns="0" rIns="0" bIns="0" rtlCol="0" anchor="b" anchorCtr="0">
            <a:spAutoFit/>
          </a:bodyPr>
          <a:lstStyle>
            <a:lvl1pPr lvl="0" indent="0">
              <a:lnSpc>
                <a:spcPts val="7200"/>
              </a:lnSpc>
              <a:spcBef>
                <a:spcPts val="0"/>
              </a:spcBef>
              <a:spcAft>
                <a:spcPts val="0"/>
              </a:spcAft>
              <a:buClr>
                <a:schemeClr val="tx1"/>
              </a:buClr>
              <a:buFont typeface="Arial" pitchFamily="34" charset="0"/>
              <a:buNone/>
              <a:tabLst/>
              <a:defRPr sz="7000" b="1" baseline="0">
                <a:solidFill>
                  <a:schemeClr val="bg1"/>
                </a:solidFill>
              </a:defRPr>
            </a:lvl1pPr>
            <a:lvl2pPr marL="271463" indent="0">
              <a:spcBef>
                <a:spcPts val="0"/>
              </a:spcBef>
              <a:spcAft>
                <a:spcPts val="600"/>
              </a:spcAft>
              <a:buFont typeface="Arial" pitchFamily="34" charset="0"/>
              <a:buNone/>
              <a:defRPr sz="2600" b="1">
                <a:solidFill>
                  <a:schemeClr val="bg1"/>
                </a:solidFill>
              </a:defRPr>
            </a:lvl2pPr>
            <a:lvl3pPr marL="533400" indent="0">
              <a:spcBef>
                <a:spcPts val="0"/>
              </a:spcBef>
              <a:spcAft>
                <a:spcPts val="600"/>
              </a:spcAft>
              <a:buFont typeface="Arial" pitchFamily="34" charset="0"/>
              <a:buNone/>
              <a:defRPr sz="2600" b="1">
                <a:solidFill>
                  <a:schemeClr val="bg1"/>
                </a:solidFill>
              </a:defRPr>
            </a:lvl3pPr>
            <a:lvl4pPr marL="815975" indent="0">
              <a:spcBef>
                <a:spcPts val="0"/>
              </a:spcBef>
              <a:spcAft>
                <a:spcPts val="600"/>
              </a:spcAft>
              <a:buFont typeface="Arial" pitchFamily="34" charset="0"/>
              <a:buNone/>
              <a:defRPr sz="2600" b="1">
                <a:solidFill>
                  <a:schemeClr val="bg1"/>
                </a:solidFill>
              </a:defRPr>
            </a:lvl4pPr>
            <a:lvl5pPr marL="1104900" indent="0">
              <a:spcBef>
                <a:spcPts val="0"/>
              </a:spcBef>
              <a:spcAft>
                <a:spcPts val="600"/>
              </a:spcAft>
              <a:buFont typeface="Arial" pitchFamily="34" charset="0"/>
              <a:buNone/>
              <a:defRPr sz="2600" b="1">
                <a:solidFill>
                  <a:schemeClr val="bg1"/>
                </a:solidFill>
              </a:defRPr>
            </a:lvl5pPr>
            <a:lvl6pPr marL="1620000" indent="-270000">
              <a:spcBef>
                <a:spcPts val="0"/>
              </a:spcBef>
              <a:spcAft>
                <a:spcPts val="600"/>
              </a:spcAft>
              <a:buFont typeface="Arial" pitchFamily="34" charset="0"/>
              <a:buChar char="–"/>
              <a:defRPr sz="1200"/>
            </a:lvl6pPr>
            <a:lvl7pPr marL="1800000" indent="-270000">
              <a:spcBef>
                <a:spcPts val="0"/>
              </a:spcBef>
              <a:spcAft>
                <a:spcPts val="600"/>
              </a:spcAft>
              <a:buFont typeface="Arial" pitchFamily="34" charset="0"/>
              <a:buChar char="–"/>
              <a:defRPr sz="1200"/>
            </a:lvl7pPr>
            <a:lvl8pPr marL="2070000" indent="-270000">
              <a:spcBef>
                <a:spcPts val="0"/>
              </a:spcBef>
              <a:spcAft>
                <a:spcPts val="600"/>
              </a:spcAft>
              <a:buFont typeface="Arial" pitchFamily="34" charset="0"/>
              <a:buChar char="–"/>
              <a:defRPr sz="1200"/>
            </a:lvl8pPr>
            <a:lvl9pPr marL="2340000" indent="-270000">
              <a:spcBef>
                <a:spcPts val="0"/>
              </a:spcBef>
              <a:spcAft>
                <a:spcPts val="600"/>
              </a:spcAft>
              <a:buFont typeface="Arial" pitchFamily="34" charset="0"/>
              <a:buChar char="–"/>
              <a:defRPr sz="1200"/>
            </a:lvl9pPr>
          </a:lstStyle>
          <a:p>
            <a:pPr lvl="0"/>
            <a:r>
              <a:rPr lang="en-US">
                <a:solidFill>
                  <a:schemeClr val="accent3"/>
                </a:solidFill>
              </a:rPr>
              <a:t>Trust</a:t>
            </a: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31783" y="237109"/>
            <a:ext cx="749683" cy="719489"/>
          </a:xfrm>
          <a:prstGeom prst="rect">
            <a:avLst/>
          </a:prstGeom>
        </p:spPr>
      </p:pic>
    </p:spTree>
    <p:extLst>
      <p:ext uri="{BB962C8B-B14F-4D97-AF65-F5344CB8AC3E}">
        <p14:creationId xmlns:p14="http://schemas.microsoft.com/office/powerpoint/2010/main" val="14779774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16" name="Content Placeholder 15"/>
          <p:cNvSpPr>
            <a:spLocks noGrp="1" noChangeAspect="1"/>
          </p:cNvSpPr>
          <p:nvPr>
            <p:ph sz="quarter" idx="12"/>
          </p:nvPr>
        </p:nvSpPr>
        <p:spPr>
          <a:xfrm>
            <a:off x="359152" y="1192387"/>
            <a:ext cx="8423275" cy="3257559"/>
          </a:xfrm>
          <a:prstGeom prst="rect">
            <a:avLst/>
          </a:prstGeom>
        </p:spPr>
        <p:txBody>
          <a:bodyPr l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2"/>
          <p:cNvSpPr>
            <a:spLocks noGrp="1"/>
          </p:cNvSpPr>
          <p:nvPr>
            <p:ph type="body" sz="quarter" idx="14"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4" name="Title 3"/>
          <p:cNvSpPr>
            <a:spLocks noGrp="1"/>
          </p:cNvSpPr>
          <p:nvPr>
            <p:ph type="title" hasCustomPrompt="1"/>
          </p:nvPr>
        </p:nvSpPr>
        <p:spPr>
          <a:xfrm>
            <a:off x="359152" y="288639"/>
            <a:ext cx="7577139" cy="338554"/>
          </a:xfrm>
        </p:spPr>
        <p:txBody>
          <a:bodyPr/>
          <a:lstStyle/>
          <a:p>
            <a:r>
              <a:rPr lang="en-US"/>
              <a:t>Click to edit Master heading style</a:t>
            </a:r>
            <a:endParaRPr lang="en-GB"/>
          </a:p>
        </p:txBody>
      </p:sp>
      <p:sp>
        <p:nvSpPr>
          <p:cNvPr id="10" name="Slide Number Placeholder 9"/>
          <p:cNvSpPr>
            <a:spLocks noGrp="1"/>
          </p:cNvSpPr>
          <p:nvPr>
            <p:ph type="sldNum" sz="quarter" idx="21"/>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35527299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14" name="Content Placeholder 13"/>
          <p:cNvSpPr>
            <a:spLocks noGrp="1" noChangeAspect="1"/>
          </p:cNvSpPr>
          <p:nvPr>
            <p:ph sz="quarter" idx="18"/>
          </p:nvPr>
        </p:nvSpPr>
        <p:spPr>
          <a:xfrm>
            <a:off x="4749468" y="1193800"/>
            <a:ext cx="4084181" cy="3256147"/>
          </a:xfrm>
          <a:prstGeom prst="rect">
            <a:avLst/>
          </a:prstGeo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hasCustomPrompt="1"/>
          </p:nvPr>
        </p:nvSpPr>
        <p:spPr>
          <a:xfrm>
            <a:off x="359152" y="288639"/>
            <a:ext cx="7577139" cy="338554"/>
          </a:xfrm>
        </p:spPr>
        <p:txBody>
          <a:bodyPr/>
          <a:lstStyle/>
          <a:p>
            <a:r>
              <a:rPr lang="en-US"/>
              <a:t>Click to edit Master heading style</a:t>
            </a:r>
            <a:endParaRPr lang="en-GB"/>
          </a:p>
        </p:txBody>
      </p:sp>
      <p:sp>
        <p:nvSpPr>
          <p:cNvPr id="18" name="Text Placeholder 2"/>
          <p:cNvSpPr>
            <a:spLocks noGrp="1"/>
          </p:cNvSpPr>
          <p:nvPr>
            <p:ph type="body" sz="quarter" idx="14"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5" name="Slide Number Placeholder 4"/>
          <p:cNvSpPr>
            <a:spLocks noGrp="1"/>
          </p:cNvSpPr>
          <p:nvPr>
            <p:ph type="sldNum" sz="quarter" idx="23"/>
          </p:nvPr>
        </p:nvSpPr>
        <p:spPr/>
        <p:txBody>
          <a:bodyPr/>
          <a:lstStyle/>
          <a:p>
            <a:fld id="{9F9F533D-B52E-4A2F-BF72-0ADD2D94BD75}" type="slidenum">
              <a:rPr lang="en-GB" smtClean="0"/>
              <a:pPr/>
              <a:t>‹#›</a:t>
            </a:fld>
            <a:endParaRPr lang="en-GB"/>
          </a:p>
        </p:txBody>
      </p:sp>
      <p:sp>
        <p:nvSpPr>
          <p:cNvPr id="11" name="Content Placeholder 11"/>
          <p:cNvSpPr>
            <a:spLocks noGrp="1" noChangeAspect="1"/>
          </p:cNvSpPr>
          <p:nvPr>
            <p:ph sz="quarter" idx="17"/>
          </p:nvPr>
        </p:nvSpPr>
        <p:spPr>
          <a:xfrm>
            <a:off x="310351" y="1193800"/>
            <a:ext cx="4084181" cy="3256147"/>
          </a:xfrm>
          <a:prstGeom prst="rect">
            <a:avLst/>
          </a:prstGeo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879041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59152" y="4704001"/>
            <a:ext cx="2565024" cy="273844"/>
          </a:xfrm>
          <a:prstGeom prst="rect">
            <a:avLst/>
          </a:prstGeom>
        </p:spPr>
        <p:txBody>
          <a:bodyPr vert="horz" lIns="0" tIns="0" rIns="0" bIns="0" rtlCol="0" anchor="t" anchorCtr="0"/>
          <a:lstStyle>
            <a:lvl1pPr algn="l">
              <a:defRPr sz="800">
                <a:solidFill>
                  <a:schemeClr val="tx1"/>
                </a:solidFill>
              </a:defRPr>
            </a:lvl1pPr>
          </a:lstStyle>
          <a:p>
            <a:r>
              <a:rPr lang="en-GB"/>
              <a:t>16x9 core template</a:t>
            </a:r>
          </a:p>
        </p:txBody>
      </p:sp>
      <p:sp>
        <p:nvSpPr>
          <p:cNvPr id="6" name="Slide Number Placeholder 5"/>
          <p:cNvSpPr>
            <a:spLocks noGrp="1"/>
          </p:cNvSpPr>
          <p:nvPr>
            <p:ph type="sldNum" sz="quarter" idx="4"/>
          </p:nvPr>
        </p:nvSpPr>
        <p:spPr>
          <a:xfrm>
            <a:off x="7953029" y="4704001"/>
            <a:ext cx="830123" cy="273844"/>
          </a:xfrm>
          <a:prstGeom prst="rect">
            <a:avLst/>
          </a:prstGeom>
        </p:spPr>
        <p:txBody>
          <a:bodyPr vert="horz" lIns="72000" tIns="0" rIns="0" bIns="0" rtlCol="0" anchor="t" anchorCtr="0"/>
          <a:lstStyle>
            <a:lvl1pPr algn="r">
              <a:defRPr sz="800">
                <a:solidFill>
                  <a:schemeClr val="tx1"/>
                </a:solidFill>
              </a:defRPr>
            </a:lvl1pPr>
          </a:lstStyle>
          <a:p>
            <a:fld id="{9F9F533D-B52E-4A2F-BF72-0ADD2D94BD75}" type="slidenum">
              <a:rPr lang="en-GB" smtClean="0"/>
              <a:pPr/>
              <a:t>‹#›</a:t>
            </a:fld>
            <a:endParaRPr lang="en-GB"/>
          </a:p>
        </p:txBody>
      </p:sp>
      <p:sp>
        <p:nvSpPr>
          <p:cNvPr id="4" name="Title Placeholder 3"/>
          <p:cNvSpPr>
            <a:spLocks noGrp="1"/>
          </p:cNvSpPr>
          <p:nvPr>
            <p:ph type="title"/>
          </p:nvPr>
        </p:nvSpPr>
        <p:spPr>
          <a:xfrm>
            <a:off x="359152" y="288639"/>
            <a:ext cx="7577139" cy="338554"/>
          </a:xfrm>
          <a:prstGeom prst="rect">
            <a:avLst/>
          </a:prstGeom>
        </p:spPr>
        <p:txBody>
          <a:bodyPr vert="horz" lIns="0" tIns="0" rIns="0" bIns="0" rtlCol="0" anchor="t" anchorCtr="0">
            <a:spAutoFit/>
          </a:bodyPr>
          <a:lstStyle/>
          <a:p>
            <a:r>
              <a:rPr lang="en-US"/>
              <a:t>Click to edit Master heading style</a:t>
            </a:r>
            <a:endParaRPr lang="en-GB"/>
          </a:p>
        </p:txBody>
      </p:sp>
      <p:sp>
        <p:nvSpPr>
          <p:cNvPr id="7" name="Date Placeholder 6"/>
          <p:cNvSpPr>
            <a:spLocks noGrp="1"/>
          </p:cNvSpPr>
          <p:nvPr>
            <p:ph type="dt" sz="half" idx="2"/>
          </p:nvPr>
        </p:nvSpPr>
        <p:spPr>
          <a:xfrm>
            <a:off x="2985247" y="4704001"/>
            <a:ext cx="3164730" cy="273844"/>
          </a:xfrm>
          <a:prstGeom prst="rect">
            <a:avLst/>
          </a:prstGeom>
        </p:spPr>
        <p:txBody>
          <a:bodyPr vert="horz" lIns="72000" tIns="0" rIns="72000" bIns="0" rtlCol="0" anchor="t" anchorCtr="1"/>
          <a:lstStyle>
            <a:lvl1pPr algn="l">
              <a:defRPr sz="800">
                <a:solidFill>
                  <a:schemeClr val="tx1"/>
                </a:solidFill>
              </a:defRPr>
            </a:lvl1pPr>
          </a:lstStyle>
          <a:p>
            <a:pPr algn="ctr"/>
            <a:r>
              <a:rPr lang="en-US"/>
              <a:t>Insert your date / confidentiality text here</a:t>
            </a:r>
            <a:endParaRPr lang="en-GB"/>
          </a:p>
        </p:txBody>
      </p:sp>
      <p:cxnSp>
        <p:nvCxnSpPr>
          <p:cNvPr id="10" name="Straight Connector 9"/>
          <p:cNvCxnSpPr/>
          <p:nvPr userDrawn="1"/>
        </p:nvCxnSpPr>
        <p:spPr>
          <a:xfrm>
            <a:off x="359152" y="4599183"/>
            <a:ext cx="842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359152" y="1078541"/>
            <a:ext cx="8424000"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8131783" y="237109"/>
            <a:ext cx="749683" cy="719489"/>
          </a:xfrm>
          <a:prstGeom prst="rect">
            <a:avLst/>
          </a:prstGeom>
        </p:spPr>
      </p:pic>
    </p:spTree>
    <p:extLst>
      <p:ext uri="{BB962C8B-B14F-4D97-AF65-F5344CB8AC3E}">
        <p14:creationId xmlns:p14="http://schemas.microsoft.com/office/powerpoint/2010/main" val="4260756284"/>
      </p:ext>
    </p:extLst>
  </p:cSld>
  <p:clrMap bg1="lt1" tx1="dk1" bg2="lt2" tx2="dk2" accent1="accent1" accent2="accent2" accent3="accent3" accent4="accent4" accent5="accent5" accent6="accent6" hlink="hlink" folHlink="folHlink"/>
  <p:sldLayoutIdLst>
    <p:sldLayoutId id="2147483742" r:id="rId1"/>
    <p:sldLayoutId id="2147483741" r:id="rId2"/>
    <p:sldLayoutId id="2147483759" r:id="rId3"/>
    <p:sldLayoutId id="2147483663" r:id="rId4"/>
    <p:sldLayoutId id="2147483665" r:id="rId5"/>
    <p:sldLayoutId id="2147483664" r:id="rId6"/>
    <p:sldLayoutId id="2147483668" r:id="rId7"/>
    <p:sldLayoutId id="2147483669" r:id="rId8"/>
    <p:sldLayoutId id="2147483670" r:id="rId9"/>
    <p:sldLayoutId id="2147483671" r:id="rId10"/>
    <p:sldLayoutId id="2147483730" r:id="rId11"/>
    <p:sldLayoutId id="2147483728" r:id="rId12"/>
    <p:sldLayoutId id="2147483673" r:id="rId13"/>
    <p:sldLayoutId id="2147483674" r:id="rId14"/>
    <p:sldLayoutId id="2147483675" r:id="rId15"/>
    <p:sldLayoutId id="2147483747" r:id="rId16"/>
    <p:sldLayoutId id="2147483760" r:id="rId17"/>
    <p:sldLayoutId id="2147483723" r:id="rId18"/>
    <p:sldLayoutId id="2147483724" r:id="rId19"/>
    <p:sldLayoutId id="2147483725" r:id="rId20"/>
    <p:sldLayoutId id="2147483761" r:id="rId21"/>
    <p:sldLayoutId id="2147483763" r:id="rId22"/>
  </p:sldLayoutIdLst>
  <p:hf hdr="0"/>
  <p:txStyles>
    <p:titleStyle>
      <a:lvl1pPr algn="l" defTabSz="914400" rtl="0" eaLnBrk="1" latinLnBrk="0" hangingPunct="1">
        <a:lnSpc>
          <a:spcPct val="100000"/>
        </a:lnSpc>
        <a:spcBef>
          <a:spcPct val="0"/>
        </a:spcBef>
        <a:buNone/>
        <a:defRPr sz="2200" b="1" kern="1200">
          <a:solidFill>
            <a:schemeClr val="bg2"/>
          </a:solidFill>
          <a:latin typeface="+mj-lt"/>
          <a:ea typeface="+mj-ea"/>
          <a:cs typeface="+mj-cs"/>
        </a:defRPr>
      </a:lvl1pPr>
    </p:titleStyle>
    <p:bodyStyle>
      <a:lvl1pPr marL="270000" indent="-270000" algn="l" defTabSz="914400" rtl="0" eaLnBrk="1" latinLnBrk="0" hangingPunct="1">
        <a:spcBef>
          <a:spcPts val="0"/>
        </a:spcBef>
        <a:spcAft>
          <a:spcPts val="600"/>
        </a:spcAft>
        <a:buClr>
          <a:schemeClr val="tx1"/>
        </a:buClr>
        <a:buFont typeface="Arial" pitchFamily="34" charset="0"/>
        <a:buChar char="–"/>
        <a:defRPr sz="1600" kern="1200">
          <a:solidFill>
            <a:schemeClr val="tx1"/>
          </a:solidFill>
          <a:latin typeface="+mn-lt"/>
          <a:ea typeface="+mn-ea"/>
          <a:cs typeface="+mn-cs"/>
        </a:defRPr>
      </a:lvl1pPr>
      <a:lvl2pPr marL="538163" indent="-270000" algn="l" defTabSz="914400" rtl="0" eaLnBrk="1" latinLnBrk="0" hangingPunct="1">
        <a:spcBef>
          <a:spcPts val="0"/>
        </a:spcBef>
        <a:spcAft>
          <a:spcPts val="600"/>
        </a:spcAft>
        <a:buFont typeface="Arial" pitchFamily="34" charset="0"/>
        <a:buChar char="–"/>
        <a:defRPr sz="1400" kern="1200">
          <a:solidFill>
            <a:schemeClr val="tx1"/>
          </a:solidFill>
          <a:latin typeface="+mn-lt"/>
          <a:ea typeface="+mn-ea"/>
          <a:cs typeface="+mn-cs"/>
        </a:defRPr>
      </a:lvl2pPr>
      <a:lvl3pPr marL="81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3pPr>
      <a:lvl4pPr marL="1081088"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4pPr>
      <a:lvl5pPr marL="1350000" indent="-270000" algn="l" defTabSz="914400" rtl="0" eaLnBrk="1" latinLnBrk="0" hangingPunct="1">
        <a:spcBef>
          <a:spcPts val="0"/>
        </a:spcBef>
        <a:spcAft>
          <a:spcPts val="600"/>
        </a:spcAft>
        <a:buFont typeface="Arial" pitchFamily="34" charset="0"/>
        <a:buChar char="–"/>
        <a:defRPr sz="1200" b="0" kern="1200">
          <a:solidFill>
            <a:schemeClr val="tx1"/>
          </a:solidFill>
          <a:latin typeface="+mn-lt"/>
          <a:ea typeface="+mn-ea"/>
          <a:cs typeface="+mn-cs"/>
        </a:defRPr>
      </a:lvl5pPr>
      <a:lvl6pPr marL="162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6pPr>
      <a:lvl7pPr marL="180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7pPr>
      <a:lvl8pPr marL="207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8pPr>
      <a:lvl9pPr marL="234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svg"/><Relationship Id="rId18" Type="http://schemas.openxmlformats.org/officeDocument/2006/relationships/image" Target="../media/image35.svg"/><Relationship Id="rId3" Type="http://schemas.openxmlformats.org/officeDocument/2006/relationships/diagramData" Target="../diagrams/data2.xml"/><Relationship Id="rId21" Type="http://schemas.openxmlformats.org/officeDocument/2006/relationships/image" Target="../media/image38.svg"/><Relationship Id="rId7" Type="http://schemas.microsoft.com/office/2007/relationships/diagramDrawing" Target="../diagrams/drawing2.xml"/><Relationship Id="rId12" Type="http://schemas.openxmlformats.org/officeDocument/2006/relationships/image" Target="../media/image29.svg"/><Relationship Id="rId17" Type="http://schemas.openxmlformats.org/officeDocument/2006/relationships/image" Target="../media/image34.png"/><Relationship Id="rId25" Type="http://schemas.openxmlformats.org/officeDocument/2006/relationships/image" Target="../media/image42.svg"/><Relationship Id="rId2" Type="http://schemas.openxmlformats.org/officeDocument/2006/relationships/notesSlide" Target="../notesSlides/notesSlide14.xml"/><Relationship Id="rId16" Type="http://schemas.openxmlformats.org/officeDocument/2006/relationships/image" Target="../media/image33.svg"/><Relationship Id="rId20" Type="http://schemas.openxmlformats.org/officeDocument/2006/relationships/image" Target="../media/image37.svg"/><Relationship Id="rId1" Type="http://schemas.openxmlformats.org/officeDocument/2006/relationships/slideLayout" Target="../slideLayouts/slideLayout4.xml"/><Relationship Id="rId6" Type="http://schemas.openxmlformats.org/officeDocument/2006/relationships/diagramColors" Target="../diagrams/colors2.xml"/><Relationship Id="rId11" Type="http://schemas.openxmlformats.org/officeDocument/2006/relationships/image" Target="../media/image28.png"/><Relationship Id="rId24" Type="http://schemas.openxmlformats.org/officeDocument/2006/relationships/image" Target="../media/image41.png"/><Relationship Id="rId5" Type="http://schemas.openxmlformats.org/officeDocument/2006/relationships/diagramQuickStyle" Target="../diagrams/quickStyle2.xml"/><Relationship Id="rId15" Type="http://schemas.openxmlformats.org/officeDocument/2006/relationships/image" Target="../media/image32.svg"/><Relationship Id="rId23" Type="http://schemas.openxmlformats.org/officeDocument/2006/relationships/image" Target="../media/image40.svg"/><Relationship Id="rId10" Type="http://schemas.openxmlformats.org/officeDocument/2006/relationships/image" Target="../media/image27.svg"/><Relationship Id="rId19" Type="http://schemas.openxmlformats.org/officeDocument/2006/relationships/image" Target="../media/image36.svg"/><Relationship Id="rId4" Type="http://schemas.openxmlformats.org/officeDocument/2006/relationships/diagramLayout" Target="../diagrams/layout2.xml"/><Relationship Id="rId9" Type="http://schemas.openxmlformats.org/officeDocument/2006/relationships/image" Target="../media/image26.svg"/><Relationship Id="rId14" Type="http://schemas.openxmlformats.org/officeDocument/2006/relationships/image" Target="../media/image31.png"/><Relationship Id="rId22"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21.xml"/><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21.xml"/><Relationship Id="rId5" Type="http://schemas.openxmlformats.org/officeDocument/2006/relationships/image" Target="../media/image48.png"/><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5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360000" y="2840385"/>
            <a:ext cx="8196702" cy="823302"/>
          </a:xfrm>
        </p:spPr>
        <p:txBody>
          <a:bodyPr wrap="square" lIns="0" tIns="45720" rIns="91440" bIns="45720" anchor="b" anchorCtr="0">
            <a:spAutoFit/>
          </a:bodyPr>
          <a:lstStyle/>
          <a:p>
            <a:r>
              <a:rPr lang="en-GB">
                <a:solidFill>
                  <a:schemeClr val="bg2"/>
                </a:solidFill>
              </a:rPr>
              <a:t>Subgroup Analyses</a:t>
            </a:r>
          </a:p>
        </p:txBody>
      </p:sp>
    </p:spTree>
    <p:extLst>
      <p:ext uri="{BB962C8B-B14F-4D97-AF65-F5344CB8AC3E}">
        <p14:creationId xmlns:p14="http://schemas.microsoft.com/office/powerpoint/2010/main" val="425349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1E0A412-CA2E-4C97-862D-6A00020F16D1}"/>
              </a:ext>
            </a:extLst>
          </p:cNvPr>
          <p:cNvSpPr>
            <a:spLocks noGrp="1"/>
          </p:cNvSpPr>
          <p:nvPr>
            <p:ph type="body" sz="quarter" idx="14"/>
          </p:nvPr>
        </p:nvSpPr>
        <p:spPr/>
        <p:txBody>
          <a:bodyPr/>
          <a:lstStyle/>
          <a:p>
            <a:endParaRPr lang="en-GB"/>
          </a:p>
        </p:txBody>
      </p:sp>
      <p:sp>
        <p:nvSpPr>
          <p:cNvPr id="4" name="Text Placeholder 3">
            <a:extLst>
              <a:ext uri="{FF2B5EF4-FFF2-40B4-BE49-F238E27FC236}">
                <a16:creationId xmlns:a16="http://schemas.microsoft.com/office/drawing/2014/main" id="{5070BC36-4ADF-410E-9C03-7FA6A2E885DF}"/>
              </a:ext>
            </a:extLst>
          </p:cNvPr>
          <p:cNvSpPr>
            <a:spLocks noGrp="1"/>
          </p:cNvSpPr>
          <p:nvPr>
            <p:ph type="body" sz="quarter" idx="18"/>
          </p:nvPr>
        </p:nvSpPr>
        <p:spPr>
          <a:xfrm>
            <a:off x="355612" y="4313367"/>
            <a:ext cx="8424000" cy="215444"/>
          </a:xfrm>
        </p:spPr>
        <p:txBody>
          <a:bodyPr/>
          <a:lstStyle/>
          <a:p>
            <a:pPr algn="r"/>
            <a:r>
              <a:rPr lang="en-GB"/>
              <a:t>https://xkcd.com/882/</a:t>
            </a:r>
          </a:p>
        </p:txBody>
      </p:sp>
      <p:sp>
        <p:nvSpPr>
          <p:cNvPr id="5" name="Title 4">
            <a:extLst>
              <a:ext uri="{FF2B5EF4-FFF2-40B4-BE49-F238E27FC236}">
                <a16:creationId xmlns:a16="http://schemas.microsoft.com/office/drawing/2014/main" id="{64B68D38-8B91-495D-9614-7E427F6207A2}"/>
              </a:ext>
            </a:extLst>
          </p:cNvPr>
          <p:cNvSpPr>
            <a:spLocks noGrp="1"/>
          </p:cNvSpPr>
          <p:nvPr>
            <p:ph type="title"/>
          </p:nvPr>
        </p:nvSpPr>
        <p:spPr/>
        <p:txBody>
          <a:bodyPr/>
          <a:lstStyle/>
          <a:p>
            <a:r>
              <a:rPr lang="en-GB"/>
              <a:t>Subgroup Analyses – What is the problem?</a:t>
            </a:r>
          </a:p>
        </p:txBody>
      </p:sp>
      <p:sp>
        <p:nvSpPr>
          <p:cNvPr id="8" name="Slide Number Placeholder 7">
            <a:extLst>
              <a:ext uri="{FF2B5EF4-FFF2-40B4-BE49-F238E27FC236}">
                <a16:creationId xmlns:a16="http://schemas.microsoft.com/office/drawing/2014/main" id="{F53FC52A-6F8F-4EA3-A246-42246A04245A}"/>
              </a:ext>
            </a:extLst>
          </p:cNvPr>
          <p:cNvSpPr>
            <a:spLocks noGrp="1"/>
          </p:cNvSpPr>
          <p:nvPr>
            <p:ph type="sldNum" sz="quarter" idx="21"/>
          </p:nvPr>
        </p:nvSpPr>
        <p:spPr/>
        <p:txBody>
          <a:bodyPr/>
          <a:lstStyle/>
          <a:p>
            <a:fld id="{9F9F533D-B52E-4A2F-BF72-0ADD2D94BD75}" type="slidenum">
              <a:rPr lang="en-GB" smtClean="0"/>
              <a:pPr/>
              <a:t>2</a:t>
            </a:fld>
            <a:endParaRPr lang="en-GB"/>
          </a:p>
        </p:txBody>
      </p:sp>
      <p:pic>
        <p:nvPicPr>
          <p:cNvPr id="9" name="Picture 8">
            <a:extLst>
              <a:ext uri="{FF2B5EF4-FFF2-40B4-BE49-F238E27FC236}">
                <a16:creationId xmlns:a16="http://schemas.microsoft.com/office/drawing/2014/main" id="{E699C2EE-E427-4DA3-B3B8-91967F6A7E3B}"/>
              </a:ext>
            </a:extLst>
          </p:cNvPr>
          <p:cNvPicPr>
            <a:picLocks noChangeAspect="1"/>
          </p:cNvPicPr>
          <p:nvPr/>
        </p:nvPicPr>
        <p:blipFill>
          <a:blip r:embed="rId3"/>
          <a:stretch>
            <a:fillRect/>
          </a:stretch>
        </p:blipFill>
        <p:spPr>
          <a:xfrm>
            <a:off x="1222959" y="1145742"/>
            <a:ext cx="5853089" cy="3440525"/>
          </a:xfrm>
          <a:prstGeom prst="rect">
            <a:avLst/>
          </a:prstGeom>
        </p:spPr>
      </p:pic>
      <p:sp>
        <p:nvSpPr>
          <p:cNvPr id="10" name="Date Placeholder 1">
            <a:extLst>
              <a:ext uri="{FF2B5EF4-FFF2-40B4-BE49-F238E27FC236}">
                <a16:creationId xmlns:a16="http://schemas.microsoft.com/office/drawing/2014/main" id="{38AF769E-9C32-40FE-A2B2-70BDDD46F97D}"/>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3362186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1E0A412-CA2E-4C97-862D-6A00020F16D1}"/>
              </a:ext>
            </a:extLst>
          </p:cNvPr>
          <p:cNvSpPr>
            <a:spLocks noGrp="1"/>
          </p:cNvSpPr>
          <p:nvPr>
            <p:ph type="body" sz="quarter" idx="14"/>
          </p:nvPr>
        </p:nvSpPr>
        <p:spPr/>
        <p:txBody>
          <a:bodyPr/>
          <a:lstStyle/>
          <a:p>
            <a:endParaRPr lang="en-GB"/>
          </a:p>
        </p:txBody>
      </p:sp>
      <p:sp>
        <p:nvSpPr>
          <p:cNvPr id="4" name="Text Placeholder 3">
            <a:extLst>
              <a:ext uri="{FF2B5EF4-FFF2-40B4-BE49-F238E27FC236}">
                <a16:creationId xmlns:a16="http://schemas.microsoft.com/office/drawing/2014/main" id="{5070BC36-4ADF-410E-9C03-7FA6A2E885DF}"/>
              </a:ext>
            </a:extLst>
          </p:cNvPr>
          <p:cNvSpPr>
            <a:spLocks noGrp="1"/>
          </p:cNvSpPr>
          <p:nvPr>
            <p:ph type="body" sz="quarter" idx="18"/>
          </p:nvPr>
        </p:nvSpPr>
        <p:spPr>
          <a:xfrm>
            <a:off x="355612" y="4369550"/>
            <a:ext cx="8424000" cy="215444"/>
          </a:xfrm>
        </p:spPr>
        <p:txBody>
          <a:bodyPr/>
          <a:lstStyle/>
          <a:p>
            <a:pPr algn="r"/>
            <a:r>
              <a:rPr lang="en-GB"/>
              <a:t>https://xkcd.com/882/</a:t>
            </a:r>
          </a:p>
        </p:txBody>
      </p:sp>
      <p:sp>
        <p:nvSpPr>
          <p:cNvPr id="5" name="Title 4">
            <a:extLst>
              <a:ext uri="{FF2B5EF4-FFF2-40B4-BE49-F238E27FC236}">
                <a16:creationId xmlns:a16="http://schemas.microsoft.com/office/drawing/2014/main" id="{64B68D38-8B91-495D-9614-7E427F6207A2}"/>
              </a:ext>
            </a:extLst>
          </p:cNvPr>
          <p:cNvSpPr>
            <a:spLocks noGrp="1"/>
          </p:cNvSpPr>
          <p:nvPr>
            <p:ph type="title"/>
          </p:nvPr>
        </p:nvSpPr>
        <p:spPr/>
        <p:txBody>
          <a:bodyPr/>
          <a:lstStyle/>
          <a:p>
            <a:r>
              <a:rPr lang="en-GB"/>
              <a:t>Subgroups Analyses – What is the problem?</a:t>
            </a:r>
          </a:p>
        </p:txBody>
      </p:sp>
      <p:sp>
        <p:nvSpPr>
          <p:cNvPr id="8" name="Slide Number Placeholder 7">
            <a:extLst>
              <a:ext uri="{FF2B5EF4-FFF2-40B4-BE49-F238E27FC236}">
                <a16:creationId xmlns:a16="http://schemas.microsoft.com/office/drawing/2014/main" id="{F53FC52A-6F8F-4EA3-A246-42246A04245A}"/>
              </a:ext>
            </a:extLst>
          </p:cNvPr>
          <p:cNvSpPr>
            <a:spLocks noGrp="1"/>
          </p:cNvSpPr>
          <p:nvPr>
            <p:ph type="sldNum" sz="quarter" idx="21"/>
          </p:nvPr>
        </p:nvSpPr>
        <p:spPr/>
        <p:txBody>
          <a:bodyPr/>
          <a:lstStyle/>
          <a:p>
            <a:fld id="{9F9F533D-B52E-4A2F-BF72-0ADD2D94BD75}" type="slidenum">
              <a:rPr lang="en-GB" smtClean="0"/>
              <a:pPr/>
              <a:t>3</a:t>
            </a:fld>
            <a:endParaRPr lang="en-GB"/>
          </a:p>
        </p:txBody>
      </p:sp>
      <p:pic>
        <p:nvPicPr>
          <p:cNvPr id="2" name="Picture 1">
            <a:extLst>
              <a:ext uri="{FF2B5EF4-FFF2-40B4-BE49-F238E27FC236}">
                <a16:creationId xmlns:a16="http://schemas.microsoft.com/office/drawing/2014/main" id="{D08AFF8A-57E0-4362-9A77-3222CE4E4F1C}"/>
              </a:ext>
            </a:extLst>
          </p:cNvPr>
          <p:cNvPicPr>
            <a:picLocks noChangeAspect="1"/>
          </p:cNvPicPr>
          <p:nvPr/>
        </p:nvPicPr>
        <p:blipFill>
          <a:blip r:embed="rId3"/>
          <a:stretch>
            <a:fillRect/>
          </a:stretch>
        </p:blipFill>
        <p:spPr>
          <a:xfrm>
            <a:off x="99986" y="1145742"/>
            <a:ext cx="4467626" cy="3250638"/>
          </a:xfrm>
          <a:prstGeom prst="rect">
            <a:avLst/>
          </a:prstGeom>
        </p:spPr>
      </p:pic>
      <p:pic>
        <p:nvPicPr>
          <p:cNvPr id="10" name="Picture 9">
            <a:extLst>
              <a:ext uri="{FF2B5EF4-FFF2-40B4-BE49-F238E27FC236}">
                <a16:creationId xmlns:a16="http://schemas.microsoft.com/office/drawing/2014/main" id="{CE07CEE9-ED7C-4859-841D-D531DCFDDF61}"/>
              </a:ext>
            </a:extLst>
          </p:cNvPr>
          <p:cNvPicPr>
            <a:picLocks noChangeAspect="1"/>
          </p:cNvPicPr>
          <p:nvPr/>
        </p:nvPicPr>
        <p:blipFill>
          <a:blip r:embed="rId4"/>
          <a:stretch>
            <a:fillRect/>
          </a:stretch>
        </p:blipFill>
        <p:spPr>
          <a:xfrm>
            <a:off x="4508478" y="1159461"/>
            <a:ext cx="4535536" cy="3250638"/>
          </a:xfrm>
          <a:prstGeom prst="rect">
            <a:avLst/>
          </a:prstGeom>
        </p:spPr>
      </p:pic>
      <p:sp>
        <p:nvSpPr>
          <p:cNvPr id="12" name="Rectangle 11">
            <a:extLst>
              <a:ext uri="{FF2B5EF4-FFF2-40B4-BE49-F238E27FC236}">
                <a16:creationId xmlns:a16="http://schemas.microsoft.com/office/drawing/2014/main" id="{8D5162BE-8C36-42A7-9203-18B126D5E45F}"/>
              </a:ext>
            </a:extLst>
          </p:cNvPr>
          <p:cNvSpPr/>
          <p:nvPr/>
        </p:nvSpPr>
        <p:spPr bwMode="auto">
          <a:xfrm>
            <a:off x="7218556" y="1226634"/>
            <a:ext cx="825190" cy="1524000"/>
          </a:xfrm>
          <a:prstGeom prst="rect">
            <a:avLst/>
          </a:prstGeom>
          <a:noFill/>
          <a:ln w="57150">
            <a:solidFill>
              <a:srgbClr val="008000"/>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pic>
        <p:nvPicPr>
          <p:cNvPr id="13" name="Picture 12">
            <a:extLst>
              <a:ext uri="{FF2B5EF4-FFF2-40B4-BE49-F238E27FC236}">
                <a16:creationId xmlns:a16="http://schemas.microsoft.com/office/drawing/2014/main" id="{0CEC6906-2A65-4906-8DEB-E6A1F512152D}"/>
              </a:ext>
            </a:extLst>
          </p:cNvPr>
          <p:cNvPicPr>
            <a:picLocks noChangeAspect="1"/>
          </p:cNvPicPr>
          <p:nvPr/>
        </p:nvPicPr>
        <p:blipFill>
          <a:blip r:embed="rId5"/>
          <a:stretch>
            <a:fillRect/>
          </a:stretch>
        </p:blipFill>
        <p:spPr>
          <a:xfrm>
            <a:off x="3141640" y="1159461"/>
            <a:ext cx="2733675" cy="3217586"/>
          </a:xfrm>
          <a:prstGeom prst="rect">
            <a:avLst/>
          </a:prstGeom>
          <a:ln>
            <a:noFill/>
          </a:ln>
          <a:effectLst>
            <a:outerShdw blurRad="292100" dist="139700" dir="2700000" algn="tl" rotWithShape="0">
              <a:srgbClr val="333333">
                <a:alpha val="65000"/>
              </a:srgbClr>
            </a:outerShdw>
          </a:effectLst>
        </p:spPr>
      </p:pic>
      <p:sp>
        <p:nvSpPr>
          <p:cNvPr id="14" name="Date Placeholder 1">
            <a:extLst>
              <a:ext uri="{FF2B5EF4-FFF2-40B4-BE49-F238E27FC236}">
                <a16:creationId xmlns:a16="http://schemas.microsoft.com/office/drawing/2014/main" id="{86598433-3896-43DF-B785-46CCE46F48E6}"/>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2426327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B09F37-A8F1-4E12-B643-0F2C06735F66}"/>
              </a:ext>
            </a:extLst>
          </p:cNvPr>
          <p:cNvSpPr>
            <a:spLocks noGrp="1"/>
          </p:cNvSpPr>
          <p:nvPr>
            <p:ph sz="quarter" idx="12"/>
          </p:nvPr>
        </p:nvSpPr>
        <p:spPr>
          <a:xfrm>
            <a:off x="359152" y="1150893"/>
            <a:ext cx="8423275" cy="3070050"/>
          </a:xfrm>
        </p:spPr>
        <p:txBody>
          <a:bodyPr/>
          <a:lstStyle/>
          <a:p>
            <a:r>
              <a:rPr lang="en-GB" sz="1400"/>
              <a:t>Subgroup analyses divide the overall study population into subgroups, depending on a given demographic or baseline characteristic.</a:t>
            </a:r>
          </a:p>
          <a:p>
            <a:pPr lvl="1"/>
            <a:endParaRPr lang="en-GB"/>
          </a:p>
          <a:p>
            <a:endParaRPr lang="en-GB"/>
          </a:p>
        </p:txBody>
      </p:sp>
      <p:sp>
        <p:nvSpPr>
          <p:cNvPr id="3" name="Text Placeholder 2">
            <a:extLst>
              <a:ext uri="{FF2B5EF4-FFF2-40B4-BE49-F238E27FC236}">
                <a16:creationId xmlns:a16="http://schemas.microsoft.com/office/drawing/2014/main" id="{A1BDBF2C-A886-4557-81F1-87C3B2F756F3}"/>
              </a:ext>
            </a:extLst>
          </p:cNvPr>
          <p:cNvSpPr>
            <a:spLocks noGrp="1"/>
          </p:cNvSpPr>
          <p:nvPr>
            <p:ph type="body" sz="quarter" idx="14"/>
          </p:nvPr>
        </p:nvSpPr>
        <p:spPr/>
        <p:txBody>
          <a:bodyPr/>
          <a:lstStyle/>
          <a:p>
            <a:endParaRPr lang="en-GB"/>
          </a:p>
        </p:txBody>
      </p:sp>
      <p:sp>
        <p:nvSpPr>
          <p:cNvPr id="5" name="Title 4">
            <a:extLst>
              <a:ext uri="{FF2B5EF4-FFF2-40B4-BE49-F238E27FC236}">
                <a16:creationId xmlns:a16="http://schemas.microsoft.com/office/drawing/2014/main" id="{6EA1779A-A243-45A1-801F-594AC4350D97}"/>
              </a:ext>
            </a:extLst>
          </p:cNvPr>
          <p:cNvSpPr>
            <a:spLocks noGrp="1"/>
          </p:cNvSpPr>
          <p:nvPr>
            <p:ph type="title"/>
          </p:nvPr>
        </p:nvSpPr>
        <p:spPr/>
        <p:txBody>
          <a:bodyPr/>
          <a:lstStyle/>
          <a:p>
            <a:r>
              <a:rPr lang="en-GB"/>
              <a:t>Subgroup analyses: What are they?</a:t>
            </a:r>
          </a:p>
        </p:txBody>
      </p:sp>
      <p:sp>
        <p:nvSpPr>
          <p:cNvPr id="8" name="Slide Number Placeholder 7">
            <a:extLst>
              <a:ext uri="{FF2B5EF4-FFF2-40B4-BE49-F238E27FC236}">
                <a16:creationId xmlns:a16="http://schemas.microsoft.com/office/drawing/2014/main" id="{68E6D85F-6C57-4771-B702-C63ABC4FD703}"/>
              </a:ext>
            </a:extLst>
          </p:cNvPr>
          <p:cNvSpPr>
            <a:spLocks noGrp="1"/>
          </p:cNvSpPr>
          <p:nvPr>
            <p:ph type="sldNum" sz="quarter" idx="21"/>
          </p:nvPr>
        </p:nvSpPr>
        <p:spPr/>
        <p:txBody>
          <a:bodyPr/>
          <a:lstStyle/>
          <a:p>
            <a:fld id="{9F9F533D-B52E-4A2F-BF72-0ADD2D94BD75}" type="slidenum">
              <a:rPr lang="en-GB" smtClean="0"/>
              <a:pPr/>
              <a:t>4</a:t>
            </a:fld>
            <a:endParaRPr lang="en-GB"/>
          </a:p>
        </p:txBody>
      </p:sp>
      <p:sp>
        <p:nvSpPr>
          <p:cNvPr id="9" name="Date Placeholder 1">
            <a:extLst>
              <a:ext uri="{FF2B5EF4-FFF2-40B4-BE49-F238E27FC236}">
                <a16:creationId xmlns:a16="http://schemas.microsoft.com/office/drawing/2014/main" id="{D66E2C1E-B4A1-489C-AA94-71DE89D20FCF}"/>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cxnSp>
        <p:nvCxnSpPr>
          <p:cNvPr id="21" name="Straight Arrow Connector 20">
            <a:extLst>
              <a:ext uri="{FF2B5EF4-FFF2-40B4-BE49-F238E27FC236}">
                <a16:creationId xmlns:a16="http://schemas.microsoft.com/office/drawing/2014/main" id="{6C01D290-ED60-4215-BDB4-E1D906BF4D7D}"/>
              </a:ext>
            </a:extLst>
          </p:cNvPr>
          <p:cNvCxnSpPr>
            <a:cxnSpLocks/>
            <a:stCxn id="86" idx="3"/>
          </p:cNvCxnSpPr>
          <p:nvPr/>
        </p:nvCxnSpPr>
        <p:spPr>
          <a:xfrm flipV="1">
            <a:off x="3892901" y="2264511"/>
            <a:ext cx="793432" cy="92377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7287C7D-1751-41F5-A62C-84AE47173E82}"/>
              </a:ext>
            </a:extLst>
          </p:cNvPr>
          <p:cNvCxnSpPr>
            <a:cxnSpLocks/>
            <a:stCxn id="86" idx="3"/>
          </p:cNvCxnSpPr>
          <p:nvPr/>
        </p:nvCxnSpPr>
        <p:spPr>
          <a:xfrm>
            <a:off x="3892901" y="3188281"/>
            <a:ext cx="848043" cy="70150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0D9D7CBE-8FED-4095-9EED-F3E9214E6E09}"/>
              </a:ext>
            </a:extLst>
          </p:cNvPr>
          <p:cNvSpPr txBox="1"/>
          <p:nvPr/>
        </p:nvSpPr>
        <p:spPr>
          <a:xfrm>
            <a:off x="7996414" y="1596054"/>
            <a:ext cx="951411" cy="923330"/>
          </a:xfrm>
          <a:prstGeom prst="rect">
            <a:avLst/>
          </a:prstGeom>
          <a:noFill/>
        </p:spPr>
        <p:txBody>
          <a:bodyPr wrap="square" rtlCol="0">
            <a:spAutoFit/>
          </a:bodyPr>
          <a:lstStyle/>
          <a:p>
            <a:pPr>
              <a:buClr>
                <a:schemeClr val="tx1"/>
              </a:buClr>
            </a:pPr>
            <a:r>
              <a:rPr lang="en-GB" sz="5400">
                <a:solidFill>
                  <a:schemeClr val="accent3">
                    <a:lumMod val="40000"/>
                    <a:lumOff val="60000"/>
                  </a:schemeClr>
                </a:solidFill>
                <a:sym typeface="Wingdings" panose="05000000000000000000" pitchFamily="2" charset="2"/>
              </a:rPr>
              <a:t></a:t>
            </a:r>
            <a:endParaRPr lang="en-GB" sz="5400">
              <a:solidFill>
                <a:schemeClr val="accent3">
                  <a:lumMod val="40000"/>
                  <a:lumOff val="60000"/>
                </a:schemeClr>
              </a:solidFill>
            </a:endParaRPr>
          </a:p>
        </p:txBody>
      </p:sp>
      <p:sp>
        <p:nvSpPr>
          <p:cNvPr id="76" name="TextBox 75">
            <a:extLst>
              <a:ext uri="{FF2B5EF4-FFF2-40B4-BE49-F238E27FC236}">
                <a16:creationId xmlns:a16="http://schemas.microsoft.com/office/drawing/2014/main" id="{7DB9F8E1-6875-4CEF-BB2A-09D3D9E528D4}"/>
              </a:ext>
            </a:extLst>
          </p:cNvPr>
          <p:cNvSpPr txBox="1"/>
          <p:nvPr/>
        </p:nvSpPr>
        <p:spPr>
          <a:xfrm>
            <a:off x="7953029" y="3109428"/>
            <a:ext cx="951411" cy="923330"/>
          </a:xfrm>
          <a:prstGeom prst="rect">
            <a:avLst/>
          </a:prstGeom>
          <a:noFill/>
        </p:spPr>
        <p:txBody>
          <a:bodyPr wrap="square" rtlCol="0">
            <a:spAutoFit/>
          </a:bodyPr>
          <a:lstStyle/>
          <a:p>
            <a:pPr>
              <a:buClr>
                <a:schemeClr val="tx1"/>
              </a:buClr>
            </a:pPr>
            <a:r>
              <a:rPr lang="en-GB" sz="5400">
                <a:solidFill>
                  <a:schemeClr val="accent3">
                    <a:lumMod val="40000"/>
                    <a:lumOff val="60000"/>
                  </a:schemeClr>
                </a:solidFill>
                <a:sym typeface="Wingdings" panose="05000000000000000000" pitchFamily="2" charset="2"/>
              </a:rPr>
              <a:t></a:t>
            </a:r>
            <a:endParaRPr lang="en-GB" sz="5400">
              <a:solidFill>
                <a:schemeClr val="accent3">
                  <a:lumMod val="40000"/>
                  <a:lumOff val="60000"/>
                </a:schemeClr>
              </a:solidFill>
            </a:endParaRPr>
          </a:p>
        </p:txBody>
      </p:sp>
      <p:sp>
        <p:nvSpPr>
          <p:cNvPr id="82" name="TextBox 81">
            <a:extLst>
              <a:ext uri="{FF2B5EF4-FFF2-40B4-BE49-F238E27FC236}">
                <a16:creationId xmlns:a16="http://schemas.microsoft.com/office/drawing/2014/main" id="{25C113BE-88F2-43D5-8DF3-40A266AB845B}"/>
              </a:ext>
            </a:extLst>
          </p:cNvPr>
          <p:cNvSpPr txBox="1"/>
          <p:nvPr/>
        </p:nvSpPr>
        <p:spPr>
          <a:xfrm>
            <a:off x="7996414" y="1700787"/>
            <a:ext cx="951411" cy="923330"/>
          </a:xfrm>
          <a:prstGeom prst="rect">
            <a:avLst/>
          </a:prstGeom>
          <a:solidFill>
            <a:schemeClr val="bg1"/>
          </a:solidFill>
          <a:ln>
            <a:solidFill>
              <a:schemeClr val="bg1"/>
            </a:solidFill>
          </a:ln>
        </p:spPr>
        <p:txBody>
          <a:bodyPr wrap="square" rtlCol="0">
            <a:spAutoFit/>
          </a:bodyPr>
          <a:lstStyle/>
          <a:p>
            <a:pPr>
              <a:buClr>
                <a:schemeClr val="tx1"/>
              </a:buClr>
            </a:pPr>
            <a:r>
              <a:rPr lang="en-GB" sz="5400">
                <a:solidFill>
                  <a:srgbClr val="C00000"/>
                </a:solidFill>
                <a:sym typeface="Wingdings" panose="05000000000000000000" pitchFamily="2" charset="2"/>
              </a:rPr>
              <a:t></a:t>
            </a:r>
            <a:endParaRPr lang="en-GB" sz="5400">
              <a:solidFill>
                <a:srgbClr val="C00000"/>
              </a:solidFill>
            </a:endParaRPr>
          </a:p>
        </p:txBody>
      </p:sp>
      <p:pic>
        <p:nvPicPr>
          <p:cNvPr id="60" name="Picture 2" descr="Premium Vector | Flat avatars. male and female heads, business persons  portraits. users cartoon faces set. illustration profile person avatar,  anonymous woman and man portrait">
            <a:extLst>
              <a:ext uri="{FF2B5EF4-FFF2-40B4-BE49-F238E27FC236}">
                <a16:creationId xmlns:a16="http://schemas.microsoft.com/office/drawing/2014/main" id="{C38C31AD-9AC4-411E-AF91-CF00C75D0A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593" y="1741435"/>
            <a:ext cx="3604964" cy="2948470"/>
          </a:xfrm>
          <a:prstGeom prst="rect">
            <a:avLst/>
          </a:prstGeom>
          <a:noFill/>
          <a:extLst>
            <a:ext uri="{909E8E84-426E-40DD-AFC4-6F175D3DCCD1}">
              <a14:hiddenFill xmlns:a14="http://schemas.microsoft.com/office/drawing/2010/main">
                <a:solidFill>
                  <a:srgbClr val="FFFFFF"/>
                </a:solidFill>
              </a14:hiddenFill>
            </a:ext>
          </a:extLst>
        </p:spPr>
      </p:pic>
      <p:sp>
        <p:nvSpPr>
          <p:cNvPr id="83" name="Rectangle 82">
            <a:extLst>
              <a:ext uri="{FF2B5EF4-FFF2-40B4-BE49-F238E27FC236}">
                <a16:creationId xmlns:a16="http://schemas.microsoft.com/office/drawing/2014/main" id="{9A98963E-5E75-4E4B-9D07-613F48531B66}"/>
              </a:ext>
            </a:extLst>
          </p:cNvPr>
          <p:cNvSpPr/>
          <p:nvPr/>
        </p:nvSpPr>
        <p:spPr bwMode="auto">
          <a:xfrm>
            <a:off x="2074933" y="1729729"/>
            <a:ext cx="910314" cy="984202"/>
          </a:xfrm>
          <a:prstGeom prst="rect">
            <a:avLst/>
          </a:prstGeom>
          <a:solidFill>
            <a:srgbClr val="92D050">
              <a:alpha val="50196"/>
            </a:srgb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84" name="Rectangle 83">
            <a:extLst>
              <a:ext uri="{FF2B5EF4-FFF2-40B4-BE49-F238E27FC236}">
                <a16:creationId xmlns:a16="http://schemas.microsoft.com/office/drawing/2014/main" id="{82D5B0AB-E277-4CD2-ACE9-8745ACFC67FF}"/>
              </a:ext>
            </a:extLst>
          </p:cNvPr>
          <p:cNvSpPr/>
          <p:nvPr/>
        </p:nvSpPr>
        <p:spPr bwMode="auto">
          <a:xfrm>
            <a:off x="1147586" y="1729730"/>
            <a:ext cx="910314" cy="984202"/>
          </a:xfrm>
          <a:prstGeom prst="rect">
            <a:avLst/>
          </a:prstGeom>
          <a:solidFill>
            <a:srgbClr val="92D050">
              <a:alpha val="50196"/>
            </a:srgb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85" name="Rectangle 84">
            <a:extLst>
              <a:ext uri="{FF2B5EF4-FFF2-40B4-BE49-F238E27FC236}">
                <a16:creationId xmlns:a16="http://schemas.microsoft.com/office/drawing/2014/main" id="{27164221-890F-4E78-9763-3C89954B91A1}"/>
              </a:ext>
            </a:extLst>
          </p:cNvPr>
          <p:cNvSpPr/>
          <p:nvPr/>
        </p:nvSpPr>
        <p:spPr bwMode="auto">
          <a:xfrm>
            <a:off x="295867" y="2745856"/>
            <a:ext cx="851719" cy="884851"/>
          </a:xfrm>
          <a:prstGeom prst="rect">
            <a:avLst/>
          </a:prstGeom>
          <a:solidFill>
            <a:srgbClr val="92D050">
              <a:alpha val="50196"/>
            </a:srgb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86" name="Rectangle 85">
            <a:extLst>
              <a:ext uri="{FF2B5EF4-FFF2-40B4-BE49-F238E27FC236}">
                <a16:creationId xmlns:a16="http://schemas.microsoft.com/office/drawing/2014/main" id="{7AECBF49-616F-4A05-BD57-4938A89CBFCC}"/>
              </a:ext>
            </a:extLst>
          </p:cNvPr>
          <p:cNvSpPr/>
          <p:nvPr/>
        </p:nvSpPr>
        <p:spPr bwMode="auto">
          <a:xfrm>
            <a:off x="2982587" y="2717385"/>
            <a:ext cx="910314" cy="941792"/>
          </a:xfrm>
          <a:prstGeom prst="rect">
            <a:avLst/>
          </a:prstGeom>
          <a:solidFill>
            <a:srgbClr val="92D050">
              <a:alpha val="50196"/>
            </a:srgb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87" name="Rectangle 86">
            <a:extLst>
              <a:ext uri="{FF2B5EF4-FFF2-40B4-BE49-F238E27FC236}">
                <a16:creationId xmlns:a16="http://schemas.microsoft.com/office/drawing/2014/main" id="{0FF8BECB-01A1-48AA-B7BC-474CCAB99F08}"/>
              </a:ext>
            </a:extLst>
          </p:cNvPr>
          <p:cNvSpPr/>
          <p:nvPr/>
        </p:nvSpPr>
        <p:spPr bwMode="auto">
          <a:xfrm>
            <a:off x="1154773" y="3650927"/>
            <a:ext cx="910314" cy="984202"/>
          </a:xfrm>
          <a:prstGeom prst="rect">
            <a:avLst/>
          </a:prstGeom>
          <a:solidFill>
            <a:srgbClr val="92D050">
              <a:alpha val="50196"/>
            </a:srgb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88" name="Rectangle 87">
            <a:extLst>
              <a:ext uri="{FF2B5EF4-FFF2-40B4-BE49-F238E27FC236}">
                <a16:creationId xmlns:a16="http://schemas.microsoft.com/office/drawing/2014/main" id="{C97C8DCF-AEB6-4B71-86F9-1D51DE69A965}"/>
              </a:ext>
            </a:extLst>
          </p:cNvPr>
          <p:cNvSpPr/>
          <p:nvPr/>
        </p:nvSpPr>
        <p:spPr bwMode="auto">
          <a:xfrm>
            <a:off x="2982587" y="3650927"/>
            <a:ext cx="910314" cy="962251"/>
          </a:xfrm>
          <a:prstGeom prst="rect">
            <a:avLst/>
          </a:prstGeom>
          <a:solidFill>
            <a:srgbClr val="92D050">
              <a:alpha val="50196"/>
            </a:srgb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pic>
        <p:nvPicPr>
          <p:cNvPr id="4" name="Picture 3">
            <a:extLst>
              <a:ext uri="{FF2B5EF4-FFF2-40B4-BE49-F238E27FC236}">
                <a16:creationId xmlns:a16="http://schemas.microsoft.com/office/drawing/2014/main" id="{7B48B7A9-1EA3-4ED9-BA25-DA01317F71D7}"/>
              </a:ext>
            </a:extLst>
          </p:cNvPr>
          <p:cNvPicPr>
            <a:picLocks noChangeAspect="1"/>
          </p:cNvPicPr>
          <p:nvPr/>
        </p:nvPicPr>
        <p:blipFill rotWithShape="1">
          <a:blip r:embed="rId4"/>
          <a:srcRect l="1127" t="-7386"/>
          <a:stretch/>
        </p:blipFill>
        <p:spPr>
          <a:xfrm>
            <a:off x="4822784" y="1823330"/>
            <a:ext cx="3037179" cy="696054"/>
          </a:xfrm>
          <a:prstGeom prst="rect">
            <a:avLst/>
          </a:prstGeom>
        </p:spPr>
      </p:pic>
      <p:pic>
        <p:nvPicPr>
          <p:cNvPr id="6" name="Picture 5">
            <a:extLst>
              <a:ext uri="{FF2B5EF4-FFF2-40B4-BE49-F238E27FC236}">
                <a16:creationId xmlns:a16="http://schemas.microsoft.com/office/drawing/2014/main" id="{A3D80E64-007A-41E2-B90E-FDF71E1700F9}"/>
              </a:ext>
            </a:extLst>
          </p:cNvPr>
          <p:cNvPicPr>
            <a:picLocks noChangeAspect="1"/>
          </p:cNvPicPr>
          <p:nvPr/>
        </p:nvPicPr>
        <p:blipFill>
          <a:blip r:embed="rId5"/>
          <a:stretch>
            <a:fillRect/>
          </a:stretch>
        </p:blipFill>
        <p:spPr>
          <a:xfrm>
            <a:off x="4893446" y="3605530"/>
            <a:ext cx="2894185" cy="595066"/>
          </a:xfrm>
          <a:prstGeom prst="rect">
            <a:avLst/>
          </a:prstGeom>
        </p:spPr>
      </p:pic>
      <p:sp>
        <p:nvSpPr>
          <p:cNvPr id="92" name="Rectangle 91">
            <a:extLst>
              <a:ext uri="{FF2B5EF4-FFF2-40B4-BE49-F238E27FC236}">
                <a16:creationId xmlns:a16="http://schemas.microsoft.com/office/drawing/2014/main" id="{27A98CF0-4A4F-4E97-A05F-CF0623276D84}"/>
              </a:ext>
            </a:extLst>
          </p:cNvPr>
          <p:cNvSpPr/>
          <p:nvPr/>
        </p:nvSpPr>
        <p:spPr bwMode="auto">
          <a:xfrm>
            <a:off x="5367981" y="1823330"/>
            <a:ext cx="510305" cy="696054"/>
          </a:xfrm>
          <a:prstGeom prst="rect">
            <a:avLst/>
          </a:prstGeom>
          <a:solidFill>
            <a:srgbClr val="92D050">
              <a:alpha val="50196"/>
            </a:srgb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01" name="Rectangle 100">
            <a:extLst>
              <a:ext uri="{FF2B5EF4-FFF2-40B4-BE49-F238E27FC236}">
                <a16:creationId xmlns:a16="http://schemas.microsoft.com/office/drawing/2014/main" id="{4A5FFF71-2B13-4FAD-98AC-03CBA289139D}"/>
              </a:ext>
            </a:extLst>
          </p:cNvPr>
          <p:cNvSpPr/>
          <p:nvPr/>
        </p:nvSpPr>
        <p:spPr bwMode="auto">
          <a:xfrm>
            <a:off x="5878286" y="1824096"/>
            <a:ext cx="510305" cy="696054"/>
          </a:xfrm>
          <a:prstGeom prst="rect">
            <a:avLst/>
          </a:prstGeom>
          <a:solidFill>
            <a:srgbClr val="92D050">
              <a:alpha val="50196"/>
            </a:srgb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02" name="Rectangle 101">
            <a:extLst>
              <a:ext uri="{FF2B5EF4-FFF2-40B4-BE49-F238E27FC236}">
                <a16:creationId xmlns:a16="http://schemas.microsoft.com/office/drawing/2014/main" id="{F1DAF1B7-A001-4BD0-A617-DAB0DDB0A4FB}"/>
              </a:ext>
            </a:extLst>
          </p:cNvPr>
          <p:cNvSpPr/>
          <p:nvPr/>
        </p:nvSpPr>
        <p:spPr bwMode="auto">
          <a:xfrm>
            <a:off x="6879590" y="1802983"/>
            <a:ext cx="510305" cy="696054"/>
          </a:xfrm>
          <a:prstGeom prst="rect">
            <a:avLst/>
          </a:prstGeom>
          <a:solidFill>
            <a:srgbClr val="92D050">
              <a:alpha val="50196"/>
            </a:srgb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03" name="Rectangle 102">
            <a:extLst>
              <a:ext uri="{FF2B5EF4-FFF2-40B4-BE49-F238E27FC236}">
                <a16:creationId xmlns:a16="http://schemas.microsoft.com/office/drawing/2014/main" id="{FA5F57A8-25CF-4F53-A34E-8A4E83247DF5}"/>
              </a:ext>
            </a:extLst>
          </p:cNvPr>
          <p:cNvSpPr/>
          <p:nvPr/>
        </p:nvSpPr>
        <p:spPr bwMode="auto">
          <a:xfrm>
            <a:off x="5367981" y="3454940"/>
            <a:ext cx="510305" cy="675100"/>
          </a:xfrm>
          <a:prstGeom prst="rect">
            <a:avLst/>
          </a:prstGeom>
          <a:solidFill>
            <a:srgbClr val="92D050">
              <a:alpha val="50196"/>
            </a:srgb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04" name="Rectangle 103">
            <a:extLst>
              <a:ext uri="{FF2B5EF4-FFF2-40B4-BE49-F238E27FC236}">
                <a16:creationId xmlns:a16="http://schemas.microsoft.com/office/drawing/2014/main" id="{095893F6-AC59-4A80-AA3D-FDC7054202D5}"/>
              </a:ext>
            </a:extLst>
          </p:cNvPr>
          <p:cNvSpPr/>
          <p:nvPr/>
        </p:nvSpPr>
        <p:spPr bwMode="auto">
          <a:xfrm>
            <a:off x="6370320" y="3454940"/>
            <a:ext cx="528576" cy="675100"/>
          </a:xfrm>
          <a:prstGeom prst="rect">
            <a:avLst/>
          </a:prstGeom>
          <a:solidFill>
            <a:srgbClr val="92D050">
              <a:alpha val="50196"/>
            </a:srgb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05" name="Rectangle 104">
            <a:extLst>
              <a:ext uri="{FF2B5EF4-FFF2-40B4-BE49-F238E27FC236}">
                <a16:creationId xmlns:a16="http://schemas.microsoft.com/office/drawing/2014/main" id="{81AC7163-EA4E-49D3-8CB6-68D29E6BC75A}"/>
              </a:ext>
            </a:extLst>
          </p:cNvPr>
          <p:cNvSpPr/>
          <p:nvPr/>
        </p:nvSpPr>
        <p:spPr bwMode="auto">
          <a:xfrm>
            <a:off x="7327134" y="3454940"/>
            <a:ext cx="519993" cy="659860"/>
          </a:xfrm>
          <a:prstGeom prst="rect">
            <a:avLst/>
          </a:prstGeom>
          <a:solidFill>
            <a:srgbClr val="92D050">
              <a:alpha val="50196"/>
            </a:srgb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06" name="Rectangle 105">
            <a:extLst>
              <a:ext uri="{FF2B5EF4-FFF2-40B4-BE49-F238E27FC236}">
                <a16:creationId xmlns:a16="http://schemas.microsoft.com/office/drawing/2014/main" id="{CA094B85-3B84-4769-8D60-E19C54E04E5E}"/>
              </a:ext>
            </a:extLst>
          </p:cNvPr>
          <p:cNvSpPr/>
          <p:nvPr/>
        </p:nvSpPr>
        <p:spPr bwMode="auto">
          <a:xfrm>
            <a:off x="5878286" y="3454940"/>
            <a:ext cx="492034" cy="675100"/>
          </a:xfrm>
          <a:prstGeom prst="rect">
            <a:avLst/>
          </a:prstGeom>
          <a:solidFill>
            <a:srgbClr val="92D050">
              <a:alpha val="50196"/>
            </a:srgb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07" name="Rectangle 106">
            <a:extLst>
              <a:ext uri="{FF2B5EF4-FFF2-40B4-BE49-F238E27FC236}">
                <a16:creationId xmlns:a16="http://schemas.microsoft.com/office/drawing/2014/main" id="{F3AD1E37-D849-4CD2-A92E-B05835D53EB8}"/>
              </a:ext>
            </a:extLst>
          </p:cNvPr>
          <p:cNvSpPr/>
          <p:nvPr/>
        </p:nvSpPr>
        <p:spPr bwMode="auto">
          <a:xfrm>
            <a:off x="6898896" y="3454940"/>
            <a:ext cx="428238" cy="675100"/>
          </a:xfrm>
          <a:prstGeom prst="rect">
            <a:avLst/>
          </a:prstGeom>
          <a:solidFill>
            <a:srgbClr val="92D050">
              <a:alpha val="50196"/>
            </a:srgb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7" name="TextBox 6">
            <a:extLst>
              <a:ext uri="{FF2B5EF4-FFF2-40B4-BE49-F238E27FC236}">
                <a16:creationId xmlns:a16="http://schemas.microsoft.com/office/drawing/2014/main" id="{E52A2B61-6308-45F3-B178-A471579EF372}"/>
              </a:ext>
            </a:extLst>
          </p:cNvPr>
          <p:cNvSpPr txBox="1"/>
          <p:nvPr/>
        </p:nvSpPr>
        <p:spPr>
          <a:xfrm>
            <a:off x="5894733" y="2622306"/>
            <a:ext cx="1479750" cy="279869"/>
          </a:xfrm>
          <a:prstGeom prst="rect">
            <a:avLst/>
          </a:prstGeom>
          <a:noFill/>
        </p:spPr>
        <p:txBody>
          <a:bodyPr wrap="square" rtlCol="0">
            <a:spAutoFit/>
          </a:bodyPr>
          <a:lstStyle/>
          <a:p>
            <a:pPr>
              <a:buClr>
                <a:schemeClr val="tx1"/>
              </a:buClr>
            </a:pPr>
            <a:r>
              <a:rPr lang="en-GB" sz="1200"/>
              <a:t>Subgroup A</a:t>
            </a:r>
          </a:p>
        </p:txBody>
      </p:sp>
      <p:sp>
        <p:nvSpPr>
          <p:cNvPr id="108" name="TextBox 107">
            <a:extLst>
              <a:ext uri="{FF2B5EF4-FFF2-40B4-BE49-F238E27FC236}">
                <a16:creationId xmlns:a16="http://schemas.microsoft.com/office/drawing/2014/main" id="{5970911F-55E4-462A-8ACF-423DAF74798C}"/>
              </a:ext>
            </a:extLst>
          </p:cNvPr>
          <p:cNvSpPr txBox="1"/>
          <p:nvPr/>
        </p:nvSpPr>
        <p:spPr>
          <a:xfrm>
            <a:off x="5894733" y="4182602"/>
            <a:ext cx="1479750" cy="279869"/>
          </a:xfrm>
          <a:prstGeom prst="rect">
            <a:avLst/>
          </a:prstGeom>
          <a:noFill/>
        </p:spPr>
        <p:txBody>
          <a:bodyPr wrap="square" rtlCol="0">
            <a:spAutoFit/>
          </a:bodyPr>
          <a:lstStyle/>
          <a:p>
            <a:pPr>
              <a:buClr>
                <a:schemeClr val="tx1"/>
              </a:buClr>
            </a:pPr>
            <a:r>
              <a:rPr lang="en-GB" sz="1200"/>
              <a:t>Subgroup B</a:t>
            </a:r>
          </a:p>
        </p:txBody>
      </p:sp>
    </p:spTree>
    <p:extLst>
      <p:ext uri="{BB962C8B-B14F-4D97-AF65-F5344CB8AC3E}">
        <p14:creationId xmlns:p14="http://schemas.microsoft.com/office/powerpoint/2010/main" val="539150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childTnLst>
                                    <p:set>
                                      <p:cBhvr>
                                        <p:cTn id="32" dur="1" fill="hold">
                                          <p:stCondLst>
                                            <p:cond delay="0"/>
                                          </p:stCondLst>
                                        </p:cTn>
                                        <p:tgtEl>
                                          <p:spTgt spid="1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2"/>
                                        </p:tgtEl>
                                        <p:attrNameLst>
                                          <p:attrName>style.visibility</p:attrName>
                                        </p:attrNameLst>
                                      </p:cBhvr>
                                      <p:to>
                                        <p:strVal val="visible"/>
                                      </p:to>
                                    </p:set>
                                  </p:childTnLst>
                                </p:cTn>
                              </p:par>
                              <p:par>
                                <p:cTn id="59" presetID="1" presetClass="exit" presetSubtype="0" fill="hold" grpId="0" nodeType="withEffect">
                                  <p:stCondLst>
                                    <p:cond delay="0"/>
                                  </p:stCondLst>
                                  <p:childTnLst>
                                    <p:set>
                                      <p:cBhvr>
                                        <p:cTn id="60" dur="1" fill="hold">
                                          <p:stCondLst>
                                            <p:cond delay="0"/>
                                          </p:stCondLst>
                                        </p:cTn>
                                        <p:tgtEl>
                                          <p:spTgt spid="102"/>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101"/>
                                        </p:tgtEl>
                                        <p:attrNameLst>
                                          <p:attrName>style.visibility</p:attrName>
                                        </p:attrNameLst>
                                      </p:cBhvr>
                                      <p:to>
                                        <p:strVal val="hidden"/>
                                      </p:to>
                                    </p:set>
                                  </p:childTnLst>
                                </p:cTn>
                              </p:par>
                              <p:par>
                                <p:cTn id="63" presetID="1" presetClass="entr" presetSubtype="0" fill="hold" grpId="0" nodeType="withEffect">
                                  <p:stCondLst>
                                    <p:cond delay="0"/>
                                  </p:stCondLst>
                                  <p:childTnLst>
                                    <p:set>
                                      <p:cBhvr>
                                        <p:cTn id="64" dur="1" fill="hold">
                                          <p:stCondLst>
                                            <p:cond delay="0"/>
                                          </p:stCondLst>
                                        </p:cTn>
                                        <p:tgtEl>
                                          <p:spTgt spid="10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6" grpId="0"/>
      <p:bldP spid="82" grpId="0" animBg="1"/>
      <p:bldP spid="83" grpId="0" animBg="1"/>
      <p:bldP spid="84" grpId="0" animBg="1"/>
      <p:bldP spid="85" grpId="0" animBg="1"/>
      <p:bldP spid="86" grpId="0" animBg="1"/>
      <p:bldP spid="87" grpId="0" animBg="1"/>
      <p:bldP spid="88" grpId="0" animBg="1"/>
      <p:bldP spid="92" grpId="0" animBg="1"/>
      <p:bldP spid="101" grpId="0" animBg="1"/>
      <p:bldP spid="101" grpId="1" animBg="1"/>
      <p:bldP spid="102" grpId="0" animBg="1"/>
      <p:bldP spid="102" grpId="1" animBg="1"/>
      <p:bldP spid="103" grpId="0" animBg="1"/>
      <p:bldP spid="104" grpId="0" animBg="1"/>
      <p:bldP spid="105" grpId="0" animBg="1"/>
      <p:bldP spid="106" grpId="0" animBg="1"/>
      <p:bldP spid="107" grpId="0" animBg="1"/>
      <p:bldP spid="7" grpId="0"/>
      <p:bldP spid="10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a:xfrm>
            <a:off x="359152" y="288639"/>
            <a:ext cx="7577139" cy="338554"/>
          </a:xfrm>
        </p:spPr>
        <p:txBody>
          <a:bodyPr/>
          <a:lstStyle/>
          <a:p>
            <a:r>
              <a:rPr lang="en-GB"/>
              <a:t>Subgroup Analyses – Why Do We Need Them?</a:t>
            </a:r>
            <a:endParaRPr lang="en-US"/>
          </a:p>
        </p:txBody>
      </p:sp>
      <p:sp>
        <p:nvSpPr>
          <p:cNvPr id="8" name="Slide Number Placeholder 7"/>
          <p:cNvSpPr>
            <a:spLocks noGrp="1"/>
          </p:cNvSpPr>
          <p:nvPr>
            <p:ph type="sldNum" sz="quarter" idx="21"/>
          </p:nvPr>
        </p:nvSpPr>
        <p:spPr/>
        <p:txBody>
          <a:bodyPr/>
          <a:lstStyle/>
          <a:p>
            <a:fld id="{9F9F533D-B52E-4A2F-BF72-0ADD2D94BD75}" type="slidenum">
              <a:rPr lang="en-GB" smtClean="0"/>
              <a:pPr/>
              <a:t>5</a:t>
            </a:fld>
            <a:endParaRPr lang="en-GB"/>
          </a:p>
        </p:txBody>
      </p:sp>
      <p:sp>
        <p:nvSpPr>
          <p:cNvPr id="15" name="Rectangle 14">
            <a:extLst>
              <a:ext uri="{FF2B5EF4-FFF2-40B4-BE49-F238E27FC236}">
                <a16:creationId xmlns:a16="http://schemas.microsoft.com/office/drawing/2014/main" id="{DE0B8888-A06D-4499-BAD7-7668A64260A5}"/>
              </a:ext>
            </a:extLst>
          </p:cNvPr>
          <p:cNvSpPr/>
          <p:nvPr/>
        </p:nvSpPr>
        <p:spPr>
          <a:xfrm>
            <a:off x="2473234" y="1472347"/>
            <a:ext cx="6670766" cy="646331"/>
          </a:xfrm>
          <a:prstGeom prst="rect">
            <a:avLst/>
          </a:prstGeom>
        </p:spPr>
        <p:txBody>
          <a:bodyPr wrap="square">
            <a:spAutoFit/>
          </a:bodyPr>
          <a:lstStyle/>
          <a:p>
            <a:endParaRPr lang="en-GB" sz="1200"/>
          </a:p>
          <a:p>
            <a:r>
              <a:rPr lang="en-GB" sz="1200"/>
              <a:t> </a:t>
            </a:r>
          </a:p>
          <a:p>
            <a:pPr marL="171450" indent="-171450">
              <a:buFont typeface="Arial" panose="020B0604020202020204" pitchFamily="34" charset="0"/>
              <a:buChar char="•"/>
            </a:pPr>
            <a:endParaRPr lang="en-GB" sz="1200"/>
          </a:p>
        </p:txBody>
      </p:sp>
      <p:sp>
        <p:nvSpPr>
          <p:cNvPr id="9" name="Date Placeholder 1">
            <a:extLst>
              <a:ext uri="{FF2B5EF4-FFF2-40B4-BE49-F238E27FC236}">
                <a16:creationId xmlns:a16="http://schemas.microsoft.com/office/drawing/2014/main" id="{86DC9ECE-DCA7-4FED-B7C3-FD3C092C29AD}"/>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pic>
        <p:nvPicPr>
          <p:cNvPr id="3" name="Graphic 2" descr="Scales of justice">
            <a:extLst>
              <a:ext uri="{FF2B5EF4-FFF2-40B4-BE49-F238E27FC236}">
                <a16:creationId xmlns:a16="http://schemas.microsoft.com/office/drawing/2014/main" id="{EBA1378D-0A58-4474-8AA2-DDEBCDD93AB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3351" y="2235602"/>
            <a:ext cx="681480" cy="681480"/>
          </a:xfrm>
          <a:prstGeom prst="rect">
            <a:avLst/>
          </a:prstGeom>
        </p:spPr>
      </p:pic>
      <p:pic>
        <p:nvPicPr>
          <p:cNvPr id="5" name="Graphic 4" descr="Stethoscope">
            <a:extLst>
              <a:ext uri="{FF2B5EF4-FFF2-40B4-BE49-F238E27FC236}">
                <a16:creationId xmlns:a16="http://schemas.microsoft.com/office/drawing/2014/main" id="{62606C25-953A-47D2-A475-6E6242779D7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2714" y="2130749"/>
            <a:ext cx="891187" cy="891187"/>
          </a:xfrm>
          <a:prstGeom prst="rect">
            <a:avLst/>
          </a:prstGeom>
        </p:spPr>
      </p:pic>
      <p:pic>
        <p:nvPicPr>
          <p:cNvPr id="7" name="Graphic 6" descr="Pound">
            <a:extLst>
              <a:ext uri="{FF2B5EF4-FFF2-40B4-BE49-F238E27FC236}">
                <a16:creationId xmlns:a16="http://schemas.microsoft.com/office/drawing/2014/main" id="{52BE137A-08C2-40F1-AC27-DC25EE347C4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19232" y="2151484"/>
            <a:ext cx="849717" cy="849717"/>
          </a:xfrm>
          <a:prstGeom prst="rect">
            <a:avLst/>
          </a:prstGeom>
        </p:spPr>
      </p:pic>
      <p:pic>
        <p:nvPicPr>
          <p:cNvPr id="11" name="Graphic 10" descr="New Wheelchair">
            <a:extLst>
              <a:ext uri="{FF2B5EF4-FFF2-40B4-BE49-F238E27FC236}">
                <a16:creationId xmlns:a16="http://schemas.microsoft.com/office/drawing/2014/main" id="{658AE95C-395B-4354-A0F8-CC3C58A6265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12998" y="2119142"/>
            <a:ext cx="914400" cy="914400"/>
          </a:xfrm>
          <a:prstGeom prst="rect">
            <a:avLst/>
          </a:prstGeom>
        </p:spPr>
      </p:pic>
      <p:sp>
        <p:nvSpPr>
          <p:cNvPr id="16" name="Rectangle: Rounded Corners 15">
            <a:extLst>
              <a:ext uri="{FF2B5EF4-FFF2-40B4-BE49-F238E27FC236}">
                <a16:creationId xmlns:a16="http://schemas.microsoft.com/office/drawing/2014/main" id="{4772285B-BB50-4640-A4CA-E52C964F324D}"/>
              </a:ext>
            </a:extLst>
          </p:cNvPr>
          <p:cNvSpPr/>
          <p:nvPr/>
        </p:nvSpPr>
        <p:spPr bwMode="auto">
          <a:xfrm>
            <a:off x="1659595" y="2246696"/>
            <a:ext cx="1474629" cy="656985"/>
          </a:xfrm>
          <a:prstGeom prst="roundRect">
            <a:avLst/>
          </a:prstGeom>
          <a:solidFill>
            <a:schemeClr val="bg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7" name="TextBox 16">
            <a:extLst>
              <a:ext uri="{FF2B5EF4-FFF2-40B4-BE49-F238E27FC236}">
                <a16:creationId xmlns:a16="http://schemas.microsoft.com/office/drawing/2014/main" id="{D5340CA3-A925-4F2F-8703-19E09AA6854C}"/>
              </a:ext>
            </a:extLst>
          </p:cNvPr>
          <p:cNvSpPr txBox="1"/>
          <p:nvPr/>
        </p:nvSpPr>
        <p:spPr>
          <a:xfrm>
            <a:off x="1719092" y="2392418"/>
            <a:ext cx="1378837" cy="369332"/>
          </a:xfrm>
          <a:prstGeom prst="rect">
            <a:avLst/>
          </a:prstGeom>
          <a:noFill/>
        </p:spPr>
        <p:txBody>
          <a:bodyPr wrap="square" rtlCol="0">
            <a:spAutoFit/>
          </a:bodyPr>
          <a:lstStyle/>
          <a:p>
            <a:pPr>
              <a:buClr>
                <a:schemeClr val="tx1"/>
              </a:buClr>
            </a:pPr>
            <a:r>
              <a:rPr lang="en-GB">
                <a:solidFill>
                  <a:schemeClr val="bg1"/>
                </a:solidFill>
              </a:rPr>
              <a:t>Regulators</a:t>
            </a:r>
          </a:p>
        </p:txBody>
      </p:sp>
      <p:sp>
        <p:nvSpPr>
          <p:cNvPr id="20" name="TextBox 19">
            <a:extLst>
              <a:ext uri="{FF2B5EF4-FFF2-40B4-BE49-F238E27FC236}">
                <a16:creationId xmlns:a16="http://schemas.microsoft.com/office/drawing/2014/main" id="{95A8796E-BB39-47C2-8BCB-28DE56C9A93A}"/>
              </a:ext>
            </a:extLst>
          </p:cNvPr>
          <p:cNvSpPr txBox="1"/>
          <p:nvPr/>
        </p:nvSpPr>
        <p:spPr>
          <a:xfrm>
            <a:off x="1729358" y="2391676"/>
            <a:ext cx="1378837" cy="369332"/>
          </a:xfrm>
          <a:prstGeom prst="rect">
            <a:avLst/>
          </a:prstGeom>
          <a:noFill/>
        </p:spPr>
        <p:txBody>
          <a:bodyPr wrap="square" rtlCol="0">
            <a:spAutoFit/>
          </a:bodyPr>
          <a:lstStyle/>
          <a:p>
            <a:pPr>
              <a:buClr>
                <a:schemeClr val="tx1"/>
              </a:buClr>
            </a:pPr>
            <a:r>
              <a:rPr lang="en-GB">
                <a:solidFill>
                  <a:schemeClr val="bg1"/>
                </a:solidFill>
              </a:rPr>
              <a:t>Physicians</a:t>
            </a:r>
          </a:p>
        </p:txBody>
      </p:sp>
      <p:sp>
        <p:nvSpPr>
          <p:cNvPr id="22" name="TextBox 21">
            <a:extLst>
              <a:ext uri="{FF2B5EF4-FFF2-40B4-BE49-F238E27FC236}">
                <a16:creationId xmlns:a16="http://schemas.microsoft.com/office/drawing/2014/main" id="{52C2E9B0-3677-4342-B229-4A9915522E19}"/>
              </a:ext>
            </a:extLst>
          </p:cNvPr>
          <p:cNvSpPr txBox="1"/>
          <p:nvPr/>
        </p:nvSpPr>
        <p:spPr>
          <a:xfrm>
            <a:off x="1869086" y="2391676"/>
            <a:ext cx="1378837" cy="369332"/>
          </a:xfrm>
          <a:prstGeom prst="rect">
            <a:avLst/>
          </a:prstGeom>
          <a:noFill/>
        </p:spPr>
        <p:txBody>
          <a:bodyPr wrap="square" rtlCol="0">
            <a:spAutoFit/>
          </a:bodyPr>
          <a:lstStyle/>
          <a:p>
            <a:pPr>
              <a:buClr>
                <a:schemeClr val="tx1"/>
              </a:buClr>
            </a:pPr>
            <a:r>
              <a:rPr lang="en-GB">
                <a:solidFill>
                  <a:schemeClr val="bg1"/>
                </a:solidFill>
              </a:rPr>
              <a:t>Payers</a:t>
            </a:r>
          </a:p>
        </p:txBody>
      </p:sp>
      <p:sp>
        <p:nvSpPr>
          <p:cNvPr id="24" name="TextBox 23">
            <a:extLst>
              <a:ext uri="{FF2B5EF4-FFF2-40B4-BE49-F238E27FC236}">
                <a16:creationId xmlns:a16="http://schemas.microsoft.com/office/drawing/2014/main" id="{D6398F6B-A2FA-4CBC-AAC8-69A49A296A5D}"/>
              </a:ext>
            </a:extLst>
          </p:cNvPr>
          <p:cNvSpPr txBox="1"/>
          <p:nvPr/>
        </p:nvSpPr>
        <p:spPr>
          <a:xfrm>
            <a:off x="1875904" y="2391676"/>
            <a:ext cx="1378837" cy="369332"/>
          </a:xfrm>
          <a:prstGeom prst="rect">
            <a:avLst/>
          </a:prstGeom>
          <a:noFill/>
        </p:spPr>
        <p:txBody>
          <a:bodyPr wrap="square" rtlCol="0">
            <a:spAutoFit/>
          </a:bodyPr>
          <a:lstStyle/>
          <a:p>
            <a:pPr>
              <a:buClr>
                <a:schemeClr val="tx1"/>
              </a:buClr>
            </a:pPr>
            <a:r>
              <a:rPr lang="en-GB">
                <a:solidFill>
                  <a:schemeClr val="bg1"/>
                </a:solidFill>
              </a:rPr>
              <a:t>Patients</a:t>
            </a:r>
          </a:p>
        </p:txBody>
      </p:sp>
      <p:grpSp>
        <p:nvGrpSpPr>
          <p:cNvPr id="44" name="Group 43">
            <a:extLst>
              <a:ext uri="{FF2B5EF4-FFF2-40B4-BE49-F238E27FC236}">
                <a16:creationId xmlns:a16="http://schemas.microsoft.com/office/drawing/2014/main" id="{084E91D5-8D45-4B24-8776-87E2D26CC6CF}"/>
              </a:ext>
            </a:extLst>
          </p:cNvPr>
          <p:cNvGrpSpPr/>
          <p:nvPr/>
        </p:nvGrpSpPr>
        <p:grpSpPr>
          <a:xfrm>
            <a:off x="4206524" y="2150819"/>
            <a:ext cx="4512430" cy="1109659"/>
            <a:chOff x="4206524" y="2150819"/>
            <a:chExt cx="4512430" cy="1109659"/>
          </a:xfrm>
        </p:grpSpPr>
        <p:sp>
          <p:nvSpPr>
            <p:cNvPr id="14" name="Speech Bubble: Rectangle with Corners Rounded 13">
              <a:extLst>
                <a:ext uri="{FF2B5EF4-FFF2-40B4-BE49-F238E27FC236}">
                  <a16:creationId xmlns:a16="http://schemas.microsoft.com/office/drawing/2014/main" id="{590D4769-2B61-4DE9-A5C1-BDE6E2F1F130}"/>
                </a:ext>
              </a:extLst>
            </p:cNvPr>
            <p:cNvSpPr/>
            <p:nvPr/>
          </p:nvSpPr>
          <p:spPr bwMode="auto">
            <a:xfrm>
              <a:off x="5564805" y="2150819"/>
              <a:ext cx="3154149" cy="1061837"/>
            </a:xfrm>
            <a:prstGeom prst="wedgeRoundRectCallout">
              <a:avLst>
                <a:gd name="adj1" fmla="val -64898"/>
                <a:gd name="adj2" fmla="val 18581"/>
                <a:gd name="adj3" fmla="val 16667"/>
              </a:avLst>
            </a:prstGeom>
            <a:solidFill>
              <a:srgbClr val="40488D"/>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ctr" eaLnBrk="0" fontAlgn="auto" hangingPunct="0">
                <a:spcBef>
                  <a:spcPts val="0"/>
                </a:spcBef>
                <a:spcAft>
                  <a:spcPts val="0"/>
                </a:spcAft>
                <a:buClr>
                  <a:schemeClr val="bg1"/>
                </a:buClr>
              </a:pPr>
              <a:r>
                <a:rPr lang="en-GB" b="1" kern="0">
                  <a:solidFill>
                    <a:srgbClr val="FFFFFF"/>
                  </a:solidFill>
                  <a:latin typeface="Arial"/>
                </a:rPr>
                <a:t>I’m a 53 year-old Asian woman. What will happen if I take this medicine?</a:t>
              </a:r>
            </a:p>
          </p:txBody>
        </p:sp>
        <p:sp>
          <p:nvSpPr>
            <p:cNvPr id="29" name="Freeform 142">
              <a:extLst>
                <a:ext uri="{FF2B5EF4-FFF2-40B4-BE49-F238E27FC236}">
                  <a16:creationId xmlns:a16="http://schemas.microsoft.com/office/drawing/2014/main" id="{DA4C05E5-E1AD-40A9-873D-A310B8BEF72B}"/>
                </a:ext>
              </a:extLst>
            </p:cNvPr>
            <p:cNvSpPr>
              <a:spLocks noChangeAspect="1" noEditPoints="1"/>
            </p:cNvSpPr>
            <p:nvPr/>
          </p:nvSpPr>
          <p:spPr bwMode="auto">
            <a:xfrm>
              <a:off x="4206524" y="2360478"/>
              <a:ext cx="835031" cy="900000"/>
            </a:xfrm>
            <a:custGeom>
              <a:avLst/>
              <a:gdLst>
                <a:gd name="T0" fmla="*/ 2040 w 2042"/>
                <a:gd name="T1" fmla="*/ 2059 h 2200"/>
                <a:gd name="T2" fmla="*/ 2022 w 2042"/>
                <a:gd name="T3" fmla="*/ 1890 h 2200"/>
                <a:gd name="T4" fmla="*/ 1963 w 2042"/>
                <a:gd name="T5" fmla="*/ 1749 h 2200"/>
                <a:gd name="T6" fmla="*/ 1951 w 2042"/>
                <a:gd name="T7" fmla="*/ 1737 h 2200"/>
                <a:gd name="T8" fmla="*/ 1930 w 2042"/>
                <a:gd name="T9" fmla="*/ 1719 h 2200"/>
                <a:gd name="T10" fmla="*/ 1907 w 2042"/>
                <a:gd name="T11" fmla="*/ 1704 h 2200"/>
                <a:gd name="T12" fmla="*/ 1878 w 2042"/>
                <a:gd name="T13" fmla="*/ 1690 h 2200"/>
                <a:gd name="T14" fmla="*/ 1400 w 2042"/>
                <a:gd name="T15" fmla="*/ 1465 h 2200"/>
                <a:gd name="T16" fmla="*/ 1445 w 2042"/>
                <a:gd name="T17" fmla="*/ 1426 h 2200"/>
                <a:gd name="T18" fmla="*/ 1606 w 2042"/>
                <a:gd name="T19" fmla="*/ 1426 h 2200"/>
                <a:gd name="T20" fmla="*/ 1662 w 2042"/>
                <a:gd name="T21" fmla="*/ 1393 h 2200"/>
                <a:gd name="T22" fmla="*/ 1673 w 2042"/>
                <a:gd name="T23" fmla="*/ 1326 h 2200"/>
                <a:gd name="T24" fmla="*/ 1642 w 2042"/>
                <a:gd name="T25" fmla="*/ 797 h 2200"/>
                <a:gd name="T26" fmla="*/ 1642 w 2042"/>
                <a:gd name="T27" fmla="*/ 620 h 2200"/>
                <a:gd name="T28" fmla="*/ 1021 w 2042"/>
                <a:gd name="T29" fmla="*/ 0 h 2200"/>
                <a:gd name="T30" fmla="*/ 400 w 2042"/>
                <a:gd name="T31" fmla="*/ 620 h 2200"/>
                <a:gd name="T32" fmla="*/ 400 w 2042"/>
                <a:gd name="T33" fmla="*/ 797 h 2200"/>
                <a:gd name="T34" fmla="*/ 369 w 2042"/>
                <a:gd name="T35" fmla="*/ 1326 h 2200"/>
                <a:gd name="T36" fmla="*/ 380 w 2042"/>
                <a:gd name="T37" fmla="*/ 1393 h 2200"/>
                <a:gd name="T38" fmla="*/ 436 w 2042"/>
                <a:gd name="T39" fmla="*/ 1426 h 2200"/>
                <a:gd name="T40" fmla="*/ 596 w 2042"/>
                <a:gd name="T41" fmla="*/ 1426 h 2200"/>
                <a:gd name="T42" fmla="*/ 642 w 2042"/>
                <a:gd name="T43" fmla="*/ 1465 h 2200"/>
                <a:gd name="T44" fmla="*/ 163 w 2042"/>
                <a:gd name="T45" fmla="*/ 1690 h 2200"/>
                <a:gd name="T46" fmla="*/ 135 w 2042"/>
                <a:gd name="T47" fmla="*/ 1704 h 2200"/>
                <a:gd name="T48" fmla="*/ 112 w 2042"/>
                <a:gd name="T49" fmla="*/ 1719 h 2200"/>
                <a:gd name="T50" fmla="*/ 90 w 2042"/>
                <a:gd name="T51" fmla="*/ 1737 h 2200"/>
                <a:gd name="T52" fmla="*/ 79 w 2042"/>
                <a:gd name="T53" fmla="*/ 1749 h 2200"/>
                <a:gd name="T54" fmla="*/ 20 w 2042"/>
                <a:gd name="T55" fmla="*/ 1890 h 2200"/>
                <a:gd name="T56" fmla="*/ 2 w 2042"/>
                <a:gd name="T57" fmla="*/ 2059 h 2200"/>
                <a:gd name="T58" fmla="*/ 6 w 2042"/>
                <a:gd name="T59" fmla="*/ 2115 h 2200"/>
                <a:gd name="T60" fmla="*/ 128 w 2042"/>
                <a:gd name="T61" fmla="*/ 2200 h 2200"/>
                <a:gd name="T62" fmla="*/ 128 w 2042"/>
                <a:gd name="T63" fmla="*/ 2200 h 2200"/>
                <a:gd name="T64" fmla="*/ 288 w 2042"/>
                <a:gd name="T65" fmla="*/ 2200 h 2200"/>
                <a:gd name="T66" fmla="*/ 319 w 2042"/>
                <a:gd name="T67" fmla="*/ 1995 h 2200"/>
                <a:gd name="T68" fmla="*/ 334 w 2042"/>
                <a:gd name="T69" fmla="*/ 1981 h 2200"/>
                <a:gd name="T70" fmla="*/ 964 w 2042"/>
                <a:gd name="T71" fmla="*/ 1671 h 2200"/>
                <a:gd name="T72" fmla="*/ 964 w 2042"/>
                <a:gd name="T73" fmla="*/ 1528 h 2200"/>
                <a:gd name="T74" fmla="*/ 1078 w 2042"/>
                <a:gd name="T75" fmla="*/ 1528 h 2200"/>
                <a:gd name="T76" fmla="*/ 1078 w 2042"/>
                <a:gd name="T77" fmla="*/ 1774 h 2200"/>
                <a:gd name="T78" fmla="*/ 1026 w 2042"/>
                <a:gd name="T79" fmla="*/ 1779 h 2200"/>
                <a:gd name="T80" fmla="*/ 426 w 2042"/>
                <a:gd name="T81" fmla="*/ 2054 h 2200"/>
                <a:gd name="T82" fmla="*/ 404 w 2042"/>
                <a:gd name="T83" fmla="*/ 2200 h 2200"/>
                <a:gd name="T84" fmla="*/ 1914 w 2042"/>
                <a:gd name="T85" fmla="*/ 2200 h 2200"/>
                <a:gd name="T86" fmla="*/ 2036 w 2042"/>
                <a:gd name="T87" fmla="*/ 2115 h 2200"/>
                <a:gd name="T88" fmla="*/ 2040 w 2042"/>
                <a:gd name="T89" fmla="*/ 2059 h 2200"/>
                <a:gd name="T90" fmla="*/ 1021 w 2042"/>
                <a:gd name="T91" fmla="*/ 1458 h 2200"/>
                <a:gd name="T92" fmla="*/ 538 w 2042"/>
                <a:gd name="T93" fmla="*/ 975 h 2200"/>
                <a:gd name="T94" fmla="*/ 538 w 2042"/>
                <a:gd name="T95" fmla="*/ 857 h 2200"/>
                <a:gd name="T96" fmla="*/ 771 w 2042"/>
                <a:gd name="T97" fmla="*/ 626 h 2200"/>
                <a:gd name="T98" fmla="*/ 1504 w 2042"/>
                <a:gd name="T99" fmla="*/ 626 h 2200"/>
                <a:gd name="T100" fmla="*/ 1504 w 2042"/>
                <a:gd name="T101" fmla="*/ 975 h 2200"/>
                <a:gd name="T102" fmla="*/ 1021 w 2042"/>
                <a:gd name="T103" fmla="*/ 1458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42" h="2200">
                  <a:moveTo>
                    <a:pt x="2040" y="2059"/>
                  </a:moveTo>
                  <a:cubicBezTo>
                    <a:pt x="2022" y="1890"/>
                    <a:pt x="2022" y="1890"/>
                    <a:pt x="2022" y="1890"/>
                  </a:cubicBezTo>
                  <a:cubicBezTo>
                    <a:pt x="2014" y="1826"/>
                    <a:pt x="1992" y="1782"/>
                    <a:pt x="1963" y="1749"/>
                  </a:cubicBezTo>
                  <a:cubicBezTo>
                    <a:pt x="1959" y="1745"/>
                    <a:pt x="1955" y="1741"/>
                    <a:pt x="1951" y="1737"/>
                  </a:cubicBezTo>
                  <a:cubicBezTo>
                    <a:pt x="1951" y="1736"/>
                    <a:pt x="1936" y="1724"/>
                    <a:pt x="1930" y="1719"/>
                  </a:cubicBezTo>
                  <a:cubicBezTo>
                    <a:pt x="1926" y="1716"/>
                    <a:pt x="1911" y="1706"/>
                    <a:pt x="1907" y="1704"/>
                  </a:cubicBezTo>
                  <a:cubicBezTo>
                    <a:pt x="1898" y="1699"/>
                    <a:pt x="1878" y="1690"/>
                    <a:pt x="1878" y="1690"/>
                  </a:cubicBezTo>
                  <a:cubicBezTo>
                    <a:pt x="1400" y="1465"/>
                    <a:pt x="1400" y="1465"/>
                    <a:pt x="1400" y="1465"/>
                  </a:cubicBezTo>
                  <a:cubicBezTo>
                    <a:pt x="1415" y="1453"/>
                    <a:pt x="1431" y="1440"/>
                    <a:pt x="1445" y="1426"/>
                  </a:cubicBezTo>
                  <a:cubicBezTo>
                    <a:pt x="1606" y="1426"/>
                    <a:pt x="1606" y="1426"/>
                    <a:pt x="1606" y="1426"/>
                  </a:cubicBezTo>
                  <a:cubicBezTo>
                    <a:pt x="1630" y="1426"/>
                    <a:pt x="1650" y="1414"/>
                    <a:pt x="1662" y="1393"/>
                  </a:cubicBezTo>
                  <a:cubicBezTo>
                    <a:pt x="1679" y="1365"/>
                    <a:pt x="1673" y="1326"/>
                    <a:pt x="1673" y="1326"/>
                  </a:cubicBezTo>
                  <a:cubicBezTo>
                    <a:pt x="1673" y="1326"/>
                    <a:pt x="1642" y="1031"/>
                    <a:pt x="1642" y="797"/>
                  </a:cubicBezTo>
                  <a:cubicBezTo>
                    <a:pt x="1642" y="620"/>
                    <a:pt x="1642" y="620"/>
                    <a:pt x="1642" y="620"/>
                  </a:cubicBezTo>
                  <a:cubicBezTo>
                    <a:pt x="1642" y="278"/>
                    <a:pt x="1364" y="0"/>
                    <a:pt x="1021" y="0"/>
                  </a:cubicBezTo>
                  <a:cubicBezTo>
                    <a:pt x="678" y="0"/>
                    <a:pt x="400" y="278"/>
                    <a:pt x="400" y="620"/>
                  </a:cubicBezTo>
                  <a:cubicBezTo>
                    <a:pt x="400" y="797"/>
                    <a:pt x="400" y="797"/>
                    <a:pt x="400" y="797"/>
                  </a:cubicBezTo>
                  <a:cubicBezTo>
                    <a:pt x="400" y="1031"/>
                    <a:pt x="369" y="1326"/>
                    <a:pt x="369" y="1326"/>
                  </a:cubicBezTo>
                  <a:cubicBezTo>
                    <a:pt x="369" y="1326"/>
                    <a:pt x="363" y="1365"/>
                    <a:pt x="380" y="1393"/>
                  </a:cubicBezTo>
                  <a:cubicBezTo>
                    <a:pt x="392" y="1414"/>
                    <a:pt x="412" y="1426"/>
                    <a:pt x="436" y="1426"/>
                  </a:cubicBezTo>
                  <a:cubicBezTo>
                    <a:pt x="596" y="1426"/>
                    <a:pt x="596" y="1426"/>
                    <a:pt x="596" y="1426"/>
                  </a:cubicBezTo>
                  <a:cubicBezTo>
                    <a:pt x="611" y="1440"/>
                    <a:pt x="626" y="1453"/>
                    <a:pt x="642" y="1465"/>
                  </a:cubicBezTo>
                  <a:cubicBezTo>
                    <a:pt x="163" y="1690"/>
                    <a:pt x="163" y="1690"/>
                    <a:pt x="163" y="1690"/>
                  </a:cubicBezTo>
                  <a:cubicBezTo>
                    <a:pt x="163" y="1690"/>
                    <a:pt x="144" y="1699"/>
                    <a:pt x="135" y="1704"/>
                  </a:cubicBezTo>
                  <a:cubicBezTo>
                    <a:pt x="131" y="1706"/>
                    <a:pt x="116" y="1716"/>
                    <a:pt x="112" y="1719"/>
                  </a:cubicBezTo>
                  <a:cubicBezTo>
                    <a:pt x="106" y="1724"/>
                    <a:pt x="91" y="1736"/>
                    <a:pt x="90" y="1737"/>
                  </a:cubicBezTo>
                  <a:cubicBezTo>
                    <a:pt x="86" y="1741"/>
                    <a:pt x="83" y="1745"/>
                    <a:pt x="79" y="1749"/>
                  </a:cubicBezTo>
                  <a:cubicBezTo>
                    <a:pt x="50" y="1782"/>
                    <a:pt x="28" y="1826"/>
                    <a:pt x="20" y="1890"/>
                  </a:cubicBezTo>
                  <a:cubicBezTo>
                    <a:pt x="2" y="2059"/>
                    <a:pt x="2" y="2059"/>
                    <a:pt x="2" y="2059"/>
                  </a:cubicBezTo>
                  <a:cubicBezTo>
                    <a:pt x="0" y="2079"/>
                    <a:pt x="1" y="2098"/>
                    <a:pt x="6" y="2115"/>
                  </a:cubicBezTo>
                  <a:cubicBezTo>
                    <a:pt x="23" y="2165"/>
                    <a:pt x="71" y="2200"/>
                    <a:pt x="128" y="2200"/>
                  </a:cubicBezTo>
                  <a:cubicBezTo>
                    <a:pt x="128" y="2200"/>
                    <a:pt x="128" y="2200"/>
                    <a:pt x="128" y="2200"/>
                  </a:cubicBezTo>
                  <a:cubicBezTo>
                    <a:pt x="288" y="2200"/>
                    <a:pt x="288" y="2200"/>
                    <a:pt x="288" y="2200"/>
                  </a:cubicBezTo>
                  <a:cubicBezTo>
                    <a:pt x="319" y="1995"/>
                    <a:pt x="319" y="1995"/>
                    <a:pt x="319" y="1995"/>
                  </a:cubicBezTo>
                  <a:cubicBezTo>
                    <a:pt x="334" y="1981"/>
                    <a:pt x="334" y="1981"/>
                    <a:pt x="334" y="1981"/>
                  </a:cubicBezTo>
                  <a:cubicBezTo>
                    <a:pt x="346" y="1970"/>
                    <a:pt x="622" y="1724"/>
                    <a:pt x="964" y="1671"/>
                  </a:cubicBezTo>
                  <a:cubicBezTo>
                    <a:pt x="964" y="1528"/>
                    <a:pt x="964" y="1528"/>
                    <a:pt x="964" y="1528"/>
                  </a:cubicBezTo>
                  <a:cubicBezTo>
                    <a:pt x="1078" y="1528"/>
                    <a:pt x="1078" y="1528"/>
                    <a:pt x="1078" y="1528"/>
                  </a:cubicBezTo>
                  <a:cubicBezTo>
                    <a:pt x="1078" y="1774"/>
                    <a:pt x="1078" y="1774"/>
                    <a:pt x="1078" y="1774"/>
                  </a:cubicBezTo>
                  <a:cubicBezTo>
                    <a:pt x="1026" y="1779"/>
                    <a:pt x="1026" y="1779"/>
                    <a:pt x="1026" y="1779"/>
                  </a:cubicBezTo>
                  <a:cubicBezTo>
                    <a:pt x="742" y="1805"/>
                    <a:pt x="489" y="2001"/>
                    <a:pt x="426" y="2054"/>
                  </a:cubicBezTo>
                  <a:cubicBezTo>
                    <a:pt x="404" y="2200"/>
                    <a:pt x="404" y="2200"/>
                    <a:pt x="404" y="2200"/>
                  </a:cubicBezTo>
                  <a:cubicBezTo>
                    <a:pt x="1914" y="2200"/>
                    <a:pt x="1914" y="2200"/>
                    <a:pt x="1914" y="2200"/>
                  </a:cubicBezTo>
                  <a:cubicBezTo>
                    <a:pt x="1971" y="2200"/>
                    <a:pt x="2019" y="2165"/>
                    <a:pt x="2036" y="2115"/>
                  </a:cubicBezTo>
                  <a:cubicBezTo>
                    <a:pt x="2041" y="2098"/>
                    <a:pt x="2042" y="2079"/>
                    <a:pt x="2040" y="2059"/>
                  </a:cubicBezTo>
                  <a:moveTo>
                    <a:pt x="1021" y="1458"/>
                  </a:moveTo>
                  <a:cubicBezTo>
                    <a:pt x="755" y="1458"/>
                    <a:pt x="538" y="1241"/>
                    <a:pt x="538" y="975"/>
                  </a:cubicBezTo>
                  <a:cubicBezTo>
                    <a:pt x="538" y="857"/>
                    <a:pt x="538" y="857"/>
                    <a:pt x="538" y="857"/>
                  </a:cubicBezTo>
                  <a:cubicBezTo>
                    <a:pt x="540" y="729"/>
                    <a:pt x="643" y="626"/>
                    <a:pt x="771" y="626"/>
                  </a:cubicBezTo>
                  <a:cubicBezTo>
                    <a:pt x="1504" y="626"/>
                    <a:pt x="1504" y="626"/>
                    <a:pt x="1504" y="626"/>
                  </a:cubicBezTo>
                  <a:cubicBezTo>
                    <a:pt x="1504" y="626"/>
                    <a:pt x="1504" y="854"/>
                    <a:pt x="1504" y="975"/>
                  </a:cubicBezTo>
                  <a:cubicBezTo>
                    <a:pt x="1504" y="1241"/>
                    <a:pt x="1287" y="1458"/>
                    <a:pt x="1021" y="1458"/>
                  </a:cubicBezTo>
                </a:path>
              </a:pathLst>
            </a:custGeom>
            <a:solidFill>
              <a:srgbClr val="40488D"/>
            </a:solidFill>
            <a:ln>
              <a:noFill/>
            </a:ln>
          </p:spPr>
          <p:txBody>
            <a:bodyPr vert="horz" wrap="square" lIns="91440" tIns="45720" rIns="91440" bIns="45720" numCol="1" anchor="t" anchorCtr="0" compatLnSpc="1">
              <a:prstTxWarp prst="textNoShape">
                <a:avLst/>
              </a:prstTxWarp>
            </a:bodyPr>
            <a:lstStyle/>
            <a:p>
              <a:endParaRPr lang="en-GB"/>
            </a:p>
          </p:txBody>
        </p:sp>
      </p:grpSp>
      <p:grpSp>
        <p:nvGrpSpPr>
          <p:cNvPr id="45" name="Group 44">
            <a:extLst>
              <a:ext uri="{FF2B5EF4-FFF2-40B4-BE49-F238E27FC236}">
                <a16:creationId xmlns:a16="http://schemas.microsoft.com/office/drawing/2014/main" id="{715F82ED-56D3-492F-A5AC-91539DEA1F59}"/>
              </a:ext>
            </a:extLst>
          </p:cNvPr>
          <p:cNvGrpSpPr/>
          <p:nvPr/>
        </p:nvGrpSpPr>
        <p:grpSpPr>
          <a:xfrm>
            <a:off x="4875330" y="1410241"/>
            <a:ext cx="2450592" cy="2473328"/>
            <a:chOff x="5901353" y="2790835"/>
            <a:chExt cx="2450592" cy="2473328"/>
          </a:xfrm>
        </p:grpSpPr>
        <p:sp>
          <p:nvSpPr>
            <p:cNvPr id="2" name="Speech Bubble: Rectangle with Corners Rounded 1">
              <a:extLst>
                <a:ext uri="{FF2B5EF4-FFF2-40B4-BE49-F238E27FC236}">
                  <a16:creationId xmlns:a16="http://schemas.microsoft.com/office/drawing/2014/main" id="{C458C622-F239-402A-BDA4-2211301EAF6F}"/>
                </a:ext>
              </a:extLst>
            </p:cNvPr>
            <p:cNvSpPr/>
            <p:nvPr/>
          </p:nvSpPr>
          <p:spPr bwMode="auto">
            <a:xfrm>
              <a:off x="5901353" y="2790835"/>
              <a:ext cx="2450592" cy="963980"/>
            </a:xfrm>
            <a:prstGeom prst="wedgeRoundRectCallout">
              <a:avLst>
                <a:gd name="adj1" fmla="val -20833"/>
                <a:gd name="adj2" fmla="val 93803"/>
                <a:gd name="adj3" fmla="val 16667"/>
              </a:avLst>
            </a:prstGeom>
            <a:solidFill>
              <a:srgbClr val="15717D"/>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ctr" eaLnBrk="0" fontAlgn="auto" hangingPunct="0">
                <a:spcBef>
                  <a:spcPts val="0"/>
                </a:spcBef>
                <a:spcAft>
                  <a:spcPts val="0"/>
                </a:spcAft>
                <a:buClr>
                  <a:schemeClr val="bg1"/>
                </a:buClr>
              </a:pPr>
              <a:r>
                <a:rPr lang="en-GB" sz="1400" b="1" kern="0">
                  <a:solidFill>
                    <a:srgbClr val="FFFFFF"/>
                  </a:solidFill>
                  <a:latin typeface="Arial"/>
                </a:rPr>
                <a:t>Do we still see a positive benefit-risk in patients with hepatic impairment?</a:t>
              </a:r>
            </a:p>
          </p:txBody>
        </p:sp>
        <p:grpSp>
          <p:nvGrpSpPr>
            <p:cNvPr id="30" name="Group 49">
              <a:extLst>
                <a:ext uri="{FF2B5EF4-FFF2-40B4-BE49-F238E27FC236}">
                  <a16:creationId xmlns:a16="http://schemas.microsoft.com/office/drawing/2014/main" id="{7583DDC0-2507-499E-9B4C-50A658A01C03}"/>
                </a:ext>
              </a:extLst>
            </p:cNvPr>
            <p:cNvGrpSpPr>
              <a:grpSpLocks noChangeAspect="1"/>
            </p:cNvGrpSpPr>
            <p:nvPr/>
          </p:nvGrpSpPr>
          <p:grpSpPr bwMode="auto">
            <a:xfrm>
              <a:off x="6172741" y="4364163"/>
              <a:ext cx="834940" cy="900000"/>
              <a:chOff x="880" y="2"/>
              <a:chExt cx="4004" cy="4316"/>
            </a:xfrm>
            <a:solidFill>
              <a:srgbClr val="15717D"/>
            </a:solidFill>
          </p:grpSpPr>
          <p:sp>
            <p:nvSpPr>
              <p:cNvPr id="31" name="Freeform 50">
                <a:extLst>
                  <a:ext uri="{FF2B5EF4-FFF2-40B4-BE49-F238E27FC236}">
                    <a16:creationId xmlns:a16="http://schemas.microsoft.com/office/drawing/2014/main" id="{F070B662-45E6-4C41-82D8-60FF93B056C0}"/>
                  </a:ext>
                </a:extLst>
              </p:cNvPr>
              <p:cNvSpPr>
                <a:spLocks noEditPoints="1"/>
              </p:cNvSpPr>
              <p:nvPr/>
            </p:nvSpPr>
            <p:spPr bwMode="auto">
              <a:xfrm>
                <a:off x="1392" y="2"/>
                <a:ext cx="2976" cy="3131"/>
              </a:xfrm>
              <a:custGeom>
                <a:avLst/>
                <a:gdLst>
                  <a:gd name="T0" fmla="*/ 1507 w 1518"/>
                  <a:gd name="T1" fmla="*/ 1326 h 1596"/>
                  <a:gd name="T2" fmla="*/ 1380 w 1518"/>
                  <a:gd name="T3" fmla="*/ 798 h 1596"/>
                  <a:gd name="T4" fmla="*/ 1380 w 1518"/>
                  <a:gd name="T5" fmla="*/ 621 h 1596"/>
                  <a:gd name="T6" fmla="*/ 759 w 1518"/>
                  <a:gd name="T7" fmla="*/ 0 h 1596"/>
                  <a:gd name="T8" fmla="*/ 139 w 1518"/>
                  <a:gd name="T9" fmla="*/ 621 h 1596"/>
                  <a:gd name="T10" fmla="*/ 139 w 1518"/>
                  <a:gd name="T11" fmla="*/ 798 h 1596"/>
                  <a:gd name="T12" fmla="*/ 11 w 1518"/>
                  <a:gd name="T13" fmla="*/ 1326 h 1596"/>
                  <a:gd name="T14" fmla="*/ 14 w 1518"/>
                  <a:gd name="T15" fmla="*/ 1395 h 1596"/>
                  <a:gd name="T16" fmla="*/ 74 w 1518"/>
                  <a:gd name="T17" fmla="*/ 1429 h 1596"/>
                  <a:gd name="T18" fmla="*/ 336 w 1518"/>
                  <a:gd name="T19" fmla="*/ 1429 h 1596"/>
                  <a:gd name="T20" fmla="*/ 759 w 1518"/>
                  <a:gd name="T21" fmla="*/ 1596 h 1596"/>
                  <a:gd name="T22" fmla="*/ 1183 w 1518"/>
                  <a:gd name="T23" fmla="*/ 1429 h 1596"/>
                  <a:gd name="T24" fmla="*/ 1444 w 1518"/>
                  <a:gd name="T25" fmla="*/ 1429 h 1596"/>
                  <a:gd name="T26" fmla="*/ 1505 w 1518"/>
                  <a:gd name="T27" fmla="*/ 1395 h 1596"/>
                  <a:gd name="T28" fmla="*/ 1507 w 1518"/>
                  <a:gd name="T29" fmla="*/ 1326 h 1596"/>
                  <a:gd name="T30" fmla="*/ 1238 w 1518"/>
                  <a:gd name="T31" fmla="*/ 976 h 1596"/>
                  <a:gd name="T32" fmla="*/ 759 w 1518"/>
                  <a:gd name="T33" fmla="*/ 1455 h 1596"/>
                  <a:gd name="T34" fmla="*/ 280 w 1518"/>
                  <a:gd name="T35" fmla="*/ 976 h 1596"/>
                  <a:gd name="T36" fmla="*/ 280 w 1518"/>
                  <a:gd name="T37" fmla="*/ 858 h 1596"/>
                  <a:gd name="T38" fmla="*/ 513 w 1518"/>
                  <a:gd name="T39" fmla="*/ 627 h 1596"/>
                  <a:gd name="T40" fmla="*/ 832 w 1518"/>
                  <a:gd name="T41" fmla="*/ 627 h 1596"/>
                  <a:gd name="T42" fmla="*/ 1065 w 1518"/>
                  <a:gd name="T43" fmla="*/ 394 h 1596"/>
                  <a:gd name="T44" fmla="*/ 1065 w 1518"/>
                  <a:gd name="T45" fmla="*/ 252 h 1596"/>
                  <a:gd name="T46" fmla="*/ 1238 w 1518"/>
                  <a:gd name="T47" fmla="*/ 621 h 1596"/>
                  <a:gd name="T48" fmla="*/ 1238 w 1518"/>
                  <a:gd name="T49" fmla="*/ 976 h 1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18" h="1596">
                    <a:moveTo>
                      <a:pt x="1507" y="1326"/>
                    </a:moveTo>
                    <a:cubicBezTo>
                      <a:pt x="1380" y="1080"/>
                      <a:pt x="1380" y="1031"/>
                      <a:pt x="1380" y="798"/>
                    </a:cubicBezTo>
                    <a:cubicBezTo>
                      <a:pt x="1380" y="621"/>
                      <a:pt x="1380" y="621"/>
                      <a:pt x="1380" y="621"/>
                    </a:cubicBezTo>
                    <a:cubicBezTo>
                      <a:pt x="1380" y="278"/>
                      <a:pt x="1102" y="0"/>
                      <a:pt x="759" y="0"/>
                    </a:cubicBezTo>
                    <a:cubicBezTo>
                      <a:pt x="417" y="0"/>
                      <a:pt x="139" y="278"/>
                      <a:pt x="139" y="621"/>
                    </a:cubicBezTo>
                    <a:cubicBezTo>
                      <a:pt x="139" y="798"/>
                      <a:pt x="139" y="798"/>
                      <a:pt x="139" y="798"/>
                    </a:cubicBezTo>
                    <a:cubicBezTo>
                      <a:pt x="139" y="1031"/>
                      <a:pt x="139" y="1080"/>
                      <a:pt x="11" y="1326"/>
                    </a:cubicBezTo>
                    <a:cubicBezTo>
                      <a:pt x="0" y="1348"/>
                      <a:pt x="1" y="1374"/>
                      <a:pt x="14" y="1395"/>
                    </a:cubicBezTo>
                    <a:cubicBezTo>
                      <a:pt x="27" y="1416"/>
                      <a:pt x="50" y="1429"/>
                      <a:pt x="74" y="1429"/>
                    </a:cubicBezTo>
                    <a:cubicBezTo>
                      <a:pt x="336" y="1429"/>
                      <a:pt x="336" y="1429"/>
                      <a:pt x="336" y="1429"/>
                    </a:cubicBezTo>
                    <a:cubicBezTo>
                      <a:pt x="447" y="1533"/>
                      <a:pt x="596" y="1596"/>
                      <a:pt x="759" y="1596"/>
                    </a:cubicBezTo>
                    <a:cubicBezTo>
                      <a:pt x="923" y="1596"/>
                      <a:pt x="1072" y="1533"/>
                      <a:pt x="1183" y="1429"/>
                    </a:cubicBezTo>
                    <a:cubicBezTo>
                      <a:pt x="1444" y="1429"/>
                      <a:pt x="1444" y="1429"/>
                      <a:pt x="1444" y="1429"/>
                    </a:cubicBezTo>
                    <a:cubicBezTo>
                      <a:pt x="1469" y="1429"/>
                      <a:pt x="1492" y="1416"/>
                      <a:pt x="1505" y="1395"/>
                    </a:cubicBezTo>
                    <a:cubicBezTo>
                      <a:pt x="1518" y="1374"/>
                      <a:pt x="1518" y="1348"/>
                      <a:pt x="1507" y="1326"/>
                    </a:cubicBezTo>
                    <a:moveTo>
                      <a:pt x="1238" y="976"/>
                    </a:moveTo>
                    <a:cubicBezTo>
                      <a:pt x="1238" y="1240"/>
                      <a:pt x="1024" y="1455"/>
                      <a:pt x="759" y="1455"/>
                    </a:cubicBezTo>
                    <a:cubicBezTo>
                      <a:pt x="495" y="1455"/>
                      <a:pt x="280" y="1240"/>
                      <a:pt x="280" y="976"/>
                    </a:cubicBezTo>
                    <a:cubicBezTo>
                      <a:pt x="280" y="858"/>
                      <a:pt x="280" y="858"/>
                      <a:pt x="280" y="858"/>
                    </a:cubicBezTo>
                    <a:cubicBezTo>
                      <a:pt x="281" y="730"/>
                      <a:pt x="385" y="627"/>
                      <a:pt x="513" y="627"/>
                    </a:cubicBezTo>
                    <a:cubicBezTo>
                      <a:pt x="832" y="627"/>
                      <a:pt x="832" y="627"/>
                      <a:pt x="832" y="627"/>
                    </a:cubicBezTo>
                    <a:cubicBezTo>
                      <a:pt x="961" y="627"/>
                      <a:pt x="1065" y="522"/>
                      <a:pt x="1065" y="394"/>
                    </a:cubicBezTo>
                    <a:cubicBezTo>
                      <a:pt x="1065" y="252"/>
                      <a:pt x="1065" y="252"/>
                      <a:pt x="1065" y="252"/>
                    </a:cubicBezTo>
                    <a:cubicBezTo>
                      <a:pt x="1171" y="340"/>
                      <a:pt x="1238" y="473"/>
                      <a:pt x="1238" y="621"/>
                    </a:cubicBezTo>
                    <a:lnTo>
                      <a:pt x="1238" y="9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51">
                <a:extLst>
                  <a:ext uri="{FF2B5EF4-FFF2-40B4-BE49-F238E27FC236}">
                    <a16:creationId xmlns:a16="http://schemas.microsoft.com/office/drawing/2014/main" id="{0EBBCFCC-C3D0-4FF3-9580-51C783D2E82E}"/>
                  </a:ext>
                </a:extLst>
              </p:cNvPr>
              <p:cNvSpPr>
                <a:spLocks/>
              </p:cNvSpPr>
              <p:nvPr/>
            </p:nvSpPr>
            <p:spPr bwMode="auto">
              <a:xfrm>
                <a:off x="880" y="2957"/>
                <a:ext cx="4004" cy="1361"/>
              </a:xfrm>
              <a:custGeom>
                <a:avLst/>
                <a:gdLst>
                  <a:gd name="T0" fmla="*/ 1020 w 2042"/>
                  <a:gd name="T1" fmla="*/ 204 h 694"/>
                  <a:gd name="T2" fmla="*/ 650 w 2042"/>
                  <a:gd name="T3" fmla="*/ 345 h 694"/>
                  <a:gd name="T4" fmla="*/ 625 w 2042"/>
                  <a:gd name="T5" fmla="*/ 349 h 694"/>
                  <a:gd name="T6" fmla="*/ 584 w 2042"/>
                  <a:gd name="T7" fmla="*/ 337 h 694"/>
                  <a:gd name="T8" fmla="*/ 554 w 2042"/>
                  <a:gd name="T9" fmla="*/ 279 h 694"/>
                  <a:gd name="T10" fmla="*/ 554 w 2042"/>
                  <a:gd name="T11" fmla="*/ 0 h 694"/>
                  <a:gd name="T12" fmla="*/ 162 w 2042"/>
                  <a:gd name="T13" fmla="*/ 184 h 694"/>
                  <a:gd name="T14" fmla="*/ 19 w 2042"/>
                  <a:gd name="T15" fmla="*/ 385 h 694"/>
                  <a:gd name="T16" fmla="*/ 2 w 2042"/>
                  <a:gd name="T17" fmla="*/ 554 h 694"/>
                  <a:gd name="T18" fmla="*/ 6 w 2042"/>
                  <a:gd name="T19" fmla="*/ 608 h 694"/>
                  <a:gd name="T20" fmla="*/ 128 w 2042"/>
                  <a:gd name="T21" fmla="*/ 694 h 694"/>
                  <a:gd name="T22" fmla="*/ 1913 w 2042"/>
                  <a:gd name="T23" fmla="*/ 694 h 694"/>
                  <a:gd name="T24" fmla="*/ 2035 w 2042"/>
                  <a:gd name="T25" fmla="*/ 610 h 694"/>
                  <a:gd name="T26" fmla="*/ 2040 w 2042"/>
                  <a:gd name="T27" fmla="*/ 554 h 694"/>
                  <a:gd name="T28" fmla="*/ 2022 w 2042"/>
                  <a:gd name="T29" fmla="*/ 385 h 694"/>
                  <a:gd name="T30" fmla="*/ 1879 w 2042"/>
                  <a:gd name="T31" fmla="*/ 184 h 694"/>
                  <a:gd name="T32" fmla="*/ 1488 w 2042"/>
                  <a:gd name="T33" fmla="*/ 0 h 694"/>
                  <a:gd name="T34" fmla="*/ 1488 w 2042"/>
                  <a:gd name="T35" fmla="*/ 279 h 694"/>
                  <a:gd name="T36" fmla="*/ 1457 w 2042"/>
                  <a:gd name="T37" fmla="*/ 337 h 694"/>
                  <a:gd name="T38" fmla="*/ 1417 w 2042"/>
                  <a:gd name="T39" fmla="*/ 349 h 694"/>
                  <a:gd name="T40" fmla="*/ 1392 w 2042"/>
                  <a:gd name="T41" fmla="*/ 345 h 694"/>
                  <a:gd name="T42" fmla="*/ 1020 w 2042"/>
                  <a:gd name="T43" fmla="*/ 204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42" h="694">
                    <a:moveTo>
                      <a:pt x="1020" y="204"/>
                    </a:moveTo>
                    <a:cubicBezTo>
                      <a:pt x="650" y="345"/>
                      <a:pt x="650" y="345"/>
                      <a:pt x="650" y="345"/>
                    </a:cubicBezTo>
                    <a:cubicBezTo>
                      <a:pt x="641" y="348"/>
                      <a:pt x="633" y="349"/>
                      <a:pt x="625" y="349"/>
                    </a:cubicBezTo>
                    <a:cubicBezTo>
                      <a:pt x="610" y="349"/>
                      <a:pt x="596" y="345"/>
                      <a:pt x="584" y="337"/>
                    </a:cubicBezTo>
                    <a:cubicBezTo>
                      <a:pt x="565" y="323"/>
                      <a:pt x="554" y="302"/>
                      <a:pt x="554" y="279"/>
                    </a:cubicBezTo>
                    <a:cubicBezTo>
                      <a:pt x="554" y="0"/>
                      <a:pt x="554" y="0"/>
                      <a:pt x="554" y="0"/>
                    </a:cubicBezTo>
                    <a:cubicBezTo>
                      <a:pt x="162" y="184"/>
                      <a:pt x="162" y="184"/>
                      <a:pt x="162" y="184"/>
                    </a:cubicBezTo>
                    <a:cubicBezTo>
                      <a:pt x="92" y="217"/>
                      <a:pt x="35" y="269"/>
                      <a:pt x="19" y="385"/>
                    </a:cubicBezTo>
                    <a:cubicBezTo>
                      <a:pt x="2" y="554"/>
                      <a:pt x="2" y="554"/>
                      <a:pt x="2" y="554"/>
                    </a:cubicBezTo>
                    <a:cubicBezTo>
                      <a:pt x="0" y="573"/>
                      <a:pt x="0" y="591"/>
                      <a:pt x="6" y="608"/>
                    </a:cubicBezTo>
                    <a:cubicBezTo>
                      <a:pt x="22" y="659"/>
                      <a:pt x="70" y="694"/>
                      <a:pt x="128" y="694"/>
                    </a:cubicBezTo>
                    <a:cubicBezTo>
                      <a:pt x="1913" y="694"/>
                      <a:pt x="1913" y="694"/>
                      <a:pt x="1913" y="694"/>
                    </a:cubicBezTo>
                    <a:cubicBezTo>
                      <a:pt x="1971" y="694"/>
                      <a:pt x="2019" y="659"/>
                      <a:pt x="2035" y="610"/>
                    </a:cubicBezTo>
                    <a:cubicBezTo>
                      <a:pt x="2041" y="592"/>
                      <a:pt x="2042" y="573"/>
                      <a:pt x="2040" y="554"/>
                    </a:cubicBezTo>
                    <a:cubicBezTo>
                      <a:pt x="2022" y="385"/>
                      <a:pt x="2022" y="385"/>
                      <a:pt x="2022" y="385"/>
                    </a:cubicBezTo>
                    <a:cubicBezTo>
                      <a:pt x="2007" y="269"/>
                      <a:pt x="1950" y="217"/>
                      <a:pt x="1879" y="184"/>
                    </a:cubicBezTo>
                    <a:cubicBezTo>
                      <a:pt x="1488" y="0"/>
                      <a:pt x="1488" y="0"/>
                      <a:pt x="1488" y="0"/>
                    </a:cubicBezTo>
                    <a:cubicBezTo>
                      <a:pt x="1488" y="279"/>
                      <a:pt x="1488" y="279"/>
                      <a:pt x="1488" y="279"/>
                    </a:cubicBezTo>
                    <a:cubicBezTo>
                      <a:pt x="1488" y="302"/>
                      <a:pt x="1476" y="323"/>
                      <a:pt x="1457" y="337"/>
                    </a:cubicBezTo>
                    <a:cubicBezTo>
                      <a:pt x="1445" y="345"/>
                      <a:pt x="1431" y="349"/>
                      <a:pt x="1417" y="349"/>
                    </a:cubicBezTo>
                    <a:cubicBezTo>
                      <a:pt x="1408" y="349"/>
                      <a:pt x="1400" y="348"/>
                      <a:pt x="1392" y="345"/>
                    </a:cubicBezTo>
                    <a:lnTo>
                      <a:pt x="1020"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nvGrpSpPr>
          <p:cNvPr id="47" name="Group 46">
            <a:extLst>
              <a:ext uri="{FF2B5EF4-FFF2-40B4-BE49-F238E27FC236}">
                <a16:creationId xmlns:a16="http://schemas.microsoft.com/office/drawing/2014/main" id="{E38EAA2D-0E75-4DA9-822A-9811DA5CE96C}"/>
              </a:ext>
            </a:extLst>
          </p:cNvPr>
          <p:cNvGrpSpPr/>
          <p:nvPr/>
        </p:nvGrpSpPr>
        <p:grpSpPr>
          <a:xfrm>
            <a:off x="4206524" y="2353499"/>
            <a:ext cx="3676613" cy="937679"/>
            <a:chOff x="3566868" y="3954840"/>
            <a:chExt cx="3676613" cy="937679"/>
          </a:xfrm>
        </p:grpSpPr>
        <p:sp>
          <p:nvSpPr>
            <p:cNvPr id="6" name="Speech Bubble: Rectangle with Corners Rounded 5">
              <a:extLst>
                <a:ext uri="{FF2B5EF4-FFF2-40B4-BE49-F238E27FC236}">
                  <a16:creationId xmlns:a16="http://schemas.microsoft.com/office/drawing/2014/main" id="{FC4596AE-FDD9-4637-917F-909FEFB45549}"/>
                </a:ext>
              </a:extLst>
            </p:cNvPr>
            <p:cNvSpPr/>
            <p:nvPr/>
          </p:nvSpPr>
          <p:spPr bwMode="auto">
            <a:xfrm>
              <a:off x="5112929" y="3954840"/>
              <a:ext cx="2130552" cy="737432"/>
            </a:xfrm>
            <a:prstGeom prst="wedgeRoundRectCallout">
              <a:avLst>
                <a:gd name="adj1" fmla="val -73194"/>
                <a:gd name="adj2" fmla="val 19101"/>
                <a:gd name="adj3" fmla="val 16667"/>
              </a:avLst>
            </a:prstGeom>
            <a:solidFill>
              <a:srgbClr val="ED003C"/>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ctr" eaLnBrk="0" fontAlgn="auto" hangingPunct="0">
                <a:spcBef>
                  <a:spcPts val="0"/>
                </a:spcBef>
                <a:spcAft>
                  <a:spcPts val="0"/>
                </a:spcAft>
                <a:buClr>
                  <a:schemeClr val="bg1"/>
                </a:buClr>
              </a:pPr>
              <a:r>
                <a:rPr lang="en-GB" sz="1600" b="1" kern="0">
                  <a:solidFill>
                    <a:srgbClr val="FFFFFF"/>
                  </a:solidFill>
                  <a:latin typeface="Arial"/>
                </a:rPr>
                <a:t>Will this medicine benefit my patient?</a:t>
              </a:r>
            </a:p>
          </p:txBody>
        </p:sp>
        <p:grpSp>
          <p:nvGrpSpPr>
            <p:cNvPr id="33" name="Group 89">
              <a:extLst>
                <a:ext uri="{FF2B5EF4-FFF2-40B4-BE49-F238E27FC236}">
                  <a16:creationId xmlns:a16="http://schemas.microsoft.com/office/drawing/2014/main" id="{370BFA80-CECB-48A2-928F-92B0B9830B66}"/>
                </a:ext>
              </a:extLst>
            </p:cNvPr>
            <p:cNvGrpSpPr>
              <a:grpSpLocks noChangeAspect="1"/>
            </p:cNvGrpSpPr>
            <p:nvPr/>
          </p:nvGrpSpPr>
          <p:grpSpPr bwMode="auto">
            <a:xfrm>
              <a:off x="3566868" y="3992519"/>
              <a:ext cx="864652" cy="900000"/>
              <a:chOff x="4254" y="818"/>
              <a:chExt cx="318" cy="331"/>
            </a:xfrm>
            <a:solidFill>
              <a:srgbClr val="ED003C"/>
            </a:solidFill>
          </p:grpSpPr>
          <p:sp>
            <p:nvSpPr>
              <p:cNvPr id="34" name="Freeform 90">
                <a:extLst>
                  <a:ext uri="{FF2B5EF4-FFF2-40B4-BE49-F238E27FC236}">
                    <a16:creationId xmlns:a16="http://schemas.microsoft.com/office/drawing/2014/main" id="{ED407585-3DD7-4632-B226-65AF0B533A41}"/>
                  </a:ext>
                </a:extLst>
              </p:cNvPr>
              <p:cNvSpPr>
                <a:spLocks noEditPoints="1"/>
              </p:cNvSpPr>
              <p:nvPr/>
            </p:nvSpPr>
            <p:spPr bwMode="auto">
              <a:xfrm>
                <a:off x="4323" y="818"/>
                <a:ext cx="180" cy="238"/>
              </a:xfrm>
              <a:custGeom>
                <a:avLst/>
                <a:gdLst>
                  <a:gd name="T0" fmla="*/ 1196 w 1196"/>
                  <a:gd name="T1" fmla="*/ 983 h 1581"/>
                  <a:gd name="T2" fmla="*/ 1196 w 1196"/>
                  <a:gd name="T3" fmla="*/ 404 h 1581"/>
                  <a:gd name="T4" fmla="*/ 598 w 1196"/>
                  <a:gd name="T5" fmla="*/ 0 h 1581"/>
                  <a:gd name="T6" fmla="*/ 0 w 1196"/>
                  <a:gd name="T7" fmla="*/ 404 h 1581"/>
                  <a:gd name="T8" fmla="*/ 0 w 1196"/>
                  <a:gd name="T9" fmla="*/ 983 h 1581"/>
                  <a:gd name="T10" fmla="*/ 598 w 1196"/>
                  <a:gd name="T11" fmla="*/ 1581 h 1581"/>
                  <a:gd name="T12" fmla="*/ 1196 w 1196"/>
                  <a:gd name="T13" fmla="*/ 983 h 1581"/>
                  <a:gd name="T14" fmla="*/ 598 w 1196"/>
                  <a:gd name="T15" fmla="*/ 1448 h 1581"/>
                  <a:gd name="T16" fmla="*/ 133 w 1196"/>
                  <a:gd name="T17" fmla="*/ 983 h 1581"/>
                  <a:gd name="T18" fmla="*/ 132 w 1196"/>
                  <a:gd name="T19" fmla="*/ 598 h 1581"/>
                  <a:gd name="T20" fmla="*/ 147 w 1196"/>
                  <a:gd name="T21" fmla="*/ 483 h 1581"/>
                  <a:gd name="T22" fmla="*/ 588 w 1196"/>
                  <a:gd name="T23" fmla="*/ 421 h 1581"/>
                  <a:gd name="T24" fmla="*/ 608 w 1196"/>
                  <a:gd name="T25" fmla="*/ 421 h 1581"/>
                  <a:gd name="T26" fmla="*/ 1049 w 1196"/>
                  <a:gd name="T27" fmla="*/ 483 h 1581"/>
                  <a:gd name="T28" fmla="*/ 1064 w 1196"/>
                  <a:gd name="T29" fmla="*/ 598 h 1581"/>
                  <a:gd name="T30" fmla="*/ 1064 w 1196"/>
                  <a:gd name="T31" fmla="*/ 981 h 1581"/>
                  <a:gd name="T32" fmla="*/ 1063 w 1196"/>
                  <a:gd name="T33" fmla="*/ 983 h 1581"/>
                  <a:gd name="T34" fmla="*/ 598 w 1196"/>
                  <a:gd name="T35" fmla="*/ 1448 h 1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96" h="1581">
                    <a:moveTo>
                      <a:pt x="1196" y="983"/>
                    </a:moveTo>
                    <a:cubicBezTo>
                      <a:pt x="1196" y="404"/>
                      <a:pt x="1196" y="404"/>
                      <a:pt x="1196" y="404"/>
                    </a:cubicBezTo>
                    <a:cubicBezTo>
                      <a:pt x="1196" y="74"/>
                      <a:pt x="928" y="0"/>
                      <a:pt x="598" y="0"/>
                    </a:cubicBezTo>
                    <a:cubicBezTo>
                      <a:pt x="268" y="0"/>
                      <a:pt x="0" y="74"/>
                      <a:pt x="0" y="404"/>
                    </a:cubicBezTo>
                    <a:cubicBezTo>
                      <a:pt x="0" y="983"/>
                      <a:pt x="0" y="983"/>
                      <a:pt x="0" y="983"/>
                    </a:cubicBezTo>
                    <a:cubicBezTo>
                      <a:pt x="0" y="1313"/>
                      <a:pt x="268" y="1581"/>
                      <a:pt x="598" y="1581"/>
                    </a:cubicBezTo>
                    <a:cubicBezTo>
                      <a:pt x="928" y="1581"/>
                      <a:pt x="1196" y="1313"/>
                      <a:pt x="1196" y="983"/>
                    </a:cubicBezTo>
                    <a:moveTo>
                      <a:pt x="598" y="1448"/>
                    </a:moveTo>
                    <a:cubicBezTo>
                      <a:pt x="341" y="1448"/>
                      <a:pt x="133" y="1239"/>
                      <a:pt x="133" y="983"/>
                    </a:cubicBezTo>
                    <a:cubicBezTo>
                      <a:pt x="132" y="598"/>
                      <a:pt x="132" y="598"/>
                      <a:pt x="132" y="598"/>
                    </a:cubicBezTo>
                    <a:cubicBezTo>
                      <a:pt x="132" y="558"/>
                      <a:pt x="138" y="520"/>
                      <a:pt x="147" y="483"/>
                    </a:cubicBezTo>
                    <a:cubicBezTo>
                      <a:pt x="274" y="424"/>
                      <a:pt x="425" y="421"/>
                      <a:pt x="588" y="421"/>
                    </a:cubicBezTo>
                    <a:cubicBezTo>
                      <a:pt x="608" y="421"/>
                      <a:pt x="608" y="421"/>
                      <a:pt x="608" y="421"/>
                    </a:cubicBezTo>
                    <a:cubicBezTo>
                      <a:pt x="771" y="421"/>
                      <a:pt x="922" y="424"/>
                      <a:pt x="1049" y="483"/>
                    </a:cubicBezTo>
                    <a:cubicBezTo>
                      <a:pt x="1058" y="520"/>
                      <a:pt x="1064" y="558"/>
                      <a:pt x="1064" y="598"/>
                    </a:cubicBezTo>
                    <a:cubicBezTo>
                      <a:pt x="1064" y="981"/>
                      <a:pt x="1064" y="981"/>
                      <a:pt x="1064" y="981"/>
                    </a:cubicBezTo>
                    <a:cubicBezTo>
                      <a:pt x="1063" y="983"/>
                      <a:pt x="1063" y="983"/>
                      <a:pt x="1063" y="983"/>
                    </a:cubicBezTo>
                    <a:cubicBezTo>
                      <a:pt x="1063" y="1239"/>
                      <a:pt x="855" y="1448"/>
                      <a:pt x="598" y="14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91">
                <a:extLst>
                  <a:ext uri="{FF2B5EF4-FFF2-40B4-BE49-F238E27FC236}">
                    <a16:creationId xmlns:a16="http://schemas.microsoft.com/office/drawing/2014/main" id="{82AD688C-ADC9-46C4-86F0-02F0D148ABF9}"/>
                  </a:ext>
                </a:extLst>
              </p:cNvPr>
              <p:cNvSpPr>
                <a:spLocks/>
              </p:cNvSpPr>
              <p:nvPr/>
            </p:nvSpPr>
            <p:spPr bwMode="auto">
              <a:xfrm>
                <a:off x="4254" y="1046"/>
                <a:ext cx="155" cy="103"/>
              </a:xfrm>
              <a:custGeom>
                <a:avLst/>
                <a:gdLst>
                  <a:gd name="T0" fmla="*/ 640 w 1031"/>
                  <a:gd name="T1" fmla="*/ 18 h 688"/>
                  <a:gd name="T2" fmla="*/ 598 w 1031"/>
                  <a:gd name="T3" fmla="*/ 0 h 688"/>
                  <a:gd name="T4" fmla="*/ 566 w 1031"/>
                  <a:gd name="T5" fmla="*/ 15 h 688"/>
                  <a:gd name="T6" fmla="*/ 566 w 1031"/>
                  <a:gd name="T7" fmla="*/ 252 h 688"/>
                  <a:gd name="T8" fmla="*/ 673 w 1031"/>
                  <a:gd name="T9" fmla="*/ 410 h 688"/>
                  <a:gd name="T10" fmla="*/ 502 w 1031"/>
                  <a:gd name="T11" fmla="*/ 581 h 688"/>
                  <a:gd name="T12" fmla="*/ 331 w 1031"/>
                  <a:gd name="T13" fmla="*/ 410 h 688"/>
                  <a:gd name="T14" fmla="*/ 438 w 1031"/>
                  <a:gd name="T15" fmla="*/ 252 h 688"/>
                  <a:gd name="T16" fmla="*/ 438 w 1031"/>
                  <a:gd name="T17" fmla="*/ 79 h 688"/>
                  <a:gd name="T18" fmla="*/ 430 w 1031"/>
                  <a:gd name="T19" fmla="*/ 83 h 688"/>
                  <a:gd name="T20" fmla="*/ 137 w 1031"/>
                  <a:gd name="T21" fmla="*/ 243 h 688"/>
                  <a:gd name="T22" fmla="*/ 12 w 1031"/>
                  <a:gd name="T23" fmla="*/ 433 h 688"/>
                  <a:gd name="T24" fmla="*/ 4 w 1031"/>
                  <a:gd name="T25" fmla="*/ 557 h 688"/>
                  <a:gd name="T26" fmla="*/ 128 w 1031"/>
                  <a:gd name="T27" fmla="*/ 688 h 688"/>
                  <a:gd name="T28" fmla="*/ 1031 w 1031"/>
                  <a:gd name="T29" fmla="*/ 688 h 688"/>
                  <a:gd name="T30" fmla="*/ 967 w 1031"/>
                  <a:gd name="T31" fmla="*/ 239 h 688"/>
                  <a:gd name="T32" fmla="*/ 640 w 1031"/>
                  <a:gd name="T33" fmla="*/ 18 h 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1" h="688">
                    <a:moveTo>
                      <a:pt x="640" y="18"/>
                    </a:moveTo>
                    <a:cubicBezTo>
                      <a:pt x="640" y="12"/>
                      <a:pt x="598" y="0"/>
                      <a:pt x="598" y="0"/>
                    </a:cubicBezTo>
                    <a:cubicBezTo>
                      <a:pt x="566" y="15"/>
                      <a:pt x="566" y="15"/>
                      <a:pt x="566" y="15"/>
                    </a:cubicBezTo>
                    <a:cubicBezTo>
                      <a:pt x="566" y="252"/>
                      <a:pt x="566" y="252"/>
                      <a:pt x="566" y="252"/>
                    </a:cubicBezTo>
                    <a:cubicBezTo>
                      <a:pt x="629" y="277"/>
                      <a:pt x="673" y="339"/>
                      <a:pt x="673" y="410"/>
                    </a:cubicBezTo>
                    <a:cubicBezTo>
                      <a:pt x="673" y="505"/>
                      <a:pt x="597" y="581"/>
                      <a:pt x="502" y="581"/>
                    </a:cubicBezTo>
                    <a:cubicBezTo>
                      <a:pt x="408" y="581"/>
                      <a:pt x="331" y="505"/>
                      <a:pt x="331" y="410"/>
                    </a:cubicBezTo>
                    <a:cubicBezTo>
                      <a:pt x="331" y="339"/>
                      <a:pt x="376" y="277"/>
                      <a:pt x="438" y="252"/>
                    </a:cubicBezTo>
                    <a:cubicBezTo>
                      <a:pt x="438" y="79"/>
                      <a:pt x="438" y="79"/>
                      <a:pt x="438" y="79"/>
                    </a:cubicBezTo>
                    <a:cubicBezTo>
                      <a:pt x="430" y="83"/>
                      <a:pt x="430" y="83"/>
                      <a:pt x="430" y="83"/>
                    </a:cubicBezTo>
                    <a:cubicBezTo>
                      <a:pt x="137" y="243"/>
                      <a:pt x="137" y="243"/>
                      <a:pt x="137" y="243"/>
                    </a:cubicBezTo>
                    <a:cubicBezTo>
                      <a:pt x="70" y="280"/>
                      <a:pt x="23" y="329"/>
                      <a:pt x="12" y="433"/>
                    </a:cubicBezTo>
                    <a:cubicBezTo>
                      <a:pt x="4" y="557"/>
                      <a:pt x="4" y="557"/>
                      <a:pt x="4" y="557"/>
                    </a:cubicBezTo>
                    <a:cubicBezTo>
                      <a:pt x="0" y="629"/>
                      <a:pt x="55" y="688"/>
                      <a:pt x="128" y="688"/>
                    </a:cubicBezTo>
                    <a:cubicBezTo>
                      <a:pt x="1031" y="688"/>
                      <a:pt x="1031" y="688"/>
                      <a:pt x="1031" y="688"/>
                    </a:cubicBezTo>
                    <a:cubicBezTo>
                      <a:pt x="967" y="239"/>
                      <a:pt x="967" y="239"/>
                      <a:pt x="967" y="239"/>
                    </a:cubicBezTo>
                    <a:cubicBezTo>
                      <a:pt x="785" y="215"/>
                      <a:pt x="640" y="125"/>
                      <a:pt x="640" y="1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92">
                <a:extLst>
                  <a:ext uri="{FF2B5EF4-FFF2-40B4-BE49-F238E27FC236}">
                    <a16:creationId xmlns:a16="http://schemas.microsoft.com/office/drawing/2014/main" id="{FE77B1A0-8165-490C-83D4-6BFA0E72CB83}"/>
                  </a:ext>
                </a:extLst>
              </p:cNvPr>
              <p:cNvSpPr>
                <a:spLocks/>
              </p:cNvSpPr>
              <p:nvPr/>
            </p:nvSpPr>
            <p:spPr bwMode="auto">
              <a:xfrm>
                <a:off x="4482" y="1106"/>
                <a:ext cx="29" cy="43"/>
              </a:xfrm>
              <a:custGeom>
                <a:avLst/>
                <a:gdLst>
                  <a:gd name="T0" fmla="*/ 194 w 195"/>
                  <a:gd name="T1" fmla="*/ 97 h 285"/>
                  <a:gd name="T2" fmla="*/ 97 w 195"/>
                  <a:gd name="T3" fmla="*/ 0 h 285"/>
                  <a:gd name="T4" fmla="*/ 0 w 195"/>
                  <a:gd name="T5" fmla="*/ 97 h 285"/>
                  <a:gd name="T6" fmla="*/ 0 w 195"/>
                  <a:gd name="T7" fmla="*/ 285 h 285"/>
                  <a:gd name="T8" fmla="*/ 195 w 195"/>
                  <a:gd name="T9" fmla="*/ 285 h 285"/>
                  <a:gd name="T10" fmla="*/ 195 w 195"/>
                  <a:gd name="T11" fmla="*/ 103 h 285"/>
                  <a:gd name="T12" fmla="*/ 194 w 195"/>
                  <a:gd name="T13" fmla="*/ 97 h 285"/>
                </a:gdLst>
                <a:ahLst/>
                <a:cxnLst>
                  <a:cxn ang="0">
                    <a:pos x="T0" y="T1"/>
                  </a:cxn>
                  <a:cxn ang="0">
                    <a:pos x="T2" y="T3"/>
                  </a:cxn>
                  <a:cxn ang="0">
                    <a:pos x="T4" y="T5"/>
                  </a:cxn>
                  <a:cxn ang="0">
                    <a:pos x="T6" y="T7"/>
                  </a:cxn>
                  <a:cxn ang="0">
                    <a:pos x="T8" y="T9"/>
                  </a:cxn>
                  <a:cxn ang="0">
                    <a:pos x="T10" y="T11"/>
                  </a:cxn>
                  <a:cxn ang="0">
                    <a:pos x="T12" y="T13"/>
                  </a:cxn>
                </a:cxnLst>
                <a:rect l="0" t="0" r="r" b="b"/>
                <a:pathLst>
                  <a:path w="195" h="285">
                    <a:moveTo>
                      <a:pt x="194" y="97"/>
                    </a:moveTo>
                    <a:cubicBezTo>
                      <a:pt x="194" y="43"/>
                      <a:pt x="151" y="0"/>
                      <a:pt x="97" y="0"/>
                    </a:cubicBezTo>
                    <a:cubicBezTo>
                      <a:pt x="43" y="0"/>
                      <a:pt x="0" y="43"/>
                      <a:pt x="0" y="97"/>
                    </a:cubicBezTo>
                    <a:cubicBezTo>
                      <a:pt x="0" y="285"/>
                      <a:pt x="0" y="285"/>
                      <a:pt x="0" y="285"/>
                    </a:cubicBezTo>
                    <a:cubicBezTo>
                      <a:pt x="195" y="285"/>
                      <a:pt x="195" y="285"/>
                      <a:pt x="195" y="285"/>
                    </a:cubicBezTo>
                    <a:cubicBezTo>
                      <a:pt x="195" y="103"/>
                      <a:pt x="195" y="103"/>
                      <a:pt x="195" y="103"/>
                    </a:cubicBezTo>
                    <a:cubicBezTo>
                      <a:pt x="195" y="101"/>
                      <a:pt x="194" y="99"/>
                      <a:pt x="194" y="9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93">
                <a:extLst>
                  <a:ext uri="{FF2B5EF4-FFF2-40B4-BE49-F238E27FC236}">
                    <a16:creationId xmlns:a16="http://schemas.microsoft.com/office/drawing/2014/main" id="{0C93EA7D-5BA2-4F3A-BB12-80940C5620A1}"/>
                  </a:ext>
                </a:extLst>
              </p:cNvPr>
              <p:cNvSpPr>
                <a:spLocks/>
              </p:cNvSpPr>
              <p:nvPr/>
            </p:nvSpPr>
            <p:spPr bwMode="auto">
              <a:xfrm>
                <a:off x="4506" y="1058"/>
                <a:ext cx="66" cy="91"/>
              </a:xfrm>
              <a:custGeom>
                <a:avLst/>
                <a:gdLst>
                  <a:gd name="T0" fmla="*/ 426 w 438"/>
                  <a:gd name="T1" fmla="*/ 354 h 609"/>
                  <a:gd name="T2" fmla="*/ 301 w 438"/>
                  <a:gd name="T3" fmla="*/ 164 h 609"/>
                  <a:gd name="T4" fmla="*/ 8 w 438"/>
                  <a:gd name="T5" fmla="*/ 4 h 609"/>
                  <a:gd name="T6" fmla="*/ 0 w 438"/>
                  <a:gd name="T7" fmla="*/ 0 h 609"/>
                  <a:gd name="T8" fmla="*/ 0 w 438"/>
                  <a:gd name="T9" fmla="*/ 206 h 609"/>
                  <a:gd name="T10" fmla="*/ 160 w 438"/>
                  <a:gd name="T11" fmla="*/ 405 h 609"/>
                  <a:gd name="T12" fmla="*/ 162 w 438"/>
                  <a:gd name="T13" fmla="*/ 421 h 609"/>
                  <a:gd name="T14" fmla="*/ 162 w 438"/>
                  <a:gd name="T15" fmla="*/ 609 h 609"/>
                  <a:gd name="T16" fmla="*/ 310 w 438"/>
                  <a:gd name="T17" fmla="*/ 609 h 609"/>
                  <a:gd name="T18" fmla="*/ 434 w 438"/>
                  <a:gd name="T19" fmla="*/ 478 h 609"/>
                  <a:gd name="T20" fmla="*/ 426 w 438"/>
                  <a:gd name="T21" fmla="*/ 354 h 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8" h="609">
                    <a:moveTo>
                      <a:pt x="426" y="354"/>
                    </a:moveTo>
                    <a:cubicBezTo>
                      <a:pt x="415" y="250"/>
                      <a:pt x="368" y="201"/>
                      <a:pt x="301" y="164"/>
                    </a:cubicBezTo>
                    <a:cubicBezTo>
                      <a:pt x="8" y="4"/>
                      <a:pt x="8" y="4"/>
                      <a:pt x="8" y="4"/>
                    </a:cubicBezTo>
                    <a:cubicBezTo>
                      <a:pt x="0" y="0"/>
                      <a:pt x="0" y="0"/>
                      <a:pt x="0" y="0"/>
                    </a:cubicBezTo>
                    <a:cubicBezTo>
                      <a:pt x="0" y="206"/>
                      <a:pt x="0" y="206"/>
                      <a:pt x="0" y="206"/>
                    </a:cubicBezTo>
                    <a:cubicBezTo>
                      <a:pt x="88" y="232"/>
                      <a:pt x="153" y="310"/>
                      <a:pt x="160" y="405"/>
                    </a:cubicBezTo>
                    <a:cubicBezTo>
                      <a:pt x="161" y="410"/>
                      <a:pt x="162" y="416"/>
                      <a:pt x="162" y="421"/>
                    </a:cubicBezTo>
                    <a:cubicBezTo>
                      <a:pt x="162" y="609"/>
                      <a:pt x="162" y="609"/>
                      <a:pt x="162" y="609"/>
                    </a:cubicBezTo>
                    <a:cubicBezTo>
                      <a:pt x="310" y="609"/>
                      <a:pt x="310" y="609"/>
                      <a:pt x="310" y="609"/>
                    </a:cubicBezTo>
                    <a:cubicBezTo>
                      <a:pt x="383" y="609"/>
                      <a:pt x="438" y="550"/>
                      <a:pt x="434" y="478"/>
                    </a:cubicBezTo>
                    <a:lnTo>
                      <a:pt x="426" y="3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4">
                <a:extLst>
                  <a:ext uri="{FF2B5EF4-FFF2-40B4-BE49-F238E27FC236}">
                    <a16:creationId xmlns:a16="http://schemas.microsoft.com/office/drawing/2014/main" id="{6742FF40-B668-4D8B-82C9-AC6C63ACDABA}"/>
                  </a:ext>
                </a:extLst>
              </p:cNvPr>
              <p:cNvSpPr>
                <a:spLocks/>
              </p:cNvSpPr>
              <p:nvPr/>
            </p:nvSpPr>
            <p:spPr bwMode="auto">
              <a:xfrm>
                <a:off x="4417" y="1046"/>
                <a:ext cx="70" cy="103"/>
              </a:xfrm>
              <a:custGeom>
                <a:avLst/>
                <a:gdLst>
                  <a:gd name="T0" fmla="*/ 305 w 465"/>
                  <a:gd name="T1" fmla="*/ 487 h 688"/>
                  <a:gd name="T2" fmla="*/ 465 w 465"/>
                  <a:gd name="T3" fmla="*/ 285 h 688"/>
                  <a:gd name="T4" fmla="*/ 465 w 465"/>
                  <a:gd name="T5" fmla="*/ 15 h 688"/>
                  <a:gd name="T6" fmla="*/ 433 w 465"/>
                  <a:gd name="T7" fmla="*/ 0 h 688"/>
                  <a:gd name="T8" fmla="*/ 391 w 465"/>
                  <a:gd name="T9" fmla="*/ 18 h 688"/>
                  <a:gd name="T10" fmla="*/ 64 w 465"/>
                  <a:gd name="T11" fmla="*/ 239 h 688"/>
                  <a:gd name="T12" fmla="*/ 0 w 465"/>
                  <a:gd name="T13" fmla="*/ 688 h 688"/>
                  <a:gd name="T14" fmla="*/ 303 w 465"/>
                  <a:gd name="T15" fmla="*/ 688 h 688"/>
                  <a:gd name="T16" fmla="*/ 303 w 465"/>
                  <a:gd name="T17" fmla="*/ 500 h 688"/>
                  <a:gd name="T18" fmla="*/ 305 w 465"/>
                  <a:gd name="T19" fmla="*/ 487 h 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5" h="688">
                    <a:moveTo>
                      <a:pt x="305" y="487"/>
                    </a:moveTo>
                    <a:cubicBezTo>
                      <a:pt x="310" y="391"/>
                      <a:pt x="376" y="312"/>
                      <a:pt x="465" y="285"/>
                    </a:cubicBezTo>
                    <a:cubicBezTo>
                      <a:pt x="465" y="15"/>
                      <a:pt x="465" y="15"/>
                      <a:pt x="465" y="15"/>
                    </a:cubicBezTo>
                    <a:cubicBezTo>
                      <a:pt x="433" y="0"/>
                      <a:pt x="433" y="0"/>
                      <a:pt x="433" y="0"/>
                    </a:cubicBezTo>
                    <a:cubicBezTo>
                      <a:pt x="433" y="0"/>
                      <a:pt x="391" y="12"/>
                      <a:pt x="391" y="18"/>
                    </a:cubicBezTo>
                    <a:cubicBezTo>
                      <a:pt x="391" y="125"/>
                      <a:pt x="247" y="215"/>
                      <a:pt x="64" y="239"/>
                    </a:cubicBezTo>
                    <a:cubicBezTo>
                      <a:pt x="0" y="688"/>
                      <a:pt x="0" y="688"/>
                      <a:pt x="0" y="688"/>
                    </a:cubicBezTo>
                    <a:cubicBezTo>
                      <a:pt x="303" y="688"/>
                      <a:pt x="303" y="688"/>
                      <a:pt x="303" y="688"/>
                    </a:cubicBezTo>
                    <a:cubicBezTo>
                      <a:pt x="303" y="500"/>
                      <a:pt x="303" y="500"/>
                      <a:pt x="303" y="500"/>
                    </a:cubicBezTo>
                    <a:cubicBezTo>
                      <a:pt x="303" y="496"/>
                      <a:pt x="304" y="491"/>
                      <a:pt x="305" y="48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nvGrpSpPr>
          <p:cNvPr id="46" name="Group 45">
            <a:extLst>
              <a:ext uri="{FF2B5EF4-FFF2-40B4-BE49-F238E27FC236}">
                <a16:creationId xmlns:a16="http://schemas.microsoft.com/office/drawing/2014/main" id="{5FE58119-E2A9-452E-B4D7-1E919D258531}"/>
              </a:ext>
            </a:extLst>
          </p:cNvPr>
          <p:cNvGrpSpPr/>
          <p:nvPr/>
        </p:nvGrpSpPr>
        <p:grpSpPr>
          <a:xfrm>
            <a:off x="5111142" y="1701915"/>
            <a:ext cx="2602920" cy="2183048"/>
            <a:chOff x="6242973" y="3244797"/>
            <a:chExt cx="2602920" cy="2183048"/>
          </a:xfrm>
        </p:grpSpPr>
        <p:sp>
          <p:nvSpPr>
            <p:cNvPr id="12" name="Speech Bubble: Rectangle with Corners Rounded 11">
              <a:extLst>
                <a:ext uri="{FF2B5EF4-FFF2-40B4-BE49-F238E27FC236}">
                  <a16:creationId xmlns:a16="http://schemas.microsoft.com/office/drawing/2014/main" id="{3A208A30-2AB2-4997-9D80-98477897B02F}"/>
                </a:ext>
              </a:extLst>
            </p:cNvPr>
            <p:cNvSpPr/>
            <p:nvPr/>
          </p:nvSpPr>
          <p:spPr bwMode="auto">
            <a:xfrm>
              <a:off x="6668117" y="3244797"/>
              <a:ext cx="2177776" cy="954244"/>
            </a:xfrm>
            <a:prstGeom prst="wedgeRoundRectCallout">
              <a:avLst>
                <a:gd name="adj1" fmla="val -33430"/>
                <a:gd name="adj2" fmla="val 72083"/>
                <a:gd name="adj3" fmla="val 16667"/>
              </a:avLst>
            </a:prstGeom>
            <a:solidFill>
              <a:srgbClr val="BC1077"/>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ctr" eaLnBrk="0" fontAlgn="auto" hangingPunct="0">
                <a:spcBef>
                  <a:spcPts val="0"/>
                </a:spcBef>
                <a:spcAft>
                  <a:spcPts val="0"/>
                </a:spcAft>
                <a:buClr>
                  <a:schemeClr val="bg1"/>
                </a:buClr>
              </a:pPr>
              <a:r>
                <a:rPr lang="en-GB" sz="1400" b="1" kern="0">
                  <a:solidFill>
                    <a:srgbClr val="FFFFFF"/>
                  </a:solidFill>
                  <a:latin typeface="Arial"/>
                </a:rPr>
                <a:t>Is this drug cost-effective in patients with severe disease?</a:t>
              </a:r>
            </a:p>
          </p:txBody>
        </p:sp>
        <p:grpSp>
          <p:nvGrpSpPr>
            <p:cNvPr id="39" name="Group 19">
              <a:extLst>
                <a:ext uri="{FF2B5EF4-FFF2-40B4-BE49-F238E27FC236}">
                  <a16:creationId xmlns:a16="http://schemas.microsoft.com/office/drawing/2014/main" id="{CD256CD9-900B-4327-AFC5-3063965AE03B}"/>
                </a:ext>
              </a:extLst>
            </p:cNvPr>
            <p:cNvGrpSpPr>
              <a:grpSpLocks noChangeAspect="1"/>
            </p:cNvGrpSpPr>
            <p:nvPr/>
          </p:nvGrpSpPr>
          <p:grpSpPr bwMode="auto">
            <a:xfrm>
              <a:off x="6242973" y="4527845"/>
              <a:ext cx="900002" cy="900000"/>
              <a:chOff x="694" y="3297"/>
              <a:chExt cx="331" cy="331"/>
            </a:xfrm>
            <a:solidFill>
              <a:srgbClr val="BC1077"/>
            </a:solidFill>
          </p:grpSpPr>
          <p:sp>
            <p:nvSpPr>
              <p:cNvPr id="40" name="Freeform 20">
                <a:extLst>
                  <a:ext uri="{FF2B5EF4-FFF2-40B4-BE49-F238E27FC236}">
                    <a16:creationId xmlns:a16="http://schemas.microsoft.com/office/drawing/2014/main" id="{3B183ED1-A275-4728-BA0C-8615B2CCE500}"/>
                  </a:ext>
                </a:extLst>
              </p:cNvPr>
              <p:cNvSpPr>
                <a:spLocks noEditPoints="1"/>
              </p:cNvSpPr>
              <p:nvPr/>
            </p:nvSpPr>
            <p:spPr bwMode="auto">
              <a:xfrm>
                <a:off x="769" y="3297"/>
                <a:ext cx="181" cy="233"/>
              </a:xfrm>
              <a:custGeom>
                <a:avLst/>
                <a:gdLst>
                  <a:gd name="T0" fmla="*/ 1065 w 1207"/>
                  <a:gd name="T1" fmla="*/ 215 h 1552"/>
                  <a:gd name="T2" fmla="*/ 1063 w 1207"/>
                  <a:gd name="T3" fmla="*/ 212 h 1552"/>
                  <a:gd name="T4" fmla="*/ 603 w 1207"/>
                  <a:gd name="T5" fmla="*/ 0 h 1552"/>
                  <a:gd name="T6" fmla="*/ 143 w 1207"/>
                  <a:gd name="T7" fmla="*/ 213 h 1552"/>
                  <a:gd name="T8" fmla="*/ 142 w 1207"/>
                  <a:gd name="T9" fmla="*/ 215 h 1552"/>
                  <a:gd name="T10" fmla="*/ 0 w 1207"/>
                  <a:gd name="T11" fmla="*/ 604 h 1552"/>
                  <a:gd name="T12" fmla="*/ 0 w 1207"/>
                  <a:gd name="T13" fmla="*/ 949 h 1552"/>
                  <a:gd name="T14" fmla="*/ 603 w 1207"/>
                  <a:gd name="T15" fmla="*/ 1552 h 1552"/>
                  <a:gd name="T16" fmla="*/ 1207 w 1207"/>
                  <a:gd name="T17" fmla="*/ 949 h 1552"/>
                  <a:gd name="T18" fmla="*/ 1207 w 1207"/>
                  <a:gd name="T19" fmla="*/ 604 h 1552"/>
                  <a:gd name="T20" fmla="*/ 1065 w 1207"/>
                  <a:gd name="T21" fmla="*/ 215 h 1552"/>
                  <a:gd name="T22" fmla="*/ 1069 w 1207"/>
                  <a:gd name="T23" fmla="*/ 949 h 1552"/>
                  <a:gd name="T24" fmla="*/ 603 w 1207"/>
                  <a:gd name="T25" fmla="*/ 1415 h 1552"/>
                  <a:gd name="T26" fmla="*/ 137 w 1207"/>
                  <a:gd name="T27" fmla="*/ 949 h 1552"/>
                  <a:gd name="T28" fmla="*/ 137 w 1207"/>
                  <a:gd name="T29" fmla="*/ 659 h 1552"/>
                  <a:gd name="T30" fmla="*/ 137 w 1207"/>
                  <a:gd name="T31" fmla="*/ 659 h 1552"/>
                  <a:gd name="T32" fmla="*/ 363 w 1207"/>
                  <a:gd name="T33" fmla="*/ 433 h 1552"/>
                  <a:gd name="T34" fmla="*/ 603 w 1207"/>
                  <a:gd name="T35" fmla="*/ 458 h 1552"/>
                  <a:gd name="T36" fmla="*/ 1008 w 1207"/>
                  <a:gd name="T37" fmla="*/ 373 h 1552"/>
                  <a:gd name="T38" fmla="*/ 1069 w 1207"/>
                  <a:gd name="T39" fmla="*/ 604 h 1552"/>
                  <a:gd name="T40" fmla="*/ 1069 w 1207"/>
                  <a:gd name="T41" fmla="*/ 949 h 1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07" h="1552">
                    <a:moveTo>
                      <a:pt x="1065" y="215"/>
                    </a:moveTo>
                    <a:cubicBezTo>
                      <a:pt x="1064" y="214"/>
                      <a:pt x="1063" y="213"/>
                      <a:pt x="1063" y="212"/>
                    </a:cubicBezTo>
                    <a:cubicBezTo>
                      <a:pt x="952" y="82"/>
                      <a:pt x="787" y="0"/>
                      <a:pt x="603" y="0"/>
                    </a:cubicBezTo>
                    <a:cubicBezTo>
                      <a:pt x="419" y="0"/>
                      <a:pt x="254" y="83"/>
                      <a:pt x="143" y="213"/>
                    </a:cubicBezTo>
                    <a:cubicBezTo>
                      <a:pt x="143" y="214"/>
                      <a:pt x="142" y="214"/>
                      <a:pt x="142" y="215"/>
                    </a:cubicBezTo>
                    <a:cubicBezTo>
                      <a:pt x="53" y="320"/>
                      <a:pt x="0" y="455"/>
                      <a:pt x="0" y="604"/>
                    </a:cubicBezTo>
                    <a:cubicBezTo>
                      <a:pt x="0" y="949"/>
                      <a:pt x="0" y="949"/>
                      <a:pt x="0" y="949"/>
                    </a:cubicBezTo>
                    <a:cubicBezTo>
                      <a:pt x="0" y="1282"/>
                      <a:pt x="270" y="1552"/>
                      <a:pt x="603" y="1552"/>
                    </a:cubicBezTo>
                    <a:cubicBezTo>
                      <a:pt x="936" y="1552"/>
                      <a:pt x="1207" y="1282"/>
                      <a:pt x="1207" y="949"/>
                    </a:cubicBezTo>
                    <a:cubicBezTo>
                      <a:pt x="1207" y="604"/>
                      <a:pt x="1207" y="604"/>
                      <a:pt x="1207" y="604"/>
                    </a:cubicBezTo>
                    <a:cubicBezTo>
                      <a:pt x="1207" y="456"/>
                      <a:pt x="1153" y="320"/>
                      <a:pt x="1065" y="215"/>
                    </a:cubicBezTo>
                    <a:close/>
                    <a:moveTo>
                      <a:pt x="1069" y="949"/>
                    </a:moveTo>
                    <a:cubicBezTo>
                      <a:pt x="1069" y="1206"/>
                      <a:pt x="860" y="1415"/>
                      <a:pt x="603" y="1415"/>
                    </a:cubicBezTo>
                    <a:cubicBezTo>
                      <a:pt x="346" y="1415"/>
                      <a:pt x="137" y="1206"/>
                      <a:pt x="137" y="949"/>
                    </a:cubicBezTo>
                    <a:cubicBezTo>
                      <a:pt x="137" y="659"/>
                      <a:pt x="137" y="659"/>
                      <a:pt x="137" y="659"/>
                    </a:cubicBezTo>
                    <a:cubicBezTo>
                      <a:pt x="137" y="659"/>
                      <a:pt x="137" y="659"/>
                      <a:pt x="137" y="659"/>
                    </a:cubicBezTo>
                    <a:cubicBezTo>
                      <a:pt x="137" y="535"/>
                      <a:pt x="238" y="434"/>
                      <a:pt x="363" y="433"/>
                    </a:cubicBezTo>
                    <a:cubicBezTo>
                      <a:pt x="433" y="449"/>
                      <a:pt x="515" y="458"/>
                      <a:pt x="603" y="458"/>
                    </a:cubicBezTo>
                    <a:cubicBezTo>
                      <a:pt x="773" y="458"/>
                      <a:pt x="921" y="424"/>
                      <a:pt x="1008" y="373"/>
                    </a:cubicBezTo>
                    <a:cubicBezTo>
                      <a:pt x="1047" y="441"/>
                      <a:pt x="1069" y="520"/>
                      <a:pt x="1069" y="604"/>
                    </a:cubicBezTo>
                    <a:lnTo>
                      <a:pt x="1069" y="9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21">
                <a:extLst>
                  <a:ext uri="{FF2B5EF4-FFF2-40B4-BE49-F238E27FC236}">
                    <a16:creationId xmlns:a16="http://schemas.microsoft.com/office/drawing/2014/main" id="{1F23E8A5-5A62-4C78-B730-1F8B01FB7A97}"/>
                  </a:ext>
                </a:extLst>
              </p:cNvPr>
              <p:cNvSpPr>
                <a:spLocks/>
              </p:cNvSpPr>
              <p:nvPr/>
            </p:nvSpPr>
            <p:spPr bwMode="auto">
              <a:xfrm>
                <a:off x="694" y="3521"/>
                <a:ext cx="128" cy="107"/>
              </a:xfrm>
              <a:custGeom>
                <a:avLst/>
                <a:gdLst>
                  <a:gd name="T0" fmla="*/ 141 w 854"/>
                  <a:gd name="T1" fmla="*/ 248 h 713"/>
                  <a:gd name="T2" fmla="*/ 9 w 854"/>
                  <a:gd name="T3" fmla="*/ 447 h 713"/>
                  <a:gd name="T4" fmla="*/ 1 w 854"/>
                  <a:gd name="T5" fmla="*/ 576 h 713"/>
                  <a:gd name="T6" fmla="*/ 8 w 854"/>
                  <a:gd name="T7" fmla="*/ 631 h 713"/>
                  <a:gd name="T8" fmla="*/ 131 w 854"/>
                  <a:gd name="T9" fmla="*/ 713 h 713"/>
                  <a:gd name="T10" fmla="*/ 854 w 854"/>
                  <a:gd name="T11" fmla="*/ 713 h 713"/>
                  <a:gd name="T12" fmla="*/ 638 w 854"/>
                  <a:gd name="T13" fmla="*/ 0 h 713"/>
                  <a:gd name="T14" fmla="*/ 141 w 854"/>
                  <a:gd name="T15" fmla="*/ 248 h 7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54" h="713">
                    <a:moveTo>
                      <a:pt x="141" y="248"/>
                    </a:moveTo>
                    <a:cubicBezTo>
                      <a:pt x="73" y="282"/>
                      <a:pt x="21" y="337"/>
                      <a:pt x="9" y="447"/>
                    </a:cubicBezTo>
                    <a:cubicBezTo>
                      <a:pt x="1" y="576"/>
                      <a:pt x="1" y="576"/>
                      <a:pt x="1" y="576"/>
                    </a:cubicBezTo>
                    <a:cubicBezTo>
                      <a:pt x="0" y="595"/>
                      <a:pt x="2" y="614"/>
                      <a:pt x="8" y="631"/>
                    </a:cubicBezTo>
                    <a:cubicBezTo>
                      <a:pt x="27" y="679"/>
                      <a:pt x="74" y="713"/>
                      <a:pt x="131" y="713"/>
                    </a:cubicBezTo>
                    <a:cubicBezTo>
                      <a:pt x="854" y="713"/>
                      <a:pt x="854" y="713"/>
                      <a:pt x="854" y="713"/>
                    </a:cubicBezTo>
                    <a:cubicBezTo>
                      <a:pt x="638" y="0"/>
                      <a:pt x="638" y="0"/>
                      <a:pt x="638" y="0"/>
                    </a:cubicBezTo>
                    <a:lnTo>
                      <a:pt x="141"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22">
                <a:extLst>
                  <a:ext uri="{FF2B5EF4-FFF2-40B4-BE49-F238E27FC236}">
                    <a16:creationId xmlns:a16="http://schemas.microsoft.com/office/drawing/2014/main" id="{1012469D-F7EF-40AE-9D33-37129E9D59C2}"/>
                  </a:ext>
                </a:extLst>
              </p:cNvPr>
              <p:cNvSpPr>
                <a:spLocks/>
              </p:cNvSpPr>
              <p:nvPr/>
            </p:nvSpPr>
            <p:spPr bwMode="auto">
              <a:xfrm>
                <a:off x="832" y="3545"/>
                <a:ext cx="55" cy="83"/>
              </a:xfrm>
              <a:custGeom>
                <a:avLst/>
                <a:gdLst>
                  <a:gd name="T0" fmla="*/ 294 w 365"/>
                  <a:gd name="T1" fmla="*/ 0 h 553"/>
                  <a:gd name="T2" fmla="*/ 71 w 365"/>
                  <a:gd name="T3" fmla="*/ 0 h 553"/>
                  <a:gd name="T4" fmla="*/ 0 w 365"/>
                  <a:gd name="T5" fmla="*/ 71 h 553"/>
                  <a:gd name="T6" fmla="*/ 0 w 365"/>
                  <a:gd name="T7" fmla="*/ 129 h 553"/>
                  <a:gd name="T8" fmla="*/ 118 w 365"/>
                  <a:gd name="T9" fmla="*/ 297 h 553"/>
                  <a:gd name="T10" fmla="*/ 83 w 365"/>
                  <a:gd name="T11" fmla="*/ 553 h 553"/>
                  <a:gd name="T12" fmla="*/ 282 w 365"/>
                  <a:gd name="T13" fmla="*/ 553 h 553"/>
                  <a:gd name="T14" fmla="*/ 246 w 365"/>
                  <a:gd name="T15" fmla="*/ 297 h 553"/>
                  <a:gd name="T16" fmla="*/ 365 w 365"/>
                  <a:gd name="T17" fmla="*/ 129 h 553"/>
                  <a:gd name="T18" fmla="*/ 365 w 365"/>
                  <a:gd name="T19" fmla="*/ 71 h 553"/>
                  <a:gd name="T20" fmla="*/ 294 w 365"/>
                  <a:gd name="T21" fmla="*/ 0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5" h="553">
                    <a:moveTo>
                      <a:pt x="294" y="0"/>
                    </a:moveTo>
                    <a:cubicBezTo>
                      <a:pt x="71" y="0"/>
                      <a:pt x="71" y="0"/>
                      <a:pt x="71" y="0"/>
                    </a:cubicBezTo>
                    <a:cubicBezTo>
                      <a:pt x="32" y="0"/>
                      <a:pt x="0" y="31"/>
                      <a:pt x="0" y="71"/>
                    </a:cubicBezTo>
                    <a:cubicBezTo>
                      <a:pt x="0" y="129"/>
                      <a:pt x="0" y="129"/>
                      <a:pt x="0" y="129"/>
                    </a:cubicBezTo>
                    <a:cubicBezTo>
                      <a:pt x="0" y="207"/>
                      <a:pt x="49" y="273"/>
                      <a:pt x="118" y="297"/>
                    </a:cubicBezTo>
                    <a:cubicBezTo>
                      <a:pt x="83" y="553"/>
                      <a:pt x="83" y="553"/>
                      <a:pt x="83" y="553"/>
                    </a:cubicBezTo>
                    <a:cubicBezTo>
                      <a:pt x="282" y="553"/>
                      <a:pt x="282" y="553"/>
                      <a:pt x="282" y="553"/>
                    </a:cubicBezTo>
                    <a:cubicBezTo>
                      <a:pt x="246" y="297"/>
                      <a:pt x="246" y="297"/>
                      <a:pt x="246" y="297"/>
                    </a:cubicBezTo>
                    <a:cubicBezTo>
                      <a:pt x="315" y="273"/>
                      <a:pt x="365" y="207"/>
                      <a:pt x="365" y="129"/>
                    </a:cubicBezTo>
                    <a:cubicBezTo>
                      <a:pt x="365" y="71"/>
                      <a:pt x="365" y="71"/>
                      <a:pt x="365" y="71"/>
                    </a:cubicBezTo>
                    <a:cubicBezTo>
                      <a:pt x="365" y="31"/>
                      <a:pt x="333" y="0"/>
                      <a:pt x="29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23">
                <a:extLst>
                  <a:ext uri="{FF2B5EF4-FFF2-40B4-BE49-F238E27FC236}">
                    <a16:creationId xmlns:a16="http://schemas.microsoft.com/office/drawing/2014/main" id="{DED8343A-FBE6-4BFD-B3A5-9D1292F42F34}"/>
                  </a:ext>
                </a:extLst>
              </p:cNvPr>
              <p:cNvSpPr>
                <a:spLocks/>
              </p:cNvSpPr>
              <p:nvPr/>
            </p:nvSpPr>
            <p:spPr bwMode="auto">
              <a:xfrm>
                <a:off x="897" y="3521"/>
                <a:ext cx="128" cy="107"/>
              </a:xfrm>
              <a:custGeom>
                <a:avLst/>
                <a:gdLst>
                  <a:gd name="T0" fmla="*/ 215 w 853"/>
                  <a:gd name="T1" fmla="*/ 0 h 713"/>
                  <a:gd name="T2" fmla="*/ 712 w 853"/>
                  <a:gd name="T3" fmla="*/ 248 h 713"/>
                  <a:gd name="T4" fmla="*/ 844 w 853"/>
                  <a:gd name="T5" fmla="*/ 447 h 713"/>
                  <a:gd name="T6" fmla="*/ 852 w 853"/>
                  <a:gd name="T7" fmla="*/ 576 h 713"/>
                  <a:gd name="T8" fmla="*/ 845 w 853"/>
                  <a:gd name="T9" fmla="*/ 631 h 713"/>
                  <a:gd name="T10" fmla="*/ 723 w 853"/>
                  <a:gd name="T11" fmla="*/ 713 h 713"/>
                  <a:gd name="T12" fmla="*/ 0 w 853"/>
                  <a:gd name="T13" fmla="*/ 713 h 713"/>
                  <a:gd name="T14" fmla="*/ 215 w 853"/>
                  <a:gd name="T15" fmla="*/ 0 h 7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53" h="713">
                    <a:moveTo>
                      <a:pt x="215" y="0"/>
                    </a:moveTo>
                    <a:cubicBezTo>
                      <a:pt x="712" y="248"/>
                      <a:pt x="712" y="248"/>
                      <a:pt x="712" y="248"/>
                    </a:cubicBezTo>
                    <a:cubicBezTo>
                      <a:pt x="780" y="282"/>
                      <a:pt x="832" y="337"/>
                      <a:pt x="844" y="447"/>
                    </a:cubicBezTo>
                    <a:cubicBezTo>
                      <a:pt x="852" y="576"/>
                      <a:pt x="852" y="576"/>
                      <a:pt x="852" y="576"/>
                    </a:cubicBezTo>
                    <a:cubicBezTo>
                      <a:pt x="853" y="595"/>
                      <a:pt x="851" y="614"/>
                      <a:pt x="845" y="631"/>
                    </a:cubicBezTo>
                    <a:cubicBezTo>
                      <a:pt x="827" y="679"/>
                      <a:pt x="779" y="713"/>
                      <a:pt x="723" y="713"/>
                    </a:cubicBezTo>
                    <a:cubicBezTo>
                      <a:pt x="0" y="713"/>
                      <a:pt x="0" y="713"/>
                      <a:pt x="0" y="713"/>
                    </a:cubicBezTo>
                    <a:lnTo>
                      <a:pt x="21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3972755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17"/>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3"/>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4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20"/>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5"/>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par>
                                <p:cTn id="39" presetID="1" presetClass="exit" presetSubtype="0" fill="hold" nodeType="withEffect">
                                  <p:stCondLst>
                                    <p:cond delay="0"/>
                                  </p:stCondLst>
                                  <p:childTnLst>
                                    <p:set>
                                      <p:cBhvr>
                                        <p:cTn id="40" dur="1" fill="hold">
                                          <p:stCondLst>
                                            <p:cond delay="0"/>
                                          </p:stCondLst>
                                        </p:cTn>
                                        <p:tgtEl>
                                          <p:spTgt spid="47"/>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22"/>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7"/>
                                        </p:tgtEl>
                                        <p:attrNameLst>
                                          <p:attrName>style.visibility</p:attrName>
                                        </p:attrNameLst>
                                      </p:cBhvr>
                                      <p:to>
                                        <p:strVal val="hidden"/>
                                      </p:to>
                                    </p:set>
                                  </p:childTnLst>
                                </p:cTn>
                              </p:par>
                              <p:par>
                                <p:cTn id="51" presetID="1" presetClass="entr" presetSubtype="0" fill="hold" nodeType="withEffect">
                                  <p:stCondLst>
                                    <p:cond delay="0"/>
                                  </p:stCondLst>
                                  <p:childTnLst>
                                    <p:set>
                                      <p:cBhvr>
                                        <p:cTn id="52" dur="1" fill="hold">
                                          <p:stCondLst>
                                            <p:cond delay="0"/>
                                          </p:stCondLst>
                                        </p:cTn>
                                        <p:tgtEl>
                                          <p:spTgt spid="44"/>
                                        </p:tgtEl>
                                        <p:attrNameLst>
                                          <p:attrName>style.visibility</p:attrName>
                                        </p:attrNameLst>
                                      </p:cBhvr>
                                      <p:to>
                                        <p:strVal val="visible"/>
                                      </p:to>
                                    </p:set>
                                  </p:childTnLst>
                                </p:cTn>
                              </p:par>
                              <p:par>
                                <p:cTn id="53" presetID="1" presetClass="exit" presetSubtype="0" fill="hold" nodeType="withEffect">
                                  <p:stCondLst>
                                    <p:cond delay="0"/>
                                  </p:stCondLst>
                                  <p:childTnLst>
                                    <p:set>
                                      <p:cBhvr>
                                        <p:cTn id="54" dur="1" fill="hold">
                                          <p:stCondLst>
                                            <p:cond delay="0"/>
                                          </p:stCondLst>
                                        </p:cTn>
                                        <p:tgtEl>
                                          <p:spTgt spid="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17" grpId="1"/>
      <p:bldP spid="20" grpId="0"/>
      <p:bldP spid="20" grpId="1"/>
      <p:bldP spid="22" grpId="0"/>
      <p:bldP spid="22" grpId="1"/>
      <p:bldP spid="2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a:extLst>
              <a:ext uri="{FF2B5EF4-FFF2-40B4-BE49-F238E27FC236}">
                <a16:creationId xmlns:a16="http://schemas.microsoft.com/office/drawing/2014/main" id="{89DE61F9-B3EE-4EEF-9ADE-0C558191DCF7}"/>
              </a:ext>
            </a:extLst>
          </p:cNvPr>
          <p:cNvSpPr>
            <a:spLocks noGrp="1"/>
          </p:cNvSpPr>
          <p:nvPr>
            <p:ph type="body" sz="quarter" idx="14"/>
          </p:nvPr>
        </p:nvSpPr>
        <p:spPr>
          <a:xfrm>
            <a:off x="359152" y="693553"/>
            <a:ext cx="7578000" cy="276999"/>
          </a:xfrm>
        </p:spPr>
        <p:txBody>
          <a:bodyPr lIns="0" anchor="t" anchorCtr="0">
            <a:normAutofit/>
          </a:bodyPr>
          <a:lstStyle/>
          <a:p>
            <a:pPr>
              <a:lnSpc>
                <a:spcPct val="90000"/>
              </a:lnSpc>
              <a:spcAft>
                <a:spcPts val="600"/>
              </a:spcAft>
              <a:defRPr/>
            </a:pPr>
            <a:r>
              <a:rPr lang="en-GB" sz="1200"/>
              <a:t>General Principles</a:t>
            </a:r>
            <a:endParaRPr lang="en-GB" sz="1200" baseline="30000"/>
          </a:p>
        </p:txBody>
      </p:sp>
      <p:sp>
        <p:nvSpPr>
          <p:cNvPr id="18" name="Title 17"/>
          <p:cNvSpPr>
            <a:spLocks noGrp="1"/>
          </p:cNvSpPr>
          <p:nvPr>
            <p:ph type="title"/>
          </p:nvPr>
        </p:nvSpPr>
        <p:spPr>
          <a:xfrm>
            <a:off x="359152" y="288639"/>
            <a:ext cx="7577139" cy="338554"/>
          </a:xfrm>
        </p:spPr>
        <p:txBody>
          <a:bodyPr vert="horz" lIns="0" tIns="0" rIns="0" bIns="0" rtlCol="0" anchor="t" anchorCtr="0">
            <a:normAutofit/>
          </a:bodyPr>
          <a:lstStyle/>
          <a:p>
            <a:pPr>
              <a:lnSpc>
                <a:spcPct val="90000"/>
              </a:lnSpc>
            </a:pPr>
            <a:r>
              <a:rPr lang="en-GB" sz="1900"/>
              <a:t>What do we need to consider when interpretting subgroup data?</a:t>
            </a:r>
            <a:endParaRPr lang="en-US" sz="1900"/>
          </a:p>
        </p:txBody>
      </p:sp>
      <p:sp>
        <p:nvSpPr>
          <p:cNvPr id="27" name="Footer Placeholder 7">
            <a:extLst>
              <a:ext uri="{FF2B5EF4-FFF2-40B4-BE49-F238E27FC236}">
                <a16:creationId xmlns:a16="http://schemas.microsoft.com/office/drawing/2014/main" id="{97DA0324-23A9-4AAF-9990-326B5976019E}"/>
              </a:ext>
            </a:extLst>
          </p:cNvPr>
          <p:cNvSpPr>
            <a:spLocks noGrp="1"/>
          </p:cNvSpPr>
          <p:nvPr>
            <p:ph type="ftr" sz="quarter" idx="20"/>
          </p:nvPr>
        </p:nvSpPr>
        <p:spPr>
          <a:xfrm>
            <a:off x="359152" y="4704001"/>
            <a:ext cx="2565024" cy="273844"/>
          </a:xfrm>
        </p:spPr>
        <p:txBody>
          <a:bodyPr vert="horz" lIns="0" tIns="0" rIns="0" bIns="0" rtlCol="0" anchor="t" anchorCtr="0">
            <a:normAutofit/>
          </a:bodyPr>
          <a:lstStyle/>
          <a:p>
            <a:pPr>
              <a:spcAft>
                <a:spcPts val="600"/>
              </a:spcAft>
            </a:pPr>
            <a:r>
              <a:rPr lang="en-GB" kern="1200">
                <a:latin typeface="+mn-lt"/>
                <a:ea typeface="+mn-ea"/>
                <a:cs typeface="+mn-cs"/>
              </a:rPr>
              <a:t>16x9 core template</a:t>
            </a:r>
          </a:p>
        </p:txBody>
      </p:sp>
      <p:sp>
        <p:nvSpPr>
          <p:cNvPr id="8" name="Slide Number Placeholder 7"/>
          <p:cNvSpPr>
            <a:spLocks noGrp="1"/>
          </p:cNvSpPr>
          <p:nvPr>
            <p:ph type="sldNum" sz="quarter" idx="21"/>
          </p:nvPr>
        </p:nvSpPr>
        <p:spPr>
          <a:xfrm>
            <a:off x="7953029" y="4704001"/>
            <a:ext cx="830123" cy="273844"/>
          </a:xfrm>
        </p:spPr>
        <p:txBody>
          <a:bodyPr vert="horz" lIns="72000" tIns="0" rIns="0" bIns="0" rtlCol="0" anchor="t" anchorCtr="0">
            <a:normAutofit/>
          </a:bodyPr>
          <a:lstStyle/>
          <a:p>
            <a:pPr>
              <a:spcAft>
                <a:spcPts val="600"/>
              </a:spcAft>
            </a:pPr>
            <a:fld id="{9F9F533D-B52E-4A2F-BF72-0ADD2D94BD75}" type="slidenum">
              <a:rPr lang="en-GB" smtClean="0"/>
              <a:pPr>
                <a:spcAft>
                  <a:spcPts val="600"/>
                </a:spcAft>
              </a:pPr>
              <a:t>6</a:t>
            </a:fld>
            <a:endParaRPr lang="en-GB"/>
          </a:p>
        </p:txBody>
      </p:sp>
      <p:grpSp>
        <p:nvGrpSpPr>
          <p:cNvPr id="26" name="Group 25">
            <a:extLst>
              <a:ext uri="{FF2B5EF4-FFF2-40B4-BE49-F238E27FC236}">
                <a16:creationId xmlns:a16="http://schemas.microsoft.com/office/drawing/2014/main" id="{C11AB004-EF98-48B5-B77C-32D0F07B4A44}"/>
              </a:ext>
            </a:extLst>
          </p:cNvPr>
          <p:cNvGrpSpPr/>
          <p:nvPr/>
        </p:nvGrpSpPr>
        <p:grpSpPr>
          <a:xfrm>
            <a:off x="364474" y="1217031"/>
            <a:ext cx="8415049" cy="435600"/>
            <a:chOff x="364474" y="1217031"/>
            <a:chExt cx="8415049" cy="435600"/>
          </a:xfrm>
        </p:grpSpPr>
        <p:sp>
          <p:nvSpPr>
            <p:cNvPr id="4" name="Freeform: Shape 3">
              <a:extLst>
                <a:ext uri="{FF2B5EF4-FFF2-40B4-BE49-F238E27FC236}">
                  <a16:creationId xmlns:a16="http://schemas.microsoft.com/office/drawing/2014/main" id="{B52678AF-007B-46AB-B483-5896C5E17455}"/>
                </a:ext>
              </a:extLst>
            </p:cNvPr>
            <p:cNvSpPr/>
            <p:nvPr/>
          </p:nvSpPr>
          <p:spPr>
            <a:xfrm>
              <a:off x="364474" y="1217031"/>
              <a:ext cx="2103762" cy="435600"/>
            </a:xfrm>
            <a:custGeom>
              <a:avLst/>
              <a:gdLst>
                <a:gd name="connsiteX0" fmla="*/ 0 w 2103762"/>
                <a:gd name="connsiteY0" fmla="*/ 0 h 435600"/>
                <a:gd name="connsiteX1" fmla="*/ 2103762 w 2103762"/>
                <a:gd name="connsiteY1" fmla="*/ 0 h 435600"/>
                <a:gd name="connsiteX2" fmla="*/ 2103762 w 2103762"/>
                <a:gd name="connsiteY2" fmla="*/ 435600 h 435600"/>
                <a:gd name="connsiteX3" fmla="*/ 0 w 2103762"/>
                <a:gd name="connsiteY3" fmla="*/ 435600 h 435600"/>
                <a:gd name="connsiteX4" fmla="*/ 0 w 2103762"/>
                <a:gd name="connsiteY4" fmla="*/ 0 h 43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3762" h="435600">
                  <a:moveTo>
                    <a:pt x="0" y="0"/>
                  </a:moveTo>
                  <a:lnTo>
                    <a:pt x="2103762" y="0"/>
                  </a:lnTo>
                  <a:lnTo>
                    <a:pt x="2103762" y="435600"/>
                  </a:lnTo>
                  <a:lnTo>
                    <a:pt x="0" y="4356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None/>
              </a:pPr>
              <a:r>
                <a:rPr lang="en-GB" sz="2200" kern="1200"/>
                <a:t>Heterogeneity</a:t>
              </a:r>
            </a:p>
          </p:txBody>
        </p:sp>
        <p:sp>
          <p:nvSpPr>
            <p:cNvPr id="5" name="Left Brace 4">
              <a:extLst>
                <a:ext uri="{FF2B5EF4-FFF2-40B4-BE49-F238E27FC236}">
                  <a16:creationId xmlns:a16="http://schemas.microsoft.com/office/drawing/2014/main" id="{2C6C3FE0-313E-48EA-830E-9BDFED9AEC11}"/>
                </a:ext>
              </a:extLst>
            </p:cNvPr>
            <p:cNvSpPr/>
            <p:nvPr/>
          </p:nvSpPr>
          <p:spPr>
            <a:xfrm>
              <a:off x="2468237" y="1217031"/>
              <a:ext cx="420752" cy="435600"/>
            </a:xfrm>
            <a:prstGeom prst="leftBrace">
              <a:avLst>
                <a:gd name="adj1" fmla="val 35000"/>
                <a:gd name="adj2" fmla="val 50000"/>
              </a:avLst>
            </a:prstGeom>
            <a:ln>
              <a:solidFill>
                <a:schemeClr val="bg2"/>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7" name="Freeform: Shape 6">
              <a:extLst>
                <a:ext uri="{FF2B5EF4-FFF2-40B4-BE49-F238E27FC236}">
                  <a16:creationId xmlns:a16="http://schemas.microsoft.com/office/drawing/2014/main" id="{DA852B2C-07DF-4206-BCAA-C6C515D08A29}"/>
                </a:ext>
              </a:extLst>
            </p:cNvPr>
            <p:cNvSpPr/>
            <p:nvPr/>
          </p:nvSpPr>
          <p:spPr>
            <a:xfrm>
              <a:off x="3057290" y="1217031"/>
              <a:ext cx="5722233" cy="435600"/>
            </a:xfrm>
            <a:custGeom>
              <a:avLst/>
              <a:gdLst>
                <a:gd name="connsiteX0" fmla="*/ 0 w 5722233"/>
                <a:gd name="connsiteY0" fmla="*/ 0 h 435600"/>
                <a:gd name="connsiteX1" fmla="*/ 5722233 w 5722233"/>
                <a:gd name="connsiteY1" fmla="*/ 0 h 435600"/>
                <a:gd name="connsiteX2" fmla="*/ 5722233 w 5722233"/>
                <a:gd name="connsiteY2" fmla="*/ 435600 h 435600"/>
                <a:gd name="connsiteX3" fmla="*/ 0 w 5722233"/>
                <a:gd name="connsiteY3" fmla="*/ 435600 h 435600"/>
                <a:gd name="connsiteX4" fmla="*/ 0 w 5722233"/>
                <a:gd name="connsiteY4" fmla="*/ 0 h 43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2233" h="435600">
                  <a:moveTo>
                    <a:pt x="0" y="0"/>
                  </a:moveTo>
                  <a:lnTo>
                    <a:pt x="5722233" y="0"/>
                  </a:lnTo>
                  <a:lnTo>
                    <a:pt x="5722233" y="435600"/>
                  </a:lnTo>
                  <a:lnTo>
                    <a:pt x="0" y="435600"/>
                  </a:lnTo>
                  <a:lnTo>
                    <a:pt x="0" y="0"/>
                  </a:lnTo>
                  <a:close/>
                </a:path>
              </a:pathLst>
            </a:custGeom>
            <a:ln>
              <a:noFill/>
            </a:ln>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marL="114300" lvl="1" indent="-114300" algn="l" defTabSz="533400">
                <a:lnSpc>
                  <a:spcPct val="90000"/>
                </a:lnSpc>
                <a:spcBef>
                  <a:spcPct val="0"/>
                </a:spcBef>
                <a:spcAft>
                  <a:spcPct val="15000"/>
                </a:spcAft>
                <a:buChar char="•"/>
              </a:pPr>
              <a:r>
                <a:rPr lang="en-GB" sz="1200" kern="1200"/>
                <a:t>How similar/different are patients in the trial with respect to important prognostic/predictive factors?</a:t>
              </a:r>
            </a:p>
          </p:txBody>
        </p:sp>
      </p:grpSp>
      <p:grpSp>
        <p:nvGrpSpPr>
          <p:cNvPr id="28" name="Group 27">
            <a:extLst>
              <a:ext uri="{FF2B5EF4-FFF2-40B4-BE49-F238E27FC236}">
                <a16:creationId xmlns:a16="http://schemas.microsoft.com/office/drawing/2014/main" id="{530C6519-3220-453B-89A3-1A414BA03A92}"/>
              </a:ext>
            </a:extLst>
          </p:cNvPr>
          <p:cNvGrpSpPr/>
          <p:nvPr/>
        </p:nvGrpSpPr>
        <p:grpSpPr>
          <a:xfrm>
            <a:off x="364474" y="1731831"/>
            <a:ext cx="8415049" cy="435600"/>
            <a:chOff x="364474" y="1731831"/>
            <a:chExt cx="8415049" cy="435600"/>
          </a:xfrm>
        </p:grpSpPr>
        <p:sp>
          <p:nvSpPr>
            <p:cNvPr id="9" name="Freeform: Shape 8">
              <a:extLst>
                <a:ext uri="{FF2B5EF4-FFF2-40B4-BE49-F238E27FC236}">
                  <a16:creationId xmlns:a16="http://schemas.microsoft.com/office/drawing/2014/main" id="{B443FB92-9FF4-4D65-BB27-7D3774DCE972}"/>
                </a:ext>
              </a:extLst>
            </p:cNvPr>
            <p:cNvSpPr/>
            <p:nvPr/>
          </p:nvSpPr>
          <p:spPr>
            <a:xfrm>
              <a:off x="364474" y="1731831"/>
              <a:ext cx="2103762" cy="435600"/>
            </a:xfrm>
            <a:custGeom>
              <a:avLst/>
              <a:gdLst>
                <a:gd name="connsiteX0" fmla="*/ 0 w 2103762"/>
                <a:gd name="connsiteY0" fmla="*/ 0 h 435600"/>
                <a:gd name="connsiteX1" fmla="*/ 2103762 w 2103762"/>
                <a:gd name="connsiteY1" fmla="*/ 0 h 435600"/>
                <a:gd name="connsiteX2" fmla="*/ 2103762 w 2103762"/>
                <a:gd name="connsiteY2" fmla="*/ 435600 h 435600"/>
                <a:gd name="connsiteX3" fmla="*/ 0 w 2103762"/>
                <a:gd name="connsiteY3" fmla="*/ 435600 h 435600"/>
                <a:gd name="connsiteX4" fmla="*/ 0 w 2103762"/>
                <a:gd name="connsiteY4" fmla="*/ 0 h 43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3762" h="435600">
                  <a:moveTo>
                    <a:pt x="0" y="0"/>
                  </a:moveTo>
                  <a:lnTo>
                    <a:pt x="2103762" y="0"/>
                  </a:lnTo>
                  <a:lnTo>
                    <a:pt x="2103762" y="435600"/>
                  </a:lnTo>
                  <a:lnTo>
                    <a:pt x="0" y="4356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None/>
              </a:pPr>
              <a:r>
                <a:rPr lang="en-GB" sz="2200" kern="1200"/>
                <a:t>Consistency</a:t>
              </a:r>
            </a:p>
          </p:txBody>
        </p:sp>
        <p:sp>
          <p:nvSpPr>
            <p:cNvPr id="10" name="Left Brace 9">
              <a:extLst>
                <a:ext uri="{FF2B5EF4-FFF2-40B4-BE49-F238E27FC236}">
                  <a16:creationId xmlns:a16="http://schemas.microsoft.com/office/drawing/2014/main" id="{4F380673-ED92-45D4-B1D0-A094FEBC47DB}"/>
                </a:ext>
              </a:extLst>
            </p:cNvPr>
            <p:cNvSpPr/>
            <p:nvPr/>
          </p:nvSpPr>
          <p:spPr>
            <a:xfrm>
              <a:off x="2468237" y="1731831"/>
              <a:ext cx="420752" cy="435600"/>
            </a:xfrm>
            <a:prstGeom prst="leftBrace">
              <a:avLst>
                <a:gd name="adj1" fmla="val 35000"/>
                <a:gd name="adj2" fmla="val 50000"/>
              </a:avLst>
            </a:prstGeom>
            <a:ln>
              <a:solidFill>
                <a:schemeClr val="bg2"/>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1" name="Freeform: Shape 10">
              <a:extLst>
                <a:ext uri="{FF2B5EF4-FFF2-40B4-BE49-F238E27FC236}">
                  <a16:creationId xmlns:a16="http://schemas.microsoft.com/office/drawing/2014/main" id="{D9A1D69C-E113-4C29-9832-25ABF01196FF}"/>
                </a:ext>
              </a:extLst>
            </p:cNvPr>
            <p:cNvSpPr/>
            <p:nvPr/>
          </p:nvSpPr>
          <p:spPr>
            <a:xfrm>
              <a:off x="3057290" y="1731831"/>
              <a:ext cx="5722233" cy="435600"/>
            </a:xfrm>
            <a:custGeom>
              <a:avLst/>
              <a:gdLst>
                <a:gd name="connsiteX0" fmla="*/ 0 w 5722233"/>
                <a:gd name="connsiteY0" fmla="*/ 0 h 435600"/>
                <a:gd name="connsiteX1" fmla="*/ 5722233 w 5722233"/>
                <a:gd name="connsiteY1" fmla="*/ 0 h 435600"/>
                <a:gd name="connsiteX2" fmla="*/ 5722233 w 5722233"/>
                <a:gd name="connsiteY2" fmla="*/ 435600 h 435600"/>
                <a:gd name="connsiteX3" fmla="*/ 0 w 5722233"/>
                <a:gd name="connsiteY3" fmla="*/ 435600 h 435600"/>
                <a:gd name="connsiteX4" fmla="*/ 0 w 5722233"/>
                <a:gd name="connsiteY4" fmla="*/ 0 h 43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2233" h="435600">
                  <a:moveTo>
                    <a:pt x="0" y="0"/>
                  </a:moveTo>
                  <a:lnTo>
                    <a:pt x="5722233" y="0"/>
                  </a:lnTo>
                  <a:lnTo>
                    <a:pt x="5722233" y="435600"/>
                  </a:lnTo>
                  <a:lnTo>
                    <a:pt x="0" y="435600"/>
                  </a:lnTo>
                  <a:lnTo>
                    <a:pt x="0" y="0"/>
                  </a:lnTo>
                  <a:close/>
                </a:path>
              </a:pathLst>
            </a:custGeom>
            <a:ln>
              <a:noFill/>
            </a:ln>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marL="114300" lvl="1" indent="-114300" algn="l" defTabSz="533400">
                <a:lnSpc>
                  <a:spcPct val="90000"/>
                </a:lnSpc>
                <a:spcBef>
                  <a:spcPct val="0"/>
                </a:spcBef>
                <a:spcAft>
                  <a:spcPct val="15000"/>
                </a:spcAft>
                <a:buChar char="•"/>
              </a:pPr>
              <a:r>
                <a:rPr lang="en-GB" sz="1200" kern="1200"/>
                <a:t>Is the benefit/risk in the overall study population also observed across important subgroups?</a:t>
              </a:r>
            </a:p>
          </p:txBody>
        </p:sp>
      </p:grpSp>
      <p:grpSp>
        <p:nvGrpSpPr>
          <p:cNvPr id="29" name="Group 28">
            <a:extLst>
              <a:ext uri="{FF2B5EF4-FFF2-40B4-BE49-F238E27FC236}">
                <a16:creationId xmlns:a16="http://schemas.microsoft.com/office/drawing/2014/main" id="{8BAFC0C6-5DC4-4BD9-A296-1D7CCBA41E34}"/>
              </a:ext>
            </a:extLst>
          </p:cNvPr>
          <p:cNvGrpSpPr/>
          <p:nvPr/>
        </p:nvGrpSpPr>
        <p:grpSpPr>
          <a:xfrm>
            <a:off x="364474" y="2246631"/>
            <a:ext cx="8415049" cy="435600"/>
            <a:chOff x="364474" y="2246631"/>
            <a:chExt cx="8415049" cy="435600"/>
          </a:xfrm>
        </p:grpSpPr>
        <p:sp>
          <p:nvSpPr>
            <p:cNvPr id="12" name="Freeform: Shape 11">
              <a:extLst>
                <a:ext uri="{FF2B5EF4-FFF2-40B4-BE49-F238E27FC236}">
                  <a16:creationId xmlns:a16="http://schemas.microsoft.com/office/drawing/2014/main" id="{9F36D291-C497-49D8-9CF7-02EAAA12B8EE}"/>
                </a:ext>
              </a:extLst>
            </p:cNvPr>
            <p:cNvSpPr/>
            <p:nvPr/>
          </p:nvSpPr>
          <p:spPr>
            <a:xfrm>
              <a:off x="364474" y="2246631"/>
              <a:ext cx="2103762" cy="435600"/>
            </a:xfrm>
            <a:custGeom>
              <a:avLst/>
              <a:gdLst>
                <a:gd name="connsiteX0" fmla="*/ 0 w 2103762"/>
                <a:gd name="connsiteY0" fmla="*/ 0 h 435600"/>
                <a:gd name="connsiteX1" fmla="*/ 2103762 w 2103762"/>
                <a:gd name="connsiteY1" fmla="*/ 0 h 435600"/>
                <a:gd name="connsiteX2" fmla="*/ 2103762 w 2103762"/>
                <a:gd name="connsiteY2" fmla="*/ 435600 h 435600"/>
                <a:gd name="connsiteX3" fmla="*/ 0 w 2103762"/>
                <a:gd name="connsiteY3" fmla="*/ 435600 h 435600"/>
                <a:gd name="connsiteX4" fmla="*/ 0 w 2103762"/>
                <a:gd name="connsiteY4" fmla="*/ 0 h 43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3762" h="435600">
                  <a:moveTo>
                    <a:pt x="0" y="0"/>
                  </a:moveTo>
                  <a:lnTo>
                    <a:pt x="2103762" y="0"/>
                  </a:lnTo>
                  <a:lnTo>
                    <a:pt x="2103762" y="435600"/>
                  </a:lnTo>
                  <a:lnTo>
                    <a:pt x="0" y="4356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None/>
              </a:pPr>
              <a:r>
                <a:rPr lang="en-GB" sz="2200" kern="1200"/>
                <a:t>Credibility</a:t>
              </a:r>
            </a:p>
          </p:txBody>
        </p:sp>
        <p:sp>
          <p:nvSpPr>
            <p:cNvPr id="13" name="Left Brace 12">
              <a:extLst>
                <a:ext uri="{FF2B5EF4-FFF2-40B4-BE49-F238E27FC236}">
                  <a16:creationId xmlns:a16="http://schemas.microsoft.com/office/drawing/2014/main" id="{B6CE9C25-CEA8-439B-9217-5B4CE68CDDD0}"/>
                </a:ext>
              </a:extLst>
            </p:cNvPr>
            <p:cNvSpPr/>
            <p:nvPr/>
          </p:nvSpPr>
          <p:spPr>
            <a:xfrm>
              <a:off x="2468237" y="2246631"/>
              <a:ext cx="420752" cy="435600"/>
            </a:xfrm>
            <a:prstGeom prst="leftBrace">
              <a:avLst>
                <a:gd name="adj1" fmla="val 35000"/>
                <a:gd name="adj2" fmla="val 50000"/>
              </a:avLst>
            </a:prstGeom>
            <a:ln>
              <a:solidFill>
                <a:schemeClr val="bg2"/>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4" name="Freeform: Shape 13">
              <a:extLst>
                <a:ext uri="{FF2B5EF4-FFF2-40B4-BE49-F238E27FC236}">
                  <a16:creationId xmlns:a16="http://schemas.microsoft.com/office/drawing/2014/main" id="{77029AA4-E0C5-49B8-985E-A804372C353B}"/>
                </a:ext>
              </a:extLst>
            </p:cNvPr>
            <p:cNvSpPr/>
            <p:nvPr/>
          </p:nvSpPr>
          <p:spPr>
            <a:xfrm>
              <a:off x="3057290" y="2246631"/>
              <a:ext cx="5722233" cy="435600"/>
            </a:xfrm>
            <a:custGeom>
              <a:avLst/>
              <a:gdLst>
                <a:gd name="connsiteX0" fmla="*/ 0 w 5722233"/>
                <a:gd name="connsiteY0" fmla="*/ 0 h 435600"/>
                <a:gd name="connsiteX1" fmla="*/ 5722233 w 5722233"/>
                <a:gd name="connsiteY1" fmla="*/ 0 h 435600"/>
                <a:gd name="connsiteX2" fmla="*/ 5722233 w 5722233"/>
                <a:gd name="connsiteY2" fmla="*/ 435600 h 435600"/>
                <a:gd name="connsiteX3" fmla="*/ 0 w 5722233"/>
                <a:gd name="connsiteY3" fmla="*/ 435600 h 435600"/>
                <a:gd name="connsiteX4" fmla="*/ 0 w 5722233"/>
                <a:gd name="connsiteY4" fmla="*/ 0 h 43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2233" h="435600">
                  <a:moveTo>
                    <a:pt x="0" y="0"/>
                  </a:moveTo>
                  <a:lnTo>
                    <a:pt x="5722233" y="0"/>
                  </a:lnTo>
                  <a:lnTo>
                    <a:pt x="5722233" y="435600"/>
                  </a:lnTo>
                  <a:lnTo>
                    <a:pt x="0" y="435600"/>
                  </a:lnTo>
                  <a:lnTo>
                    <a:pt x="0" y="0"/>
                  </a:lnTo>
                  <a:close/>
                </a:path>
              </a:pathLst>
            </a:custGeom>
            <a:ln>
              <a:noFill/>
            </a:ln>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marL="114300" lvl="1" indent="-114300" algn="l" defTabSz="533400">
                <a:lnSpc>
                  <a:spcPct val="90000"/>
                </a:lnSpc>
                <a:spcBef>
                  <a:spcPct val="0"/>
                </a:spcBef>
                <a:spcAft>
                  <a:spcPct val="15000"/>
                </a:spcAft>
                <a:buChar char="•"/>
              </a:pPr>
              <a:r>
                <a:rPr lang="en-GB" sz="1200" kern="1200"/>
                <a:t>Can observed subgroup differences be relied on for decision-making (e.g. regulator approval, prescribers)?</a:t>
              </a:r>
            </a:p>
          </p:txBody>
        </p:sp>
      </p:grpSp>
      <p:grpSp>
        <p:nvGrpSpPr>
          <p:cNvPr id="30" name="Group 29">
            <a:extLst>
              <a:ext uri="{FF2B5EF4-FFF2-40B4-BE49-F238E27FC236}">
                <a16:creationId xmlns:a16="http://schemas.microsoft.com/office/drawing/2014/main" id="{368DDBE1-19E3-4594-8861-E84E434E6196}"/>
              </a:ext>
            </a:extLst>
          </p:cNvPr>
          <p:cNvGrpSpPr/>
          <p:nvPr/>
        </p:nvGrpSpPr>
        <p:grpSpPr>
          <a:xfrm>
            <a:off x="364474" y="2761431"/>
            <a:ext cx="8415049" cy="694237"/>
            <a:chOff x="364474" y="2761431"/>
            <a:chExt cx="8415049" cy="694237"/>
          </a:xfrm>
        </p:grpSpPr>
        <p:sp>
          <p:nvSpPr>
            <p:cNvPr id="15" name="Freeform: Shape 14">
              <a:extLst>
                <a:ext uri="{FF2B5EF4-FFF2-40B4-BE49-F238E27FC236}">
                  <a16:creationId xmlns:a16="http://schemas.microsoft.com/office/drawing/2014/main" id="{094B818D-7C9E-45DA-B519-9171BAAAC2E4}"/>
                </a:ext>
              </a:extLst>
            </p:cNvPr>
            <p:cNvSpPr/>
            <p:nvPr/>
          </p:nvSpPr>
          <p:spPr>
            <a:xfrm>
              <a:off x="364474" y="2761431"/>
              <a:ext cx="2103762" cy="694237"/>
            </a:xfrm>
            <a:custGeom>
              <a:avLst/>
              <a:gdLst>
                <a:gd name="connsiteX0" fmla="*/ 0 w 2103762"/>
                <a:gd name="connsiteY0" fmla="*/ 0 h 694237"/>
                <a:gd name="connsiteX1" fmla="*/ 2103762 w 2103762"/>
                <a:gd name="connsiteY1" fmla="*/ 0 h 694237"/>
                <a:gd name="connsiteX2" fmla="*/ 2103762 w 2103762"/>
                <a:gd name="connsiteY2" fmla="*/ 694237 h 694237"/>
                <a:gd name="connsiteX3" fmla="*/ 0 w 2103762"/>
                <a:gd name="connsiteY3" fmla="*/ 694237 h 694237"/>
                <a:gd name="connsiteX4" fmla="*/ 0 w 2103762"/>
                <a:gd name="connsiteY4" fmla="*/ 0 h 694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3762" h="694237">
                  <a:moveTo>
                    <a:pt x="0" y="0"/>
                  </a:moveTo>
                  <a:lnTo>
                    <a:pt x="2103762" y="0"/>
                  </a:lnTo>
                  <a:lnTo>
                    <a:pt x="2103762" y="694237"/>
                  </a:lnTo>
                  <a:lnTo>
                    <a:pt x="0" y="69423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Font typeface="Arial" panose="020B0604020202020204" pitchFamily="34" charset="0"/>
                <a:buNone/>
              </a:pPr>
              <a:r>
                <a:rPr lang="en-GB" sz="2200" kern="1200"/>
                <a:t>Biological Plausibility</a:t>
              </a:r>
            </a:p>
          </p:txBody>
        </p:sp>
        <p:sp>
          <p:nvSpPr>
            <p:cNvPr id="17" name="Left Brace 16">
              <a:extLst>
                <a:ext uri="{FF2B5EF4-FFF2-40B4-BE49-F238E27FC236}">
                  <a16:creationId xmlns:a16="http://schemas.microsoft.com/office/drawing/2014/main" id="{D6B4B52C-EA06-4C5A-B1C9-5B46ECDB029C}"/>
                </a:ext>
              </a:extLst>
            </p:cNvPr>
            <p:cNvSpPr/>
            <p:nvPr/>
          </p:nvSpPr>
          <p:spPr>
            <a:xfrm>
              <a:off x="2468237" y="2761431"/>
              <a:ext cx="420752" cy="694237"/>
            </a:xfrm>
            <a:prstGeom prst="leftBrace">
              <a:avLst>
                <a:gd name="adj1" fmla="val 35000"/>
                <a:gd name="adj2" fmla="val 50000"/>
              </a:avLst>
            </a:prstGeom>
            <a:ln>
              <a:solidFill>
                <a:schemeClr val="bg2"/>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9" name="Freeform: Shape 18">
              <a:extLst>
                <a:ext uri="{FF2B5EF4-FFF2-40B4-BE49-F238E27FC236}">
                  <a16:creationId xmlns:a16="http://schemas.microsoft.com/office/drawing/2014/main" id="{378EB979-FDCF-4E4D-99E8-541E1F86E837}"/>
                </a:ext>
              </a:extLst>
            </p:cNvPr>
            <p:cNvSpPr/>
            <p:nvPr/>
          </p:nvSpPr>
          <p:spPr>
            <a:xfrm>
              <a:off x="3057290" y="2761431"/>
              <a:ext cx="5722233" cy="694237"/>
            </a:xfrm>
            <a:custGeom>
              <a:avLst/>
              <a:gdLst>
                <a:gd name="connsiteX0" fmla="*/ 0 w 5722233"/>
                <a:gd name="connsiteY0" fmla="*/ 0 h 694237"/>
                <a:gd name="connsiteX1" fmla="*/ 5722233 w 5722233"/>
                <a:gd name="connsiteY1" fmla="*/ 0 h 694237"/>
                <a:gd name="connsiteX2" fmla="*/ 5722233 w 5722233"/>
                <a:gd name="connsiteY2" fmla="*/ 694237 h 694237"/>
                <a:gd name="connsiteX3" fmla="*/ 0 w 5722233"/>
                <a:gd name="connsiteY3" fmla="*/ 694237 h 694237"/>
                <a:gd name="connsiteX4" fmla="*/ 0 w 5722233"/>
                <a:gd name="connsiteY4" fmla="*/ 0 h 694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2233" h="694237">
                  <a:moveTo>
                    <a:pt x="0" y="0"/>
                  </a:moveTo>
                  <a:lnTo>
                    <a:pt x="5722233" y="0"/>
                  </a:lnTo>
                  <a:lnTo>
                    <a:pt x="5722233" y="694237"/>
                  </a:lnTo>
                  <a:lnTo>
                    <a:pt x="0" y="694237"/>
                  </a:lnTo>
                  <a:lnTo>
                    <a:pt x="0" y="0"/>
                  </a:lnTo>
                  <a:close/>
                </a:path>
              </a:pathLst>
            </a:custGeom>
            <a:ln>
              <a:noFill/>
            </a:ln>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GB" sz="1200" kern="1200"/>
                <a:t>Is the effect predicted by clinical, pharmacological, mechanistic considerations (including external sources)?</a:t>
              </a:r>
            </a:p>
          </p:txBody>
        </p:sp>
      </p:grpSp>
      <p:grpSp>
        <p:nvGrpSpPr>
          <p:cNvPr id="31" name="Group 30">
            <a:extLst>
              <a:ext uri="{FF2B5EF4-FFF2-40B4-BE49-F238E27FC236}">
                <a16:creationId xmlns:a16="http://schemas.microsoft.com/office/drawing/2014/main" id="{AB1B4970-FF10-45C3-98F0-EA686CEEF8DB}"/>
              </a:ext>
            </a:extLst>
          </p:cNvPr>
          <p:cNvGrpSpPr/>
          <p:nvPr/>
        </p:nvGrpSpPr>
        <p:grpSpPr>
          <a:xfrm>
            <a:off x="364474" y="3534869"/>
            <a:ext cx="8415049" cy="435600"/>
            <a:chOff x="364474" y="3534869"/>
            <a:chExt cx="8415049" cy="435600"/>
          </a:xfrm>
        </p:grpSpPr>
        <p:sp>
          <p:nvSpPr>
            <p:cNvPr id="20" name="Freeform: Shape 19">
              <a:extLst>
                <a:ext uri="{FF2B5EF4-FFF2-40B4-BE49-F238E27FC236}">
                  <a16:creationId xmlns:a16="http://schemas.microsoft.com/office/drawing/2014/main" id="{333F44C3-6008-454E-A0D8-B40BFBFAA8E8}"/>
                </a:ext>
              </a:extLst>
            </p:cNvPr>
            <p:cNvSpPr/>
            <p:nvPr/>
          </p:nvSpPr>
          <p:spPr>
            <a:xfrm>
              <a:off x="364474" y="3534869"/>
              <a:ext cx="2103762" cy="435600"/>
            </a:xfrm>
            <a:custGeom>
              <a:avLst/>
              <a:gdLst>
                <a:gd name="connsiteX0" fmla="*/ 0 w 2103762"/>
                <a:gd name="connsiteY0" fmla="*/ 0 h 435600"/>
                <a:gd name="connsiteX1" fmla="*/ 2103762 w 2103762"/>
                <a:gd name="connsiteY1" fmla="*/ 0 h 435600"/>
                <a:gd name="connsiteX2" fmla="*/ 2103762 w 2103762"/>
                <a:gd name="connsiteY2" fmla="*/ 435600 h 435600"/>
                <a:gd name="connsiteX3" fmla="*/ 0 w 2103762"/>
                <a:gd name="connsiteY3" fmla="*/ 435600 h 435600"/>
                <a:gd name="connsiteX4" fmla="*/ 0 w 2103762"/>
                <a:gd name="connsiteY4" fmla="*/ 0 h 43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3762" h="435600">
                  <a:moveTo>
                    <a:pt x="0" y="0"/>
                  </a:moveTo>
                  <a:lnTo>
                    <a:pt x="2103762" y="0"/>
                  </a:lnTo>
                  <a:lnTo>
                    <a:pt x="2103762" y="435600"/>
                  </a:lnTo>
                  <a:lnTo>
                    <a:pt x="0" y="4356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None/>
              </a:pPr>
              <a:r>
                <a:rPr lang="en-GB" sz="2200" kern="1200"/>
                <a:t>Replication</a:t>
              </a:r>
            </a:p>
          </p:txBody>
        </p:sp>
        <p:sp>
          <p:nvSpPr>
            <p:cNvPr id="21" name="Left Brace 20">
              <a:extLst>
                <a:ext uri="{FF2B5EF4-FFF2-40B4-BE49-F238E27FC236}">
                  <a16:creationId xmlns:a16="http://schemas.microsoft.com/office/drawing/2014/main" id="{4928330C-692D-45D8-AE48-ABE46AB9C2AD}"/>
                </a:ext>
              </a:extLst>
            </p:cNvPr>
            <p:cNvSpPr/>
            <p:nvPr/>
          </p:nvSpPr>
          <p:spPr>
            <a:xfrm>
              <a:off x="2468237" y="3534869"/>
              <a:ext cx="420752" cy="435600"/>
            </a:xfrm>
            <a:prstGeom prst="leftBrace">
              <a:avLst>
                <a:gd name="adj1" fmla="val 35000"/>
                <a:gd name="adj2" fmla="val 50000"/>
              </a:avLst>
            </a:prstGeom>
            <a:ln>
              <a:solidFill>
                <a:schemeClr val="bg2"/>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22" name="Freeform: Shape 21">
              <a:extLst>
                <a:ext uri="{FF2B5EF4-FFF2-40B4-BE49-F238E27FC236}">
                  <a16:creationId xmlns:a16="http://schemas.microsoft.com/office/drawing/2014/main" id="{C1DEB511-BBD1-4C78-A89D-D599658AC7CD}"/>
                </a:ext>
              </a:extLst>
            </p:cNvPr>
            <p:cNvSpPr/>
            <p:nvPr/>
          </p:nvSpPr>
          <p:spPr>
            <a:xfrm>
              <a:off x="3057290" y="3534869"/>
              <a:ext cx="5722233" cy="435600"/>
            </a:xfrm>
            <a:custGeom>
              <a:avLst/>
              <a:gdLst>
                <a:gd name="connsiteX0" fmla="*/ 0 w 5722233"/>
                <a:gd name="connsiteY0" fmla="*/ 0 h 435600"/>
                <a:gd name="connsiteX1" fmla="*/ 5722233 w 5722233"/>
                <a:gd name="connsiteY1" fmla="*/ 0 h 435600"/>
                <a:gd name="connsiteX2" fmla="*/ 5722233 w 5722233"/>
                <a:gd name="connsiteY2" fmla="*/ 435600 h 435600"/>
                <a:gd name="connsiteX3" fmla="*/ 0 w 5722233"/>
                <a:gd name="connsiteY3" fmla="*/ 435600 h 435600"/>
                <a:gd name="connsiteX4" fmla="*/ 0 w 5722233"/>
                <a:gd name="connsiteY4" fmla="*/ 0 h 43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2233" h="435600">
                  <a:moveTo>
                    <a:pt x="0" y="0"/>
                  </a:moveTo>
                  <a:lnTo>
                    <a:pt x="5722233" y="0"/>
                  </a:lnTo>
                  <a:lnTo>
                    <a:pt x="5722233" y="435600"/>
                  </a:lnTo>
                  <a:lnTo>
                    <a:pt x="0" y="435600"/>
                  </a:lnTo>
                  <a:lnTo>
                    <a:pt x="0" y="0"/>
                  </a:lnTo>
                  <a:close/>
                </a:path>
              </a:pathLst>
            </a:custGeom>
            <a:ln>
              <a:noFill/>
            </a:ln>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marL="114300" lvl="1" indent="-114300" algn="l" defTabSz="533400">
                <a:lnSpc>
                  <a:spcPct val="90000"/>
                </a:lnSpc>
                <a:spcBef>
                  <a:spcPct val="0"/>
                </a:spcBef>
                <a:spcAft>
                  <a:spcPct val="15000"/>
                </a:spcAft>
                <a:buChar char="•"/>
              </a:pPr>
              <a:r>
                <a:rPr lang="en-GB" sz="1200" kern="1200"/>
                <a:t>Is the effect also seen in other trials (internally or externally)? Also, if a subgroup effect is real, it is likely to manifest itself across all closely related outcomes</a:t>
              </a:r>
            </a:p>
          </p:txBody>
        </p:sp>
      </p:grpSp>
      <p:grpSp>
        <p:nvGrpSpPr>
          <p:cNvPr id="32" name="Group 31">
            <a:extLst>
              <a:ext uri="{FF2B5EF4-FFF2-40B4-BE49-F238E27FC236}">
                <a16:creationId xmlns:a16="http://schemas.microsoft.com/office/drawing/2014/main" id="{44EF34E6-3614-4DDA-9F31-70F1619AC11E}"/>
              </a:ext>
            </a:extLst>
          </p:cNvPr>
          <p:cNvGrpSpPr/>
          <p:nvPr/>
        </p:nvGrpSpPr>
        <p:grpSpPr>
          <a:xfrm>
            <a:off x="364474" y="4049669"/>
            <a:ext cx="8415049" cy="435600"/>
            <a:chOff x="364474" y="4049669"/>
            <a:chExt cx="8415049" cy="435600"/>
          </a:xfrm>
        </p:grpSpPr>
        <p:sp>
          <p:nvSpPr>
            <p:cNvPr id="23" name="Freeform: Shape 22">
              <a:extLst>
                <a:ext uri="{FF2B5EF4-FFF2-40B4-BE49-F238E27FC236}">
                  <a16:creationId xmlns:a16="http://schemas.microsoft.com/office/drawing/2014/main" id="{B4398AFF-71FB-4A01-8DA3-A4AC18EFF938}"/>
                </a:ext>
              </a:extLst>
            </p:cNvPr>
            <p:cNvSpPr/>
            <p:nvPr/>
          </p:nvSpPr>
          <p:spPr>
            <a:xfrm>
              <a:off x="364474" y="4049669"/>
              <a:ext cx="2103762" cy="435600"/>
            </a:xfrm>
            <a:custGeom>
              <a:avLst/>
              <a:gdLst>
                <a:gd name="connsiteX0" fmla="*/ 0 w 2103762"/>
                <a:gd name="connsiteY0" fmla="*/ 0 h 435600"/>
                <a:gd name="connsiteX1" fmla="*/ 2103762 w 2103762"/>
                <a:gd name="connsiteY1" fmla="*/ 0 h 435600"/>
                <a:gd name="connsiteX2" fmla="*/ 2103762 w 2103762"/>
                <a:gd name="connsiteY2" fmla="*/ 435600 h 435600"/>
                <a:gd name="connsiteX3" fmla="*/ 0 w 2103762"/>
                <a:gd name="connsiteY3" fmla="*/ 435600 h 435600"/>
                <a:gd name="connsiteX4" fmla="*/ 0 w 2103762"/>
                <a:gd name="connsiteY4" fmla="*/ 0 h 43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3762" h="435600">
                  <a:moveTo>
                    <a:pt x="0" y="0"/>
                  </a:moveTo>
                  <a:lnTo>
                    <a:pt x="2103762" y="0"/>
                  </a:lnTo>
                  <a:lnTo>
                    <a:pt x="2103762" y="435600"/>
                  </a:lnTo>
                  <a:lnTo>
                    <a:pt x="0" y="4356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Font typeface="Arial" panose="020B0604020202020204" pitchFamily="34" charset="0"/>
                <a:buNone/>
              </a:pPr>
              <a:r>
                <a:rPr lang="en-GB" sz="2200" kern="1200"/>
                <a:t>Sample Size</a:t>
              </a:r>
            </a:p>
          </p:txBody>
        </p:sp>
        <p:sp>
          <p:nvSpPr>
            <p:cNvPr id="24" name="Left Brace 23">
              <a:extLst>
                <a:ext uri="{FF2B5EF4-FFF2-40B4-BE49-F238E27FC236}">
                  <a16:creationId xmlns:a16="http://schemas.microsoft.com/office/drawing/2014/main" id="{87241870-CA73-4CE0-84CC-9F146D97876B}"/>
                </a:ext>
              </a:extLst>
            </p:cNvPr>
            <p:cNvSpPr/>
            <p:nvPr/>
          </p:nvSpPr>
          <p:spPr>
            <a:xfrm>
              <a:off x="2468237" y="4049669"/>
              <a:ext cx="420752" cy="435600"/>
            </a:xfrm>
            <a:prstGeom prst="leftBrace">
              <a:avLst>
                <a:gd name="adj1" fmla="val 35000"/>
                <a:gd name="adj2" fmla="val 50000"/>
              </a:avLst>
            </a:prstGeom>
            <a:ln>
              <a:solidFill>
                <a:schemeClr val="bg2"/>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25" name="Freeform: Shape 24">
              <a:extLst>
                <a:ext uri="{FF2B5EF4-FFF2-40B4-BE49-F238E27FC236}">
                  <a16:creationId xmlns:a16="http://schemas.microsoft.com/office/drawing/2014/main" id="{87526BA0-E25C-4582-B546-16E418176137}"/>
                </a:ext>
              </a:extLst>
            </p:cNvPr>
            <p:cNvSpPr/>
            <p:nvPr/>
          </p:nvSpPr>
          <p:spPr>
            <a:xfrm>
              <a:off x="3057290" y="4049669"/>
              <a:ext cx="5722233" cy="435600"/>
            </a:xfrm>
            <a:custGeom>
              <a:avLst/>
              <a:gdLst>
                <a:gd name="connsiteX0" fmla="*/ 0 w 5722233"/>
                <a:gd name="connsiteY0" fmla="*/ 0 h 435600"/>
                <a:gd name="connsiteX1" fmla="*/ 5722233 w 5722233"/>
                <a:gd name="connsiteY1" fmla="*/ 0 h 435600"/>
                <a:gd name="connsiteX2" fmla="*/ 5722233 w 5722233"/>
                <a:gd name="connsiteY2" fmla="*/ 435600 h 435600"/>
                <a:gd name="connsiteX3" fmla="*/ 0 w 5722233"/>
                <a:gd name="connsiteY3" fmla="*/ 435600 h 435600"/>
                <a:gd name="connsiteX4" fmla="*/ 0 w 5722233"/>
                <a:gd name="connsiteY4" fmla="*/ 0 h 43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2233" h="435600">
                  <a:moveTo>
                    <a:pt x="0" y="0"/>
                  </a:moveTo>
                  <a:lnTo>
                    <a:pt x="5722233" y="0"/>
                  </a:lnTo>
                  <a:lnTo>
                    <a:pt x="5722233" y="435600"/>
                  </a:lnTo>
                  <a:lnTo>
                    <a:pt x="0" y="435600"/>
                  </a:lnTo>
                  <a:lnTo>
                    <a:pt x="0" y="0"/>
                  </a:lnTo>
                  <a:close/>
                </a:path>
              </a:pathLst>
            </a:custGeom>
            <a:ln>
              <a:noFill/>
            </a:ln>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GB" sz="1200" kern="1200"/>
                <a:t>Were the groups sufficiently large to be representative?</a:t>
              </a:r>
            </a:p>
          </p:txBody>
        </p:sp>
      </p:grpSp>
      <p:sp>
        <p:nvSpPr>
          <p:cNvPr id="33" name="Date Placeholder 1">
            <a:extLst>
              <a:ext uri="{FF2B5EF4-FFF2-40B4-BE49-F238E27FC236}">
                <a16:creationId xmlns:a16="http://schemas.microsoft.com/office/drawing/2014/main" id="{EAD24AE0-A8F3-4A96-AC20-ED5F0045E762}"/>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2713161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C5BB061-0B6F-4ED1-896B-38514551D5D6}"/>
              </a:ext>
            </a:extLst>
          </p:cNvPr>
          <p:cNvSpPr>
            <a:spLocks noGrp="1"/>
          </p:cNvSpPr>
          <p:nvPr>
            <p:ph type="body" sz="quarter" idx="14"/>
          </p:nvPr>
        </p:nvSpPr>
        <p:spPr/>
        <p:txBody>
          <a:bodyPr lIns="0" tIns="45720" rIns="91440" bIns="45720" anchor="t" anchorCtr="0">
            <a:noAutofit/>
          </a:bodyPr>
          <a:lstStyle/>
          <a:p>
            <a:endParaRPr lang="en-US"/>
          </a:p>
        </p:txBody>
      </p:sp>
      <p:sp>
        <p:nvSpPr>
          <p:cNvPr id="5" name="Title 4">
            <a:extLst>
              <a:ext uri="{FF2B5EF4-FFF2-40B4-BE49-F238E27FC236}">
                <a16:creationId xmlns:a16="http://schemas.microsoft.com/office/drawing/2014/main" id="{33831FFD-F4A4-4117-8F4A-130E5C9C7D0A}"/>
              </a:ext>
            </a:extLst>
          </p:cNvPr>
          <p:cNvSpPr>
            <a:spLocks noGrp="1"/>
          </p:cNvSpPr>
          <p:nvPr>
            <p:ph type="title"/>
          </p:nvPr>
        </p:nvSpPr>
        <p:spPr/>
        <p:txBody>
          <a:bodyPr/>
          <a:lstStyle/>
          <a:p>
            <a:r>
              <a:rPr lang="en-US">
                <a:cs typeface="Arial"/>
              </a:rPr>
              <a:t>Case Study: Leronlimab</a:t>
            </a:r>
            <a:endParaRPr lang="en-US"/>
          </a:p>
        </p:txBody>
      </p:sp>
      <p:sp>
        <p:nvSpPr>
          <p:cNvPr id="8" name="Slide Number Placeholder 7">
            <a:extLst>
              <a:ext uri="{FF2B5EF4-FFF2-40B4-BE49-F238E27FC236}">
                <a16:creationId xmlns:a16="http://schemas.microsoft.com/office/drawing/2014/main" id="{F8AD4C1C-8F2F-41B9-AFA3-C2D1925B0B67}"/>
              </a:ext>
            </a:extLst>
          </p:cNvPr>
          <p:cNvSpPr>
            <a:spLocks noGrp="1"/>
          </p:cNvSpPr>
          <p:nvPr>
            <p:ph type="sldNum" sz="quarter" idx="21"/>
          </p:nvPr>
        </p:nvSpPr>
        <p:spPr/>
        <p:txBody>
          <a:bodyPr/>
          <a:lstStyle/>
          <a:p>
            <a:fld id="{9F9F533D-B52E-4A2F-BF72-0ADD2D94BD75}" type="slidenum">
              <a:rPr lang="en-GB" smtClean="0"/>
              <a:pPr/>
              <a:t>7</a:t>
            </a:fld>
            <a:endParaRPr lang="en-GB"/>
          </a:p>
        </p:txBody>
      </p:sp>
      <p:sp>
        <p:nvSpPr>
          <p:cNvPr id="16" name="Date Placeholder 1">
            <a:extLst>
              <a:ext uri="{FF2B5EF4-FFF2-40B4-BE49-F238E27FC236}">
                <a16:creationId xmlns:a16="http://schemas.microsoft.com/office/drawing/2014/main" id="{EB8A4064-98E1-45B5-A977-378F1EDDF2BF}"/>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graphicFrame>
        <p:nvGraphicFramePr>
          <p:cNvPr id="4" name="Diagram 3">
            <a:extLst>
              <a:ext uri="{FF2B5EF4-FFF2-40B4-BE49-F238E27FC236}">
                <a16:creationId xmlns:a16="http://schemas.microsoft.com/office/drawing/2014/main" id="{91110E1E-810D-41A4-BB04-3E7F482304DD}"/>
              </a:ext>
            </a:extLst>
          </p:cNvPr>
          <p:cNvGraphicFramePr/>
          <p:nvPr>
            <p:extLst>
              <p:ext uri="{D42A27DB-BD31-4B8C-83A1-F6EECF244321}">
                <p14:modId xmlns:p14="http://schemas.microsoft.com/office/powerpoint/2010/main" val="323334617"/>
              </p:ext>
            </p:extLst>
          </p:nvPr>
        </p:nvGraphicFramePr>
        <p:xfrm>
          <a:off x="359152" y="1154493"/>
          <a:ext cx="8423275" cy="18964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6" name="Group 5">
            <a:extLst>
              <a:ext uri="{FF2B5EF4-FFF2-40B4-BE49-F238E27FC236}">
                <a16:creationId xmlns:a16="http://schemas.microsoft.com/office/drawing/2014/main" id="{AD4B950B-BB87-4AB9-9B6A-59CB092D5C32}"/>
              </a:ext>
            </a:extLst>
          </p:cNvPr>
          <p:cNvGrpSpPr/>
          <p:nvPr/>
        </p:nvGrpSpPr>
        <p:grpSpPr>
          <a:xfrm>
            <a:off x="359152" y="3149089"/>
            <a:ext cx="8423275" cy="622170"/>
            <a:chOff x="360362" y="2260665"/>
            <a:chExt cx="8423275" cy="622170"/>
          </a:xfrm>
        </p:grpSpPr>
        <p:sp>
          <p:nvSpPr>
            <p:cNvPr id="9" name="Rectangle 8">
              <a:extLst>
                <a:ext uri="{FF2B5EF4-FFF2-40B4-BE49-F238E27FC236}">
                  <a16:creationId xmlns:a16="http://schemas.microsoft.com/office/drawing/2014/main" id="{633224D2-8F02-49AE-BEF2-434F7A17111A}"/>
                </a:ext>
              </a:extLst>
            </p:cNvPr>
            <p:cNvSpPr/>
            <p:nvPr/>
          </p:nvSpPr>
          <p:spPr>
            <a:xfrm>
              <a:off x="360362" y="2454435"/>
              <a:ext cx="8423275" cy="428400"/>
            </a:xfrm>
            <a:prstGeom prst="rect">
              <a:avLst/>
            </a:pr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GB"/>
            </a:p>
          </p:txBody>
        </p:sp>
        <p:grpSp>
          <p:nvGrpSpPr>
            <p:cNvPr id="10" name="Group 9">
              <a:extLst>
                <a:ext uri="{FF2B5EF4-FFF2-40B4-BE49-F238E27FC236}">
                  <a16:creationId xmlns:a16="http://schemas.microsoft.com/office/drawing/2014/main" id="{4150B937-D967-4D4D-9C2B-A0E66833E01A}"/>
                </a:ext>
              </a:extLst>
            </p:cNvPr>
            <p:cNvGrpSpPr/>
            <p:nvPr/>
          </p:nvGrpSpPr>
          <p:grpSpPr>
            <a:xfrm>
              <a:off x="781525" y="2260665"/>
              <a:ext cx="5896292" cy="501840"/>
              <a:chOff x="421163" y="1815008"/>
              <a:chExt cx="5896292" cy="501840"/>
            </a:xfrm>
          </p:grpSpPr>
          <p:sp>
            <p:nvSpPr>
              <p:cNvPr id="11" name="Rectangle: Rounded Corners 10">
                <a:extLst>
                  <a:ext uri="{FF2B5EF4-FFF2-40B4-BE49-F238E27FC236}">
                    <a16:creationId xmlns:a16="http://schemas.microsoft.com/office/drawing/2014/main" id="{97FEBE64-5F06-447A-8E10-88C986583D2A}"/>
                  </a:ext>
                </a:extLst>
              </p:cNvPr>
              <p:cNvSpPr/>
              <p:nvPr/>
            </p:nvSpPr>
            <p:spPr>
              <a:xfrm>
                <a:off x="421163" y="1815008"/>
                <a:ext cx="5896292" cy="501840"/>
              </a:xfrm>
              <a:prstGeom prst="roundRect">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GB"/>
              </a:p>
            </p:txBody>
          </p:sp>
          <p:sp>
            <p:nvSpPr>
              <p:cNvPr id="12" name="Rectangle: Rounded Corners 5">
                <a:extLst>
                  <a:ext uri="{FF2B5EF4-FFF2-40B4-BE49-F238E27FC236}">
                    <a16:creationId xmlns:a16="http://schemas.microsoft.com/office/drawing/2014/main" id="{C19F556E-0833-4D42-8C2D-E34B102F50A5}"/>
                  </a:ext>
                </a:extLst>
              </p:cNvPr>
              <p:cNvSpPr txBox="1"/>
              <p:nvPr/>
            </p:nvSpPr>
            <p:spPr>
              <a:xfrm>
                <a:off x="445661" y="1839506"/>
                <a:ext cx="5847296" cy="45284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22866" tIns="0" rIns="222866" bIns="0" numCol="1" spcCol="1270" anchor="ctr" anchorCtr="0">
                <a:noAutofit/>
              </a:bodyPr>
              <a:lstStyle/>
              <a:p>
                <a:pPr marL="0" lvl="0" indent="0" algn="l" defTabSz="755650">
                  <a:lnSpc>
                    <a:spcPct val="90000"/>
                  </a:lnSpc>
                  <a:spcBef>
                    <a:spcPct val="0"/>
                  </a:spcBef>
                  <a:spcAft>
                    <a:spcPct val="35000"/>
                  </a:spcAft>
                  <a:buNone/>
                </a:pPr>
                <a:r>
                  <a:rPr lang="en-GB" sz="1700" kern="1200"/>
                  <a:t>CD10 did not meet its primary endpoint, or any of its secondary endpoints</a:t>
                </a:r>
              </a:p>
            </p:txBody>
          </p:sp>
        </p:grpSp>
      </p:grpSp>
      <p:grpSp>
        <p:nvGrpSpPr>
          <p:cNvPr id="13" name="Group 12">
            <a:extLst>
              <a:ext uri="{FF2B5EF4-FFF2-40B4-BE49-F238E27FC236}">
                <a16:creationId xmlns:a16="http://schemas.microsoft.com/office/drawing/2014/main" id="{69EC64B7-D3B0-479D-A399-F12FD798466D}"/>
              </a:ext>
            </a:extLst>
          </p:cNvPr>
          <p:cNvGrpSpPr/>
          <p:nvPr/>
        </p:nvGrpSpPr>
        <p:grpSpPr>
          <a:xfrm>
            <a:off x="359152" y="3852870"/>
            <a:ext cx="8423275" cy="622170"/>
            <a:chOff x="360362" y="2260665"/>
            <a:chExt cx="8423275" cy="622170"/>
          </a:xfrm>
        </p:grpSpPr>
        <p:sp>
          <p:nvSpPr>
            <p:cNvPr id="14" name="Rectangle 13">
              <a:extLst>
                <a:ext uri="{FF2B5EF4-FFF2-40B4-BE49-F238E27FC236}">
                  <a16:creationId xmlns:a16="http://schemas.microsoft.com/office/drawing/2014/main" id="{270BFDD2-9202-47B4-BE49-899EF0EACDAD}"/>
                </a:ext>
              </a:extLst>
            </p:cNvPr>
            <p:cNvSpPr/>
            <p:nvPr/>
          </p:nvSpPr>
          <p:spPr>
            <a:xfrm>
              <a:off x="360362" y="2454435"/>
              <a:ext cx="8423275" cy="428400"/>
            </a:xfrm>
            <a:prstGeom prst="rect">
              <a:avLst/>
            </a:pr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GB"/>
            </a:p>
          </p:txBody>
        </p:sp>
        <p:grpSp>
          <p:nvGrpSpPr>
            <p:cNvPr id="15" name="Group 14">
              <a:extLst>
                <a:ext uri="{FF2B5EF4-FFF2-40B4-BE49-F238E27FC236}">
                  <a16:creationId xmlns:a16="http://schemas.microsoft.com/office/drawing/2014/main" id="{63E6B6CE-65E0-4DAE-83CD-B0B903AB5E81}"/>
                </a:ext>
              </a:extLst>
            </p:cNvPr>
            <p:cNvGrpSpPr/>
            <p:nvPr/>
          </p:nvGrpSpPr>
          <p:grpSpPr>
            <a:xfrm>
              <a:off x="781525" y="2260665"/>
              <a:ext cx="5896292" cy="501840"/>
              <a:chOff x="421163" y="1815008"/>
              <a:chExt cx="5896292" cy="501840"/>
            </a:xfrm>
          </p:grpSpPr>
          <p:sp>
            <p:nvSpPr>
              <p:cNvPr id="17" name="Rectangle: Rounded Corners 16">
                <a:extLst>
                  <a:ext uri="{FF2B5EF4-FFF2-40B4-BE49-F238E27FC236}">
                    <a16:creationId xmlns:a16="http://schemas.microsoft.com/office/drawing/2014/main" id="{DDC3C924-1B68-4C68-8081-443A7FD6E037}"/>
                  </a:ext>
                </a:extLst>
              </p:cNvPr>
              <p:cNvSpPr/>
              <p:nvPr/>
            </p:nvSpPr>
            <p:spPr>
              <a:xfrm>
                <a:off x="421163" y="1815008"/>
                <a:ext cx="5896292" cy="501840"/>
              </a:xfrm>
              <a:prstGeom prst="roundRect">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GB"/>
              </a:p>
            </p:txBody>
          </p:sp>
          <p:sp>
            <p:nvSpPr>
              <p:cNvPr id="18" name="Rectangle: Rounded Corners 5">
                <a:extLst>
                  <a:ext uri="{FF2B5EF4-FFF2-40B4-BE49-F238E27FC236}">
                    <a16:creationId xmlns:a16="http://schemas.microsoft.com/office/drawing/2014/main" id="{AEF023DE-3E8C-4872-8DB7-54EC80DE4A4B}"/>
                  </a:ext>
                </a:extLst>
              </p:cNvPr>
              <p:cNvSpPr txBox="1"/>
              <p:nvPr/>
            </p:nvSpPr>
            <p:spPr>
              <a:xfrm>
                <a:off x="445661" y="1839506"/>
                <a:ext cx="5847296" cy="45284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22866" tIns="0" rIns="222866" bIns="0" numCol="1" spcCol="1270" anchor="ctr" anchorCtr="0">
                <a:noAutofit/>
              </a:bodyPr>
              <a:lstStyle/>
              <a:p>
                <a:pPr marL="0" lvl="0" indent="0" algn="l" defTabSz="755650">
                  <a:lnSpc>
                    <a:spcPct val="90000"/>
                  </a:lnSpc>
                  <a:spcBef>
                    <a:spcPct val="0"/>
                  </a:spcBef>
                  <a:spcAft>
                    <a:spcPct val="35000"/>
                  </a:spcAft>
                  <a:buNone/>
                </a:pPr>
                <a:r>
                  <a:rPr lang="en-GB" sz="1700" kern="1200"/>
                  <a:t>CD12 also failed to achieve its primary endpoint.</a:t>
                </a:r>
              </a:p>
            </p:txBody>
          </p:sp>
        </p:grpSp>
      </p:grpSp>
    </p:spTree>
    <p:extLst>
      <p:ext uri="{BB962C8B-B14F-4D97-AF65-F5344CB8AC3E}">
        <p14:creationId xmlns:p14="http://schemas.microsoft.com/office/powerpoint/2010/main" val="393551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1" descr="A picture containing graphical user interface&#10;&#10;Description automatically generated">
            <a:extLst>
              <a:ext uri="{FF2B5EF4-FFF2-40B4-BE49-F238E27FC236}">
                <a16:creationId xmlns:a16="http://schemas.microsoft.com/office/drawing/2014/main" id="{BC8A3B3C-D243-428C-BD1A-F58F4115A521}"/>
              </a:ext>
            </a:extLst>
          </p:cNvPr>
          <p:cNvPicPr>
            <a:picLocks noGrp="1" noChangeAspect="1"/>
          </p:cNvPicPr>
          <p:nvPr>
            <p:ph sz="quarter" idx="12"/>
          </p:nvPr>
        </p:nvPicPr>
        <p:blipFill>
          <a:blip r:embed="rId3"/>
          <a:stretch>
            <a:fillRect/>
          </a:stretch>
        </p:blipFill>
        <p:spPr>
          <a:xfrm>
            <a:off x="399087" y="1232483"/>
            <a:ext cx="8425048" cy="1394113"/>
          </a:xfrm>
        </p:spPr>
      </p:pic>
      <p:sp>
        <p:nvSpPr>
          <p:cNvPr id="3" name="Text Placeholder 2">
            <a:extLst>
              <a:ext uri="{FF2B5EF4-FFF2-40B4-BE49-F238E27FC236}">
                <a16:creationId xmlns:a16="http://schemas.microsoft.com/office/drawing/2014/main" id="{F4A9072A-E511-496D-8E17-B7046C0AA6C5}"/>
              </a:ext>
            </a:extLst>
          </p:cNvPr>
          <p:cNvSpPr>
            <a:spLocks noGrp="1"/>
          </p:cNvSpPr>
          <p:nvPr>
            <p:ph type="body" sz="quarter" idx="14"/>
          </p:nvPr>
        </p:nvSpPr>
        <p:spPr/>
        <p:txBody>
          <a:bodyPr lIns="0" tIns="45720" rIns="91440" bIns="45720" anchor="t" anchorCtr="0">
            <a:noAutofit/>
          </a:bodyPr>
          <a:lstStyle/>
          <a:p>
            <a:r>
              <a:rPr lang="en-US">
                <a:cs typeface="Arial"/>
              </a:rPr>
              <a:t>Press release: 30th March 2021</a:t>
            </a:r>
            <a:endParaRPr lang="en-US">
              <a:ea typeface="+mn-lt"/>
              <a:cs typeface="+mn-lt"/>
            </a:endParaRPr>
          </a:p>
          <a:p>
            <a:endParaRPr lang="en-US">
              <a:cs typeface="Arial"/>
            </a:endParaRPr>
          </a:p>
        </p:txBody>
      </p:sp>
      <p:sp>
        <p:nvSpPr>
          <p:cNvPr id="8" name="Slide Number Placeholder 7">
            <a:extLst>
              <a:ext uri="{FF2B5EF4-FFF2-40B4-BE49-F238E27FC236}">
                <a16:creationId xmlns:a16="http://schemas.microsoft.com/office/drawing/2014/main" id="{7F238514-4FF6-4568-A465-A9BACB4E7E46}"/>
              </a:ext>
            </a:extLst>
          </p:cNvPr>
          <p:cNvSpPr>
            <a:spLocks noGrp="1"/>
          </p:cNvSpPr>
          <p:nvPr>
            <p:ph type="sldNum" sz="quarter" idx="21"/>
          </p:nvPr>
        </p:nvSpPr>
        <p:spPr/>
        <p:txBody>
          <a:bodyPr/>
          <a:lstStyle/>
          <a:p>
            <a:fld id="{9F9F533D-B52E-4A2F-BF72-0ADD2D94BD75}" type="slidenum">
              <a:rPr lang="en-GB" smtClean="0"/>
              <a:pPr/>
              <a:t>8</a:t>
            </a:fld>
            <a:endParaRPr lang="en-GB"/>
          </a:p>
        </p:txBody>
      </p:sp>
      <p:sp>
        <p:nvSpPr>
          <p:cNvPr id="10" name="Title 4">
            <a:extLst>
              <a:ext uri="{FF2B5EF4-FFF2-40B4-BE49-F238E27FC236}">
                <a16:creationId xmlns:a16="http://schemas.microsoft.com/office/drawing/2014/main" id="{2D33CDBB-B5F2-499C-8D28-FD1AE3428F8C}"/>
              </a:ext>
            </a:extLst>
          </p:cNvPr>
          <p:cNvSpPr txBox="1">
            <a:spLocks/>
          </p:cNvSpPr>
          <p:nvPr/>
        </p:nvSpPr>
        <p:spPr>
          <a:xfrm>
            <a:off x="377955" y="255487"/>
            <a:ext cx="7577139" cy="338554"/>
          </a:xfrm>
          <a:prstGeom prst="rect">
            <a:avLst/>
          </a:prstGeom>
        </p:spPr>
        <p:txBody>
          <a:bodyPr vert="horz" lIns="0" tIns="0" rIns="0" bIns="0" rtlCol="0" anchor="t" anchorCtr="0">
            <a:spAutoFit/>
          </a:bodyPr>
          <a:lstStyle>
            <a:lvl1pPr algn="l" defTabSz="914400" rtl="0" eaLnBrk="1" latinLnBrk="0" hangingPunct="1">
              <a:lnSpc>
                <a:spcPct val="100000"/>
              </a:lnSpc>
              <a:spcBef>
                <a:spcPct val="0"/>
              </a:spcBef>
              <a:buNone/>
              <a:defRPr sz="2200" b="1" kern="1200">
                <a:solidFill>
                  <a:schemeClr val="bg2"/>
                </a:solidFill>
                <a:latin typeface="+mj-lt"/>
                <a:ea typeface="+mj-ea"/>
                <a:cs typeface="+mj-cs"/>
              </a:defRPr>
            </a:lvl1pPr>
          </a:lstStyle>
          <a:p>
            <a:r>
              <a:rPr lang="en-US">
                <a:ea typeface="+mj-lt"/>
                <a:cs typeface="+mj-lt"/>
              </a:rPr>
              <a:t>Case Study: Leronlimab</a:t>
            </a:r>
            <a:endParaRPr lang="en-US" b="0">
              <a:cs typeface="Arial"/>
            </a:endParaRPr>
          </a:p>
        </p:txBody>
      </p:sp>
      <p:pic>
        <p:nvPicPr>
          <p:cNvPr id="12" name="Picture 12" descr="Text&#10;&#10;Description automatically generated">
            <a:extLst>
              <a:ext uri="{FF2B5EF4-FFF2-40B4-BE49-F238E27FC236}">
                <a16:creationId xmlns:a16="http://schemas.microsoft.com/office/drawing/2014/main" id="{336D3E6A-0601-4E7B-B2F9-E1486015AA74}"/>
              </a:ext>
            </a:extLst>
          </p:cNvPr>
          <p:cNvPicPr>
            <a:picLocks noChangeAspect="1"/>
          </p:cNvPicPr>
          <p:nvPr/>
        </p:nvPicPr>
        <p:blipFill>
          <a:blip r:embed="rId4"/>
          <a:stretch>
            <a:fillRect/>
          </a:stretch>
        </p:blipFill>
        <p:spPr>
          <a:xfrm>
            <a:off x="491341" y="2918290"/>
            <a:ext cx="8242960" cy="1103062"/>
          </a:xfrm>
          <a:prstGeom prst="rect">
            <a:avLst/>
          </a:prstGeom>
        </p:spPr>
      </p:pic>
      <p:sp>
        <p:nvSpPr>
          <p:cNvPr id="13" name="Date Placeholder 1">
            <a:extLst>
              <a:ext uri="{FF2B5EF4-FFF2-40B4-BE49-F238E27FC236}">
                <a16:creationId xmlns:a16="http://schemas.microsoft.com/office/drawing/2014/main" id="{76C5B61F-9779-4634-92BF-85AA2E7A7EE5}"/>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
        <p:nvSpPr>
          <p:cNvPr id="2" name="Oval 1">
            <a:extLst>
              <a:ext uri="{FF2B5EF4-FFF2-40B4-BE49-F238E27FC236}">
                <a16:creationId xmlns:a16="http://schemas.microsoft.com/office/drawing/2014/main" id="{EA755F5A-B687-4AF5-BBDE-D31368C79FF7}"/>
              </a:ext>
            </a:extLst>
          </p:cNvPr>
          <p:cNvSpPr/>
          <p:nvPr/>
        </p:nvSpPr>
        <p:spPr bwMode="auto">
          <a:xfrm>
            <a:off x="6186115" y="3265038"/>
            <a:ext cx="1288111" cy="413468"/>
          </a:xfrm>
          <a:prstGeom prst="ellipse">
            <a:avLst/>
          </a:prstGeom>
          <a:noFill/>
          <a:ln>
            <a:headEnd/>
            <a:tailEn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Tree>
    <p:extLst>
      <p:ext uri="{BB962C8B-B14F-4D97-AF65-F5344CB8AC3E}">
        <p14:creationId xmlns:p14="http://schemas.microsoft.com/office/powerpoint/2010/main" val="1468007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69AD57-CFDD-47B6-AF8C-785A7464134A}"/>
              </a:ext>
            </a:extLst>
          </p:cNvPr>
          <p:cNvSpPr>
            <a:spLocks noGrp="1"/>
          </p:cNvSpPr>
          <p:nvPr>
            <p:ph type="body" sz="quarter" idx="14"/>
          </p:nvPr>
        </p:nvSpPr>
        <p:spPr/>
        <p:txBody>
          <a:bodyPr lIns="0" tIns="45720" rIns="91440" bIns="45720" anchor="t" anchorCtr="0">
            <a:noAutofit/>
          </a:bodyPr>
          <a:lstStyle/>
          <a:p>
            <a:r>
              <a:rPr lang="en-US">
                <a:cs typeface="Arial"/>
              </a:rPr>
              <a:t>17th May 2021</a:t>
            </a:r>
            <a:endParaRPr lang="en-US"/>
          </a:p>
        </p:txBody>
      </p:sp>
      <p:sp>
        <p:nvSpPr>
          <p:cNvPr id="5" name="Title 4">
            <a:extLst>
              <a:ext uri="{FF2B5EF4-FFF2-40B4-BE49-F238E27FC236}">
                <a16:creationId xmlns:a16="http://schemas.microsoft.com/office/drawing/2014/main" id="{608BDD26-0531-471B-81AC-F94399144356}"/>
              </a:ext>
            </a:extLst>
          </p:cNvPr>
          <p:cNvSpPr>
            <a:spLocks noGrp="1"/>
          </p:cNvSpPr>
          <p:nvPr>
            <p:ph type="title"/>
          </p:nvPr>
        </p:nvSpPr>
        <p:spPr/>
        <p:txBody>
          <a:bodyPr/>
          <a:lstStyle/>
          <a:p>
            <a:r>
              <a:rPr lang="en-US">
                <a:cs typeface="Arial"/>
              </a:rPr>
              <a:t>FDA statement</a:t>
            </a:r>
            <a:endParaRPr lang="en-US"/>
          </a:p>
        </p:txBody>
      </p:sp>
      <p:sp>
        <p:nvSpPr>
          <p:cNvPr id="8" name="Slide Number Placeholder 7">
            <a:extLst>
              <a:ext uri="{FF2B5EF4-FFF2-40B4-BE49-F238E27FC236}">
                <a16:creationId xmlns:a16="http://schemas.microsoft.com/office/drawing/2014/main" id="{ECBA3DC1-43FC-4954-8284-747BD4F4FF16}"/>
              </a:ext>
            </a:extLst>
          </p:cNvPr>
          <p:cNvSpPr>
            <a:spLocks noGrp="1"/>
          </p:cNvSpPr>
          <p:nvPr>
            <p:ph type="sldNum" sz="quarter" idx="21"/>
          </p:nvPr>
        </p:nvSpPr>
        <p:spPr/>
        <p:txBody>
          <a:bodyPr/>
          <a:lstStyle/>
          <a:p>
            <a:fld id="{9F9F533D-B52E-4A2F-BF72-0ADD2D94BD75}" type="slidenum">
              <a:rPr lang="en-GB" smtClean="0"/>
              <a:pPr/>
              <a:t>9</a:t>
            </a:fld>
            <a:endParaRPr lang="en-GB"/>
          </a:p>
        </p:txBody>
      </p:sp>
      <p:sp>
        <p:nvSpPr>
          <p:cNvPr id="18" name="Date Placeholder 1">
            <a:extLst>
              <a:ext uri="{FF2B5EF4-FFF2-40B4-BE49-F238E27FC236}">
                <a16:creationId xmlns:a16="http://schemas.microsoft.com/office/drawing/2014/main" id="{DF97BE24-36EF-4452-8562-2A37297BBA72}"/>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
        <p:nvSpPr>
          <p:cNvPr id="4" name="TextBox 3">
            <a:extLst>
              <a:ext uri="{FF2B5EF4-FFF2-40B4-BE49-F238E27FC236}">
                <a16:creationId xmlns:a16="http://schemas.microsoft.com/office/drawing/2014/main" id="{F85EF916-22A9-4A77-876F-6380EA660C5A}"/>
              </a:ext>
            </a:extLst>
          </p:cNvPr>
          <p:cNvSpPr txBox="1"/>
          <p:nvPr/>
        </p:nvSpPr>
        <p:spPr>
          <a:xfrm>
            <a:off x="246490" y="1240403"/>
            <a:ext cx="8325016" cy="1815882"/>
          </a:xfrm>
          <a:prstGeom prst="rect">
            <a:avLst/>
          </a:prstGeom>
          <a:noFill/>
        </p:spPr>
        <p:txBody>
          <a:bodyPr wrap="square" rtlCol="0">
            <a:spAutoFit/>
          </a:bodyPr>
          <a:lstStyle/>
          <a:p>
            <a:pPr>
              <a:buClr>
                <a:schemeClr val="tx1"/>
              </a:buClr>
            </a:pPr>
            <a:r>
              <a:rPr lang="en-GB" sz="1600"/>
              <a:t>“….If the analyses of the primary and secondary endpoints do not support conclusions of the medicine’s benefit, then FDA considers subgroup analyses to be </a:t>
            </a:r>
            <a:r>
              <a:rPr lang="en-GB" sz="1600">
                <a:solidFill>
                  <a:schemeClr val="bg2"/>
                </a:solidFill>
              </a:rPr>
              <a:t>exploratory</a:t>
            </a:r>
            <a:r>
              <a:rPr lang="en-GB" sz="1600"/>
              <a:t>, meaning they may inform the design of future trials, but </a:t>
            </a:r>
            <a:r>
              <a:rPr lang="en-GB" sz="1600">
                <a:solidFill>
                  <a:schemeClr val="bg2"/>
                </a:solidFill>
              </a:rPr>
              <a:t>do not support reliable conclusions </a:t>
            </a:r>
            <a:r>
              <a:rPr lang="en-GB" sz="1600"/>
              <a:t>about the medicine’s benefit. Focusing on only the most favourable of many subgroup analyses, even if the subgroups are pre-specified, can lead to </a:t>
            </a:r>
            <a:r>
              <a:rPr lang="en-GB" sz="1600">
                <a:solidFill>
                  <a:schemeClr val="bg2"/>
                </a:solidFill>
              </a:rPr>
              <a:t>overestimating the evidence of benefit</a:t>
            </a:r>
            <a:r>
              <a:rPr lang="en-GB" sz="1600"/>
              <a:t>, because regardless of a drug’s true efficacy, some analyses are likely to </a:t>
            </a:r>
            <a:r>
              <a:rPr lang="en-GB" sz="1600">
                <a:solidFill>
                  <a:schemeClr val="bg2"/>
                </a:solidFill>
              </a:rPr>
              <a:t>appear favourable by chance </a:t>
            </a:r>
            <a:r>
              <a:rPr lang="en-GB" sz="1600"/>
              <a:t>when a large number of analyses are conducted.”</a:t>
            </a:r>
          </a:p>
        </p:txBody>
      </p:sp>
    </p:spTree>
    <p:extLst>
      <p:ext uri="{BB962C8B-B14F-4D97-AF65-F5344CB8AC3E}">
        <p14:creationId xmlns:p14="http://schemas.microsoft.com/office/powerpoint/2010/main" val="4274818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30C6D32-F5F2-442D-99E8-DEE53FD5ACF6}"/>
              </a:ext>
            </a:extLst>
          </p:cNvPr>
          <p:cNvPicPr>
            <a:picLocks noChangeAspect="1"/>
          </p:cNvPicPr>
          <p:nvPr/>
        </p:nvPicPr>
        <p:blipFill rotWithShape="1">
          <a:blip r:embed="rId3"/>
          <a:srcRect t="14265"/>
          <a:stretch/>
        </p:blipFill>
        <p:spPr>
          <a:xfrm>
            <a:off x="724289" y="1150776"/>
            <a:ext cx="7695422" cy="3434871"/>
          </a:xfrm>
          <a:prstGeom prst="rect">
            <a:avLst/>
          </a:prstGeom>
        </p:spPr>
      </p:pic>
      <p:sp>
        <p:nvSpPr>
          <p:cNvPr id="3" name="Text Placeholder 2">
            <a:extLst>
              <a:ext uri="{FF2B5EF4-FFF2-40B4-BE49-F238E27FC236}">
                <a16:creationId xmlns:a16="http://schemas.microsoft.com/office/drawing/2014/main" id="{1EFD0541-B359-4A5E-B979-3F9284363A8E}"/>
              </a:ext>
            </a:extLst>
          </p:cNvPr>
          <p:cNvSpPr>
            <a:spLocks noGrp="1"/>
          </p:cNvSpPr>
          <p:nvPr>
            <p:ph type="body" sz="quarter" idx="14"/>
          </p:nvPr>
        </p:nvSpPr>
        <p:spPr/>
        <p:txBody>
          <a:bodyPr/>
          <a:lstStyle/>
          <a:p>
            <a:r>
              <a:rPr lang="en-GB"/>
              <a:t>Forest Plot of Hazard Ratios for Time to On-Treatment All Cause Mortality </a:t>
            </a:r>
          </a:p>
        </p:txBody>
      </p:sp>
      <p:sp>
        <p:nvSpPr>
          <p:cNvPr id="5" name="Title 4">
            <a:extLst>
              <a:ext uri="{FF2B5EF4-FFF2-40B4-BE49-F238E27FC236}">
                <a16:creationId xmlns:a16="http://schemas.microsoft.com/office/drawing/2014/main" id="{EC6B13D8-7CAE-4C1B-80B6-BBB7A8349FDC}"/>
              </a:ext>
            </a:extLst>
          </p:cNvPr>
          <p:cNvSpPr>
            <a:spLocks noGrp="1"/>
          </p:cNvSpPr>
          <p:nvPr>
            <p:ph type="title"/>
          </p:nvPr>
        </p:nvSpPr>
        <p:spPr>
          <a:xfrm>
            <a:off x="359152" y="288639"/>
            <a:ext cx="7577139" cy="338554"/>
          </a:xfrm>
        </p:spPr>
        <p:txBody>
          <a:bodyPr/>
          <a:lstStyle/>
          <a:p>
            <a:r>
              <a:rPr lang="en-GB"/>
              <a:t>Example: Trelegy COPD - IMPACT study</a:t>
            </a:r>
          </a:p>
        </p:txBody>
      </p:sp>
      <p:sp>
        <p:nvSpPr>
          <p:cNvPr id="8" name="Slide Number Placeholder 7">
            <a:extLst>
              <a:ext uri="{FF2B5EF4-FFF2-40B4-BE49-F238E27FC236}">
                <a16:creationId xmlns:a16="http://schemas.microsoft.com/office/drawing/2014/main" id="{5E541B25-B226-4F8A-A542-323F90EE9F90}"/>
              </a:ext>
            </a:extLst>
          </p:cNvPr>
          <p:cNvSpPr>
            <a:spLocks noGrp="1"/>
          </p:cNvSpPr>
          <p:nvPr>
            <p:ph type="sldNum" sz="quarter" idx="21"/>
          </p:nvPr>
        </p:nvSpPr>
        <p:spPr>
          <a:xfrm>
            <a:off x="7957417" y="4176103"/>
            <a:ext cx="830123" cy="273844"/>
          </a:xfrm>
        </p:spPr>
        <p:txBody>
          <a:bodyPr/>
          <a:lstStyle/>
          <a:p>
            <a:fld id="{9F9F533D-B52E-4A2F-BF72-0ADD2D94BD75}" type="slidenum">
              <a:rPr lang="en-GB" smtClean="0"/>
              <a:pPr/>
              <a:t>10</a:t>
            </a:fld>
            <a:endParaRPr lang="en-GB"/>
          </a:p>
        </p:txBody>
      </p:sp>
      <p:sp>
        <p:nvSpPr>
          <p:cNvPr id="10" name="Oval 9">
            <a:extLst>
              <a:ext uri="{FF2B5EF4-FFF2-40B4-BE49-F238E27FC236}">
                <a16:creationId xmlns:a16="http://schemas.microsoft.com/office/drawing/2014/main" id="{A2545CD9-1276-4A68-8483-2A6FBB1CFAC2}"/>
              </a:ext>
            </a:extLst>
          </p:cNvPr>
          <p:cNvSpPr/>
          <p:nvPr/>
        </p:nvSpPr>
        <p:spPr bwMode="auto">
          <a:xfrm>
            <a:off x="5766510" y="1895318"/>
            <a:ext cx="1075038" cy="273844"/>
          </a:xfrm>
          <a:prstGeom prst="ellipse">
            <a:avLst/>
          </a:prstGeom>
          <a:noFill/>
          <a:ln w="19050">
            <a:solidFill>
              <a:srgbClr val="FF0000"/>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1" name="Oval 10">
            <a:extLst>
              <a:ext uri="{FF2B5EF4-FFF2-40B4-BE49-F238E27FC236}">
                <a16:creationId xmlns:a16="http://schemas.microsoft.com/office/drawing/2014/main" id="{2472C1D7-2E82-4940-8B2E-96CC3B2E3CAE}"/>
              </a:ext>
            </a:extLst>
          </p:cNvPr>
          <p:cNvSpPr/>
          <p:nvPr/>
        </p:nvSpPr>
        <p:spPr bwMode="auto">
          <a:xfrm>
            <a:off x="4073636" y="2470863"/>
            <a:ext cx="1890582" cy="269091"/>
          </a:xfrm>
          <a:prstGeom prst="ellipse">
            <a:avLst/>
          </a:prstGeom>
          <a:noFill/>
          <a:ln w="19050">
            <a:solidFill>
              <a:srgbClr val="FF0000"/>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2" name="Oval 11">
            <a:extLst>
              <a:ext uri="{FF2B5EF4-FFF2-40B4-BE49-F238E27FC236}">
                <a16:creationId xmlns:a16="http://schemas.microsoft.com/office/drawing/2014/main" id="{3D0A483D-D932-4C46-8281-CD4194A63D81}"/>
              </a:ext>
            </a:extLst>
          </p:cNvPr>
          <p:cNvSpPr/>
          <p:nvPr/>
        </p:nvSpPr>
        <p:spPr bwMode="auto">
          <a:xfrm>
            <a:off x="2058316" y="1956087"/>
            <a:ext cx="719728" cy="206897"/>
          </a:xfrm>
          <a:prstGeom prst="ellipse">
            <a:avLst/>
          </a:prstGeom>
          <a:noFill/>
          <a:ln w="19050">
            <a:solidFill>
              <a:srgbClr val="FF0000"/>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3" name="Oval 12">
            <a:extLst>
              <a:ext uri="{FF2B5EF4-FFF2-40B4-BE49-F238E27FC236}">
                <a16:creationId xmlns:a16="http://schemas.microsoft.com/office/drawing/2014/main" id="{DC0CC4BA-C46D-4291-9CD2-D5EF2CCFEC0A}"/>
              </a:ext>
            </a:extLst>
          </p:cNvPr>
          <p:cNvSpPr/>
          <p:nvPr/>
        </p:nvSpPr>
        <p:spPr bwMode="auto">
          <a:xfrm>
            <a:off x="2101166" y="2505761"/>
            <a:ext cx="786454" cy="173424"/>
          </a:xfrm>
          <a:prstGeom prst="ellipse">
            <a:avLst/>
          </a:prstGeom>
          <a:noFill/>
          <a:ln w="19050">
            <a:solidFill>
              <a:srgbClr val="FF0000"/>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5" name="Rectangle 14">
            <a:extLst>
              <a:ext uri="{FF2B5EF4-FFF2-40B4-BE49-F238E27FC236}">
                <a16:creationId xmlns:a16="http://schemas.microsoft.com/office/drawing/2014/main" id="{CDC7F934-7567-4DB5-9F93-06AD82880AE0}"/>
              </a:ext>
            </a:extLst>
          </p:cNvPr>
          <p:cNvSpPr/>
          <p:nvPr/>
        </p:nvSpPr>
        <p:spPr bwMode="auto">
          <a:xfrm>
            <a:off x="3328263" y="1956087"/>
            <a:ext cx="259882" cy="204741"/>
          </a:xfrm>
          <a:prstGeom prst="rect">
            <a:avLst/>
          </a:prstGeom>
          <a:noFill/>
          <a:ln w="28575">
            <a:solidFill>
              <a:schemeClr val="bg2"/>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6" name="Rectangle 15">
            <a:extLst>
              <a:ext uri="{FF2B5EF4-FFF2-40B4-BE49-F238E27FC236}">
                <a16:creationId xmlns:a16="http://schemas.microsoft.com/office/drawing/2014/main" id="{EF9FF239-DF9E-44DA-BD77-C037CCD8FDFA}"/>
              </a:ext>
            </a:extLst>
          </p:cNvPr>
          <p:cNvSpPr/>
          <p:nvPr/>
        </p:nvSpPr>
        <p:spPr bwMode="auto">
          <a:xfrm>
            <a:off x="3341911" y="2485935"/>
            <a:ext cx="259882" cy="204741"/>
          </a:xfrm>
          <a:prstGeom prst="rect">
            <a:avLst/>
          </a:prstGeom>
          <a:noFill/>
          <a:ln w="28575">
            <a:solidFill>
              <a:schemeClr val="bg2"/>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4" name="Date Placeholder 1">
            <a:extLst>
              <a:ext uri="{FF2B5EF4-FFF2-40B4-BE49-F238E27FC236}">
                <a16:creationId xmlns:a16="http://schemas.microsoft.com/office/drawing/2014/main" id="{C132DD4D-95E2-4A31-B71E-5471C545E73D}"/>
              </a:ext>
            </a:extLst>
          </p:cNvPr>
          <p:cNvSpPr txBox="1">
            <a:spLocks/>
          </p:cNvSpPr>
          <p:nvPr/>
        </p:nvSpPr>
        <p:spPr>
          <a:xfrm>
            <a:off x="2928564" y="4710592"/>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1719663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5"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a:xfrm>
            <a:off x="359152" y="288639"/>
            <a:ext cx="7577139" cy="338554"/>
          </a:xfrm>
        </p:spPr>
        <p:txBody>
          <a:bodyPr/>
          <a:lstStyle/>
          <a:p>
            <a:r>
              <a:rPr lang="en-GB"/>
              <a:t>Interaction Tests</a:t>
            </a:r>
            <a:endParaRPr lang="en-US"/>
          </a:p>
        </p:txBody>
      </p:sp>
      <p:sp>
        <p:nvSpPr>
          <p:cNvPr id="8" name="Slide Number Placeholder 7"/>
          <p:cNvSpPr>
            <a:spLocks noGrp="1"/>
          </p:cNvSpPr>
          <p:nvPr>
            <p:ph type="sldNum" sz="quarter" idx="21"/>
          </p:nvPr>
        </p:nvSpPr>
        <p:spPr/>
        <p:txBody>
          <a:bodyPr/>
          <a:lstStyle/>
          <a:p>
            <a:fld id="{9F9F533D-B52E-4A2F-BF72-0ADD2D94BD75}" type="slidenum">
              <a:rPr lang="en-GB" smtClean="0"/>
              <a:pPr/>
              <a:t>11</a:t>
            </a:fld>
            <a:endParaRPr lang="en-GB"/>
          </a:p>
        </p:txBody>
      </p:sp>
      <p:pic>
        <p:nvPicPr>
          <p:cNvPr id="2" name="Picture 1">
            <a:extLst>
              <a:ext uri="{FF2B5EF4-FFF2-40B4-BE49-F238E27FC236}">
                <a16:creationId xmlns:a16="http://schemas.microsoft.com/office/drawing/2014/main" id="{A29FF0DB-B649-4B0C-9A75-C243EC086E1C}"/>
              </a:ext>
            </a:extLst>
          </p:cNvPr>
          <p:cNvPicPr>
            <a:picLocks noChangeAspect="1"/>
          </p:cNvPicPr>
          <p:nvPr/>
        </p:nvPicPr>
        <p:blipFill>
          <a:blip r:embed="rId3"/>
          <a:stretch>
            <a:fillRect/>
          </a:stretch>
        </p:blipFill>
        <p:spPr>
          <a:xfrm>
            <a:off x="359002" y="1024964"/>
            <a:ext cx="4351222" cy="3620904"/>
          </a:xfrm>
          <a:prstGeom prst="rect">
            <a:avLst/>
          </a:prstGeom>
        </p:spPr>
      </p:pic>
      <p:sp>
        <p:nvSpPr>
          <p:cNvPr id="3" name="Oval 2">
            <a:extLst>
              <a:ext uri="{FF2B5EF4-FFF2-40B4-BE49-F238E27FC236}">
                <a16:creationId xmlns:a16="http://schemas.microsoft.com/office/drawing/2014/main" id="{15BA7E17-50B7-433A-A6B1-CF31848682C2}"/>
              </a:ext>
            </a:extLst>
          </p:cNvPr>
          <p:cNvSpPr/>
          <p:nvPr/>
        </p:nvSpPr>
        <p:spPr bwMode="auto">
          <a:xfrm>
            <a:off x="4074160" y="1110493"/>
            <a:ext cx="625431" cy="322540"/>
          </a:xfrm>
          <a:prstGeom prst="ellipse">
            <a:avLst/>
          </a:prstGeom>
          <a:noFill/>
          <a:ln w="28575">
            <a:solidFill>
              <a:schemeClr val="bg2"/>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7" name="Rectangle 6">
            <a:extLst>
              <a:ext uri="{FF2B5EF4-FFF2-40B4-BE49-F238E27FC236}">
                <a16:creationId xmlns:a16="http://schemas.microsoft.com/office/drawing/2014/main" id="{98E0FD68-E44C-4D3B-A5C8-55133F907E1C}"/>
              </a:ext>
            </a:extLst>
          </p:cNvPr>
          <p:cNvSpPr/>
          <p:nvPr/>
        </p:nvSpPr>
        <p:spPr>
          <a:xfrm>
            <a:off x="4995081" y="1361935"/>
            <a:ext cx="3985146" cy="2700739"/>
          </a:xfrm>
          <a:prstGeom prst="rect">
            <a:avLst/>
          </a:prstGeom>
        </p:spPr>
        <p:txBody>
          <a:bodyPr wrap="square">
            <a:spAutoFit/>
          </a:bodyPr>
          <a:lstStyle/>
          <a:p>
            <a:r>
              <a:rPr lang="en-GB" sz="1600"/>
              <a:t>A p-value from an “interaction test” has the following problems:</a:t>
            </a:r>
          </a:p>
          <a:p>
            <a:endParaRPr lang="en-GB" sz="1600"/>
          </a:p>
          <a:p>
            <a:pPr marL="171450" indent="-171450">
              <a:buFont typeface="Arial" panose="020B0604020202020204" pitchFamily="34" charset="0"/>
              <a:buChar char="•"/>
            </a:pPr>
            <a:r>
              <a:rPr lang="en-GB" sz="1600" b="1">
                <a:solidFill>
                  <a:schemeClr val="bg2"/>
                </a:solidFill>
              </a:rPr>
              <a:t>Sensitivity (lack of statistical power): </a:t>
            </a:r>
          </a:p>
          <a:p>
            <a:pPr marL="628650" lvl="1" indent="-171450">
              <a:buFont typeface="Arial" panose="020B0604020202020204" pitchFamily="34" charset="0"/>
              <a:buChar char="•"/>
            </a:pPr>
            <a:r>
              <a:rPr lang="en-GB" sz="1600"/>
              <a:t>We may not detect differences even if they exist.</a:t>
            </a:r>
          </a:p>
          <a:p>
            <a:pPr lvl="2"/>
            <a:endParaRPr lang="en-GB" sz="1600"/>
          </a:p>
          <a:p>
            <a:pPr marL="171450" indent="-171450">
              <a:buFont typeface="Arial" panose="020B0604020202020204" pitchFamily="34" charset="0"/>
              <a:buChar char="•"/>
            </a:pPr>
            <a:r>
              <a:rPr lang="en-GB" sz="1600" b="1">
                <a:solidFill>
                  <a:schemeClr val="bg2"/>
                </a:solidFill>
              </a:rPr>
              <a:t>Selectivity (spurious results)</a:t>
            </a:r>
            <a:r>
              <a:rPr lang="en-GB" sz="1600">
                <a:solidFill>
                  <a:schemeClr val="bg2"/>
                </a:solidFill>
              </a:rPr>
              <a:t>:</a:t>
            </a:r>
          </a:p>
          <a:p>
            <a:pPr marL="628650" lvl="1" indent="-171450">
              <a:buFont typeface="Arial" panose="020B0604020202020204" pitchFamily="34" charset="0"/>
              <a:buChar char="•"/>
            </a:pPr>
            <a:r>
              <a:rPr lang="en-GB" sz="1600"/>
              <a:t>We may detect false positives.</a:t>
            </a:r>
          </a:p>
          <a:p>
            <a:endParaRPr lang="en-GB" sz="1350"/>
          </a:p>
          <a:p>
            <a:endParaRPr lang="en-GB" sz="1200"/>
          </a:p>
        </p:txBody>
      </p:sp>
      <p:sp>
        <p:nvSpPr>
          <p:cNvPr id="9" name="Date Placeholder 1">
            <a:extLst>
              <a:ext uri="{FF2B5EF4-FFF2-40B4-BE49-F238E27FC236}">
                <a16:creationId xmlns:a16="http://schemas.microsoft.com/office/drawing/2014/main" id="{BDBBD7A0-28BB-4C6A-BF81-098FFE97570B}"/>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2550894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a:xfrm>
            <a:off x="359152" y="288639"/>
            <a:ext cx="7577139" cy="338554"/>
          </a:xfrm>
        </p:spPr>
        <p:txBody>
          <a:bodyPr/>
          <a:lstStyle/>
          <a:p>
            <a:r>
              <a:rPr lang="en-GB"/>
              <a:t>Subgroup Analyses – Statistician’s Perspective</a:t>
            </a:r>
            <a:endParaRPr lang="en-US"/>
          </a:p>
        </p:txBody>
      </p:sp>
      <p:sp>
        <p:nvSpPr>
          <p:cNvPr id="8" name="Slide Number Placeholder 7"/>
          <p:cNvSpPr>
            <a:spLocks noGrp="1"/>
          </p:cNvSpPr>
          <p:nvPr>
            <p:ph type="sldNum" sz="quarter" idx="21"/>
          </p:nvPr>
        </p:nvSpPr>
        <p:spPr/>
        <p:txBody>
          <a:bodyPr/>
          <a:lstStyle/>
          <a:p>
            <a:fld id="{9F9F533D-B52E-4A2F-BF72-0ADD2D94BD75}" type="slidenum">
              <a:rPr lang="en-GB" smtClean="0"/>
              <a:pPr/>
              <a:t>12</a:t>
            </a:fld>
            <a:endParaRPr lang="en-GB"/>
          </a:p>
        </p:txBody>
      </p:sp>
      <p:sp>
        <p:nvSpPr>
          <p:cNvPr id="9" name="Rectangle 8">
            <a:extLst>
              <a:ext uri="{FF2B5EF4-FFF2-40B4-BE49-F238E27FC236}">
                <a16:creationId xmlns:a16="http://schemas.microsoft.com/office/drawing/2014/main" id="{4CC9DD29-8ED2-4B23-96FF-EEBE71226494}"/>
              </a:ext>
            </a:extLst>
          </p:cNvPr>
          <p:cNvSpPr/>
          <p:nvPr/>
        </p:nvSpPr>
        <p:spPr>
          <a:xfrm>
            <a:off x="282675" y="1210696"/>
            <a:ext cx="8500477" cy="2492990"/>
          </a:xfrm>
          <a:prstGeom prst="rect">
            <a:avLst/>
          </a:prstGeom>
        </p:spPr>
        <p:txBody>
          <a:bodyPr wrap="square">
            <a:spAutoFit/>
          </a:bodyPr>
          <a:lstStyle/>
          <a:p>
            <a:r>
              <a:rPr lang="en-GB" sz="1600"/>
              <a:t>- </a:t>
            </a:r>
            <a:r>
              <a:rPr lang="en-GB">
                <a:solidFill>
                  <a:schemeClr val="bg2"/>
                </a:solidFill>
              </a:rPr>
              <a:t>Subgroups may not be independent</a:t>
            </a:r>
            <a:r>
              <a:rPr lang="en-GB"/>
              <a:t>. For instance, we may observe a larger treatment effect in women compared to men. However, if the men were generally younger than the women, age rather than sex might explain the interaction. We need to consider baseline characteristics within each subgroup.</a:t>
            </a:r>
          </a:p>
          <a:p>
            <a:endParaRPr lang="en-GB"/>
          </a:p>
          <a:p>
            <a:r>
              <a:rPr lang="en-GB"/>
              <a:t>- As subgroups are generally exploratory, we </a:t>
            </a:r>
            <a:r>
              <a:rPr lang="en-GB" u="sng">
                <a:solidFill>
                  <a:schemeClr val="bg2"/>
                </a:solidFill>
              </a:rPr>
              <a:t>strongly recommend p-values are NOT presented</a:t>
            </a:r>
            <a:r>
              <a:rPr lang="en-GB">
                <a:solidFill>
                  <a:schemeClr val="bg2"/>
                </a:solidFill>
              </a:rPr>
              <a:t> </a:t>
            </a:r>
            <a:r>
              <a:rPr lang="en-GB"/>
              <a:t>for subgroup analyses. Treatment estimates and confidence intervals are sufficient for interpretation.</a:t>
            </a:r>
          </a:p>
          <a:p>
            <a:endParaRPr lang="en-GB" sz="1200"/>
          </a:p>
        </p:txBody>
      </p:sp>
      <p:sp>
        <p:nvSpPr>
          <p:cNvPr id="6" name="Date Placeholder 1">
            <a:extLst>
              <a:ext uri="{FF2B5EF4-FFF2-40B4-BE49-F238E27FC236}">
                <a16:creationId xmlns:a16="http://schemas.microsoft.com/office/drawing/2014/main" id="{5677D546-E6C5-4898-826D-F658481D0C0E}"/>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4222730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0C56CB-4256-4763-853C-6EF5A7878C97}"/>
              </a:ext>
            </a:extLst>
          </p:cNvPr>
          <p:cNvSpPr>
            <a:spLocks noGrp="1"/>
          </p:cNvSpPr>
          <p:nvPr>
            <p:ph type="title"/>
          </p:nvPr>
        </p:nvSpPr>
        <p:spPr/>
        <p:txBody>
          <a:bodyPr/>
          <a:lstStyle/>
          <a:p>
            <a:r>
              <a:rPr lang="en-GB"/>
              <a:t>Some Alternative Approaches to Subgroup Analysis</a:t>
            </a:r>
          </a:p>
        </p:txBody>
      </p:sp>
      <p:sp>
        <p:nvSpPr>
          <p:cNvPr id="8" name="Slide Number Placeholder 7">
            <a:extLst>
              <a:ext uri="{FF2B5EF4-FFF2-40B4-BE49-F238E27FC236}">
                <a16:creationId xmlns:a16="http://schemas.microsoft.com/office/drawing/2014/main" id="{5CCB037F-21D6-4DE8-9EDC-41D3E82AC134}"/>
              </a:ext>
            </a:extLst>
          </p:cNvPr>
          <p:cNvSpPr>
            <a:spLocks noGrp="1"/>
          </p:cNvSpPr>
          <p:nvPr>
            <p:ph type="sldNum" sz="quarter" idx="21"/>
          </p:nvPr>
        </p:nvSpPr>
        <p:spPr/>
        <p:txBody>
          <a:bodyPr/>
          <a:lstStyle/>
          <a:p>
            <a:fld id="{9F9F533D-B52E-4A2F-BF72-0ADD2D94BD75}" type="slidenum">
              <a:rPr lang="en-GB" smtClean="0"/>
              <a:pPr/>
              <a:t>13</a:t>
            </a:fld>
            <a:endParaRPr lang="en-GB"/>
          </a:p>
        </p:txBody>
      </p:sp>
      <p:pic>
        <p:nvPicPr>
          <p:cNvPr id="9" name="Picture 8">
            <a:extLst>
              <a:ext uri="{FF2B5EF4-FFF2-40B4-BE49-F238E27FC236}">
                <a16:creationId xmlns:a16="http://schemas.microsoft.com/office/drawing/2014/main" id="{2F9A5DB5-CA7F-46F3-8B88-7163FDD8C15A}"/>
              </a:ext>
            </a:extLst>
          </p:cNvPr>
          <p:cNvPicPr>
            <a:picLocks noChangeAspect="1"/>
          </p:cNvPicPr>
          <p:nvPr/>
        </p:nvPicPr>
        <p:blipFill>
          <a:blip r:embed="rId3"/>
          <a:stretch>
            <a:fillRect/>
          </a:stretch>
        </p:blipFill>
        <p:spPr>
          <a:xfrm>
            <a:off x="455606" y="2119369"/>
            <a:ext cx="3653752" cy="2381414"/>
          </a:xfrm>
          <a:prstGeom prst="rect">
            <a:avLst/>
          </a:prstGeom>
        </p:spPr>
      </p:pic>
      <p:pic>
        <p:nvPicPr>
          <p:cNvPr id="10" name="Picture 9">
            <a:extLst>
              <a:ext uri="{FF2B5EF4-FFF2-40B4-BE49-F238E27FC236}">
                <a16:creationId xmlns:a16="http://schemas.microsoft.com/office/drawing/2014/main" id="{799EE80A-934E-4EDE-A107-B4F344446A1F}"/>
              </a:ext>
            </a:extLst>
          </p:cNvPr>
          <p:cNvPicPr>
            <a:picLocks noChangeAspect="1"/>
          </p:cNvPicPr>
          <p:nvPr/>
        </p:nvPicPr>
        <p:blipFill>
          <a:blip r:embed="rId4"/>
          <a:stretch>
            <a:fillRect/>
          </a:stretch>
        </p:blipFill>
        <p:spPr>
          <a:xfrm>
            <a:off x="4667152" y="2220977"/>
            <a:ext cx="4213274" cy="2381415"/>
          </a:xfrm>
          <a:prstGeom prst="rect">
            <a:avLst/>
          </a:prstGeom>
        </p:spPr>
      </p:pic>
      <p:sp>
        <p:nvSpPr>
          <p:cNvPr id="11" name="TextBox 10">
            <a:extLst>
              <a:ext uri="{FF2B5EF4-FFF2-40B4-BE49-F238E27FC236}">
                <a16:creationId xmlns:a16="http://schemas.microsoft.com/office/drawing/2014/main" id="{E9A8C6A6-0A66-40C0-8185-5DFF3B97CA6C}"/>
              </a:ext>
            </a:extLst>
          </p:cNvPr>
          <p:cNvSpPr txBox="1"/>
          <p:nvPr/>
        </p:nvSpPr>
        <p:spPr>
          <a:xfrm>
            <a:off x="359152" y="1165259"/>
            <a:ext cx="8355550" cy="307777"/>
          </a:xfrm>
          <a:prstGeom prst="rect">
            <a:avLst/>
          </a:prstGeom>
          <a:noFill/>
        </p:spPr>
        <p:txBody>
          <a:bodyPr wrap="square" rtlCol="0">
            <a:spAutoFit/>
          </a:bodyPr>
          <a:lstStyle/>
          <a:p>
            <a:pPr>
              <a:buClr>
                <a:schemeClr val="tx1"/>
              </a:buClr>
            </a:pPr>
            <a:r>
              <a:rPr lang="en-GB" sz="1400" b="1">
                <a:solidFill>
                  <a:schemeClr val="bg2"/>
                </a:solidFill>
              </a:rPr>
              <a:t>Effect of Baseline Blood Eosinophil Count (BEC) on Asthma Exacerbations</a:t>
            </a:r>
            <a:endParaRPr lang="en-GB" sz="1200" b="1">
              <a:solidFill>
                <a:schemeClr val="bg2"/>
              </a:solidFill>
            </a:endParaRPr>
          </a:p>
        </p:txBody>
      </p:sp>
      <p:sp>
        <p:nvSpPr>
          <p:cNvPr id="12" name="Rectangle 11">
            <a:extLst>
              <a:ext uri="{FF2B5EF4-FFF2-40B4-BE49-F238E27FC236}">
                <a16:creationId xmlns:a16="http://schemas.microsoft.com/office/drawing/2014/main" id="{5CC17719-917C-412B-A851-E9352401BC49}"/>
              </a:ext>
            </a:extLst>
          </p:cNvPr>
          <p:cNvSpPr/>
          <p:nvPr/>
        </p:nvSpPr>
        <p:spPr>
          <a:xfrm>
            <a:off x="403244" y="1473037"/>
            <a:ext cx="4002259" cy="646331"/>
          </a:xfrm>
          <a:prstGeom prst="rect">
            <a:avLst/>
          </a:prstGeom>
        </p:spPr>
        <p:txBody>
          <a:bodyPr wrap="square">
            <a:spAutoFit/>
          </a:bodyPr>
          <a:lstStyle/>
          <a:p>
            <a:pPr>
              <a:buClr>
                <a:schemeClr val="tx1"/>
              </a:buClr>
            </a:pPr>
            <a:r>
              <a:rPr lang="en-GB" sz="1200"/>
              <a:t>If the covariate of interest is continuous, a subgroup analysis requires categorisation based on pre-defined threshold values:</a:t>
            </a:r>
          </a:p>
        </p:txBody>
      </p:sp>
      <p:sp>
        <p:nvSpPr>
          <p:cNvPr id="13" name="Rectangle 12">
            <a:extLst>
              <a:ext uri="{FF2B5EF4-FFF2-40B4-BE49-F238E27FC236}">
                <a16:creationId xmlns:a16="http://schemas.microsoft.com/office/drawing/2014/main" id="{5BA7DD83-65E0-4E0E-92B1-AA4881B6C54C}"/>
              </a:ext>
            </a:extLst>
          </p:cNvPr>
          <p:cNvSpPr/>
          <p:nvPr/>
        </p:nvSpPr>
        <p:spPr>
          <a:xfrm>
            <a:off x="4772660" y="1479708"/>
            <a:ext cx="4002259" cy="646331"/>
          </a:xfrm>
          <a:prstGeom prst="rect">
            <a:avLst/>
          </a:prstGeom>
        </p:spPr>
        <p:txBody>
          <a:bodyPr wrap="square">
            <a:spAutoFit/>
          </a:bodyPr>
          <a:lstStyle/>
          <a:p>
            <a:pPr>
              <a:buClr>
                <a:schemeClr val="tx1"/>
              </a:buClr>
            </a:pPr>
            <a:r>
              <a:rPr lang="en-GB" sz="1200"/>
              <a:t>However, sometimes a more informative approach is to use a statistical model, including the covariate on a continuous scale:</a:t>
            </a:r>
          </a:p>
        </p:txBody>
      </p:sp>
      <p:sp>
        <p:nvSpPr>
          <p:cNvPr id="15" name="Text Placeholder 2">
            <a:extLst>
              <a:ext uri="{FF2B5EF4-FFF2-40B4-BE49-F238E27FC236}">
                <a16:creationId xmlns:a16="http://schemas.microsoft.com/office/drawing/2014/main" id="{1341C0B0-F100-4A64-9645-9041497197F2}"/>
              </a:ext>
            </a:extLst>
          </p:cNvPr>
          <p:cNvSpPr>
            <a:spLocks noGrp="1"/>
          </p:cNvSpPr>
          <p:nvPr>
            <p:ph type="body" sz="quarter" idx="14"/>
          </p:nvPr>
        </p:nvSpPr>
        <p:spPr>
          <a:xfrm>
            <a:off x="359152" y="693553"/>
            <a:ext cx="7578000" cy="276999"/>
          </a:xfrm>
        </p:spPr>
        <p:txBody>
          <a:bodyPr lIns="0" tIns="45720" rIns="91440" bIns="45720" anchor="t" anchorCtr="0">
            <a:noAutofit/>
          </a:bodyPr>
          <a:lstStyle/>
          <a:p>
            <a:r>
              <a:rPr lang="en-US">
                <a:cs typeface="Arial"/>
              </a:rPr>
              <a:t>Case Study</a:t>
            </a:r>
            <a:endParaRPr lang="en-US">
              <a:ea typeface="+mn-lt"/>
              <a:cs typeface="+mn-lt"/>
            </a:endParaRPr>
          </a:p>
          <a:p>
            <a:endParaRPr lang="en-US">
              <a:cs typeface="Arial"/>
            </a:endParaRPr>
          </a:p>
        </p:txBody>
      </p:sp>
      <p:sp>
        <p:nvSpPr>
          <p:cNvPr id="16" name="Date Placeholder 1">
            <a:extLst>
              <a:ext uri="{FF2B5EF4-FFF2-40B4-BE49-F238E27FC236}">
                <a16:creationId xmlns:a16="http://schemas.microsoft.com/office/drawing/2014/main" id="{99C9EF14-3B61-4B6B-9C5B-06C2CC82EDB6}"/>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1558210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70F90D2F-4B55-48D2-8DA9-F2ED5D383BC2}"/>
              </a:ext>
            </a:extLst>
          </p:cNvPr>
          <p:cNvGraphicFramePr/>
          <p:nvPr>
            <p:extLst>
              <p:ext uri="{D42A27DB-BD31-4B8C-83A1-F6EECF244321}">
                <p14:modId xmlns:p14="http://schemas.microsoft.com/office/powerpoint/2010/main" val="3714635290"/>
              </p:ext>
            </p:extLst>
          </p:nvPr>
        </p:nvGraphicFramePr>
        <p:xfrm>
          <a:off x="1935801" y="1281774"/>
          <a:ext cx="5197522" cy="32116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 Placeholder 2">
            <a:extLst>
              <a:ext uri="{FF2B5EF4-FFF2-40B4-BE49-F238E27FC236}">
                <a16:creationId xmlns:a16="http://schemas.microsoft.com/office/drawing/2014/main" id="{FACD5F23-2250-44AD-B616-B953B08F8345}"/>
              </a:ext>
            </a:extLst>
          </p:cNvPr>
          <p:cNvSpPr>
            <a:spLocks noGrp="1"/>
          </p:cNvSpPr>
          <p:nvPr>
            <p:ph type="body" sz="quarter" idx="14"/>
          </p:nvPr>
        </p:nvSpPr>
        <p:spPr/>
        <p:txBody>
          <a:bodyPr/>
          <a:lstStyle/>
          <a:p>
            <a:r>
              <a:rPr lang="en-GB"/>
              <a:t>Subgroup analyses are useful for:</a:t>
            </a:r>
          </a:p>
        </p:txBody>
      </p:sp>
      <p:sp>
        <p:nvSpPr>
          <p:cNvPr id="6" name="Date Placeholder 5">
            <a:extLst>
              <a:ext uri="{FF2B5EF4-FFF2-40B4-BE49-F238E27FC236}">
                <a16:creationId xmlns:a16="http://schemas.microsoft.com/office/drawing/2014/main" id="{22F947D8-4B6E-4576-BEA5-A6B33A1A1692}"/>
              </a:ext>
            </a:extLst>
          </p:cNvPr>
          <p:cNvSpPr>
            <a:spLocks noGrp="1"/>
          </p:cNvSpPr>
          <p:nvPr>
            <p:ph type="dt" sz="half" idx="19"/>
          </p:nvPr>
        </p:nvSpPr>
        <p:spPr/>
        <p:txBody>
          <a:bodyPr/>
          <a:lstStyle/>
          <a:p>
            <a:pPr algn="ctr"/>
            <a:r>
              <a:rPr lang="en-US"/>
              <a:t>FoS: Medical Affairs training </a:t>
            </a:r>
            <a:endParaRPr lang="en-GB"/>
          </a:p>
        </p:txBody>
      </p:sp>
      <p:sp>
        <p:nvSpPr>
          <p:cNvPr id="8" name="Slide Number Placeholder 7">
            <a:extLst>
              <a:ext uri="{FF2B5EF4-FFF2-40B4-BE49-F238E27FC236}">
                <a16:creationId xmlns:a16="http://schemas.microsoft.com/office/drawing/2014/main" id="{9C437724-BC1D-46CE-B720-CB78B6B7C421}"/>
              </a:ext>
            </a:extLst>
          </p:cNvPr>
          <p:cNvSpPr>
            <a:spLocks noGrp="1"/>
          </p:cNvSpPr>
          <p:nvPr>
            <p:ph type="sldNum" sz="quarter" idx="21"/>
          </p:nvPr>
        </p:nvSpPr>
        <p:spPr/>
        <p:txBody>
          <a:bodyPr/>
          <a:lstStyle/>
          <a:p>
            <a:fld id="{9F9F533D-B52E-4A2F-BF72-0ADD2D94BD75}" type="slidenum">
              <a:rPr lang="en-GB" smtClean="0"/>
              <a:pPr/>
              <a:t>14</a:t>
            </a:fld>
            <a:endParaRPr lang="en-GB"/>
          </a:p>
        </p:txBody>
      </p:sp>
      <p:grpSp>
        <p:nvGrpSpPr>
          <p:cNvPr id="9" name="Group 8">
            <a:extLst>
              <a:ext uri="{FF2B5EF4-FFF2-40B4-BE49-F238E27FC236}">
                <a16:creationId xmlns:a16="http://schemas.microsoft.com/office/drawing/2014/main" id="{F159687E-E4EB-4128-99C1-3CFE828B8D5C}"/>
              </a:ext>
            </a:extLst>
          </p:cNvPr>
          <p:cNvGrpSpPr/>
          <p:nvPr/>
        </p:nvGrpSpPr>
        <p:grpSpPr>
          <a:xfrm>
            <a:off x="552803" y="1082781"/>
            <a:ext cx="1116000" cy="1116000"/>
            <a:chOff x="4521890" y="2958068"/>
            <a:chExt cx="1184894" cy="1318956"/>
          </a:xfrm>
        </p:grpSpPr>
        <p:pic>
          <p:nvPicPr>
            <p:cNvPr id="10" name="Graphic 9" descr="Group">
              <a:extLst>
                <a:ext uri="{FF2B5EF4-FFF2-40B4-BE49-F238E27FC236}">
                  <a16:creationId xmlns:a16="http://schemas.microsoft.com/office/drawing/2014/main" id="{B767C368-0B3D-4E2C-9156-A2B176A9309F}"/>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 r="47990"/>
            <a:stretch/>
          </p:blipFill>
          <p:spPr>
            <a:xfrm>
              <a:off x="4521890" y="2958068"/>
              <a:ext cx="784929" cy="1318956"/>
            </a:xfrm>
            <a:prstGeom prst="rect">
              <a:avLst/>
            </a:prstGeom>
          </p:spPr>
        </p:pic>
        <p:pic>
          <p:nvPicPr>
            <p:cNvPr id="11" name="Graphic 10" descr="Group">
              <a:extLst>
                <a:ext uri="{FF2B5EF4-FFF2-40B4-BE49-F238E27FC236}">
                  <a16:creationId xmlns:a16="http://schemas.microsoft.com/office/drawing/2014/main" id="{A10673D3-4C1F-4F55-90AC-804A27D7A0CE}"/>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108" r="71130"/>
            <a:stretch/>
          </p:blipFill>
          <p:spPr>
            <a:xfrm flipH="1">
              <a:off x="5287799" y="2958068"/>
              <a:ext cx="418985" cy="1318956"/>
            </a:xfrm>
            <a:prstGeom prst="rect">
              <a:avLst/>
            </a:prstGeom>
          </p:spPr>
        </p:pic>
      </p:grpSp>
      <p:grpSp>
        <p:nvGrpSpPr>
          <p:cNvPr id="22" name="Group 21">
            <a:extLst>
              <a:ext uri="{FF2B5EF4-FFF2-40B4-BE49-F238E27FC236}">
                <a16:creationId xmlns:a16="http://schemas.microsoft.com/office/drawing/2014/main" id="{FA6E9893-A03D-46C0-B83E-BA4DE10B5B98}"/>
              </a:ext>
            </a:extLst>
          </p:cNvPr>
          <p:cNvGrpSpPr/>
          <p:nvPr/>
        </p:nvGrpSpPr>
        <p:grpSpPr>
          <a:xfrm>
            <a:off x="530734" y="1869759"/>
            <a:ext cx="1116000" cy="1116000"/>
            <a:chOff x="4521890" y="2958068"/>
            <a:chExt cx="1184894" cy="1318956"/>
          </a:xfrm>
        </p:grpSpPr>
        <p:pic>
          <p:nvPicPr>
            <p:cNvPr id="23" name="Graphic 22" descr="Group">
              <a:extLst>
                <a:ext uri="{FF2B5EF4-FFF2-40B4-BE49-F238E27FC236}">
                  <a16:creationId xmlns:a16="http://schemas.microsoft.com/office/drawing/2014/main" id="{20E3A293-E7C5-4963-9A1E-1BE24C64CD13}"/>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 r="47990"/>
            <a:stretch/>
          </p:blipFill>
          <p:spPr>
            <a:xfrm>
              <a:off x="4521890" y="2958068"/>
              <a:ext cx="784929" cy="1318956"/>
            </a:xfrm>
            <a:prstGeom prst="rect">
              <a:avLst/>
            </a:prstGeom>
          </p:spPr>
        </p:pic>
        <p:pic>
          <p:nvPicPr>
            <p:cNvPr id="24" name="Graphic 23" descr="Group">
              <a:extLst>
                <a:ext uri="{FF2B5EF4-FFF2-40B4-BE49-F238E27FC236}">
                  <a16:creationId xmlns:a16="http://schemas.microsoft.com/office/drawing/2014/main" id="{EC2F84A0-07AC-4BAE-B45F-1324BD9A51B1}"/>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108" r="71130"/>
            <a:stretch/>
          </p:blipFill>
          <p:spPr>
            <a:xfrm flipH="1">
              <a:off x="5287799" y="2958068"/>
              <a:ext cx="418985" cy="1318956"/>
            </a:xfrm>
            <a:prstGeom prst="rect">
              <a:avLst/>
            </a:prstGeom>
          </p:spPr>
        </p:pic>
      </p:grpSp>
      <p:grpSp>
        <p:nvGrpSpPr>
          <p:cNvPr id="25" name="Group 24">
            <a:extLst>
              <a:ext uri="{FF2B5EF4-FFF2-40B4-BE49-F238E27FC236}">
                <a16:creationId xmlns:a16="http://schemas.microsoft.com/office/drawing/2014/main" id="{2BDF3DA5-7512-4D36-8F24-CD95CCB4970D}"/>
              </a:ext>
            </a:extLst>
          </p:cNvPr>
          <p:cNvGrpSpPr/>
          <p:nvPr/>
        </p:nvGrpSpPr>
        <p:grpSpPr>
          <a:xfrm>
            <a:off x="530734" y="3443715"/>
            <a:ext cx="1116000" cy="1116000"/>
            <a:chOff x="4521890" y="2958068"/>
            <a:chExt cx="1184894" cy="1318956"/>
          </a:xfrm>
        </p:grpSpPr>
        <p:pic>
          <p:nvPicPr>
            <p:cNvPr id="26" name="Graphic 25" descr="Group">
              <a:extLst>
                <a:ext uri="{FF2B5EF4-FFF2-40B4-BE49-F238E27FC236}">
                  <a16:creationId xmlns:a16="http://schemas.microsoft.com/office/drawing/2014/main" id="{E8268BD2-6EDF-4486-AE2F-68731122DAC5}"/>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 r="47990"/>
            <a:stretch/>
          </p:blipFill>
          <p:spPr>
            <a:xfrm>
              <a:off x="4521890" y="2958068"/>
              <a:ext cx="784929" cy="1318956"/>
            </a:xfrm>
            <a:prstGeom prst="rect">
              <a:avLst/>
            </a:prstGeom>
          </p:spPr>
        </p:pic>
        <p:pic>
          <p:nvPicPr>
            <p:cNvPr id="27" name="Graphic 26" descr="Group">
              <a:extLst>
                <a:ext uri="{FF2B5EF4-FFF2-40B4-BE49-F238E27FC236}">
                  <a16:creationId xmlns:a16="http://schemas.microsoft.com/office/drawing/2014/main" id="{3B9BE114-CF6B-443B-9AA6-04D4A79E5B9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6"/>
                </a:ext>
              </a:extLst>
            </a:blip>
            <a:srcRect l="1108" r="71130"/>
            <a:stretch/>
          </p:blipFill>
          <p:spPr>
            <a:xfrm flipH="1">
              <a:off x="5287799" y="2958068"/>
              <a:ext cx="418985" cy="1318956"/>
            </a:xfrm>
            <a:prstGeom prst="rect">
              <a:avLst/>
            </a:prstGeom>
          </p:spPr>
        </p:pic>
      </p:grpSp>
      <p:grpSp>
        <p:nvGrpSpPr>
          <p:cNvPr id="28" name="Group 27">
            <a:extLst>
              <a:ext uri="{FF2B5EF4-FFF2-40B4-BE49-F238E27FC236}">
                <a16:creationId xmlns:a16="http://schemas.microsoft.com/office/drawing/2014/main" id="{FAEEF88B-C6F7-47B2-B639-28F054759430}"/>
              </a:ext>
            </a:extLst>
          </p:cNvPr>
          <p:cNvGrpSpPr/>
          <p:nvPr/>
        </p:nvGrpSpPr>
        <p:grpSpPr>
          <a:xfrm>
            <a:off x="530734" y="2656737"/>
            <a:ext cx="1116000" cy="1116000"/>
            <a:chOff x="4521890" y="2958068"/>
            <a:chExt cx="1184894" cy="1318956"/>
          </a:xfrm>
        </p:grpSpPr>
        <p:pic>
          <p:nvPicPr>
            <p:cNvPr id="29" name="Graphic 28" descr="Group">
              <a:extLst>
                <a:ext uri="{FF2B5EF4-FFF2-40B4-BE49-F238E27FC236}">
                  <a16:creationId xmlns:a16="http://schemas.microsoft.com/office/drawing/2014/main" id="{C827435F-3FD6-4C85-9225-A8DEEB2DB225}"/>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 r="47990"/>
            <a:stretch/>
          </p:blipFill>
          <p:spPr>
            <a:xfrm>
              <a:off x="4521890" y="2958068"/>
              <a:ext cx="784929" cy="1318956"/>
            </a:xfrm>
            <a:prstGeom prst="rect">
              <a:avLst/>
            </a:prstGeom>
          </p:spPr>
        </p:pic>
        <p:pic>
          <p:nvPicPr>
            <p:cNvPr id="30" name="Graphic 29" descr="Group">
              <a:extLst>
                <a:ext uri="{FF2B5EF4-FFF2-40B4-BE49-F238E27FC236}">
                  <a16:creationId xmlns:a16="http://schemas.microsoft.com/office/drawing/2014/main" id="{A4CC584B-3149-4DDF-8A60-94DD051F94FE}"/>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9"/>
                </a:ext>
              </a:extLst>
            </a:blip>
            <a:srcRect l="1108" r="71130"/>
            <a:stretch/>
          </p:blipFill>
          <p:spPr>
            <a:xfrm flipH="1">
              <a:off x="5287799" y="2958068"/>
              <a:ext cx="418985" cy="1318956"/>
            </a:xfrm>
            <a:prstGeom prst="rect">
              <a:avLst/>
            </a:prstGeom>
          </p:spPr>
        </p:pic>
      </p:grpSp>
      <p:grpSp>
        <p:nvGrpSpPr>
          <p:cNvPr id="31" name="Group 30">
            <a:extLst>
              <a:ext uri="{FF2B5EF4-FFF2-40B4-BE49-F238E27FC236}">
                <a16:creationId xmlns:a16="http://schemas.microsoft.com/office/drawing/2014/main" id="{E5BE3084-6185-4ECD-8E5B-45639A4511DB}"/>
              </a:ext>
            </a:extLst>
          </p:cNvPr>
          <p:cNvGrpSpPr/>
          <p:nvPr/>
        </p:nvGrpSpPr>
        <p:grpSpPr>
          <a:xfrm>
            <a:off x="4711792" y="1585083"/>
            <a:ext cx="558000" cy="614168"/>
            <a:chOff x="4521890" y="2958068"/>
            <a:chExt cx="1184894" cy="1318956"/>
          </a:xfrm>
        </p:grpSpPr>
        <p:pic>
          <p:nvPicPr>
            <p:cNvPr id="32" name="Graphic 31" descr="Group">
              <a:extLst>
                <a:ext uri="{FF2B5EF4-FFF2-40B4-BE49-F238E27FC236}">
                  <a16:creationId xmlns:a16="http://schemas.microsoft.com/office/drawing/2014/main" id="{0A1BA7A8-77A0-40F7-9197-E0CE9F781977}"/>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20"/>
                </a:ext>
              </a:extLst>
            </a:blip>
            <a:srcRect l="-1" r="47990"/>
            <a:stretch/>
          </p:blipFill>
          <p:spPr>
            <a:xfrm>
              <a:off x="4521890" y="2958068"/>
              <a:ext cx="784929" cy="1318956"/>
            </a:xfrm>
            <a:prstGeom prst="rect">
              <a:avLst/>
            </a:prstGeom>
          </p:spPr>
        </p:pic>
        <p:pic>
          <p:nvPicPr>
            <p:cNvPr id="33" name="Graphic 32" descr="Group">
              <a:extLst>
                <a:ext uri="{FF2B5EF4-FFF2-40B4-BE49-F238E27FC236}">
                  <a16:creationId xmlns:a16="http://schemas.microsoft.com/office/drawing/2014/main" id="{AB05CBCC-A61F-473C-B9E2-027AF9612026}"/>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108" r="71130"/>
            <a:stretch/>
          </p:blipFill>
          <p:spPr>
            <a:xfrm flipH="1">
              <a:off x="5287799" y="2958068"/>
              <a:ext cx="418985" cy="1318956"/>
            </a:xfrm>
            <a:prstGeom prst="rect">
              <a:avLst/>
            </a:prstGeom>
          </p:spPr>
        </p:pic>
      </p:grpSp>
      <p:grpSp>
        <p:nvGrpSpPr>
          <p:cNvPr id="34" name="Group 33">
            <a:extLst>
              <a:ext uri="{FF2B5EF4-FFF2-40B4-BE49-F238E27FC236}">
                <a16:creationId xmlns:a16="http://schemas.microsoft.com/office/drawing/2014/main" id="{133DB1E9-443C-490A-9F19-81C5012CA303}"/>
              </a:ext>
            </a:extLst>
          </p:cNvPr>
          <p:cNvGrpSpPr/>
          <p:nvPr/>
        </p:nvGrpSpPr>
        <p:grpSpPr>
          <a:xfrm>
            <a:off x="4143759" y="1576457"/>
            <a:ext cx="558000" cy="614168"/>
            <a:chOff x="4521890" y="2958068"/>
            <a:chExt cx="1184894" cy="1318956"/>
          </a:xfrm>
        </p:grpSpPr>
        <p:pic>
          <p:nvPicPr>
            <p:cNvPr id="35" name="Graphic 34" descr="Group">
              <a:extLst>
                <a:ext uri="{FF2B5EF4-FFF2-40B4-BE49-F238E27FC236}">
                  <a16:creationId xmlns:a16="http://schemas.microsoft.com/office/drawing/2014/main" id="{35D1D732-2979-4DDC-ACD9-865ECB8DFEB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 r="47990"/>
            <a:stretch/>
          </p:blipFill>
          <p:spPr>
            <a:xfrm>
              <a:off x="4521890" y="2958068"/>
              <a:ext cx="784929" cy="1318956"/>
            </a:xfrm>
            <a:prstGeom prst="rect">
              <a:avLst/>
            </a:prstGeom>
          </p:spPr>
        </p:pic>
        <p:pic>
          <p:nvPicPr>
            <p:cNvPr id="36" name="Graphic 35" descr="Group">
              <a:extLst>
                <a:ext uri="{FF2B5EF4-FFF2-40B4-BE49-F238E27FC236}">
                  <a16:creationId xmlns:a16="http://schemas.microsoft.com/office/drawing/2014/main" id="{8986091E-F86C-4B7A-BB1D-DE61EC117DD8}"/>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108" r="71130"/>
            <a:stretch/>
          </p:blipFill>
          <p:spPr>
            <a:xfrm flipH="1">
              <a:off x="5287799" y="2958068"/>
              <a:ext cx="418985" cy="1318956"/>
            </a:xfrm>
            <a:prstGeom prst="rect">
              <a:avLst/>
            </a:prstGeom>
          </p:spPr>
        </p:pic>
      </p:grpSp>
      <p:grpSp>
        <p:nvGrpSpPr>
          <p:cNvPr id="37" name="Group 36">
            <a:extLst>
              <a:ext uri="{FF2B5EF4-FFF2-40B4-BE49-F238E27FC236}">
                <a16:creationId xmlns:a16="http://schemas.microsoft.com/office/drawing/2014/main" id="{1F502338-C1D7-4B4C-BB18-150C5724818C}"/>
              </a:ext>
            </a:extLst>
          </p:cNvPr>
          <p:cNvGrpSpPr/>
          <p:nvPr/>
        </p:nvGrpSpPr>
        <p:grpSpPr>
          <a:xfrm>
            <a:off x="5256467" y="1571171"/>
            <a:ext cx="558000" cy="614168"/>
            <a:chOff x="4521890" y="2958068"/>
            <a:chExt cx="1184894" cy="1318956"/>
          </a:xfrm>
        </p:grpSpPr>
        <p:pic>
          <p:nvPicPr>
            <p:cNvPr id="38" name="Graphic 37" descr="Group">
              <a:extLst>
                <a:ext uri="{FF2B5EF4-FFF2-40B4-BE49-F238E27FC236}">
                  <a16:creationId xmlns:a16="http://schemas.microsoft.com/office/drawing/2014/main" id="{23EFF2F4-D9EF-4867-9E44-EFD343C07DA1}"/>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 r="47990"/>
            <a:stretch/>
          </p:blipFill>
          <p:spPr>
            <a:xfrm>
              <a:off x="4521890" y="2958068"/>
              <a:ext cx="784929" cy="1318956"/>
            </a:xfrm>
            <a:prstGeom prst="rect">
              <a:avLst/>
            </a:prstGeom>
          </p:spPr>
        </p:pic>
        <p:pic>
          <p:nvPicPr>
            <p:cNvPr id="39" name="Graphic 38" descr="Group">
              <a:extLst>
                <a:ext uri="{FF2B5EF4-FFF2-40B4-BE49-F238E27FC236}">
                  <a16:creationId xmlns:a16="http://schemas.microsoft.com/office/drawing/2014/main" id="{40DFC28C-796B-4232-8C6C-6DA4B7D8D1C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6"/>
                </a:ext>
              </a:extLst>
            </a:blip>
            <a:srcRect l="1108" r="71130"/>
            <a:stretch/>
          </p:blipFill>
          <p:spPr>
            <a:xfrm flipH="1">
              <a:off x="5287799" y="2958068"/>
              <a:ext cx="418985" cy="1318956"/>
            </a:xfrm>
            <a:prstGeom prst="rect">
              <a:avLst/>
            </a:prstGeom>
          </p:spPr>
        </p:pic>
      </p:grpSp>
      <p:sp>
        <p:nvSpPr>
          <p:cNvPr id="52" name="Freeform 397">
            <a:extLst>
              <a:ext uri="{FF2B5EF4-FFF2-40B4-BE49-F238E27FC236}">
                <a16:creationId xmlns:a16="http://schemas.microsoft.com/office/drawing/2014/main" id="{F123A893-7CCB-48E4-A3F1-9D5D82834ECB}"/>
              </a:ext>
            </a:extLst>
          </p:cNvPr>
          <p:cNvSpPr>
            <a:spLocks noChangeAspect="1" noEditPoints="1"/>
          </p:cNvSpPr>
          <p:nvPr/>
        </p:nvSpPr>
        <p:spPr bwMode="auto">
          <a:xfrm>
            <a:off x="5312529" y="2558245"/>
            <a:ext cx="274622" cy="281926"/>
          </a:xfrm>
          <a:custGeom>
            <a:avLst/>
            <a:gdLst>
              <a:gd name="T0" fmla="*/ 2034 w 2248"/>
              <a:gd name="T1" fmla="*/ 1317 h 2307"/>
              <a:gd name="T2" fmla="*/ 2033 w 2248"/>
              <a:gd name="T3" fmla="*/ 1316 h 2307"/>
              <a:gd name="T4" fmla="*/ 1531 w 2248"/>
              <a:gd name="T5" fmla="*/ 814 h 2307"/>
              <a:gd name="T6" fmla="*/ 1415 w 2248"/>
              <a:gd name="T7" fmla="*/ 814 h 2307"/>
              <a:gd name="T8" fmla="*/ 796 w 2248"/>
              <a:gd name="T9" fmla="*/ 195 h 2307"/>
              <a:gd name="T10" fmla="*/ 136 w 2248"/>
              <a:gd name="T11" fmla="*/ 195 h 2307"/>
              <a:gd name="T12" fmla="*/ 0 w 2248"/>
              <a:gd name="T13" fmla="*/ 525 h 2307"/>
              <a:gd name="T14" fmla="*/ 136 w 2248"/>
              <a:gd name="T15" fmla="*/ 855 h 2307"/>
              <a:gd name="T16" fmla="*/ 755 w 2248"/>
              <a:gd name="T17" fmla="*/ 1474 h 2307"/>
              <a:gd name="T18" fmla="*/ 755 w 2248"/>
              <a:gd name="T19" fmla="*/ 1474 h 2307"/>
              <a:gd name="T20" fmla="*/ 755 w 2248"/>
              <a:gd name="T21" fmla="*/ 1590 h 2307"/>
              <a:gd name="T22" fmla="*/ 1258 w 2248"/>
              <a:gd name="T23" fmla="*/ 2093 h 2307"/>
              <a:gd name="T24" fmla="*/ 2034 w 2248"/>
              <a:gd name="T25" fmla="*/ 2093 h 2307"/>
              <a:gd name="T26" fmla="*/ 2034 w 2248"/>
              <a:gd name="T27" fmla="*/ 1317 h 2307"/>
              <a:gd name="T28" fmla="*/ 1918 w 2248"/>
              <a:gd name="T29" fmla="*/ 1977 h 2307"/>
              <a:gd name="T30" fmla="*/ 1374 w 2248"/>
              <a:gd name="T31" fmla="*/ 1977 h 2307"/>
              <a:gd name="T32" fmla="*/ 814 w 2248"/>
              <a:gd name="T33" fmla="*/ 1416 h 2307"/>
              <a:gd name="T34" fmla="*/ 872 w 2248"/>
              <a:gd name="T35" fmla="*/ 1358 h 2307"/>
              <a:gd name="T36" fmla="*/ 253 w 2248"/>
              <a:gd name="T37" fmla="*/ 739 h 2307"/>
              <a:gd name="T38" fmla="*/ 164 w 2248"/>
              <a:gd name="T39" fmla="*/ 525 h 2307"/>
              <a:gd name="T40" fmla="*/ 253 w 2248"/>
              <a:gd name="T41" fmla="*/ 312 h 2307"/>
              <a:gd name="T42" fmla="*/ 466 w 2248"/>
              <a:gd name="T43" fmla="*/ 223 h 2307"/>
              <a:gd name="T44" fmla="*/ 680 w 2248"/>
              <a:gd name="T45" fmla="*/ 312 h 2307"/>
              <a:gd name="T46" fmla="*/ 1299 w 2248"/>
              <a:gd name="T47" fmla="*/ 931 h 2307"/>
              <a:gd name="T48" fmla="*/ 872 w 2248"/>
              <a:gd name="T49" fmla="*/ 1358 h 2307"/>
              <a:gd name="T50" fmla="*/ 1433 w 2248"/>
              <a:gd name="T51" fmla="*/ 1918 h 2307"/>
              <a:gd name="T52" fmla="*/ 1859 w 2248"/>
              <a:gd name="T53" fmla="*/ 1918 h 2307"/>
              <a:gd name="T54" fmla="*/ 1918 w 2248"/>
              <a:gd name="T55" fmla="*/ 1918 h 2307"/>
              <a:gd name="T56" fmla="*/ 1930 w 2248"/>
              <a:gd name="T57" fmla="*/ 1948 h 2307"/>
              <a:gd name="T58" fmla="*/ 1918 w 2248"/>
              <a:gd name="T59" fmla="*/ 1977 h 2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48" h="2307">
                <a:moveTo>
                  <a:pt x="2034" y="1317"/>
                </a:moveTo>
                <a:cubicBezTo>
                  <a:pt x="2034" y="1317"/>
                  <a:pt x="2033" y="1317"/>
                  <a:pt x="2033" y="1316"/>
                </a:cubicBezTo>
                <a:cubicBezTo>
                  <a:pt x="1531" y="814"/>
                  <a:pt x="1531" y="814"/>
                  <a:pt x="1531" y="814"/>
                </a:cubicBezTo>
                <a:cubicBezTo>
                  <a:pt x="1499" y="782"/>
                  <a:pt x="1447" y="782"/>
                  <a:pt x="1415" y="814"/>
                </a:cubicBezTo>
                <a:cubicBezTo>
                  <a:pt x="796" y="195"/>
                  <a:pt x="796" y="195"/>
                  <a:pt x="796" y="195"/>
                </a:cubicBezTo>
                <a:cubicBezTo>
                  <a:pt x="601" y="0"/>
                  <a:pt x="318" y="13"/>
                  <a:pt x="136" y="195"/>
                </a:cubicBezTo>
                <a:cubicBezTo>
                  <a:pt x="45" y="286"/>
                  <a:pt x="0" y="406"/>
                  <a:pt x="0" y="525"/>
                </a:cubicBezTo>
                <a:cubicBezTo>
                  <a:pt x="0" y="645"/>
                  <a:pt x="45" y="764"/>
                  <a:pt x="136" y="855"/>
                </a:cubicBezTo>
                <a:cubicBezTo>
                  <a:pt x="755" y="1474"/>
                  <a:pt x="755" y="1474"/>
                  <a:pt x="755" y="1474"/>
                </a:cubicBezTo>
                <a:cubicBezTo>
                  <a:pt x="755" y="1474"/>
                  <a:pt x="755" y="1474"/>
                  <a:pt x="755" y="1474"/>
                </a:cubicBezTo>
                <a:cubicBezTo>
                  <a:pt x="723" y="1506"/>
                  <a:pt x="723" y="1558"/>
                  <a:pt x="755" y="1590"/>
                </a:cubicBezTo>
                <a:cubicBezTo>
                  <a:pt x="1258" y="2093"/>
                  <a:pt x="1258" y="2093"/>
                  <a:pt x="1258" y="2093"/>
                </a:cubicBezTo>
                <a:cubicBezTo>
                  <a:pt x="1472" y="2307"/>
                  <a:pt x="1820" y="2307"/>
                  <a:pt x="2034" y="2093"/>
                </a:cubicBezTo>
                <a:cubicBezTo>
                  <a:pt x="2248" y="1879"/>
                  <a:pt x="2248" y="1531"/>
                  <a:pt x="2034" y="1317"/>
                </a:cubicBezTo>
                <a:close/>
                <a:moveTo>
                  <a:pt x="1918" y="1977"/>
                </a:moveTo>
                <a:cubicBezTo>
                  <a:pt x="1768" y="2126"/>
                  <a:pt x="1524" y="2126"/>
                  <a:pt x="1374" y="1977"/>
                </a:cubicBezTo>
                <a:cubicBezTo>
                  <a:pt x="814" y="1416"/>
                  <a:pt x="814" y="1416"/>
                  <a:pt x="814" y="1416"/>
                </a:cubicBezTo>
                <a:cubicBezTo>
                  <a:pt x="872" y="1358"/>
                  <a:pt x="872" y="1358"/>
                  <a:pt x="872" y="1358"/>
                </a:cubicBezTo>
                <a:cubicBezTo>
                  <a:pt x="253" y="739"/>
                  <a:pt x="253" y="739"/>
                  <a:pt x="253" y="739"/>
                </a:cubicBezTo>
                <a:cubicBezTo>
                  <a:pt x="196" y="682"/>
                  <a:pt x="164" y="606"/>
                  <a:pt x="164" y="525"/>
                </a:cubicBezTo>
                <a:cubicBezTo>
                  <a:pt x="164" y="445"/>
                  <a:pt x="196" y="369"/>
                  <a:pt x="253" y="312"/>
                </a:cubicBezTo>
                <a:cubicBezTo>
                  <a:pt x="310" y="255"/>
                  <a:pt x="385" y="223"/>
                  <a:pt x="466" y="223"/>
                </a:cubicBezTo>
                <a:cubicBezTo>
                  <a:pt x="547" y="223"/>
                  <a:pt x="623" y="255"/>
                  <a:pt x="680" y="312"/>
                </a:cubicBezTo>
                <a:cubicBezTo>
                  <a:pt x="1299" y="931"/>
                  <a:pt x="1299" y="931"/>
                  <a:pt x="1299" y="931"/>
                </a:cubicBezTo>
                <a:cubicBezTo>
                  <a:pt x="872" y="1358"/>
                  <a:pt x="872" y="1358"/>
                  <a:pt x="872" y="1358"/>
                </a:cubicBezTo>
                <a:cubicBezTo>
                  <a:pt x="1433" y="1918"/>
                  <a:pt x="1433" y="1918"/>
                  <a:pt x="1433" y="1918"/>
                </a:cubicBezTo>
                <a:cubicBezTo>
                  <a:pt x="1550" y="2036"/>
                  <a:pt x="1742" y="2036"/>
                  <a:pt x="1859" y="1918"/>
                </a:cubicBezTo>
                <a:cubicBezTo>
                  <a:pt x="1875" y="1902"/>
                  <a:pt x="1902" y="1902"/>
                  <a:pt x="1918" y="1918"/>
                </a:cubicBezTo>
                <a:cubicBezTo>
                  <a:pt x="1926" y="1926"/>
                  <a:pt x="1930" y="1937"/>
                  <a:pt x="1930" y="1948"/>
                </a:cubicBezTo>
                <a:cubicBezTo>
                  <a:pt x="1930" y="1958"/>
                  <a:pt x="1926" y="1969"/>
                  <a:pt x="1918" y="1977"/>
                </a:cubicBezTo>
                <a:close/>
              </a:path>
            </a:pathLst>
          </a:custGeom>
          <a:solidFill>
            <a:srgbClr val="BC1077"/>
          </a:solidFill>
          <a:ln>
            <a:noFill/>
          </a:ln>
        </p:spPr>
        <p:txBody>
          <a:bodyPr vert="horz" wrap="square" lIns="91440" tIns="45720" rIns="91440" bIns="45720" numCol="1" anchor="t" anchorCtr="0" compatLnSpc="1">
            <a:prstTxWarp prst="textNoShape">
              <a:avLst/>
            </a:prstTxWarp>
          </a:bodyPr>
          <a:lstStyle/>
          <a:p>
            <a:endParaRPr lang="en-GB"/>
          </a:p>
        </p:txBody>
      </p:sp>
      <p:pic>
        <p:nvPicPr>
          <p:cNvPr id="58" name="Graphic 57" descr="Man">
            <a:extLst>
              <a:ext uri="{FF2B5EF4-FFF2-40B4-BE49-F238E27FC236}">
                <a16:creationId xmlns:a16="http://schemas.microsoft.com/office/drawing/2014/main" id="{095A8C97-AB99-4681-84FC-E29C811206AE}"/>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562776" y="2496560"/>
            <a:ext cx="419991" cy="419991"/>
          </a:xfrm>
          <a:prstGeom prst="rect">
            <a:avLst/>
          </a:prstGeom>
        </p:spPr>
      </p:pic>
      <p:sp>
        <p:nvSpPr>
          <p:cNvPr id="43" name="Arrow: Bent-Up 42">
            <a:extLst>
              <a:ext uri="{FF2B5EF4-FFF2-40B4-BE49-F238E27FC236}">
                <a16:creationId xmlns:a16="http://schemas.microsoft.com/office/drawing/2014/main" id="{C7AA382D-79A0-49AD-B021-D3179B871A07}"/>
              </a:ext>
            </a:extLst>
          </p:cNvPr>
          <p:cNvSpPr/>
          <p:nvPr/>
        </p:nvSpPr>
        <p:spPr>
          <a:xfrm rot="16200000">
            <a:off x="5301102" y="2911468"/>
            <a:ext cx="503383" cy="596770"/>
          </a:xfrm>
          <a:prstGeom prst="bentUpArrow">
            <a:avLst>
              <a:gd name="adj1" fmla="val 32840"/>
              <a:gd name="adj2" fmla="val 25000"/>
              <a:gd name="adj3" fmla="val 35780"/>
            </a:avLst>
          </a:prstGeom>
          <a:solidFill>
            <a:srgbClr val="F9C6BE"/>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pic>
        <p:nvPicPr>
          <p:cNvPr id="13" name="Graphic 12" descr="Checklist">
            <a:extLst>
              <a:ext uri="{FF2B5EF4-FFF2-40B4-BE49-F238E27FC236}">
                <a16:creationId xmlns:a16="http://schemas.microsoft.com/office/drawing/2014/main" id="{1059DF7B-5D46-4EDE-B86F-9F4383059FD7}"/>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6354463" y="3534206"/>
            <a:ext cx="914400" cy="914400"/>
          </a:xfrm>
          <a:prstGeom prst="rect">
            <a:avLst/>
          </a:prstGeom>
        </p:spPr>
      </p:pic>
      <p:sp>
        <p:nvSpPr>
          <p:cNvPr id="14" name="Arrow: Right 13">
            <a:extLst>
              <a:ext uri="{FF2B5EF4-FFF2-40B4-BE49-F238E27FC236}">
                <a16:creationId xmlns:a16="http://schemas.microsoft.com/office/drawing/2014/main" id="{C2BA56F1-AE22-46F9-9952-A0451DC00559}"/>
              </a:ext>
            </a:extLst>
          </p:cNvPr>
          <p:cNvSpPr/>
          <p:nvPr/>
        </p:nvSpPr>
        <p:spPr bwMode="auto">
          <a:xfrm>
            <a:off x="4143759" y="1426191"/>
            <a:ext cx="2449753" cy="245660"/>
          </a:xfrm>
          <a:prstGeom prst="rightArrow">
            <a:avLst/>
          </a:prstGeom>
          <a:solidFill>
            <a:srgbClr val="F9C6BE"/>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49" name="Rectangle: Rounded Corners 48">
            <a:extLst>
              <a:ext uri="{FF2B5EF4-FFF2-40B4-BE49-F238E27FC236}">
                <a16:creationId xmlns:a16="http://schemas.microsoft.com/office/drawing/2014/main" id="{F4005E64-A67C-4CA5-A894-D4E4E7DE2E95}"/>
              </a:ext>
            </a:extLst>
          </p:cNvPr>
          <p:cNvSpPr/>
          <p:nvPr/>
        </p:nvSpPr>
        <p:spPr bwMode="auto">
          <a:xfrm>
            <a:off x="6767379" y="1188315"/>
            <a:ext cx="1327049" cy="830996"/>
          </a:xfrm>
          <a:prstGeom prst="roundRect">
            <a:avLst/>
          </a:prstGeom>
          <a:solidFill>
            <a:schemeClr val="bg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50" name="TextBox 49">
            <a:extLst>
              <a:ext uri="{FF2B5EF4-FFF2-40B4-BE49-F238E27FC236}">
                <a16:creationId xmlns:a16="http://schemas.microsoft.com/office/drawing/2014/main" id="{634F8C1A-C373-46D4-A3A4-74287A9DF41C}"/>
              </a:ext>
            </a:extLst>
          </p:cNvPr>
          <p:cNvSpPr txBox="1"/>
          <p:nvPr/>
        </p:nvSpPr>
        <p:spPr>
          <a:xfrm>
            <a:off x="6811663" y="1188315"/>
            <a:ext cx="1282765" cy="830997"/>
          </a:xfrm>
          <a:prstGeom prst="rect">
            <a:avLst/>
          </a:prstGeom>
          <a:noFill/>
        </p:spPr>
        <p:txBody>
          <a:bodyPr wrap="square" rtlCol="0">
            <a:spAutoFit/>
          </a:bodyPr>
          <a:lstStyle/>
          <a:p>
            <a:pPr>
              <a:buClr>
                <a:schemeClr val="tx1"/>
              </a:buClr>
            </a:pPr>
            <a:r>
              <a:rPr lang="en-GB" sz="1200">
                <a:solidFill>
                  <a:schemeClr val="bg1"/>
                </a:solidFill>
              </a:rPr>
              <a:t>Identify treatment  gaps to inform future research</a:t>
            </a:r>
          </a:p>
        </p:txBody>
      </p:sp>
      <p:grpSp>
        <p:nvGrpSpPr>
          <p:cNvPr id="51" name="Group 50">
            <a:extLst>
              <a:ext uri="{FF2B5EF4-FFF2-40B4-BE49-F238E27FC236}">
                <a16:creationId xmlns:a16="http://schemas.microsoft.com/office/drawing/2014/main" id="{15A1EB09-1CA1-425D-A7A3-C9720DD08D19}"/>
              </a:ext>
            </a:extLst>
          </p:cNvPr>
          <p:cNvGrpSpPr/>
          <p:nvPr/>
        </p:nvGrpSpPr>
        <p:grpSpPr>
          <a:xfrm>
            <a:off x="8094428" y="1331826"/>
            <a:ext cx="558000" cy="602400"/>
            <a:chOff x="4521890" y="2958068"/>
            <a:chExt cx="1184894" cy="1318956"/>
          </a:xfrm>
        </p:grpSpPr>
        <p:pic>
          <p:nvPicPr>
            <p:cNvPr id="53" name="Graphic 52" descr="Group">
              <a:extLst>
                <a:ext uri="{FF2B5EF4-FFF2-40B4-BE49-F238E27FC236}">
                  <a16:creationId xmlns:a16="http://schemas.microsoft.com/office/drawing/2014/main" id="{5C865456-D0E3-4272-AAF5-6D52F6F664C3}"/>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 r="47990"/>
            <a:stretch/>
          </p:blipFill>
          <p:spPr>
            <a:xfrm>
              <a:off x="4521890" y="2958068"/>
              <a:ext cx="784929" cy="1318956"/>
            </a:xfrm>
            <a:prstGeom prst="rect">
              <a:avLst/>
            </a:prstGeom>
          </p:spPr>
        </p:pic>
        <p:pic>
          <p:nvPicPr>
            <p:cNvPr id="54" name="Graphic 53" descr="Group">
              <a:extLst>
                <a:ext uri="{FF2B5EF4-FFF2-40B4-BE49-F238E27FC236}">
                  <a16:creationId xmlns:a16="http://schemas.microsoft.com/office/drawing/2014/main" id="{D9B49E24-1F03-49B8-8BCD-16ED7EC44C76}"/>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9"/>
                </a:ext>
              </a:extLst>
            </a:blip>
            <a:srcRect l="1108" r="71130"/>
            <a:stretch/>
          </p:blipFill>
          <p:spPr>
            <a:xfrm flipH="1">
              <a:off x="5287799" y="2958068"/>
              <a:ext cx="418985" cy="1318956"/>
            </a:xfrm>
            <a:prstGeom prst="rect">
              <a:avLst/>
            </a:prstGeom>
          </p:spPr>
        </p:pic>
      </p:grpSp>
      <p:sp>
        <p:nvSpPr>
          <p:cNvPr id="55" name="Title 4">
            <a:extLst>
              <a:ext uri="{FF2B5EF4-FFF2-40B4-BE49-F238E27FC236}">
                <a16:creationId xmlns:a16="http://schemas.microsoft.com/office/drawing/2014/main" id="{D55EB48A-D2F7-4F42-8BEC-1032DBB9EE93}"/>
              </a:ext>
            </a:extLst>
          </p:cNvPr>
          <p:cNvSpPr>
            <a:spLocks noGrp="1"/>
          </p:cNvSpPr>
          <p:nvPr>
            <p:ph type="title"/>
          </p:nvPr>
        </p:nvSpPr>
        <p:spPr>
          <a:xfrm>
            <a:off x="358775" y="288925"/>
            <a:ext cx="7577138" cy="338138"/>
          </a:xfrm>
        </p:spPr>
        <p:txBody>
          <a:bodyPr/>
          <a:lstStyle/>
          <a:p>
            <a:r>
              <a:rPr lang="en-GB"/>
              <a:t>So what CAN we say?!</a:t>
            </a:r>
          </a:p>
        </p:txBody>
      </p:sp>
    </p:spTree>
    <p:extLst>
      <p:ext uri="{BB962C8B-B14F-4D97-AF65-F5344CB8AC3E}">
        <p14:creationId xmlns:p14="http://schemas.microsoft.com/office/powerpoint/2010/main" val="4079987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graphicEl>
                                              <a:dgm id="{EABA4C18-83DD-47A5-BCEA-F1F08B500C62}"/>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graphicEl>
                                              <a:dgm id="{43604968-B812-4CDA-8D91-540090A9A36D}"/>
                                            </p:graphic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graphicEl>
                                              <a:dgm id="{198F0ACC-0625-43DC-920D-08412CE17E3F}"/>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graphicEl>
                                              <a:dgm id="{2B889CC1-2710-4627-8C03-1BF111E33A72}"/>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graphicEl>
                                              <a:dgm id="{1D64293A-00FB-4D8F-80A0-0004D145D007}"/>
                                            </p:graphic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graphicEl>
                                              <a:dgm id="{EA9C11EA-E688-4720-964E-47B957D42917}"/>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graphicEl>
                                              <a:dgm id="{B3625E08-DDCF-472C-A629-B526B20FF615}"/>
                                            </p:graphic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uiExpand="1">
        <p:bldSub>
          <a:bldDgm bld="one"/>
        </p:bldSub>
      </p:bldGraphic>
      <p:bldP spid="52" grpId="0" animBg="1"/>
      <p:bldP spid="14" grpId="0" animBg="1"/>
      <p:bldP spid="49" grpId="0" animBg="1"/>
      <p:bldP spid="5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8509DCA-8E0D-4B8A-B3FC-963E422DFE19}"/>
              </a:ext>
            </a:extLst>
          </p:cNvPr>
          <p:cNvSpPr>
            <a:spLocks noGrp="1"/>
          </p:cNvSpPr>
          <p:nvPr>
            <p:ph type="title"/>
          </p:nvPr>
        </p:nvSpPr>
        <p:spPr>
          <a:xfrm>
            <a:off x="359152" y="288639"/>
            <a:ext cx="7577139" cy="546303"/>
          </a:xfrm>
        </p:spPr>
        <p:txBody>
          <a:bodyPr/>
          <a:lstStyle/>
          <a:p>
            <a:r>
              <a:rPr lang="en-GB">
                <a:solidFill>
                  <a:schemeClr val="accent1"/>
                </a:solidFill>
              </a:rPr>
              <a:t>Key Messages</a:t>
            </a:r>
            <a:br>
              <a:rPr lang="en-GB" sz="1350">
                <a:solidFill>
                  <a:schemeClr val="accent1"/>
                </a:solidFill>
              </a:rPr>
            </a:br>
            <a:endParaRPr lang="en-GB" sz="1350" b="0"/>
          </a:p>
        </p:txBody>
      </p:sp>
      <p:sp>
        <p:nvSpPr>
          <p:cNvPr id="4" name="Slide Number Placeholder 3">
            <a:extLst>
              <a:ext uri="{FF2B5EF4-FFF2-40B4-BE49-F238E27FC236}">
                <a16:creationId xmlns:a16="http://schemas.microsoft.com/office/drawing/2014/main" id="{385ECA1E-6832-4A7D-B480-E41B1BDE5742}"/>
              </a:ext>
            </a:extLst>
          </p:cNvPr>
          <p:cNvSpPr>
            <a:spLocks noGrp="1"/>
          </p:cNvSpPr>
          <p:nvPr>
            <p:ph type="sldNum" sz="quarter" idx="21"/>
          </p:nvPr>
        </p:nvSpPr>
        <p:spPr/>
        <p:txBody>
          <a:bodyPr/>
          <a:lstStyle/>
          <a:p>
            <a:fld id="{9F9F533D-B52E-4A2F-BF72-0ADD2D94BD75}" type="slidenum">
              <a:rPr lang="en-GB" smtClean="0"/>
              <a:pPr/>
              <a:t>15</a:t>
            </a:fld>
            <a:endParaRPr lang="en-GB"/>
          </a:p>
        </p:txBody>
      </p:sp>
      <p:sp>
        <p:nvSpPr>
          <p:cNvPr id="7" name="Date Placeholder 1">
            <a:extLst>
              <a:ext uri="{FF2B5EF4-FFF2-40B4-BE49-F238E27FC236}">
                <a16:creationId xmlns:a16="http://schemas.microsoft.com/office/drawing/2014/main" id="{E7C147F9-CB44-408F-AA1F-681A76264F41}"/>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Fundamentals of Statistics: </a:t>
            </a:r>
            <a:r>
              <a:rPr lang="en-GB"/>
              <a:t>Multiplicity, Subgroups &amp; Missing Data</a:t>
            </a:r>
            <a:r>
              <a:rPr lang="en-US"/>
              <a:t> Webinar</a:t>
            </a:r>
            <a:endParaRPr lang="en-GB"/>
          </a:p>
        </p:txBody>
      </p:sp>
      <p:sp>
        <p:nvSpPr>
          <p:cNvPr id="8" name="Text Placeholder 7">
            <a:extLst>
              <a:ext uri="{FF2B5EF4-FFF2-40B4-BE49-F238E27FC236}">
                <a16:creationId xmlns:a16="http://schemas.microsoft.com/office/drawing/2014/main" id="{A48F390C-50DE-4C17-99F0-F12911C238CD}"/>
              </a:ext>
            </a:extLst>
          </p:cNvPr>
          <p:cNvSpPr>
            <a:spLocks noGrp="1"/>
          </p:cNvSpPr>
          <p:nvPr>
            <p:ph type="body" sz="quarter" idx="14"/>
          </p:nvPr>
        </p:nvSpPr>
        <p:spPr/>
        <p:txBody>
          <a:bodyPr/>
          <a:lstStyle/>
          <a:p>
            <a:endParaRPr lang="en-GB"/>
          </a:p>
        </p:txBody>
      </p:sp>
      <p:graphicFrame>
        <p:nvGraphicFramePr>
          <p:cNvPr id="9" name="Content Placeholder 9">
            <a:extLst>
              <a:ext uri="{FF2B5EF4-FFF2-40B4-BE49-F238E27FC236}">
                <a16:creationId xmlns:a16="http://schemas.microsoft.com/office/drawing/2014/main" id="{FD7D6B57-D811-46ED-AF71-376694EBBCEA}"/>
              </a:ext>
            </a:extLst>
          </p:cNvPr>
          <p:cNvGraphicFramePr>
            <a:graphicFrameLocks/>
          </p:cNvGraphicFramePr>
          <p:nvPr>
            <p:extLst>
              <p:ext uri="{D42A27DB-BD31-4B8C-83A1-F6EECF244321}">
                <p14:modId xmlns:p14="http://schemas.microsoft.com/office/powerpoint/2010/main" val="1665592210"/>
              </p:ext>
            </p:extLst>
          </p:nvPr>
        </p:nvGraphicFramePr>
        <p:xfrm>
          <a:off x="358775" y="1192213"/>
          <a:ext cx="8423275" cy="32575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17210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BDE469-BCCB-4B08-93BE-A1FE488E3712}"/>
              </a:ext>
            </a:extLst>
          </p:cNvPr>
          <p:cNvSpPr>
            <a:spLocks noGrp="1"/>
          </p:cNvSpPr>
          <p:nvPr>
            <p:ph type="body" sz="quarter" idx="11"/>
          </p:nvPr>
        </p:nvSpPr>
        <p:spPr/>
        <p:txBody>
          <a:bodyPr/>
          <a:lstStyle/>
          <a:p>
            <a:r>
              <a:rPr lang="en-GB"/>
              <a:t>The Scott Harkonen Case</a:t>
            </a:r>
          </a:p>
        </p:txBody>
      </p:sp>
      <p:sp>
        <p:nvSpPr>
          <p:cNvPr id="3" name="Text Placeholder 2">
            <a:extLst>
              <a:ext uri="{FF2B5EF4-FFF2-40B4-BE49-F238E27FC236}">
                <a16:creationId xmlns:a16="http://schemas.microsoft.com/office/drawing/2014/main" id="{159DDDB6-DA07-4A09-B964-55E721513FEC}"/>
              </a:ext>
            </a:extLst>
          </p:cNvPr>
          <p:cNvSpPr>
            <a:spLocks noGrp="1"/>
          </p:cNvSpPr>
          <p:nvPr>
            <p:ph type="body" sz="quarter" idx="10"/>
          </p:nvPr>
        </p:nvSpPr>
        <p:spPr/>
        <p:txBody>
          <a:bodyPr/>
          <a:lstStyle/>
          <a:p>
            <a:r>
              <a:rPr lang="en-GB"/>
              <a:t>A Case Study</a:t>
            </a:r>
          </a:p>
        </p:txBody>
      </p:sp>
    </p:spTree>
    <p:extLst>
      <p:ext uri="{BB962C8B-B14F-4D97-AF65-F5344CB8AC3E}">
        <p14:creationId xmlns:p14="http://schemas.microsoft.com/office/powerpoint/2010/main" val="2076900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7AE9226-7AAB-45AC-BD7C-C506E47415DB}"/>
              </a:ext>
            </a:extLst>
          </p:cNvPr>
          <p:cNvPicPr>
            <a:picLocks noChangeAspect="1"/>
          </p:cNvPicPr>
          <p:nvPr/>
        </p:nvPicPr>
        <p:blipFill rotWithShape="1">
          <a:blip r:embed="rId3"/>
          <a:srcRect l="10769" t="21577" r="30086" b="20380"/>
          <a:stretch/>
        </p:blipFill>
        <p:spPr>
          <a:xfrm>
            <a:off x="5447928" y="1108684"/>
            <a:ext cx="2961797" cy="1786903"/>
          </a:xfrm>
          <a:prstGeom prst="rect">
            <a:avLst/>
          </a:prstGeom>
        </p:spPr>
      </p:pic>
      <p:sp>
        <p:nvSpPr>
          <p:cNvPr id="7" name="Content Placeholder 6">
            <a:extLst>
              <a:ext uri="{FF2B5EF4-FFF2-40B4-BE49-F238E27FC236}">
                <a16:creationId xmlns:a16="http://schemas.microsoft.com/office/drawing/2014/main" id="{CCA8F917-C0E5-4D12-B869-B4D8FD070A06}"/>
              </a:ext>
            </a:extLst>
          </p:cNvPr>
          <p:cNvSpPr>
            <a:spLocks noGrp="1"/>
          </p:cNvSpPr>
          <p:nvPr>
            <p:ph sz="quarter" idx="12"/>
          </p:nvPr>
        </p:nvSpPr>
        <p:spPr>
          <a:xfrm>
            <a:off x="359152" y="1242335"/>
            <a:ext cx="5327273" cy="1337525"/>
          </a:xfrm>
        </p:spPr>
        <p:txBody>
          <a:bodyPr>
            <a:normAutofit/>
          </a:bodyPr>
          <a:lstStyle/>
          <a:p>
            <a:r>
              <a:rPr lang="en-US" sz="1400"/>
              <a:t>Phase 3 Study of ActImmune in IPF (an additional indication)</a:t>
            </a:r>
          </a:p>
          <a:p>
            <a:r>
              <a:rPr lang="en-US" sz="1400"/>
              <a:t>Primary Endpoint: Progression-Free Survival at 1 year</a:t>
            </a:r>
          </a:p>
          <a:p>
            <a:r>
              <a:rPr lang="en-US" sz="1400"/>
              <a:t>Planned sample size of 306 patients (actual 330)</a:t>
            </a:r>
          </a:p>
          <a:p>
            <a:pPr lvl="1"/>
            <a:r>
              <a:rPr lang="en-US" sz="1100"/>
              <a:t>94% power (assuming a 50% reduction in PFS)</a:t>
            </a:r>
          </a:p>
          <a:p>
            <a:pPr lvl="1"/>
            <a:endParaRPr lang="en-US" sz="700"/>
          </a:p>
          <a:p>
            <a:pPr lvl="1"/>
            <a:endParaRPr lang="en-US" sz="700"/>
          </a:p>
          <a:p>
            <a:pPr lvl="1"/>
            <a:endParaRPr lang="en-US" sz="900"/>
          </a:p>
          <a:p>
            <a:endParaRPr lang="en-GB" sz="1000"/>
          </a:p>
        </p:txBody>
      </p:sp>
      <p:sp>
        <p:nvSpPr>
          <p:cNvPr id="6" name="Title 5">
            <a:extLst>
              <a:ext uri="{FF2B5EF4-FFF2-40B4-BE49-F238E27FC236}">
                <a16:creationId xmlns:a16="http://schemas.microsoft.com/office/drawing/2014/main" id="{E1448806-4F06-492D-B19A-2E8C456204AB}"/>
              </a:ext>
            </a:extLst>
          </p:cNvPr>
          <p:cNvSpPr>
            <a:spLocks noGrp="1"/>
          </p:cNvSpPr>
          <p:nvPr>
            <p:ph type="title"/>
          </p:nvPr>
        </p:nvSpPr>
        <p:spPr>
          <a:xfrm>
            <a:off x="359152" y="288639"/>
            <a:ext cx="7577139" cy="338554"/>
          </a:xfrm>
        </p:spPr>
        <p:txBody>
          <a:bodyPr/>
          <a:lstStyle/>
          <a:p>
            <a:r>
              <a:rPr lang="en-GB"/>
              <a:t>The Scott Harkonen Case</a:t>
            </a:r>
          </a:p>
        </p:txBody>
      </p:sp>
      <p:sp>
        <p:nvSpPr>
          <p:cNvPr id="5" name="Slide Number Placeholder 4">
            <a:extLst>
              <a:ext uri="{FF2B5EF4-FFF2-40B4-BE49-F238E27FC236}">
                <a16:creationId xmlns:a16="http://schemas.microsoft.com/office/drawing/2014/main" id="{C7A05DC1-FCF6-4D3C-B33F-3B2926497733}"/>
              </a:ext>
            </a:extLst>
          </p:cNvPr>
          <p:cNvSpPr>
            <a:spLocks noGrp="1"/>
          </p:cNvSpPr>
          <p:nvPr>
            <p:ph type="sldNum" sz="quarter" idx="21"/>
          </p:nvPr>
        </p:nvSpPr>
        <p:spPr/>
        <p:txBody>
          <a:bodyPr/>
          <a:lstStyle/>
          <a:p>
            <a:fld id="{9F9F533D-B52E-4A2F-BF72-0ADD2D94BD75}" type="slidenum">
              <a:rPr lang="en-GB" smtClean="0"/>
              <a:pPr/>
              <a:t>17</a:t>
            </a:fld>
            <a:endParaRPr lang="en-GB"/>
          </a:p>
        </p:txBody>
      </p:sp>
      <p:pic>
        <p:nvPicPr>
          <p:cNvPr id="10" name="Picture 9">
            <a:extLst>
              <a:ext uri="{FF2B5EF4-FFF2-40B4-BE49-F238E27FC236}">
                <a16:creationId xmlns:a16="http://schemas.microsoft.com/office/drawing/2014/main" id="{D5409964-8EC5-4ABE-9894-3F1B73025BCD}"/>
              </a:ext>
            </a:extLst>
          </p:cNvPr>
          <p:cNvPicPr>
            <a:picLocks noChangeAspect="1"/>
          </p:cNvPicPr>
          <p:nvPr/>
        </p:nvPicPr>
        <p:blipFill rotWithShape="1">
          <a:blip r:embed="rId4"/>
          <a:srcRect l="47093" t="22640" r="8975" b="23571"/>
          <a:stretch/>
        </p:blipFill>
        <p:spPr>
          <a:xfrm>
            <a:off x="4701236" y="2717992"/>
            <a:ext cx="4081191" cy="1786903"/>
          </a:xfrm>
          <a:prstGeom prst="rect">
            <a:avLst/>
          </a:prstGeom>
        </p:spPr>
      </p:pic>
      <p:sp>
        <p:nvSpPr>
          <p:cNvPr id="11" name="TextBox 10">
            <a:extLst>
              <a:ext uri="{FF2B5EF4-FFF2-40B4-BE49-F238E27FC236}">
                <a16:creationId xmlns:a16="http://schemas.microsoft.com/office/drawing/2014/main" id="{8FE84679-1DCF-4C05-A65F-8B606C015CA3}"/>
              </a:ext>
            </a:extLst>
          </p:cNvPr>
          <p:cNvSpPr txBox="1"/>
          <p:nvPr/>
        </p:nvSpPr>
        <p:spPr>
          <a:xfrm>
            <a:off x="6785335" y="4827985"/>
            <a:ext cx="1997092"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635A54"/>
              </a:buClr>
              <a:buSzTx/>
              <a:buFontTx/>
              <a:buNone/>
              <a:tabLst/>
              <a:defRPr/>
            </a:pPr>
            <a:r>
              <a:rPr kumimoji="0" lang="en-US" sz="1000" b="0" i="0" u="none" strike="noStrike" kern="1200" cap="none" spc="0" normalizeH="0" baseline="0" noProof="0">
                <a:ln>
                  <a:noFill/>
                </a:ln>
                <a:solidFill>
                  <a:srgbClr val="635A54"/>
                </a:solidFill>
                <a:effectLst/>
                <a:uLnTx/>
                <a:uFillTx/>
                <a:latin typeface="Arial"/>
                <a:ea typeface="+mn-ea"/>
                <a:cs typeface="+mn-cs"/>
              </a:rPr>
              <a:t>N </a:t>
            </a:r>
            <a:r>
              <a:rPr kumimoji="0" lang="en-US" sz="1000" b="0" i="0" u="none" strike="noStrike" kern="1200" cap="none" spc="0" normalizeH="0" baseline="0" noProof="0" err="1">
                <a:ln>
                  <a:noFill/>
                </a:ln>
                <a:solidFill>
                  <a:srgbClr val="635A54"/>
                </a:solidFill>
                <a:effectLst/>
                <a:uLnTx/>
                <a:uFillTx/>
                <a:latin typeface="Arial"/>
                <a:ea typeface="+mn-ea"/>
                <a:cs typeface="+mn-cs"/>
              </a:rPr>
              <a:t>Engl</a:t>
            </a:r>
            <a:r>
              <a:rPr kumimoji="0" lang="en-US" sz="1000" b="0" i="0" u="none" strike="noStrike" kern="1200" cap="none" spc="0" normalizeH="0" baseline="0" noProof="0">
                <a:ln>
                  <a:noFill/>
                </a:ln>
                <a:solidFill>
                  <a:srgbClr val="635A54"/>
                </a:solidFill>
                <a:effectLst/>
                <a:uLnTx/>
                <a:uFillTx/>
                <a:latin typeface="Arial"/>
                <a:ea typeface="+mn-ea"/>
                <a:cs typeface="+mn-cs"/>
              </a:rPr>
              <a:t> J Med 2004;350:125-33</a:t>
            </a:r>
            <a:endParaRPr kumimoji="0" lang="en-US" sz="700" b="0" i="0" u="none" strike="noStrike" kern="1200" cap="none" spc="0" normalizeH="0" baseline="0" noProof="0">
              <a:ln>
                <a:noFill/>
              </a:ln>
              <a:solidFill>
                <a:srgbClr val="635A54"/>
              </a:solidFill>
              <a:effectLst/>
              <a:uLnTx/>
              <a:uFillTx/>
              <a:latin typeface="Arial"/>
              <a:ea typeface="+mn-ea"/>
              <a:cs typeface="+mn-cs"/>
            </a:endParaRPr>
          </a:p>
        </p:txBody>
      </p:sp>
      <p:sp>
        <p:nvSpPr>
          <p:cNvPr id="12" name="Content Placeholder 6">
            <a:extLst>
              <a:ext uri="{FF2B5EF4-FFF2-40B4-BE49-F238E27FC236}">
                <a16:creationId xmlns:a16="http://schemas.microsoft.com/office/drawing/2014/main" id="{1F89701C-15EB-467C-A6B5-6A07DD829CA0}"/>
              </a:ext>
            </a:extLst>
          </p:cNvPr>
          <p:cNvSpPr txBox="1">
            <a:spLocks/>
          </p:cNvSpPr>
          <p:nvPr/>
        </p:nvSpPr>
        <p:spPr>
          <a:xfrm>
            <a:off x="359152" y="2891691"/>
            <a:ext cx="4212848" cy="1265588"/>
          </a:xfrm>
          <a:prstGeom prst="rect">
            <a:avLst/>
          </a:prstGeom>
        </p:spPr>
        <p:txBody>
          <a:bodyPr lIns="0"/>
          <a:lstStyle>
            <a:lvl1pPr marL="270000" indent="-270000" algn="l" defTabSz="914400" rtl="0" eaLnBrk="1" latinLnBrk="0" hangingPunct="1">
              <a:spcBef>
                <a:spcPts val="0"/>
              </a:spcBef>
              <a:spcAft>
                <a:spcPts val="600"/>
              </a:spcAft>
              <a:buClr>
                <a:schemeClr val="tx1"/>
              </a:buClr>
              <a:buFont typeface="Arial" pitchFamily="34" charset="0"/>
              <a:buChar char="–"/>
              <a:defRPr sz="1600" kern="1200">
                <a:solidFill>
                  <a:schemeClr val="tx1"/>
                </a:solidFill>
                <a:latin typeface="+mn-lt"/>
                <a:ea typeface="+mn-ea"/>
                <a:cs typeface="+mn-cs"/>
              </a:defRPr>
            </a:lvl1pPr>
            <a:lvl2pPr marL="538163" indent="-270000" algn="l" defTabSz="914400" rtl="0" eaLnBrk="1" latinLnBrk="0" hangingPunct="1">
              <a:spcBef>
                <a:spcPts val="0"/>
              </a:spcBef>
              <a:spcAft>
                <a:spcPts val="600"/>
              </a:spcAft>
              <a:buFont typeface="Arial" pitchFamily="34" charset="0"/>
              <a:buChar char="–"/>
              <a:defRPr sz="1400" kern="1200">
                <a:solidFill>
                  <a:schemeClr val="tx1"/>
                </a:solidFill>
                <a:latin typeface="+mn-lt"/>
                <a:ea typeface="+mn-ea"/>
                <a:cs typeface="+mn-cs"/>
              </a:defRPr>
            </a:lvl2pPr>
            <a:lvl3pPr marL="81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3pPr>
            <a:lvl4pPr marL="1081088"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4pPr>
            <a:lvl5pPr marL="1350000" indent="-270000" algn="l" defTabSz="914400" rtl="0" eaLnBrk="1" latinLnBrk="0" hangingPunct="1">
              <a:spcBef>
                <a:spcPts val="0"/>
              </a:spcBef>
              <a:spcAft>
                <a:spcPts val="600"/>
              </a:spcAft>
              <a:buFont typeface="Arial" pitchFamily="34" charset="0"/>
              <a:buChar char="–"/>
              <a:defRPr sz="1200" b="0" kern="1200">
                <a:solidFill>
                  <a:schemeClr val="tx1"/>
                </a:solidFill>
                <a:latin typeface="+mn-lt"/>
                <a:ea typeface="+mn-ea"/>
                <a:cs typeface="+mn-cs"/>
              </a:defRPr>
            </a:lvl5pPr>
            <a:lvl6pPr marL="162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6pPr>
            <a:lvl7pPr marL="180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7pPr>
            <a:lvl8pPr marL="207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8pPr>
            <a:lvl9pPr marL="234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9pPr>
          </a:lstStyle>
          <a:p>
            <a:r>
              <a:rPr lang="en-US" sz="1400"/>
              <a:t>Primary Result (study unblinded in August 2002)</a:t>
            </a:r>
          </a:p>
          <a:p>
            <a:pPr lvl="1"/>
            <a:r>
              <a:rPr lang="en-US" b="1"/>
              <a:t>No difference in primary endpoint (HR=0.9; p=0.5)</a:t>
            </a:r>
            <a:endParaRPr lang="en-GB" b="1"/>
          </a:p>
        </p:txBody>
      </p:sp>
      <p:sp>
        <p:nvSpPr>
          <p:cNvPr id="13" name="Text Placeholder 2">
            <a:extLst>
              <a:ext uri="{FF2B5EF4-FFF2-40B4-BE49-F238E27FC236}">
                <a16:creationId xmlns:a16="http://schemas.microsoft.com/office/drawing/2014/main" id="{7BFCCC64-6D6E-4FCE-89AF-2D3902E3588C}"/>
              </a:ext>
            </a:extLst>
          </p:cNvPr>
          <p:cNvSpPr>
            <a:spLocks noGrp="1"/>
          </p:cNvSpPr>
          <p:nvPr>
            <p:ph type="body" sz="quarter" idx="14"/>
          </p:nvPr>
        </p:nvSpPr>
        <p:spPr>
          <a:xfrm>
            <a:off x="359152" y="693553"/>
            <a:ext cx="7578000" cy="276999"/>
          </a:xfrm>
        </p:spPr>
        <p:txBody>
          <a:bodyPr/>
          <a:lstStyle/>
          <a:p>
            <a:endParaRPr lang="en-GB"/>
          </a:p>
        </p:txBody>
      </p:sp>
      <p:sp>
        <p:nvSpPr>
          <p:cNvPr id="16" name="Date Placeholder 1">
            <a:extLst>
              <a:ext uri="{FF2B5EF4-FFF2-40B4-BE49-F238E27FC236}">
                <a16:creationId xmlns:a16="http://schemas.microsoft.com/office/drawing/2014/main" id="{F33CC1E4-B2F4-4412-9032-223F359CCCFB}"/>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2688768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250"/>
                                  </p:stCondLst>
                                  <p:childTnLst>
                                    <p:set>
                                      <p:cBhvr>
                                        <p:cTn id="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285E9D-F049-48D0-9FEF-4F32D89FE83D}"/>
              </a:ext>
            </a:extLst>
          </p:cNvPr>
          <p:cNvSpPr>
            <a:spLocks noGrp="1"/>
          </p:cNvSpPr>
          <p:nvPr>
            <p:ph type="title"/>
          </p:nvPr>
        </p:nvSpPr>
        <p:spPr/>
        <p:txBody>
          <a:bodyPr/>
          <a:lstStyle/>
          <a:p>
            <a:r>
              <a:rPr lang="en-GB" sz="2400"/>
              <a:t>Let the P-Hacking Begin</a:t>
            </a:r>
            <a:endParaRPr lang="en-GB"/>
          </a:p>
        </p:txBody>
      </p:sp>
      <p:sp>
        <p:nvSpPr>
          <p:cNvPr id="5" name="Slide Number Placeholder 4">
            <a:extLst>
              <a:ext uri="{FF2B5EF4-FFF2-40B4-BE49-F238E27FC236}">
                <a16:creationId xmlns:a16="http://schemas.microsoft.com/office/drawing/2014/main" id="{E0711A10-A573-4A33-93A9-E5DB987D89A2}"/>
              </a:ext>
            </a:extLst>
          </p:cNvPr>
          <p:cNvSpPr>
            <a:spLocks noGrp="1"/>
          </p:cNvSpPr>
          <p:nvPr>
            <p:ph type="sldNum" sz="quarter" idx="23"/>
          </p:nvPr>
        </p:nvSpPr>
        <p:spPr/>
        <p:txBody>
          <a:bodyPr/>
          <a:lstStyle/>
          <a:p>
            <a:fld id="{9F9F533D-B52E-4A2F-BF72-0ADD2D94BD75}" type="slidenum">
              <a:rPr lang="en-GB" smtClean="0"/>
              <a:pPr/>
              <a:t>18</a:t>
            </a:fld>
            <a:endParaRPr lang="en-GB"/>
          </a:p>
        </p:txBody>
      </p:sp>
      <p:sp>
        <p:nvSpPr>
          <p:cNvPr id="2" name="Content Placeholder 1">
            <a:extLst>
              <a:ext uri="{FF2B5EF4-FFF2-40B4-BE49-F238E27FC236}">
                <a16:creationId xmlns:a16="http://schemas.microsoft.com/office/drawing/2014/main" id="{D0AC83A0-668C-476D-B519-A3EFF1195D6B}"/>
              </a:ext>
            </a:extLst>
          </p:cNvPr>
          <p:cNvSpPr>
            <a:spLocks noGrp="1"/>
          </p:cNvSpPr>
          <p:nvPr>
            <p:ph sz="quarter" idx="17"/>
          </p:nvPr>
        </p:nvSpPr>
        <p:spPr>
          <a:xfrm>
            <a:off x="359152" y="1234183"/>
            <a:ext cx="4461674" cy="1577975"/>
          </a:xfrm>
        </p:spPr>
        <p:txBody>
          <a:bodyPr>
            <a:normAutofit/>
          </a:bodyPr>
          <a:lstStyle/>
          <a:p>
            <a:r>
              <a:rPr lang="en-US"/>
              <a:t>A trend in mortality benefit was observed in ITT population</a:t>
            </a:r>
          </a:p>
          <a:p>
            <a:pPr lvl="1"/>
            <a:r>
              <a:rPr lang="en-US"/>
              <a:t>HR=0.6;  p=0.08;  Active group: 10% (16/162);  Placebo group: 17% (28/168)</a:t>
            </a:r>
          </a:p>
          <a:p>
            <a:endParaRPr lang="en-GB"/>
          </a:p>
        </p:txBody>
      </p:sp>
      <p:pic>
        <p:nvPicPr>
          <p:cNvPr id="8" name="Picture 7">
            <a:extLst>
              <a:ext uri="{FF2B5EF4-FFF2-40B4-BE49-F238E27FC236}">
                <a16:creationId xmlns:a16="http://schemas.microsoft.com/office/drawing/2014/main" id="{0DBACD2C-48C4-4A8A-861D-F88A22879FD8}"/>
              </a:ext>
            </a:extLst>
          </p:cNvPr>
          <p:cNvPicPr>
            <a:picLocks noChangeAspect="1"/>
          </p:cNvPicPr>
          <p:nvPr/>
        </p:nvPicPr>
        <p:blipFill rotWithShape="1">
          <a:blip r:embed="rId3"/>
          <a:srcRect l="7995" t="33327" r="47692" b="8377"/>
          <a:stretch/>
        </p:blipFill>
        <p:spPr>
          <a:xfrm>
            <a:off x="5284773" y="1277363"/>
            <a:ext cx="3498379" cy="2588773"/>
          </a:xfrm>
          <a:prstGeom prst="rect">
            <a:avLst/>
          </a:prstGeom>
        </p:spPr>
      </p:pic>
      <p:sp>
        <p:nvSpPr>
          <p:cNvPr id="9" name="Content Placeholder 1">
            <a:extLst>
              <a:ext uri="{FF2B5EF4-FFF2-40B4-BE49-F238E27FC236}">
                <a16:creationId xmlns:a16="http://schemas.microsoft.com/office/drawing/2014/main" id="{8C698199-EF83-420E-8882-BC03C89435BD}"/>
              </a:ext>
            </a:extLst>
          </p:cNvPr>
          <p:cNvSpPr txBox="1">
            <a:spLocks/>
          </p:cNvSpPr>
          <p:nvPr/>
        </p:nvSpPr>
        <p:spPr>
          <a:xfrm>
            <a:off x="359152" y="2571749"/>
            <a:ext cx="4712911" cy="1678260"/>
          </a:xfrm>
          <a:prstGeom prst="rect">
            <a:avLst/>
          </a:prstGeom>
        </p:spPr>
        <p:txBody>
          <a:bodyPr lIns="0"/>
          <a:lstStyle>
            <a:lvl1pPr marL="270000" indent="-270000" algn="l" defTabSz="914400" rtl="0" eaLnBrk="1" latinLnBrk="0" hangingPunct="1">
              <a:spcBef>
                <a:spcPts val="0"/>
              </a:spcBef>
              <a:spcAft>
                <a:spcPts val="600"/>
              </a:spcAft>
              <a:buClr>
                <a:schemeClr val="tx1"/>
              </a:buClr>
              <a:buFont typeface="Arial" pitchFamily="34" charset="0"/>
              <a:buChar char="–"/>
              <a:defRPr sz="1600" kern="1200">
                <a:solidFill>
                  <a:schemeClr val="tx1"/>
                </a:solidFill>
                <a:latin typeface="+mn-lt"/>
                <a:ea typeface="+mn-ea"/>
                <a:cs typeface="+mn-cs"/>
              </a:defRPr>
            </a:lvl1pPr>
            <a:lvl2pPr marL="538163" indent="-270000" algn="l" defTabSz="914400" rtl="0" eaLnBrk="1" latinLnBrk="0" hangingPunct="1">
              <a:spcBef>
                <a:spcPts val="0"/>
              </a:spcBef>
              <a:spcAft>
                <a:spcPts val="600"/>
              </a:spcAft>
              <a:buFont typeface="Arial" pitchFamily="34" charset="0"/>
              <a:buChar char="–"/>
              <a:defRPr sz="1400" kern="1200">
                <a:solidFill>
                  <a:schemeClr val="tx1"/>
                </a:solidFill>
                <a:latin typeface="+mn-lt"/>
                <a:ea typeface="+mn-ea"/>
                <a:cs typeface="+mn-cs"/>
              </a:defRPr>
            </a:lvl2pPr>
            <a:lvl3pPr marL="81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3pPr>
            <a:lvl4pPr marL="1081088"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4pPr>
            <a:lvl5pPr marL="1350000" indent="-270000" algn="l" defTabSz="914400" rtl="0" eaLnBrk="1" latinLnBrk="0" hangingPunct="1">
              <a:spcBef>
                <a:spcPts val="0"/>
              </a:spcBef>
              <a:spcAft>
                <a:spcPts val="600"/>
              </a:spcAft>
              <a:buFont typeface="Arial" pitchFamily="34" charset="0"/>
              <a:buChar char="–"/>
              <a:defRPr sz="1200" b="0" kern="1200">
                <a:solidFill>
                  <a:schemeClr val="tx1"/>
                </a:solidFill>
                <a:latin typeface="+mn-lt"/>
                <a:ea typeface="+mn-ea"/>
                <a:cs typeface="+mn-cs"/>
              </a:defRPr>
            </a:lvl5pPr>
            <a:lvl6pPr marL="162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6pPr>
            <a:lvl7pPr marL="180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7pPr>
            <a:lvl8pPr marL="207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8pPr>
            <a:lvl9pPr marL="234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9pPr>
          </a:lstStyle>
          <a:p>
            <a:r>
              <a:rPr lang="en-US"/>
              <a:t>In August 2002, Intermune CEO Scott Harkonen </a:t>
            </a:r>
            <a:r>
              <a:rPr lang="en-US" b="1" i="1"/>
              <a:t>“instructed [his staff] to conduct additional analyses in an effort to ascertain whether Actimmune® might be efficacious for certain subgroups of the patient population.” </a:t>
            </a:r>
            <a:endParaRPr lang="en-GB" b="1" i="1"/>
          </a:p>
        </p:txBody>
      </p:sp>
      <p:sp>
        <p:nvSpPr>
          <p:cNvPr id="10" name="TextBox 9">
            <a:extLst>
              <a:ext uri="{FF2B5EF4-FFF2-40B4-BE49-F238E27FC236}">
                <a16:creationId xmlns:a16="http://schemas.microsoft.com/office/drawing/2014/main" id="{1721F7C0-48D0-4C40-BBC1-C89EF2D90996}"/>
              </a:ext>
            </a:extLst>
          </p:cNvPr>
          <p:cNvSpPr txBox="1"/>
          <p:nvPr/>
        </p:nvSpPr>
        <p:spPr>
          <a:xfrm>
            <a:off x="359152" y="4612053"/>
            <a:ext cx="2527986"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635A54"/>
              </a:buClr>
              <a:buSzTx/>
              <a:buFontTx/>
              <a:buNone/>
              <a:tabLst/>
              <a:defRPr/>
            </a:pPr>
            <a:r>
              <a:rPr kumimoji="0" lang="en-US" sz="1000" b="0" i="0" u="none" strike="noStrike" kern="1200" cap="none" spc="0" normalizeH="0" baseline="0" noProof="0">
                <a:ln>
                  <a:noFill/>
                </a:ln>
                <a:solidFill>
                  <a:srgbClr val="635A54"/>
                </a:solidFill>
                <a:effectLst/>
                <a:uLnTx/>
                <a:uFillTx/>
                <a:latin typeface="Arial"/>
                <a:ea typeface="+mn-ea"/>
                <a:cs typeface="+mn-cs"/>
              </a:rPr>
              <a:t>N </a:t>
            </a:r>
            <a:r>
              <a:rPr kumimoji="0" lang="en-US" sz="1000" b="0" i="0" u="none" strike="noStrike" kern="1200" cap="none" spc="0" normalizeH="0" baseline="0" noProof="0" err="1">
                <a:ln>
                  <a:noFill/>
                </a:ln>
                <a:solidFill>
                  <a:srgbClr val="635A54"/>
                </a:solidFill>
                <a:effectLst/>
                <a:uLnTx/>
                <a:uFillTx/>
                <a:latin typeface="Arial"/>
                <a:ea typeface="+mn-ea"/>
                <a:cs typeface="+mn-cs"/>
              </a:rPr>
              <a:t>Engl</a:t>
            </a:r>
            <a:r>
              <a:rPr kumimoji="0" lang="en-US" sz="1000" b="0" i="0" u="none" strike="noStrike" kern="1200" cap="none" spc="0" normalizeH="0" baseline="0" noProof="0">
                <a:ln>
                  <a:noFill/>
                </a:ln>
                <a:solidFill>
                  <a:srgbClr val="635A54"/>
                </a:solidFill>
                <a:effectLst/>
                <a:uLnTx/>
                <a:uFillTx/>
                <a:latin typeface="Arial"/>
                <a:ea typeface="+mn-ea"/>
                <a:cs typeface="+mn-cs"/>
              </a:rPr>
              <a:t> J Med 2004;350:125-33</a:t>
            </a:r>
            <a:endParaRPr kumimoji="0" lang="en-US" sz="700" b="0" i="0" u="none" strike="noStrike" kern="1200" cap="none" spc="0" normalizeH="0" baseline="0" noProof="0">
              <a:ln>
                <a:noFill/>
              </a:ln>
              <a:solidFill>
                <a:srgbClr val="635A54"/>
              </a:solidFill>
              <a:effectLst/>
              <a:uLnTx/>
              <a:uFillTx/>
              <a:latin typeface="Arial"/>
              <a:ea typeface="+mn-ea"/>
              <a:cs typeface="+mn-cs"/>
            </a:endParaRPr>
          </a:p>
        </p:txBody>
      </p:sp>
      <p:sp>
        <p:nvSpPr>
          <p:cNvPr id="11" name="TextBox 10">
            <a:extLst>
              <a:ext uri="{FF2B5EF4-FFF2-40B4-BE49-F238E27FC236}">
                <a16:creationId xmlns:a16="http://schemas.microsoft.com/office/drawing/2014/main" id="{67922F79-14B1-45FF-81E8-278E97E53B96}"/>
              </a:ext>
            </a:extLst>
          </p:cNvPr>
          <p:cNvSpPr txBox="1"/>
          <p:nvPr/>
        </p:nvSpPr>
        <p:spPr>
          <a:xfrm>
            <a:off x="146442" y="4192187"/>
            <a:ext cx="4176813" cy="338554"/>
          </a:xfrm>
          <a:prstGeom prst="rect">
            <a:avLst/>
          </a:prstGeom>
          <a:noFill/>
        </p:spPr>
        <p:txBody>
          <a:bodyPr wrap="square" rtlCol="0">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35A54"/>
                </a:solidFill>
                <a:effectLst/>
                <a:uLnTx/>
                <a:uFillTx/>
                <a:latin typeface="Arial"/>
                <a:ea typeface="+mn-ea"/>
                <a:cs typeface="+mn-cs"/>
              </a:rPr>
              <a:t>#  U.S. District Court Memorandum &amp; Order; June 4, 2009</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35A54"/>
                </a:solidFill>
                <a:effectLst/>
                <a:uLnTx/>
                <a:uFillTx/>
                <a:latin typeface="Arial"/>
                <a:ea typeface="+mn-ea"/>
                <a:cs typeface="+mn-cs"/>
              </a:rPr>
              <a:t> (http://www.fdlawblog.net/wp-content/uploads/archives/docs/harkonen.pdf)</a:t>
            </a:r>
            <a:endParaRPr kumimoji="0" lang="en-US" sz="700" b="0" i="0" u="none" strike="noStrike" kern="1200" cap="none" spc="0" normalizeH="0" baseline="0" noProof="0">
              <a:ln>
                <a:noFill/>
              </a:ln>
              <a:solidFill>
                <a:srgbClr val="635A54"/>
              </a:solidFill>
              <a:effectLst/>
              <a:uLnTx/>
              <a:uFillTx/>
              <a:latin typeface="Arial"/>
              <a:ea typeface="+mn-ea"/>
              <a:cs typeface="+mn-cs"/>
            </a:endParaRPr>
          </a:p>
        </p:txBody>
      </p:sp>
      <p:sp>
        <p:nvSpPr>
          <p:cNvPr id="12" name="Date Placeholder 1">
            <a:extLst>
              <a:ext uri="{FF2B5EF4-FFF2-40B4-BE49-F238E27FC236}">
                <a16:creationId xmlns:a16="http://schemas.microsoft.com/office/drawing/2014/main" id="{DC98524A-F1CE-4129-BCC5-E3DBC2F990FF}"/>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1061258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6FBB7B2-E9A4-4713-827C-3A1343EA21BA}"/>
              </a:ext>
            </a:extLst>
          </p:cNvPr>
          <p:cNvSpPr/>
          <p:nvPr/>
        </p:nvSpPr>
        <p:spPr bwMode="auto">
          <a:xfrm>
            <a:off x="359153" y="2006221"/>
            <a:ext cx="8423274" cy="1944892"/>
          </a:xfrm>
          <a:prstGeom prst="rect">
            <a:avLst/>
          </a:prstGeom>
          <a:solidFill>
            <a:schemeClr val="bg1">
              <a:lumMod val="95000"/>
            </a:schemeClr>
          </a:solidFill>
          <a:ln>
            <a:headEnd/>
            <a:tailEn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2" name="Content Placeholder 1">
            <a:extLst>
              <a:ext uri="{FF2B5EF4-FFF2-40B4-BE49-F238E27FC236}">
                <a16:creationId xmlns:a16="http://schemas.microsoft.com/office/drawing/2014/main" id="{D0AC83A0-668C-476D-B519-A3EFF1195D6B}"/>
              </a:ext>
            </a:extLst>
          </p:cNvPr>
          <p:cNvSpPr>
            <a:spLocks noGrp="1"/>
          </p:cNvSpPr>
          <p:nvPr>
            <p:ph sz="quarter" idx="12"/>
          </p:nvPr>
        </p:nvSpPr>
        <p:spPr>
          <a:xfrm>
            <a:off x="359153" y="1192387"/>
            <a:ext cx="8423274" cy="3379613"/>
          </a:xfrm>
        </p:spPr>
        <p:txBody>
          <a:bodyPr>
            <a:normAutofit lnSpcReduction="10000"/>
          </a:bodyPr>
          <a:lstStyle/>
          <a:p>
            <a:r>
              <a:rPr lang="en-US" sz="1800"/>
              <a:t>In patients with mild-to-moderate disease:</a:t>
            </a:r>
          </a:p>
          <a:p>
            <a:pPr lvl="1"/>
            <a:r>
              <a:rPr lang="en-US"/>
              <a:t>Mortality HR=0.3;  </a:t>
            </a:r>
            <a:r>
              <a:rPr lang="en-US" b="1"/>
              <a:t>p=0.004</a:t>
            </a:r>
            <a:r>
              <a:rPr lang="en-US"/>
              <a:t>;  Active group: 5% (6/126);  Placebo group: 16% (21/128)</a:t>
            </a:r>
          </a:p>
          <a:p>
            <a:endParaRPr lang="en-US" sz="1550"/>
          </a:p>
          <a:p>
            <a:pPr marL="0" indent="0">
              <a:buNone/>
            </a:pPr>
            <a:r>
              <a:rPr lang="en-US" sz="1550"/>
              <a:t>  So, to recap:</a:t>
            </a:r>
          </a:p>
          <a:p>
            <a:pPr marL="0" indent="0">
              <a:buNone/>
            </a:pPr>
            <a:r>
              <a:rPr lang="en-US" sz="1550"/>
              <a:t>  In a phase 3 trial with a failed primary endpoint…</a:t>
            </a:r>
          </a:p>
          <a:p>
            <a:pPr marL="0" indent="0">
              <a:buNone/>
            </a:pPr>
            <a:r>
              <a:rPr lang="en-US" sz="1550"/>
              <a:t>	… a post-hoc analysis …</a:t>
            </a:r>
          </a:p>
          <a:p>
            <a:pPr marL="0" indent="0">
              <a:buNone/>
            </a:pPr>
            <a:r>
              <a:rPr lang="en-US" sz="1550"/>
              <a:t>		… of a secondary endpoint …</a:t>
            </a:r>
          </a:p>
          <a:p>
            <a:pPr marL="0" indent="0">
              <a:buNone/>
            </a:pPr>
            <a:r>
              <a:rPr lang="en-US" sz="1550"/>
              <a:t>			… in a subgroup of patients …</a:t>
            </a:r>
          </a:p>
          <a:p>
            <a:pPr marL="0" indent="0">
              <a:buNone/>
            </a:pPr>
            <a:r>
              <a:rPr lang="en-US" sz="1550"/>
              <a:t>				… had the result of p&lt;0.05.</a:t>
            </a:r>
          </a:p>
          <a:p>
            <a:pPr marL="0" indent="0">
              <a:buNone/>
            </a:pPr>
            <a:endParaRPr lang="en-US" sz="1000"/>
          </a:p>
          <a:p>
            <a:pPr marL="0" indent="0" algn="ctr">
              <a:buNone/>
            </a:pPr>
            <a:r>
              <a:rPr lang="en-US" sz="1800" b="1">
                <a:solidFill>
                  <a:schemeClr val="accent5"/>
                </a:solidFill>
              </a:rPr>
              <a:t>What comes next?</a:t>
            </a:r>
          </a:p>
          <a:p>
            <a:endParaRPr lang="en-GB"/>
          </a:p>
        </p:txBody>
      </p:sp>
      <p:sp>
        <p:nvSpPr>
          <p:cNvPr id="4" name="Title 3">
            <a:extLst>
              <a:ext uri="{FF2B5EF4-FFF2-40B4-BE49-F238E27FC236}">
                <a16:creationId xmlns:a16="http://schemas.microsoft.com/office/drawing/2014/main" id="{8E285E9D-F049-48D0-9FEF-4F32D89FE83D}"/>
              </a:ext>
            </a:extLst>
          </p:cNvPr>
          <p:cNvSpPr>
            <a:spLocks noGrp="1"/>
          </p:cNvSpPr>
          <p:nvPr>
            <p:ph type="title"/>
          </p:nvPr>
        </p:nvSpPr>
        <p:spPr>
          <a:xfrm>
            <a:off x="359152" y="288639"/>
            <a:ext cx="7577139" cy="307777"/>
          </a:xfrm>
        </p:spPr>
        <p:txBody>
          <a:bodyPr/>
          <a:lstStyle/>
          <a:p>
            <a:r>
              <a:rPr lang="en-GB" sz="2000"/>
              <a:t>Eureka!!!</a:t>
            </a:r>
            <a:endParaRPr lang="en-GB"/>
          </a:p>
        </p:txBody>
      </p:sp>
      <p:sp>
        <p:nvSpPr>
          <p:cNvPr id="5" name="Slide Number Placeholder 4">
            <a:extLst>
              <a:ext uri="{FF2B5EF4-FFF2-40B4-BE49-F238E27FC236}">
                <a16:creationId xmlns:a16="http://schemas.microsoft.com/office/drawing/2014/main" id="{E0711A10-A573-4A33-93A9-E5DB987D89A2}"/>
              </a:ext>
            </a:extLst>
          </p:cNvPr>
          <p:cNvSpPr>
            <a:spLocks noGrp="1"/>
          </p:cNvSpPr>
          <p:nvPr>
            <p:ph type="sldNum" sz="quarter" idx="21"/>
          </p:nvPr>
        </p:nvSpPr>
        <p:spPr/>
        <p:txBody>
          <a:bodyPr/>
          <a:lstStyle/>
          <a:p>
            <a:fld id="{9F9F533D-B52E-4A2F-BF72-0ADD2D94BD75}" type="slidenum">
              <a:rPr lang="en-GB" smtClean="0"/>
              <a:pPr/>
              <a:t>19</a:t>
            </a:fld>
            <a:endParaRPr lang="en-GB"/>
          </a:p>
        </p:txBody>
      </p:sp>
      <p:sp>
        <p:nvSpPr>
          <p:cNvPr id="7" name="Date Placeholder 1">
            <a:extLst>
              <a:ext uri="{FF2B5EF4-FFF2-40B4-BE49-F238E27FC236}">
                <a16:creationId xmlns:a16="http://schemas.microsoft.com/office/drawing/2014/main" id="{F86EB6DF-0D2A-4336-9C39-E97B5B6C520F}"/>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1744752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FD31A9-C9A9-4B0A-9C76-3D6949E656D8}"/>
              </a:ext>
            </a:extLst>
          </p:cNvPr>
          <p:cNvSpPr>
            <a:spLocks noGrp="1"/>
          </p:cNvSpPr>
          <p:nvPr>
            <p:ph sz="quarter" idx="12"/>
          </p:nvPr>
        </p:nvSpPr>
        <p:spPr>
          <a:xfrm>
            <a:off x="373595" y="2429726"/>
            <a:ext cx="8423275" cy="1862587"/>
          </a:xfrm>
        </p:spPr>
        <p:txBody>
          <a:bodyPr/>
          <a:lstStyle/>
          <a:p>
            <a:r>
              <a:rPr lang="en-US"/>
              <a:t>“… preliminary data … demonstrate a significant survival benefit in patients with mild to moderate disease… (p=0.004)”.  These data confirm the survival benefit seen in the Phase II trial presented at…”</a:t>
            </a:r>
          </a:p>
          <a:p>
            <a:r>
              <a:rPr lang="en-US"/>
              <a:t>“… Actimmune may extend the lives of patients …”  - Scott Harkonen, CEO</a:t>
            </a:r>
          </a:p>
          <a:p>
            <a:r>
              <a:rPr lang="en-US"/>
              <a:t>“… Actimmune should be used early in the course of this disease to realize the most favorable long-term survival benefit.” – Dr. Ganesh Raghu, Trial PI</a:t>
            </a:r>
            <a:endParaRPr lang="en-GB"/>
          </a:p>
        </p:txBody>
      </p:sp>
      <p:sp>
        <p:nvSpPr>
          <p:cNvPr id="4" name="Title 3">
            <a:extLst>
              <a:ext uri="{FF2B5EF4-FFF2-40B4-BE49-F238E27FC236}">
                <a16:creationId xmlns:a16="http://schemas.microsoft.com/office/drawing/2014/main" id="{F7711CA5-103A-4377-812C-7AC6DB9FF300}"/>
              </a:ext>
            </a:extLst>
          </p:cNvPr>
          <p:cNvSpPr>
            <a:spLocks noGrp="1"/>
          </p:cNvSpPr>
          <p:nvPr>
            <p:ph type="title"/>
          </p:nvPr>
        </p:nvSpPr>
        <p:spPr/>
        <p:txBody>
          <a:bodyPr/>
          <a:lstStyle/>
          <a:p>
            <a:r>
              <a:rPr lang="en-GB" sz="2000"/>
              <a:t>Confirmation Bias at Work</a:t>
            </a:r>
            <a:endParaRPr lang="en-GB"/>
          </a:p>
        </p:txBody>
      </p:sp>
      <p:sp>
        <p:nvSpPr>
          <p:cNvPr id="5" name="Slide Number Placeholder 4">
            <a:extLst>
              <a:ext uri="{FF2B5EF4-FFF2-40B4-BE49-F238E27FC236}">
                <a16:creationId xmlns:a16="http://schemas.microsoft.com/office/drawing/2014/main" id="{AC776CA7-A646-4AA1-B16E-4DE094558F16}"/>
              </a:ext>
            </a:extLst>
          </p:cNvPr>
          <p:cNvSpPr>
            <a:spLocks noGrp="1"/>
          </p:cNvSpPr>
          <p:nvPr>
            <p:ph type="sldNum" sz="quarter" idx="21"/>
          </p:nvPr>
        </p:nvSpPr>
        <p:spPr/>
        <p:txBody>
          <a:bodyPr/>
          <a:lstStyle/>
          <a:p>
            <a:fld id="{9F9F533D-B52E-4A2F-BF72-0ADD2D94BD75}" type="slidenum">
              <a:rPr lang="en-GB" smtClean="0"/>
              <a:pPr/>
              <a:t>20</a:t>
            </a:fld>
            <a:endParaRPr lang="en-GB"/>
          </a:p>
        </p:txBody>
      </p:sp>
      <p:sp>
        <p:nvSpPr>
          <p:cNvPr id="11" name="TextBox 10">
            <a:extLst>
              <a:ext uri="{FF2B5EF4-FFF2-40B4-BE49-F238E27FC236}">
                <a16:creationId xmlns:a16="http://schemas.microsoft.com/office/drawing/2014/main" id="{C3F934F8-51F0-4F2B-9A13-B7AA6E624B25}"/>
              </a:ext>
            </a:extLst>
          </p:cNvPr>
          <p:cNvSpPr txBox="1"/>
          <p:nvPr/>
        </p:nvSpPr>
        <p:spPr>
          <a:xfrm>
            <a:off x="359152" y="4403655"/>
            <a:ext cx="5847158" cy="323165"/>
          </a:xfrm>
          <a:prstGeom prst="rect">
            <a:avLst/>
          </a:prstGeom>
          <a:noFill/>
        </p:spPr>
        <p:txBody>
          <a:bodyPr wrap="square" rtlCol="0">
            <a:spAutoFit/>
          </a:bodyPr>
          <a:lstStyle/>
          <a:p>
            <a:pPr marL="0" lvl="1">
              <a:defRPr/>
            </a:pPr>
            <a:r>
              <a:rPr lang="en-US" sz="800">
                <a:solidFill>
                  <a:srgbClr val="635A54"/>
                </a:solidFill>
              </a:rPr>
              <a:t>https://www.sec.gov/Archives/edgar/data/1087432/000091205702033878/a2088367zex-99_1.htm</a:t>
            </a:r>
            <a:endParaRPr kumimoji="0" lang="en-GB" sz="800" b="0" i="0" u="none" strike="noStrike" kern="1200" cap="none" spc="0" normalizeH="0" baseline="0" noProof="0">
              <a:ln>
                <a:noFill/>
              </a:ln>
              <a:solidFill>
                <a:srgbClr val="635A54"/>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
                <a:srgbClr val="635A54"/>
              </a:buClr>
              <a:buSzTx/>
              <a:buFontTx/>
              <a:buNone/>
              <a:tabLst/>
              <a:defRPr/>
            </a:pPr>
            <a:endParaRPr kumimoji="0" lang="en-US" sz="700" b="0" i="0" u="none" strike="noStrike" kern="1200" cap="none" spc="0" normalizeH="0" baseline="0" noProof="0">
              <a:ln>
                <a:noFill/>
              </a:ln>
              <a:solidFill>
                <a:srgbClr val="635A54"/>
              </a:solidFill>
              <a:effectLst/>
              <a:uLnTx/>
              <a:uFillTx/>
              <a:latin typeface="Arial"/>
              <a:ea typeface="+mn-ea"/>
              <a:cs typeface="+mn-cs"/>
            </a:endParaRPr>
          </a:p>
        </p:txBody>
      </p:sp>
      <p:sp>
        <p:nvSpPr>
          <p:cNvPr id="8" name="TextBox 7">
            <a:extLst>
              <a:ext uri="{FF2B5EF4-FFF2-40B4-BE49-F238E27FC236}">
                <a16:creationId xmlns:a16="http://schemas.microsoft.com/office/drawing/2014/main" id="{822FA64A-10AE-448B-9C81-15D5F8A09402}"/>
              </a:ext>
            </a:extLst>
          </p:cNvPr>
          <p:cNvSpPr txBox="1"/>
          <p:nvPr/>
        </p:nvSpPr>
        <p:spPr>
          <a:xfrm>
            <a:off x="316965" y="1270823"/>
            <a:ext cx="8536536" cy="938719"/>
          </a:xfrm>
          <a:prstGeom prst="rect">
            <a:avLst/>
          </a:prstGeom>
          <a:noFill/>
          <a:ln>
            <a:solidFill>
              <a:schemeClr val="tx1"/>
            </a:solidFill>
          </a:ln>
        </p:spPr>
        <p:txBody>
          <a:bodyPr wrap="square" rtlCol="0">
            <a:spAutoFit/>
          </a:bodyPr>
          <a:lstStyle/>
          <a:p>
            <a:pPr>
              <a:buClr>
                <a:schemeClr val="tx1"/>
              </a:buClr>
            </a:pPr>
            <a:r>
              <a:rPr lang="en-GB" sz="1300" b="1">
                <a:effectLst>
                  <a:outerShdw blurRad="38100" dist="38100" dir="2700000" algn="tl">
                    <a:srgbClr val="000000">
                      <a:alpha val="43137"/>
                    </a:srgbClr>
                  </a:outerShdw>
                </a:effectLst>
              </a:rPr>
              <a:t>INTERMUNE ANNOUNCES PHASE III DATA DEMONSTRATING SURVIVAL BENEFIT OF  ACTIMMUNE IN IPF</a:t>
            </a:r>
          </a:p>
          <a:p>
            <a:pPr>
              <a:buClr>
                <a:schemeClr val="tx1"/>
              </a:buClr>
            </a:pPr>
            <a:endParaRPr lang="en-GB" sz="1300" b="1">
              <a:effectLst>
                <a:outerShdw blurRad="38100" dist="38100" dir="2700000" algn="tl">
                  <a:srgbClr val="000000">
                    <a:alpha val="43137"/>
                  </a:srgbClr>
                </a:outerShdw>
              </a:effectLst>
            </a:endParaRPr>
          </a:p>
          <a:p>
            <a:pPr algn="ctr">
              <a:buClr>
                <a:schemeClr val="tx1"/>
              </a:buClr>
            </a:pPr>
            <a:r>
              <a:rPr lang="en-US" sz="1400" i="1"/>
              <a:t>- Reduces Mortality by 70% in Patients with Mild to Moderate Disease</a:t>
            </a:r>
          </a:p>
          <a:p>
            <a:pPr>
              <a:buClr>
                <a:schemeClr val="tx1"/>
              </a:buClr>
            </a:pPr>
            <a:endParaRPr lang="en-GB" sz="1300" b="1">
              <a:effectLst>
                <a:outerShdw blurRad="38100" dist="38100" dir="2700000" algn="tl">
                  <a:srgbClr val="000000">
                    <a:alpha val="43137"/>
                  </a:srgbClr>
                </a:outerShdw>
              </a:effectLst>
            </a:endParaRPr>
          </a:p>
        </p:txBody>
      </p:sp>
      <p:sp>
        <p:nvSpPr>
          <p:cNvPr id="7" name="Text Placeholder 2">
            <a:extLst>
              <a:ext uri="{FF2B5EF4-FFF2-40B4-BE49-F238E27FC236}">
                <a16:creationId xmlns:a16="http://schemas.microsoft.com/office/drawing/2014/main" id="{195CB911-03B5-4FEF-A200-6AB1B5FE710A}"/>
              </a:ext>
            </a:extLst>
          </p:cNvPr>
          <p:cNvSpPr>
            <a:spLocks noGrp="1"/>
          </p:cNvSpPr>
          <p:nvPr>
            <p:ph type="body" sz="quarter" idx="14"/>
          </p:nvPr>
        </p:nvSpPr>
        <p:spPr>
          <a:xfrm>
            <a:off x="359152" y="693553"/>
            <a:ext cx="7578000" cy="276999"/>
          </a:xfrm>
        </p:spPr>
        <p:txBody>
          <a:bodyPr lIns="0" tIns="45720" rIns="91440" bIns="45720" anchor="t" anchorCtr="0">
            <a:noAutofit/>
          </a:bodyPr>
          <a:lstStyle/>
          <a:p>
            <a:r>
              <a:rPr lang="en-US"/>
              <a:t>Press Release: August 28, 2002</a:t>
            </a:r>
            <a:endParaRPr lang="en-US">
              <a:cs typeface="Arial"/>
            </a:endParaRPr>
          </a:p>
        </p:txBody>
      </p:sp>
      <p:sp>
        <p:nvSpPr>
          <p:cNvPr id="9" name="Date Placeholder 1">
            <a:extLst>
              <a:ext uri="{FF2B5EF4-FFF2-40B4-BE49-F238E27FC236}">
                <a16:creationId xmlns:a16="http://schemas.microsoft.com/office/drawing/2014/main" id="{6F4CA5F9-7B3B-4D48-B263-6B285005AAAC}"/>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3662961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11" grpId="0"/>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693BE0-3FDA-4FD2-91F8-94DAF050083A}"/>
              </a:ext>
            </a:extLst>
          </p:cNvPr>
          <p:cNvSpPr>
            <a:spLocks noGrp="1"/>
          </p:cNvSpPr>
          <p:nvPr>
            <p:ph sz="quarter" idx="12"/>
          </p:nvPr>
        </p:nvSpPr>
        <p:spPr/>
        <p:txBody>
          <a:bodyPr/>
          <a:lstStyle/>
          <a:p>
            <a:r>
              <a:rPr lang="en-GB" sz="1800"/>
              <a:t>Actimmune’s sales increased from </a:t>
            </a:r>
            <a:r>
              <a:rPr lang="en-GB" sz="1800" b="1"/>
              <a:t>$11M in 2000 </a:t>
            </a:r>
            <a:r>
              <a:rPr lang="en-GB" sz="1800"/>
              <a:t>to</a:t>
            </a:r>
            <a:r>
              <a:rPr lang="en-GB" sz="1800" b="1"/>
              <a:t> $141M in 2003</a:t>
            </a:r>
          </a:p>
          <a:p>
            <a:pPr lvl="1"/>
            <a:r>
              <a:rPr lang="en-GB" sz="1650"/>
              <a:t>Mostly due to off-label treatment in IPF</a:t>
            </a:r>
          </a:p>
          <a:p>
            <a:endParaRPr lang="en-GB" sz="1800"/>
          </a:p>
          <a:p>
            <a:r>
              <a:rPr lang="en-GB" sz="1800"/>
              <a:t>Phase 3 study INSPIRE started in Dec 2003 to convince FDA of the mortality benefit </a:t>
            </a:r>
          </a:p>
          <a:p>
            <a:pPr lvl="1"/>
            <a:r>
              <a:rPr lang="en-GB" sz="1650"/>
              <a:t>Primary endpoint: Overall Survival (3-year mortality)</a:t>
            </a:r>
          </a:p>
          <a:p>
            <a:pPr lvl="1"/>
            <a:r>
              <a:rPr lang="en-GB" sz="1650"/>
              <a:t>600 patients randomized to ActImmune or Placebo</a:t>
            </a:r>
          </a:p>
          <a:p>
            <a:pPr lvl="1"/>
            <a:r>
              <a:rPr lang="en-GB" sz="1650"/>
              <a:t>90% power (assuming a 50% reduction in mortality) (24% for Placebo to 12% for ActImmune) </a:t>
            </a:r>
          </a:p>
          <a:p>
            <a:endParaRPr lang="en-GB"/>
          </a:p>
        </p:txBody>
      </p:sp>
      <p:sp>
        <p:nvSpPr>
          <p:cNvPr id="4" name="Title 3">
            <a:extLst>
              <a:ext uri="{FF2B5EF4-FFF2-40B4-BE49-F238E27FC236}">
                <a16:creationId xmlns:a16="http://schemas.microsoft.com/office/drawing/2014/main" id="{12F070EB-8D5B-498A-9866-7B10A0978448}"/>
              </a:ext>
            </a:extLst>
          </p:cNvPr>
          <p:cNvSpPr>
            <a:spLocks noGrp="1"/>
          </p:cNvSpPr>
          <p:nvPr>
            <p:ph type="title"/>
          </p:nvPr>
        </p:nvSpPr>
        <p:spPr/>
        <p:txBody>
          <a:bodyPr/>
          <a:lstStyle/>
          <a:p>
            <a:r>
              <a:rPr lang="en-GB"/>
              <a:t>Things Are Looking Up</a:t>
            </a:r>
          </a:p>
        </p:txBody>
      </p:sp>
      <p:sp>
        <p:nvSpPr>
          <p:cNvPr id="5" name="Slide Number Placeholder 4">
            <a:extLst>
              <a:ext uri="{FF2B5EF4-FFF2-40B4-BE49-F238E27FC236}">
                <a16:creationId xmlns:a16="http://schemas.microsoft.com/office/drawing/2014/main" id="{1CF0FC93-3D61-4BC0-BAE7-68F7DFBFB7D5}"/>
              </a:ext>
            </a:extLst>
          </p:cNvPr>
          <p:cNvSpPr>
            <a:spLocks noGrp="1"/>
          </p:cNvSpPr>
          <p:nvPr>
            <p:ph type="sldNum" sz="quarter" idx="21"/>
          </p:nvPr>
        </p:nvSpPr>
        <p:spPr/>
        <p:txBody>
          <a:bodyPr/>
          <a:lstStyle/>
          <a:p>
            <a:fld id="{9F9F533D-B52E-4A2F-BF72-0ADD2D94BD75}" type="slidenum">
              <a:rPr lang="en-GB" smtClean="0"/>
              <a:pPr/>
              <a:t>21</a:t>
            </a:fld>
            <a:endParaRPr lang="en-GB"/>
          </a:p>
        </p:txBody>
      </p:sp>
      <p:sp>
        <p:nvSpPr>
          <p:cNvPr id="8" name="Date Placeholder 1">
            <a:extLst>
              <a:ext uri="{FF2B5EF4-FFF2-40B4-BE49-F238E27FC236}">
                <a16:creationId xmlns:a16="http://schemas.microsoft.com/office/drawing/2014/main" id="{87C3AB80-A8CA-4F27-B82B-9FA48868A812}"/>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2307540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12D28B-C8DC-41CA-B9DE-8B33FF9BCC97}"/>
              </a:ext>
            </a:extLst>
          </p:cNvPr>
          <p:cNvSpPr>
            <a:spLocks noGrp="1"/>
          </p:cNvSpPr>
          <p:nvPr>
            <p:ph sz="quarter" idx="12"/>
          </p:nvPr>
        </p:nvSpPr>
        <p:spPr>
          <a:xfrm>
            <a:off x="827922" y="1194192"/>
            <a:ext cx="4212847" cy="935670"/>
          </a:xfrm>
        </p:spPr>
        <p:txBody>
          <a:bodyPr/>
          <a:lstStyle/>
          <a:p>
            <a:pPr marL="0" indent="0" algn="ctr">
              <a:spcAft>
                <a:spcPts val="0"/>
              </a:spcAft>
              <a:buNone/>
            </a:pPr>
            <a:r>
              <a:rPr lang="en-GB" sz="1200"/>
              <a:t>2007</a:t>
            </a:r>
          </a:p>
          <a:p>
            <a:pPr marL="0" indent="0" algn="ctr">
              <a:buNone/>
            </a:pPr>
            <a:r>
              <a:rPr lang="en-GB" b="1" err="1"/>
              <a:t>InterMune</a:t>
            </a:r>
            <a:r>
              <a:rPr lang="en-GB" b="1"/>
              <a:t> discontinues Phase 3 INSPIRE trial of Actimmune in Idiopathic Pulmonary Fibrosis</a:t>
            </a:r>
          </a:p>
        </p:txBody>
      </p:sp>
      <p:sp>
        <p:nvSpPr>
          <p:cNvPr id="4" name="Title 3">
            <a:extLst>
              <a:ext uri="{FF2B5EF4-FFF2-40B4-BE49-F238E27FC236}">
                <a16:creationId xmlns:a16="http://schemas.microsoft.com/office/drawing/2014/main" id="{D0C29B5A-2E31-4D42-BC4B-89D231F88B89}"/>
              </a:ext>
            </a:extLst>
          </p:cNvPr>
          <p:cNvSpPr>
            <a:spLocks noGrp="1"/>
          </p:cNvSpPr>
          <p:nvPr>
            <p:ph type="title"/>
          </p:nvPr>
        </p:nvSpPr>
        <p:spPr>
          <a:xfrm>
            <a:off x="359152" y="288639"/>
            <a:ext cx="7577139" cy="307777"/>
          </a:xfrm>
        </p:spPr>
        <p:txBody>
          <a:bodyPr/>
          <a:lstStyle/>
          <a:p>
            <a:r>
              <a:rPr lang="en-GB" sz="2000"/>
              <a:t>Something Just Hit The Fan</a:t>
            </a:r>
            <a:endParaRPr lang="en-GB"/>
          </a:p>
        </p:txBody>
      </p:sp>
      <p:sp>
        <p:nvSpPr>
          <p:cNvPr id="5" name="Slide Number Placeholder 4">
            <a:extLst>
              <a:ext uri="{FF2B5EF4-FFF2-40B4-BE49-F238E27FC236}">
                <a16:creationId xmlns:a16="http://schemas.microsoft.com/office/drawing/2014/main" id="{CC63DE6F-8829-4D39-94B5-46B8688F68A2}"/>
              </a:ext>
            </a:extLst>
          </p:cNvPr>
          <p:cNvSpPr>
            <a:spLocks noGrp="1"/>
          </p:cNvSpPr>
          <p:nvPr>
            <p:ph type="sldNum" sz="quarter" idx="21"/>
          </p:nvPr>
        </p:nvSpPr>
        <p:spPr/>
        <p:txBody>
          <a:bodyPr/>
          <a:lstStyle/>
          <a:p>
            <a:fld id="{9F9F533D-B52E-4A2F-BF72-0ADD2D94BD75}" type="slidenum">
              <a:rPr lang="en-GB" smtClean="0"/>
              <a:pPr/>
              <a:t>22</a:t>
            </a:fld>
            <a:endParaRPr lang="en-GB"/>
          </a:p>
        </p:txBody>
      </p:sp>
      <p:pic>
        <p:nvPicPr>
          <p:cNvPr id="6" name="Picture 5">
            <a:extLst>
              <a:ext uri="{FF2B5EF4-FFF2-40B4-BE49-F238E27FC236}">
                <a16:creationId xmlns:a16="http://schemas.microsoft.com/office/drawing/2014/main" id="{6F08363F-1605-44A1-A60D-507E15F3D690}"/>
              </a:ext>
            </a:extLst>
          </p:cNvPr>
          <p:cNvPicPr>
            <a:picLocks noChangeAspect="1"/>
          </p:cNvPicPr>
          <p:nvPr/>
        </p:nvPicPr>
        <p:blipFill rotWithShape="1">
          <a:blip r:embed="rId3"/>
          <a:srcRect l="18461" t="38595" r="45128" b="18556"/>
          <a:stretch/>
        </p:blipFill>
        <p:spPr>
          <a:xfrm>
            <a:off x="5805753" y="1229021"/>
            <a:ext cx="2806065" cy="1857536"/>
          </a:xfrm>
          <a:prstGeom prst="rect">
            <a:avLst/>
          </a:prstGeom>
        </p:spPr>
      </p:pic>
      <p:sp>
        <p:nvSpPr>
          <p:cNvPr id="9" name="Content Placeholder 1">
            <a:extLst>
              <a:ext uri="{FF2B5EF4-FFF2-40B4-BE49-F238E27FC236}">
                <a16:creationId xmlns:a16="http://schemas.microsoft.com/office/drawing/2014/main" id="{5F8BC8F3-DFC6-47F6-95EE-75D8859FF454}"/>
              </a:ext>
            </a:extLst>
          </p:cNvPr>
          <p:cNvSpPr txBox="1">
            <a:spLocks/>
          </p:cNvSpPr>
          <p:nvPr/>
        </p:nvSpPr>
        <p:spPr>
          <a:xfrm>
            <a:off x="478197" y="3408472"/>
            <a:ext cx="4912298" cy="1081672"/>
          </a:xfrm>
          <a:prstGeom prst="rect">
            <a:avLst/>
          </a:prstGeom>
        </p:spPr>
        <p:txBody>
          <a:bodyPr lIns="0"/>
          <a:lstStyle>
            <a:lvl1pPr marL="270000" indent="-270000" algn="l" defTabSz="914400" rtl="0" eaLnBrk="1" latinLnBrk="0" hangingPunct="1">
              <a:spcBef>
                <a:spcPts val="0"/>
              </a:spcBef>
              <a:spcAft>
                <a:spcPts val="600"/>
              </a:spcAft>
              <a:buClr>
                <a:schemeClr val="tx1"/>
              </a:buClr>
              <a:buFont typeface="Arial" pitchFamily="34" charset="0"/>
              <a:buChar char="–"/>
              <a:defRPr sz="1600" kern="1200">
                <a:solidFill>
                  <a:schemeClr val="tx1"/>
                </a:solidFill>
                <a:latin typeface="+mn-lt"/>
                <a:ea typeface="+mn-ea"/>
                <a:cs typeface="+mn-cs"/>
              </a:defRPr>
            </a:lvl1pPr>
            <a:lvl2pPr marL="538163" indent="-270000" algn="l" defTabSz="914400" rtl="0" eaLnBrk="1" latinLnBrk="0" hangingPunct="1">
              <a:spcBef>
                <a:spcPts val="0"/>
              </a:spcBef>
              <a:spcAft>
                <a:spcPts val="600"/>
              </a:spcAft>
              <a:buFont typeface="Arial" pitchFamily="34" charset="0"/>
              <a:buChar char="–"/>
              <a:defRPr sz="1400" kern="1200">
                <a:solidFill>
                  <a:schemeClr val="tx1"/>
                </a:solidFill>
                <a:latin typeface="+mn-lt"/>
                <a:ea typeface="+mn-ea"/>
                <a:cs typeface="+mn-cs"/>
              </a:defRPr>
            </a:lvl2pPr>
            <a:lvl3pPr marL="81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3pPr>
            <a:lvl4pPr marL="1081088"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4pPr>
            <a:lvl5pPr marL="1350000" indent="-270000" algn="l" defTabSz="914400" rtl="0" eaLnBrk="1" latinLnBrk="0" hangingPunct="1">
              <a:spcBef>
                <a:spcPts val="0"/>
              </a:spcBef>
              <a:spcAft>
                <a:spcPts val="600"/>
              </a:spcAft>
              <a:buFont typeface="Arial" pitchFamily="34" charset="0"/>
              <a:buChar char="–"/>
              <a:defRPr sz="1200" b="0" kern="1200">
                <a:solidFill>
                  <a:schemeClr val="tx1"/>
                </a:solidFill>
                <a:latin typeface="+mn-lt"/>
                <a:ea typeface="+mn-ea"/>
                <a:cs typeface="+mn-cs"/>
              </a:defRPr>
            </a:lvl5pPr>
            <a:lvl6pPr marL="162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6pPr>
            <a:lvl7pPr marL="180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7pPr>
            <a:lvl8pPr marL="207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8pPr>
            <a:lvl9pPr marL="234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9pPr>
          </a:lstStyle>
          <a:p>
            <a:pPr marL="0" indent="0" algn="ctr">
              <a:spcAft>
                <a:spcPts val="0"/>
              </a:spcAft>
              <a:buNone/>
            </a:pPr>
            <a:r>
              <a:rPr lang="en-GB" sz="1200"/>
              <a:t>2021</a:t>
            </a:r>
          </a:p>
          <a:p>
            <a:pPr marL="0" indent="0" algn="ctr">
              <a:buNone/>
            </a:pPr>
            <a:r>
              <a:rPr lang="en-GB" b="1"/>
              <a:t>Former </a:t>
            </a:r>
            <a:r>
              <a:rPr lang="en-GB" b="1" err="1"/>
              <a:t>Intermune</a:t>
            </a:r>
            <a:r>
              <a:rPr lang="en-GB" b="1"/>
              <a:t> CEO Harkonen Receives Trump Pardon</a:t>
            </a:r>
            <a:r>
              <a:rPr lang="en-GB"/>
              <a:t> </a:t>
            </a:r>
          </a:p>
          <a:p>
            <a:pPr marL="0" indent="0" algn="ctr">
              <a:buNone/>
            </a:pPr>
            <a:r>
              <a:rPr lang="en-GB" sz="1400" i="1"/>
              <a:t>“</a:t>
            </a:r>
            <a:r>
              <a:rPr lang="en-GB" sz="1400" i="1" err="1"/>
              <a:t>Dr.</a:t>
            </a:r>
            <a:r>
              <a:rPr lang="en-GB" sz="1400" i="1"/>
              <a:t> Harkonen looks forward to returning to medicine.”</a:t>
            </a:r>
          </a:p>
          <a:p>
            <a:pPr algn="ctr"/>
            <a:endParaRPr lang="en-US" sz="1400"/>
          </a:p>
          <a:p>
            <a:pPr algn="ctr"/>
            <a:endParaRPr lang="en-GB"/>
          </a:p>
        </p:txBody>
      </p:sp>
      <p:sp>
        <p:nvSpPr>
          <p:cNvPr id="8" name="Content Placeholder 1">
            <a:extLst>
              <a:ext uri="{FF2B5EF4-FFF2-40B4-BE49-F238E27FC236}">
                <a16:creationId xmlns:a16="http://schemas.microsoft.com/office/drawing/2014/main" id="{7C07E41F-F0F4-43B5-B339-96FF55A30F94}"/>
              </a:ext>
            </a:extLst>
          </p:cNvPr>
          <p:cNvSpPr txBox="1">
            <a:spLocks/>
          </p:cNvSpPr>
          <p:nvPr/>
        </p:nvSpPr>
        <p:spPr>
          <a:xfrm>
            <a:off x="478197" y="2286352"/>
            <a:ext cx="4912298" cy="1203010"/>
          </a:xfrm>
          <a:prstGeom prst="rect">
            <a:avLst/>
          </a:prstGeom>
        </p:spPr>
        <p:txBody>
          <a:bodyPr lIns="0"/>
          <a:lstStyle>
            <a:lvl1pPr marL="270000" indent="-270000" algn="l" defTabSz="914400" rtl="0" eaLnBrk="1" latinLnBrk="0" hangingPunct="1">
              <a:spcBef>
                <a:spcPts val="0"/>
              </a:spcBef>
              <a:spcAft>
                <a:spcPts val="600"/>
              </a:spcAft>
              <a:buClr>
                <a:schemeClr val="tx1"/>
              </a:buClr>
              <a:buFont typeface="Arial" pitchFamily="34" charset="0"/>
              <a:buChar char="–"/>
              <a:defRPr sz="1600" kern="1200">
                <a:solidFill>
                  <a:schemeClr val="tx1"/>
                </a:solidFill>
                <a:latin typeface="+mn-lt"/>
                <a:ea typeface="+mn-ea"/>
                <a:cs typeface="+mn-cs"/>
              </a:defRPr>
            </a:lvl1pPr>
            <a:lvl2pPr marL="538163" indent="-270000" algn="l" defTabSz="914400" rtl="0" eaLnBrk="1" latinLnBrk="0" hangingPunct="1">
              <a:spcBef>
                <a:spcPts val="0"/>
              </a:spcBef>
              <a:spcAft>
                <a:spcPts val="600"/>
              </a:spcAft>
              <a:buFont typeface="Arial" pitchFamily="34" charset="0"/>
              <a:buChar char="–"/>
              <a:defRPr sz="1400" kern="1200">
                <a:solidFill>
                  <a:schemeClr val="tx1"/>
                </a:solidFill>
                <a:latin typeface="+mn-lt"/>
                <a:ea typeface="+mn-ea"/>
                <a:cs typeface="+mn-cs"/>
              </a:defRPr>
            </a:lvl2pPr>
            <a:lvl3pPr marL="81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3pPr>
            <a:lvl4pPr marL="1081088"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4pPr>
            <a:lvl5pPr marL="1350000" indent="-270000" algn="l" defTabSz="914400" rtl="0" eaLnBrk="1" latinLnBrk="0" hangingPunct="1">
              <a:spcBef>
                <a:spcPts val="0"/>
              </a:spcBef>
              <a:spcAft>
                <a:spcPts val="600"/>
              </a:spcAft>
              <a:buFont typeface="Arial" pitchFamily="34" charset="0"/>
              <a:buChar char="–"/>
              <a:defRPr sz="1200" b="0" kern="1200">
                <a:solidFill>
                  <a:schemeClr val="tx1"/>
                </a:solidFill>
                <a:latin typeface="+mn-lt"/>
                <a:ea typeface="+mn-ea"/>
                <a:cs typeface="+mn-cs"/>
              </a:defRPr>
            </a:lvl5pPr>
            <a:lvl6pPr marL="162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6pPr>
            <a:lvl7pPr marL="180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7pPr>
            <a:lvl8pPr marL="207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8pPr>
            <a:lvl9pPr marL="234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9pPr>
          </a:lstStyle>
          <a:p>
            <a:pPr marL="0" indent="0" algn="ctr">
              <a:spcAft>
                <a:spcPts val="0"/>
              </a:spcAft>
              <a:buFont typeface="Arial" pitchFamily="34" charset="0"/>
              <a:buNone/>
            </a:pPr>
            <a:r>
              <a:rPr lang="en-GB" sz="1200"/>
              <a:t>2009</a:t>
            </a:r>
          </a:p>
          <a:p>
            <a:pPr marL="0" indent="0" algn="ctr">
              <a:buNone/>
            </a:pPr>
            <a:r>
              <a:rPr lang="en-GB" b="1"/>
              <a:t>Scott Harkonen was convicted for fraud </a:t>
            </a:r>
          </a:p>
          <a:p>
            <a:pPr marL="0" indent="0" algn="ctr">
              <a:buNone/>
            </a:pPr>
            <a:r>
              <a:rPr lang="en-GB" sz="1400"/>
              <a:t>A jury ruled he made “false and misleading statements” in the Aug 2002 press release with “intent to defraud and mislead”</a:t>
            </a:r>
          </a:p>
          <a:p>
            <a:pPr marL="0" indent="0" algn="ctr">
              <a:buNone/>
            </a:pPr>
            <a:endParaRPr lang="en-GB" b="1"/>
          </a:p>
        </p:txBody>
      </p:sp>
      <p:pic>
        <p:nvPicPr>
          <p:cNvPr id="10" name="Picture 9">
            <a:extLst>
              <a:ext uri="{FF2B5EF4-FFF2-40B4-BE49-F238E27FC236}">
                <a16:creationId xmlns:a16="http://schemas.microsoft.com/office/drawing/2014/main" id="{C3D9D1B7-D9A4-4B5D-9467-9EE54C6CD8CC}"/>
              </a:ext>
            </a:extLst>
          </p:cNvPr>
          <p:cNvPicPr>
            <a:picLocks noChangeAspect="1"/>
          </p:cNvPicPr>
          <p:nvPr/>
        </p:nvPicPr>
        <p:blipFill>
          <a:blip r:embed="rId4"/>
          <a:stretch>
            <a:fillRect/>
          </a:stretch>
        </p:blipFill>
        <p:spPr>
          <a:xfrm>
            <a:off x="5599257" y="1662027"/>
            <a:ext cx="3219058" cy="2370274"/>
          </a:xfrm>
          <a:prstGeom prst="rect">
            <a:avLst/>
          </a:prstGeom>
          <a:ln>
            <a:solidFill>
              <a:schemeClr val="bg1">
                <a:lumMod val="65000"/>
              </a:schemeClr>
            </a:solidFill>
          </a:ln>
        </p:spPr>
      </p:pic>
      <p:pic>
        <p:nvPicPr>
          <p:cNvPr id="7" name="Picture 6">
            <a:extLst>
              <a:ext uri="{FF2B5EF4-FFF2-40B4-BE49-F238E27FC236}">
                <a16:creationId xmlns:a16="http://schemas.microsoft.com/office/drawing/2014/main" id="{B00E1671-09EA-4E9B-9C92-27691BBCA15B}"/>
              </a:ext>
            </a:extLst>
          </p:cNvPr>
          <p:cNvPicPr>
            <a:picLocks noChangeAspect="1"/>
          </p:cNvPicPr>
          <p:nvPr/>
        </p:nvPicPr>
        <p:blipFill>
          <a:blip r:embed="rId5"/>
          <a:stretch>
            <a:fillRect/>
          </a:stretch>
        </p:blipFill>
        <p:spPr>
          <a:xfrm>
            <a:off x="5318518" y="3268825"/>
            <a:ext cx="3780539" cy="1070640"/>
          </a:xfrm>
          <a:prstGeom prst="rect">
            <a:avLst/>
          </a:prstGeom>
          <a:ln>
            <a:solidFill>
              <a:schemeClr val="bg1">
                <a:lumMod val="65000"/>
              </a:schemeClr>
            </a:solidFill>
          </a:ln>
        </p:spPr>
      </p:pic>
      <p:sp>
        <p:nvSpPr>
          <p:cNvPr id="11" name="Date Placeholder 1">
            <a:extLst>
              <a:ext uri="{FF2B5EF4-FFF2-40B4-BE49-F238E27FC236}">
                <a16:creationId xmlns:a16="http://schemas.microsoft.com/office/drawing/2014/main" id="{53F08759-EAE3-431A-AFAC-AA587A42151D}"/>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Fundamentals of Statistics: </a:t>
            </a:r>
            <a:r>
              <a:rPr lang="en-GB"/>
              <a:t>Multiplicity, Subgroups &amp; Missing Data</a:t>
            </a:r>
            <a:r>
              <a:rPr lang="en-US"/>
              <a:t> Webinar</a:t>
            </a:r>
            <a:endParaRPr lang="en-GB"/>
          </a:p>
        </p:txBody>
      </p:sp>
    </p:spTree>
    <p:extLst>
      <p:ext uri="{BB962C8B-B14F-4D97-AF65-F5344CB8AC3E}">
        <p14:creationId xmlns:p14="http://schemas.microsoft.com/office/powerpoint/2010/main" val="2349671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500" fill="hold"/>
                                        <p:tgtEl>
                                          <p:spTgt spid="2">
                                            <p:txEl>
                                              <p:pRg st="0" end="0"/>
                                            </p:txEl>
                                          </p:spTgt>
                                        </p:tgtEl>
                                        <p:attrNameLst>
                                          <p:attrName>style.color</p:attrName>
                                        </p:attrNameLst>
                                      </p:cBhvr>
                                      <p:to>
                                        <a:srgbClr val="D8D8D8"/>
                                      </p:to>
                                    </p:animClr>
                                  </p:childTnLst>
                                </p:cTn>
                              </p:par>
                              <p:par>
                                <p:cTn id="7" presetID="3" presetClass="emph" presetSubtype="2" fill="hold" grpId="0" nodeType="withEffect">
                                  <p:stCondLst>
                                    <p:cond delay="0"/>
                                  </p:stCondLst>
                                  <p:childTnLst>
                                    <p:animClr clrSpc="rgb" dir="cw">
                                      <p:cBhvr override="childStyle">
                                        <p:cTn id="8" dur="500" fill="hold"/>
                                        <p:tgtEl>
                                          <p:spTgt spid="2">
                                            <p:txEl>
                                              <p:pRg st="1" end="1"/>
                                            </p:txEl>
                                          </p:spTgt>
                                        </p:tgtEl>
                                        <p:attrNameLst>
                                          <p:attrName>style.color</p:attrName>
                                        </p:attrNameLst>
                                      </p:cBhvr>
                                      <p:to>
                                        <a:srgbClr val="D8D8D8"/>
                                      </p:to>
                                    </p:animClr>
                                  </p:childTnLst>
                                </p:cTn>
                              </p:par>
                            </p:childTnLst>
                          </p:cTn>
                        </p:par>
                        <p:par>
                          <p:cTn id="9" fill="hold">
                            <p:stCondLst>
                              <p:cond delay="500"/>
                            </p:stCondLst>
                            <p:childTnLst>
                              <p:par>
                                <p:cTn id="10" presetID="1" presetClass="entr" presetSubtype="0" fill="hold" grpId="0" nodeType="afterEffect">
                                  <p:stCondLst>
                                    <p:cond delay="250"/>
                                  </p:stCondLst>
                                  <p:childTnLst>
                                    <p:set>
                                      <p:cBhvr>
                                        <p:cTn id="11" dur="1" fill="hold">
                                          <p:stCondLst>
                                            <p:cond delay="0"/>
                                          </p:stCondLst>
                                        </p:cTn>
                                        <p:tgtEl>
                                          <p:spTgt spid="8">
                                            <p:txEl>
                                              <p:pRg st="0" end="0"/>
                                            </p:txEl>
                                          </p:spTgt>
                                        </p:tgtEl>
                                        <p:attrNameLst>
                                          <p:attrName>style.visibility</p:attrName>
                                        </p:attrNameLst>
                                      </p:cBhvr>
                                      <p:to>
                                        <p:strVal val="visible"/>
                                      </p:to>
                                    </p:set>
                                  </p:childTnLst>
                                </p:cTn>
                              </p:par>
                              <p:par>
                                <p:cTn id="12" presetID="1" presetClass="entr" presetSubtype="0" fill="hold" grpId="0" nodeType="withEffect">
                                  <p:stCondLst>
                                    <p:cond delay="250"/>
                                  </p:stCondLst>
                                  <p:childTnLst>
                                    <p:set>
                                      <p:cBhvr>
                                        <p:cTn id="13" dur="1" fill="hold">
                                          <p:stCondLst>
                                            <p:cond delay="0"/>
                                          </p:stCondLst>
                                        </p:cTn>
                                        <p:tgtEl>
                                          <p:spTgt spid="8">
                                            <p:txEl>
                                              <p:pRg st="1" end="1"/>
                                            </p:txEl>
                                          </p:spTgt>
                                        </p:tgtEl>
                                        <p:attrNameLst>
                                          <p:attrName>style.visibility</p:attrName>
                                        </p:attrNameLst>
                                      </p:cBhvr>
                                      <p:to>
                                        <p:strVal val="visible"/>
                                      </p:to>
                                    </p:set>
                                  </p:childTnLst>
                                </p:cTn>
                              </p:par>
                              <p:par>
                                <p:cTn id="14" presetID="1" presetClass="entr" presetSubtype="0" fill="hold" grpId="0" nodeType="withEffect">
                                  <p:stCondLst>
                                    <p:cond delay="250"/>
                                  </p:stCondLst>
                                  <p:childTnLst>
                                    <p:set>
                                      <p:cBhvr>
                                        <p:cTn id="15" dur="1" fill="hold">
                                          <p:stCondLst>
                                            <p:cond delay="0"/>
                                          </p:stCondLst>
                                        </p:cTn>
                                        <p:tgtEl>
                                          <p:spTgt spid="8">
                                            <p:txEl>
                                              <p:pRg st="2" end="2"/>
                                            </p:txEl>
                                          </p:spTgt>
                                        </p:tgtEl>
                                        <p:attrNameLst>
                                          <p:attrName>style.visibility</p:attrName>
                                        </p:attrNameLst>
                                      </p:cBhvr>
                                      <p:to>
                                        <p:strVal val="visible"/>
                                      </p:to>
                                    </p:set>
                                  </p:childTnLst>
                                </p:cTn>
                              </p:par>
                              <p:par>
                                <p:cTn id="16" presetID="1" presetClass="entr" presetSubtype="0" fill="hold" nodeType="withEffect">
                                  <p:stCondLst>
                                    <p:cond delay="250"/>
                                  </p:stCondLst>
                                  <p:childTnLst>
                                    <p:set>
                                      <p:cBhvr>
                                        <p:cTn id="17" dur="1" fill="hold">
                                          <p:stCondLst>
                                            <p:cond delay="0"/>
                                          </p:stCondLst>
                                        </p:cTn>
                                        <p:tgtEl>
                                          <p:spTgt spid="1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3" presetClass="emph" presetSubtype="2" fill="hold" nodeType="clickEffect">
                                  <p:stCondLst>
                                    <p:cond delay="0"/>
                                  </p:stCondLst>
                                  <p:childTnLst>
                                    <p:animClr clrSpc="rgb" dir="cw">
                                      <p:cBhvr override="childStyle">
                                        <p:cTn id="21" dur="500" fill="hold"/>
                                        <p:tgtEl>
                                          <p:spTgt spid="8">
                                            <p:txEl>
                                              <p:pRg st="0" end="0"/>
                                            </p:txEl>
                                          </p:spTgt>
                                        </p:tgtEl>
                                        <p:attrNameLst>
                                          <p:attrName>style.color</p:attrName>
                                        </p:attrNameLst>
                                      </p:cBhvr>
                                      <p:to>
                                        <a:srgbClr val="D8D8D8"/>
                                      </p:to>
                                    </p:animClr>
                                  </p:childTnLst>
                                </p:cTn>
                              </p:par>
                              <p:par>
                                <p:cTn id="22" presetID="3" presetClass="emph" presetSubtype="2" fill="hold" nodeType="withEffect">
                                  <p:stCondLst>
                                    <p:cond delay="0"/>
                                  </p:stCondLst>
                                  <p:childTnLst>
                                    <p:animClr clrSpc="rgb" dir="cw">
                                      <p:cBhvr override="childStyle">
                                        <p:cTn id="23" dur="500" fill="hold"/>
                                        <p:tgtEl>
                                          <p:spTgt spid="8">
                                            <p:txEl>
                                              <p:pRg st="1" end="1"/>
                                            </p:txEl>
                                          </p:spTgt>
                                        </p:tgtEl>
                                        <p:attrNameLst>
                                          <p:attrName>style.color</p:attrName>
                                        </p:attrNameLst>
                                      </p:cBhvr>
                                      <p:to>
                                        <a:srgbClr val="D8D8D8"/>
                                      </p:to>
                                    </p:animClr>
                                  </p:childTnLst>
                                </p:cTn>
                              </p:par>
                              <p:par>
                                <p:cTn id="24" presetID="3" presetClass="emph" presetSubtype="2" fill="hold" nodeType="withEffect">
                                  <p:stCondLst>
                                    <p:cond delay="0"/>
                                  </p:stCondLst>
                                  <p:childTnLst>
                                    <p:animClr clrSpc="rgb" dir="cw">
                                      <p:cBhvr override="childStyle">
                                        <p:cTn id="25" dur="500" fill="hold"/>
                                        <p:tgtEl>
                                          <p:spTgt spid="8">
                                            <p:txEl>
                                              <p:pRg st="2" end="2"/>
                                            </p:txEl>
                                          </p:spTgt>
                                        </p:tgtEl>
                                        <p:attrNameLst>
                                          <p:attrName>style.color</p:attrName>
                                        </p:attrNameLst>
                                      </p:cBhvr>
                                      <p:to>
                                        <a:srgbClr val="D8D8D8"/>
                                      </p:to>
                                    </p:animClr>
                                  </p:childTnLst>
                                </p:cTn>
                              </p:par>
                            </p:childTnLst>
                          </p:cTn>
                        </p:par>
                        <p:par>
                          <p:cTn id="26" fill="hold">
                            <p:stCondLst>
                              <p:cond delay="500"/>
                            </p:stCondLst>
                            <p:childTnLst>
                              <p:par>
                                <p:cTn id="27" presetID="1" presetClass="entr" presetSubtype="0" fill="hold" nodeType="afterEffect">
                                  <p:stCondLst>
                                    <p:cond delay="25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25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9" grpId="0"/>
      <p:bldP spid="8" grpId="0" build="allAtOnce"/>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64D507-2D90-4EDE-8761-CB027C3CAE0E}"/>
              </a:ext>
            </a:extLst>
          </p:cNvPr>
          <p:cNvSpPr>
            <a:spLocks noGrp="1"/>
          </p:cNvSpPr>
          <p:nvPr>
            <p:ph sz="quarter" idx="12"/>
          </p:nvPr>
        </p:nvSpPr>
        <p:spPr>
          <a:xfrm>
            <a:off x="386584" y="1192388"/>
            <a:ext cx="8423275" cy="3070050"/>
          </a:xfrm>
        </p:spPr>
        <p:txBody>
          <a:bodyPr/>
          <a:lstStyle/>
          <a:p>
            <a:pPr marL="0" indent="0">
              <a:buNone/>
            </a:pPr>
            <a:endParaRPr lang="en-GB" sz="1800"/>
          </a:p>
          <a:p>
            <a:pPr marL="0" indent="0">
              <a:buNone/>
            </a:pPr>
            <a:r>
              <a:rPr lang="en-GB" sz="1800"/>
              <a:t>What could </a:t>
            </a:r>
            <a:r>
              <a:rPr lang="en-GB" sz="1800" err="1"/>
              <a:t>InterMune</a:t>
            </a:r>
            <a:r>
              <a:rPr lang="en-GB" sz="1800"/>
              <a:t> have done differently?</a:t>
            </a:r>
          </a:p>
          <a:p>
            <a:endParaRPr lang="en-GB"/>
          </a:p>
          <a:p>
            <a:pPr lvl="1"/>
            <a:r>
              <a:rPr lang="en-GB" sz="1600"/>
              <a:t>Ask FDA for advice on their subgroup data</a:t>
            </a:r>
          </a:p>
          <a:p>
            <a:pPr lvl="1"/>
            <a:r>
              <a:rPr lang="en-GB" sz="1600"/>
              <a:t>Wait for Phase 3 INSPIRE results before making claims</a:t>
            </a:r>
          </a:p>
          <a:p>
            <a:pPr lvl="1"/>
            <a:r>
              <a:rPr lang="en-GB" sz="1600"/>
              <a:t>Present the data, in context, but do not promote</a:t>
            </a:r>
          </a:p>
        </p:txBody>
      </p:sp>
      <p:sp>
        <p:nvSpPr>
          <p:cNvPr id="3" name="Text Placeholder 2">
            <a:extLst>
              <a:ext uri="{FF2B5EF4-FFF2-40B4-BE49-F238E27FC236}">
                <a16:creationId xmlns:a16="http://schemas.microsoft.com/office/drawing/2014/main" id="{8C381744-0E74-417C-A88E-EBA6F89CC8DF}"/>
              </a:ext>
            </a:extLst>
          </p:cNvPr>
          <p:cNvSpPr>
            <a:spLocks noGrp="1"/>
          </p:cNvSpPr>
          <p:nvPr>
            <p:ph type="body" sz="quarter" idx="14"/>
          </p:nvPr>
        </p:nvSpPr>
        <p:spPr/>
        <p:txBody>
          <a:bodyPr/>
          <a:lstStyle/>
          <a:p>
            <a:r>
              <a:rPr lang="en-GB"/>
              <a:t>CHATBOX</a:t>
            </a:r>
          </a:p>
        </p:txBody>
      </p:sp>
      <p:sp>
        <p:nvSpPr>
          <p:cNvPr id="4" name="Text Placeholder 3">
            <a:extLst>
              <a:ext uri="{FF2B5EF4-FFF2-40B4-BE49-F238E27FC236}">
                <a16:creationId xmlns:a16="http://schemas.microsoft.com/office/drawing/2014/main" id="{FCB1E256-2C98-4119-BE33-825844184CE7}"/>
              </a:ext>
            </a:extLst>
          </p:cNvPr>
          <p:cNvSpPr>
            <a:spLocks noGrp="1"/>
          </p:cNvSpPr>
          <p:nvPr>
            <p:ph type="body" sz="quarter" idx="18"/>
          </p:nvPr>
        </p:nvSpPr>
        <p:spPr/>
        <p:txBody>
          <a:bodyPr/>
          <a:lstStyle/>
          <a:p>
            <a:endParaRPr lang="en-GB"/>
          </a:p>
        </p:txBody>
      </p:sp>
      <p:sp>
        <p:nvSpPr>
          <p:cNvPr id="5" name="Title 4">
            <a:extLst>
              <a:ext uri="{FF2B5EF4-FFF2-40B4-BE49-F238E27FC236}">
                <a16:creationId xmlns:a16="http://schemas.microsoft.com/office/drawing/2014/main" id="{64A1C5C8-1513-4C34-AE0F-150A57FC1C90}"/>
              </a:ext>
            </a:extLst>
          </p:cNvPr>
          <p:cNvSpPr>
            <a:spLocks noGrp="1"/>
          </p:cNvSpPr>
          <p:nvPr>
            <p:ph type="title"/>
          </p:nvPr>
        </p:nvSpPr>
        <p:spPr/>
        <p:txBody>
          <a:bodyPr/>
          <a:lstStyle/>
          <a:p>
            <a:r>
              <a:rPr lang="en-GB"/>
              <a:t>Knowledge Check </a:t>
            </a:r>
          </a:p>
        </p:txBody>
      </p:sp>
      <p:sp>
        <p:nvSpPr>
          <p:cNvPr id="8" name="Slide Number Placeholder 7">
            <a:extLst>
              <a:ext uri="{FF2B5EF4-FFF2-40B4-BE49-F238E27FC236}">
                <a16:creationId xmlns:a16="http://schemas.microsoft.com/office/drawing/2014/main" id="{50A1C1CC-8CE5-4079-90FF-89D8C2A8A0DF}"/>
              </a:ext>
            </a:extLst>
          </p:cNvPr>
          <p:cNvSpPr>
            <a:spLocks noGrp="1"/>
          </p:cNvSpPr>
          <p:nvPr>
            <p:ph type="sldNum" sz="quarter" idx="21"/>
          </p:nvPr>
        </p:nvSpPr>
        <p:spPr/>
        <p:txBody>
          <a:bodyPr/>
          <a:lstStyle/>
          <a:p>
            <a:fld id="{9F9F533D-B52E-4A2F-BF72-0ADD2D94BD75}" type="slidenum">
              <a:rPr lang="en-GB" smtClean="0"/>
              <a:pPr/>
              <a:t>23</a:t>
            </a:fld>
            <a:endParaRPr lang="en-GB"/>
          </a:p>
        </p:txBody>
      </p:sp>
      <p:sp>
        <p:nvSpPr>
          <p:cNvPr id="9" name="Date Placeholder 1">
            <a:extLst>
              <a:ext uri="{FF2B5EF4-FFF2-40B4-BE49-F238E27FC236}">
                <a16:creationId xmlns:a16="http://schemas.microsoft.com/office/drawing/2014/main" id="{0149E156-792E-431C-960E-4B0B0C6AF653}"/>
              </a:ext>
            </a:extLst>
          </p:cNvPr>
          <p:cNvSpPr txBox="1">
            <a:spLocks/>
          </p:cNvSpPr>
          <p:nvPr/>
        </p:nvSpPr>
        <p:spPr>
          <a:xfrm>
            <a:off x="2985247" y="4704001"/>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Fundamentals of Statistics: </a:t>
            </a:r>
            <a:r>
              <a:rPr lang="en-GB"/>
              <a:t>Multiplicity, Subgroups &amp; Missing Data</a:t>
            </a:r>
            <a:r>
              <a:rPr lang="en-US"/>
              <a:t> Webinar</a:t>
            </a:r>
            <a:endParaRPr lang="en-GB"/>
          </a:p>
        </p:txBody>
      </p:sp>
      <p:sp>
        <p:nvSpPr>
          <p:cNvPr id="6" name="TextBox 5">
            <a:extLst>
              <a:ext uri="{FF2B5EF4-FFF2-40B4-BE49-F238E27FC236}">
                <a16:creationId xmlns:a16="http://schemas.microsoft.com/office/drawing/2014/main" id="{08A7A809-6B87-47B8-8DA3-A18B6D005BFF}"/>
              </a:ext>
            </a:extLst>
          </p:cNvPr>
          <p:cNvSpPr txBox="1"/>
          <p:nvPr/>
        </p:nvSpPr>
        <p:spPr>
          <a:xfrm>
            <a:off x="6082393" y="165655"/>
            <a:ext cx="357790" cy="276999"/>
          </a:xfrm>
          <a:prstGeom prst="rect">
            <a:avLst/>
          </a:prstGeom>
          <a:noFill/>
        </p:spPr>
        <p:txBody>
          <a:bodyPr wrap="square" rtlCol="0">
            <a:spAutoFit/>
          </a:bodyPr>
          <a:lstStyle/>
          <a:p>
            <a:pPr marL="171450" indent="-171450">
              <a:buClr>
                <a:schemeClr val="tx1"/>
              </a:buClr>
              <a:buFont typeface="Arial" pitchFamily="34" charset="0"/>
              <a:buChar char="–"/>
            </a:pPr>
            <a:endParaRPr lang="en-GB" sz="1200" err="1"/>
          </a:p>
        </p:txBody>
      </p:sp>
      <p:pic>
        <p:nvPicPr>
          <p:cNvPr id="10" name="Graphic 9" descr="Head with gears">
            <a:extLst>
              <a:ext uri="{FF2B5EF4-FFF2-40B4-BE49-F238E27FC236}">
                <a16:creationId xmlns:a16="http://schemas.microsoft.com/office/drawing/2014/main" id="{0B8DCF43-BD99-4E0A-B4E9-1C27FB8BBF5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45003" y="232497"/>
            <a:ext cx="789392" cy="789392"/>
          </a:xfrm>
          <a:prstGeom prst="rect">
            <a:avLst/>
          </a:prstGeom>
        </p:spPr>
      </p:pic>
    </p:spTree>
    <p:extLst>
      <p:ext uri="{BB962C8B-B14F-4D97-AF65-F5344CB8AC3E}">
        <p14:creationId xmlns:p14="http://schemas.microsoft.com/office/powerpoint/2010/main" val="1618668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SK ">
  <a:themeElements>
    <a:clrScheme name="GSK 2017 4">
      <a:dk1>
        <a:srgbClr val="544F40"/>
      </a:dk1>
      <a:lt1>
        <a:srgbClr val="FFFFFF"/>
      </a:lt1>
      <a:dk2>
        <a:srgbClr val="15717D"/>
      </a:dk2>
      <a:lt2>
        <a:srgbClr val="F36633"/>
      </a:lt2>
      <a:accent1>
        <a:srgbClr val="F36633"/>
      </a:accent1>
      <a:accent2>
        <a:srgbClr val="544F40"/>
      </a:accent2>
      <a:accent3>
        <a:srgbClr val="008A00"/>
      </a:accent3>
      <a:accent4>
        <a:srgbClr val="BC1077"/>
      </a:accent4>
      <a:accent5>
        <a:srgbClr val="40488D"/>
      </a:accent5>
      <a:accent6>
        <a:srgbClr val="ED003C"/>
      </a:accent6>
      <a:hlink>
        <a:srgbClr val="F36633"/>
      </a:hlink>
      <a:folHlink>
        <a:srgbClr val="F36633"/>
      </a:folHlink>
    </a:clrScheme>
    <a:fontScheme name="GS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2"/>
        </a:solidFill>
        <a:ln>
          <a:noFill/>
          <a:headEnd/>
          <a:tailEnd/>
        </a:ln>
        <a:effectLst/>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marL="180975" indent="-180975" eaLnBrk="0" fontAlgn="auto" hangingPunct="0">
          <a:spcBef>
            <a:spcPts val="0"/>
          </a:spcBef>
          <a:spcAft>
            <a:spcPts val="0"/>
          </a:spcAft>
          <a:buClr>
            <a:schemeClr val="bg1"/>
          </a:buClr>
          <a:buFont typeface="Arial" pitchFamily="34" charset="0"/>
          <a:buChar char="–"/>
          <a:defRPr sz="1200" b="1" kern="0" dirty="0" err="1" smtClean="0">
            <a:solidFill>
              <a:srgbClr val="FFFFFF"/>
            </a:solidFill>
            <a:latin typeface="Arial"/>
          </a:defRPr>
        </a:defPPr>
      </a:lstStyle>
      <a:style>
        <a:lnRef idx="1">
          <a:schemeClr val="accent1"/>
        </a:lnRef>
        <a:fillRef idx="3">
          <a:schemeClr val="accent1"/>
        </a:fillRef>
        <a:effectRef idx="2">
          <a:schemeClr val="accent1"/>
        </a:effectRef>
        <a:fontRef idx="minor">
          <a:schemeClr val="lt1"/>
        </a:fontRef>
      </a:style>
    </a:spDef>
    <a:txDef>
      <a:spPr>
        <a:noFill/>
      </a:spPr>
      <a:bodyPr wrap="square" rtlCol="0">
        <a:spAutoFit/>
      </a:bodyPr>
      <a:lstStyle>
        <a:defPPr marL="171450" indent="-171450">
          <a:buClr>
            <a:schemeClr val="tx1"/>
          </a:buClr>
          <a:buFont typeface="Arial" pitchFamily="34" charset="0"/>
          <a:buChar char="–"/>
          <a:defRPr sz="1200" dirty="0" err="1" smtClean="0"/>
        </a:defPPr>
      </a:lstStyle>
    </a:txDef>
  </a:objectDefaults>
  <a:extraClrSchemeLst/>
  <a:extLst>
    <a:ext uri="{05A4C25C-085E-4340-85A3-A5531E510DB2}">
      <thm15:themeFamily xmlns:thm15="http://schemas.microsoft.com/office/thememl/2012/main" name="GSK_16x9 PowerPoint_V1_20170629" id="{B8F049B3-8A91-4FD3-B156-B44F80C0BC27}" vid="{B103CDC2-14D8-4A5C-86DD-96EA2A18BF3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d2f27799-0169-4b70-93d7-49e0001469b7">
      <UserInfo>
        <DisplayName>Raj Sharma</DisplayName>
        <AccountId>32</AccountId>
        <AccountType/>
      </UserInfo>
      <UserInfo>
        <DisplayName>David Leather</DisplayName>
        <AccountId>24</AccountId>
        <AccountType/>
      </UserInfo>
      <UserInfo>
        <DisplayName>Jon Robertson</DisplayName>
        <AccountId>10</AccountId>
        <AccountType/>
      </UserInfo>
      <UserInfo>
        <DisplayName>Nigel Dallow</DisplayName>
        <AccountId>20</AccountId>
        <AccountType/>
      </UserInfo>
      <UserInfo>
        <DisplayName>Emily Jarvis</DisplayName>
        <AccountId>13</AccountId>
        <AccountType/>
      </UserInfo>
      <UserInfo>
        <DisplayName>Agne Zarankaite</DisplayName>
        <AccountId>21</AccountId>
        <AccountType/>
      </UserInfo>
      <UserInfo>
        <DisplayName>Dawn Midwinter</DisplayName>
        <AccountId>25</AccountId>
        <AccountType/>
      </UserInfo>
      <UserInfo>
        <DisplayName>Zelie Bailes</DisplayName>
        <AccountId>33</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BDE2C101F8FE24EAE9C8B3E64B68458" ma:contentTypeVersion="8" ma:contentTypeDescription="Create a new document." ma:contentTypeScope="" ma:versionID="f13d9be91b28acf62ccaa10e213e4c8a">
  <xsd:schema xmlns:xsd="http://www.w3.org/2001/XMLSchema" xmlns:xs="http://www.w3.org/2001/XMLSchema" xmlns:p="http://schemas.microsoft.com/office/2006/metadata/properties" xmlns:ns2="b065ee36-be87-4344-8b29-f2acbb5bc7a3" xmlns:ns3="d2f27799-0169-4b70-93d7-49e0001469b7" targetNamespace="http://schemas.microsoft.com/office/2006/metadata/properties" ma:root="true" ma:fieldsID="cdeb94149ca64a908789746a34144e05" ns2:_="" ns3:_="">
    <xsd:import namespace="b065ee36-be87-4344-8b29-f2acbb5bc7a3"/>
    <xsd:import namespace="d2f27799-0169-4b70-93d7-49e0001469b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65ee36-be87-4344-8b29-f2acbb5bc7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2f27799-0169-4b70-93d7-49e0001469b7"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7F6992-6940-4143-AC62-96142C4EF750}">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d2f27799-0169-4b70-93d7-49e0001469b7"/>
    <ds:schemaRef ds:uri="b065ee36-be87-4344-8b29-f2acbb5bc7a3"/>
    <ds:schemaRef ds:uri="http://www.w3.org/XML/1998/namespace"/>
    <ds:schemaRef ds:uri="http://purl.org/dc/dcmitype/"/>
  </ds:schemaRefs>
</ds:datastoreItem>
</file>

<file path=customXml/itemProps2.xml><?xml version="1.0" encoding="utf-8"?>
<ds:datastoreItem xmlns:ds="http://schemas.openxmlformats.org/officeDocument/2006/customXml" ds:itemID="{A3FF14A3-0B79-4250-A823-8E178C64B25C}">
  <ds:schemaRefs>
    <ds:schemaRef ds:uri="b065ee36-be87-4344-8b29-f2acbb5bc7a3"/>
    <ds:schemaRef ds:uri="d2f27799-0169-4b70-93d7-49e0001469b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AD869F-BABB-40CE-B3FC-3DDCF75BCDE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232</TotalTime>
  <Words>1580</Words>
  <Application>Microsoft Office PowerPoint</Application>
  <PresentationFormat>On-screen Show (16:9)</PresentationFormat>
  <Paragraphs>214</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Wingdings</vt:lpstr>
      <vt:lpstr>GSK </vt:lpstr>
      <vt:lpstr>PowerPoint Presentation</vt:lpstr>
      <vt:lpstr>Subgroup Analyses – What is the problem?</vt:lpstr>
      <vt:lpstr>Subgroups Analyses – What is the problem?</vt:lpstr>
      <vt:lpstr>Subgroup analyses: What are they?</vt:lpstr>
      <vt:lpstr>Subgroup Analyses – Why Do We Need Them?</vt:lpstr>
      <vt:lpstr>What do we need to consider when interpretting subgroup data?</vt:lpstr>
      <vt:lpstr>Case Study: Leronlimab</vt:lpstr>
      <vt:lpstr>PowerPoint Presentation</vt:lpstr>
      <vt:lpstr>FDA statement</vt:lpstr>
      <vt:lpstr>Example: Trelegy COPD - IMPACT study</vt:lpstr>
      <vt:lpstr>Interaction Tests</vt:lpstr>
      <vt:lpstr>Subgroup Analyses – Statistician’s Perspective</vt:lpstr>
      <vt:lpstr>Some Alternative Approaches to Subgroup Analysis</vt:lpstr>
      <vt:lpstr>So what CAN we say?!</vt:lpstr>
      <vt:lpstr>Key Messages </vt:lpstr>
      <vt:lpstr>PowerPoint Presentation</vt:lpstr>
      <vt:lpstr>The Scott Harkonen Case</vt:lpstr>
      <vt:lpstr>Let the P-Hacking Begin</vt:lpstr>
      <vt:lpstr>Eureka!!!</vt:lpstr>
      <vt:lpstr>Confirmation Bias at Work</vt:lpstr>
      <vt:lpstr>Things Are Looking Up</vt:lpstr>
      <vt:lpstr>Something Just Hit The Fan</vt:lpstr>
      <vt:lpstr>Knowledge Check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Affairs Statistical Training</dc:title>
  <dc:creator>Zelie Bailes</dc:creator>
  <cp:lastModifiedBy>Steve Mallett</cp:lastModifiedBy>
  <cp:revision>4</cp:revision>
  <cp:lastPrinted>2022-01-06T16:10:08Z</cp:lastPrinted>
  <dcterms:created xsi:type="dcterms:W3CDTF">2021-08-16T16:14:15Z</dcterms:created>
  <dcterms:modified xsi:type="dcterms:W3CDTF">2025-11-27T15:30:16Z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0x0101001BDE2C101F8FE24EAE9C8B3E64B68458</vt:lpwstr>
  </property>
</Properties>
</file>