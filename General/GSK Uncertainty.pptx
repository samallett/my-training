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914" r:id="rId5"/>
    <p:sldId id="2145708067" r:id="rId6"/>
    <p:sldId id="2864" r:id="rId7"/>
    <p:sldId id="2145708109" r:id="rId8"/>
    <p:sldId id="2145708063" r:id="rId9"/>
    <p:sldId id="2817" r:id="rId10"/>
    <p:sldId id="2862" r:id="rId11"/>
    <p:sldId id="1873" r:id="rId12"/>
    <p:sldId id="2804" r:id="rId13"/>
    <p:sldId id="2870" r:id="rId14"/>
    <p:sldId id="2145708113" r:id="rId15"/>
    <p:sldId id="2145708171" r:id="rId16"/>
    <p:sldId id="2145708175" r:id="rId17"/>
    <p:sldId id="2145708174" r:id="rId18"/>
    <p:sldId id="2145708069" r:id="rId19"/>
  </p:sldIdLst>
  <p:sldSz cx="9144000" cy="5143500" type="screen16x9"/>
  <p:notesSz cx="6865938" cy="90471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ertainty (22min/15min)" id="{D5649482-5C0E-4FCE-9237-12A795FE360D}">
          <p14:sldIdLst>
            <p14:sldId id="2914"/>
            <p14:sldId id="2145708067"/>
            <p14:sldId id="2864"/>
            <p14:sldId id="2145708109"/>
            <p14:sldId id="2145708063"/>
            <p14:sldId id="2817"/>
            <p14:sldId id="2862"/>
            <p14:sldId id="1873"/>
            <p14:sldId id="2804"/>
            <p14:sldId id="2870"/>
            <p14:sldId id="2145708113"/>
            <p14:sldId id="2145708171"/>
            <p14:sldId id="2145708175"/>
            <p14:sldId id="2145708174"/>
            <p14:sldId id="21457080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52">
          <p15:clr>
            <a:srgbClr val="A4A3A4"/>
          </p15:clr>
        </p15:guide>
        <p15:guide id="2" orient="horz" pos="2685">
          <p15:clr>
            <a:srgbClr val="A4A3A4"/>
          </p15:clr>
        </p15:guide>
        <p15:guide id="3" pos="2879">
          <p15:clr>
            <a:srgbClr val="A4A3A4"/>
          </p15:clr>
        </p15:guide>
        <p15:guide id="4" pos="3027">
          <p15:clr>
            <a:srgbClr val="A4A3A4"/>
          </p15:clr>
        </p15:guide>
        <p15:guide id="5" pos="5533">
          <p15:clr>
            <a:srgbClr val="A4A3A4"/>
          </p15:clr>
        </p15:guide>
        <p15:guide id="6" pos="2733">
          <p15:clr>
            <a:srgbClr val="A4A3A4"/>
          </p15:clr>
        </p15:guide>
        <p15:guide id="7" pos="22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ich Davies" initials="RD" lastIdx="5" clrIdx="6">
    <p:extLst>
      <p:ext uri="{19B8F6BF-5375-455C-9EA6-DF929625EA0E}">
        <p15:presenceInfo xmlns:p15="http://schemas.microsoft.com/office/powerpoint/2012/main" userId="S::richard.y.davies@gsk.com::8b5f16ec-b0bb-430c-9137-91526ccc0ab4" providerId="AD"/>
      </p:ext>
    </p:extLst>
  </p:cmAuthor>
  <p:cmAuthor id="1" name="Zelie Bailes" initials="ZB" lastIdx="119" clrIdx="0">
    <p:extLst>
      <p:ext uri="{19B8F6BF-5375-455C-9EA6-DF929625EA0E}">
        <p15:presenceInfo xmlns:p15="http://schemas.microsoft.com/office/powerpoint/2012/main" userId="Zelie Bailes" providerId="None"/>
      </p:ext>
    </p:extLst>
  </p:cmAuthor>
  <p:cmAuthor id="8" name="Nigel Dallow" initials="ND" lastIdx="6" clrIdx="7">
    <p:extLst>
      <p:ext uri="{19B8F6BF-5375-455C-9EA6-DF929625EA0E}">
        <p15:presenceInfo xmlns:p15="http://schemas.microsoft.com/office/powerpoint/2012/main" userId="S::nigel.s.dallow@gsk.com::22126230-7899-40dc-9c70-c90d97679fcc" providerId="AD"/>
      </p:ext>
    </p:extLst>
  </p:cmAuthor>
  <p:cmAuthor id="2" name="Zelie Bailes" initials="ZB [2]" lastIdx="4" clrIdx="1">
    <p:extLst>
      <p:ext uri="{19B8F6BF-5375-455C-9EA6-DF929625EA0E}">
        <p15:presenceInfo xmlns:p15="http://schemas.microsoft.com/office/powerpoint/2012/main" userId="S::zelie.a.bailes@gsk.com::016fc419-2509-4044-b219-254c2702790b" providerId="AD"/>
      </p:ext>
    </p:extLst>
  </p:cmAuthor>
  <p:cmAuthor id="9" name="Nigel Dallow" initials="ND [2]" lastIdx="5" clrIdx="8">
    <p:extLst>
      <p:ext uri="{19B8F6BF-5375-455C-9EA6-DF929625EA0E}">
        <p15:presenceInfo xmlns:p15="http://schemas.microsoft.com/office/powerpoint/2012/main" userId="Nigel Dallow" providerId="None"/>
      </p:ext>
    </p:extLst>
  </p:cmAuthor>
  <p:cmAuthor id="3" name="Katie Thorn" initials="KT" lastIdx="126" clrIdx="2">
    <p:extLst>
      <p:ext uri="{19B8F6BF-5375-455C-9EA6-DF929625EA0E}">
        <p15:presenceInfo xmlns:p15="http://schemas.microsoft.com/office/powerpoint/2012/main" userId="Katie Thorn" providerId="None"/>
      </p:ext>
    </p:extLst>
  </p:cmAuthor>
  <p:cmAuthor id="10" name="Dawn Midwinter" initials="DM [2]" lastIdx="21" clrIdx="9">
    <p:extLst>
      <p:ext uri="{19B8F6BF-5375-455C-9EA6-DF929625EA0E}">
        <p15:presenceInfo xmlns:p15="http://schemas.microsoft.com/office/powerpoint/2012/main" userId="Dawn Midwinter" providerId="None"/>
      </p:ext>
    </p:extLst>
  </p:cmAuthor>
  <p:cmAuthor id="4" name="Agne Zarankaite" initials="AZ" lastIdx="129" clrIdx="3">
    <p:extLst>
      <p:ext uri="{19B8F6BF-5375-455C-9EA6-DF929625EA0E}">
        <p15:presenceInfo xmlns:p15="http://schemas.microsoft.com/office/powerpoint/2012/main" userId="Agne Zarankaite" providerId="None"/>
      </p:ext>
    </p:extLst>
  </p:cmAuthor>
  <p:cmAuthor id="11" name="Alisa Urbano" initials="AU" lastIdx="6" clrIdx="10">
    <p:extLst>
      <p:ext uri="{19B8F6BF-5375-455C-9EA6-DF929625EA0E}">
        <p15:presenceInfo xmlns:p15="http://schemas.microsoft.com/office/powerpoint/2012/main" userId="Alisa Urbano" providerId="None"/>
      </p:ext>
    </p:extLst>
  </p:cmAuthor>
  <p:cmAuthor id="5" name="Dawn Midwinter" initials="DM" lastIdx="18" clrIdx="4">
    <p:extLst>
      <p:ext uri="{19B8F6BF-5375-455C-9EA6-DF929625EA0E}">
        <p15:presenceInfo xmlns:p15="http://schemas.microsoft.com/office/powerpoint/2012/main" userId="S::dawn.a.midwinter@gsk.com::12e9609d-3428-473d-a14d-db946382f5a8" providerId="AD"/>
      </p:ext>
    </p:extLst>
  </p:cmAuthor>
  <p:cmAuthor id="12" name="Zoe Guy" initials="ZG" lastIdx="7" clrIdx="11">
    <p:extLst>
      <p:ext uri="{19B8F6BF-5375-455C-9EA6-DF929625EA0E}">
        <p15:presenceInfo xmlns:p15="http://schemas.microsoft.com/office/powerpoint/2012/main" userId="Zoe Guy" providerId="None"/>
      </p:ext>
    </p:extLst>
  </p:cmAuthor>
  <p:cmAuthor id="6" name="Anny Stari" initials="AS" lastIdx="1" clrIdx="5">
    <p:extLst>
      <p:ext uri="{19B8F6BF-5375-455C-9EA6-DF929625EA0E}">
        <p15:presenceInfo xmlns:p15="http://schemas.microsoft.com/office/powerpoint/2012/main" userId="S::anny.x.stari@gsk.com::db1607f0-112a-4109-a9d7-c266bb6f20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152C56"/>
    <a:srgbClr val="2F81A6"/>
    <a:srgbClr val="0F2842"/>
    <a:srgbClr val="163E51"/>
    <a:srgbClr val="D5D7EC"/>
    <a:srgbClr val="F9C6BE"/>
    <a:srgbClr val="BC1077"/>
    <a:srgbClr val="9E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326" autoAdjust="0"/>
    <p:restoredTop sz="67215" autoAdjust="0"/>
  </p:normalViewPr>
  <p:slideViewPr>
    <p:cSldViewPr snapToGrid="0">
      <p:cViewPr varScale="1">
        <p:scale>
          <a:sx n="96" d="100"/>
          <a:sy n="96" d="100"/>
        </p:scale>
        <p:origin x="1584" y="78"/>
      </p:cViewPr>
      <p:guideLst>
        <p:guide orient="horz" pos="752"/>
        <p:guide orient="horz" pos="2685"/>
        <p:guide pos="2879"/>
        <p:guide pos="3027"/>
        <p:guide pos="5533"/>
        <p:guide pos="2733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1EFFB9-BD04-49BD-9694-02B3F4A9B72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396139CA-4DC3-48EA-8CBA-B1D44B8C690F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GB" sz="1800"/>
            <a:t>Uncertainty exists, acknowledge it</a:t>
          </a:r>
        </a:p>
      </dgm:t>
    </dgm:pt>
    <dgm:pt modelId="{00854F48-D91F-47A1-A7C3-A30C6A2A49EE}" type="parTrans" cxnId="{B18F193B-40D0-4EE1-B589-7EEBB126A3FD}">
      <dgm:prSet/>
      <dgm:spPr/>
      <dgm:t>
        <a:bodyPr/>
        <a:lstStyle/>
        <a:p>
          <a:endParaRPr lang="en-GB" sz="1400"/>
        </a:p>
      </dgm:t>
    </dgm:pt>
    <dgm:pt modelId="{47620660-F6FA-4B08-8C3A-723AD425FCDA}" type="sibTrans" cxnId="{B18F193B-40D0-4EE1-B589-7EEBB126A3FD}">
      <dgm:prSet/>
      <dgm:spPr/>
      <dgm:t>
        <a:bodyPr/>
        <a:lstStyle/>
        <a:p>
          <a:endParaRPr lang="en-GB" sz="1400"/>
        </a:p>
      </dgm:t>
    </dgm:pt>
    <dgm:pt modelId="{B2BC8E56-6421-40F1-A752-CC45BA8F9896}">
      <dgm:prSet phldrT="[Text]" custT="1"/>
      <dgm:spPr>
        <a:solidFill>
          <a:schemeClr val="bg2"/>
        </a:solidFill>
      </dgm:spPr>
      <dgm:t>
        <a:bodyPr/>
        <a:lstStyle/>
        <a:p>
          <a:r>
            <a:rPr lang="en-GB" sz="1800"/>
            <a:t>What do you need to do?</a:t>
          </a:r>
        </a:p>
      </dgm:t>
    </dgm:pt>
    <dgm:pt modelId="{E35343CF-07C8-465D-9389-8800863811D3}" type="parTrans" cxnId="{59E992FE-E2CB-46C6-A60D-0F7221D391E4}">
      <dgm:prSet/>
      <dgm:spPr/>
      <dgm:t>
        <a:bodyPr/>
        <a:lstStyle/>
        <a:p>
          <a:endParaRPr lang="en-GB" sz="1400"/>
        </a:p>
      </dgm:t>
    </dgm:pt>
    <dgm:pt modelId="{C4C9F067-9821-453E-BBB3-9B063265FAAD}" type="sibTrans" cxnId="{59E992FE-E2CB-46C6-A60D-0F7221D391E4}">
      <dgm:prSet/>
      <dgm:spPr/>
      <dgm:t>
        <a:bodyPr/>
        <a:lstStyle/>
        <a:p>
          <a:endParaRPr lang="en-GB" sz="1400"/>
        </a:p>
      </dgm:t>
    </dgm:pt>
    <dgm:pt modelId="{0FEB305D-9D3D-40E3-9B11-D606B5B4CFC5}">
      <dgm:prSet/>
      <dgm:spPr>
        <a:ln>
          <a:solidFill>
            <a:schemeClr val="accent5"/>
          </a:solidFill>
        </a:ln>
      </dgm:spPr>
      <dgm:t>
        <a:bodyPr/>
        <a:lstStyle/>
        <a:p>
          <a:r>
            <a:rPr lang="en-GB"/>
            <a:t>Identical trials do not give identical results.</a:t>
          </a:r>
        </a:p>
      </dgm:t>
    </dgm:pt>
    <dgm:pt modelId="{269C29B0-D780-4FA6-ABA5-2BC3D53DAB53}" type="parTrans" cxnId="{AE744C34-49BA-49BD-A147-D9085358F35B}">
      <dgm:prSet/>
      <dgm:spPr/>
      <dgm:t>
        <a:bodyPr/>
        <a:lstStyle/>
        <a:p>
          <a:endParaRPr lang="en-GB"/>
        </a:p>
      </dgm:t>
    </dgm:pt>
    <dgm:pt modelId="{7C8A264C-B2B5-4262-8EF8-FEDC94D8C42F}" type="sibTrans" cxnId="{AE744C34-49BA-49BD-A147-D9085358F35B}">
      <dgm:prSet/>
      <dgm:spPr/>
      <dgm:t>
        <a:bodyPr/>
        <a:lstStyle/>
        <a:p>
          <a:endParaRPr lang="en-GB"/>
        </a:p>
      </dgm:t>
    </dgm:pt>
    <dgm:pt modelId="{43A48367-6EF7-4F1B-BE15-DAD70FCC1AB9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GB"/>
            <a:t>Don’t take a result as </a:t>
          </a:r>
          <a:r>
            <a:rPr lang="en-GB" b="1"/>
            <a:t>truth</a:t>
          </a:r>
          <a:endParaRPr lang="en-GB"/>
        </a:p>
      </dgm:t>
    </dgm:pt>
    <dgm:pt modelId="{EF2940C4-C654-4A90-8FAC-5C60E8BFA1BD}" type="parTrans" cxnId="{AB9D06E6-3E27-4ED4-95C0-F341E39CCCAB}">
      <dgm:prSet/>
      <dgm:spPr/>
      <dgm:t>
        <a:bodyPr/>
        <a:lstStyle/>
        <a:p>
          <a:endParaRPr lang="en-GB"/>
        </a:p>
      </dgm:t>
    </dgm:pt>
    <dgm:pt modelId="{C8CD75AC-532E-447F-B1A4-E21EE9CF8528}" type="sibTrans" cxnId="{AB9D06E6-3E27-4ED4-95C0-F341E39CCCAB}">
      <dgm:prSet/>
      <dgm:spPr/>
      <dgm:t>
        <a:bodyPr/>
        <a:lstStyle/>
        <a:p>
          <a:endParaRPr lang="en-GB"/>
        </a:p>
      </dgm:t>
    </dgm:pt>
    <dgm:pt modelId="{5F656BB2-1D61-4853-A2BA-8A0526063265}">
      <dgm:prSet/>
      <dgm:spPr>
        <a:ln>
          <a:solidFill>
            <a:schemeClr val="accent5"/>
          </a:solidFill>
        </a:ln>
      </dgm:spPr>
      <dgm:t>
        <a:bodyPr/>
        <a:lstStyle/>
        <a:p>
          <a:r>
            <a:rPr lang="en-GB"/>
            <a:t>Confidence intervals and standard errors help us communicate this variability. </a:t>
          </a:r>
        </a:p>
      </dgm:t>
    </dgm:pt>
    <dgm:pt modelId="{BA0C5364-82AA-4888-AD2B-DABFE1760523}" type="parTrans" cxnId="{91D80E69-7643-4486-B6CB-AAADDF3E6C23}">
      <dgm:prSet/>
      <dgm:spPr/>
      <dgm:t>
        <a:bodyPr/>
        <a:lstStyle/>
        <a:p>
          <a:endParaRPr lang="en-GB"/>
        </a:p>
      </dgm:t>
    </dgm:pt>
    <dgm:pt modelId="{9E02A037-7146-4109-899E-12AA99E39186}" type="sibTrans" cxnId="{91D80E69-7643-4486-B6CB-AAADDF3E6C23}">
      <dgm:prSet/>
      <dgm:spPr/>
      <dgm:t>
        <a:bodyPr/>
        <a:lstStyle/>
        <a:p>
          <a:endParaRPr lang="en-GB"/>
        </a:p>
      </dgm:t>
    </dgm:pt>
    <dgm:pt modelId="{85DECB26-9B5F-4BC8-B8DD-592083569B4E}">
      <dgm:prSet/>
      <dgm:spPr>
        <a:ln>
          <a:solidFill>
            <a:schemeClr val="accent5"/>
          </a:solidFill>
        </a:ln>
      </dgm:spPr>
      <dgm:t>
        <a:bodyPr/>
        <a:lstStyle/>
        <a:p>
          <a:r>
            <a:rPr lang="en-GB"/>
            <a:t>Our result is an estimate - not the true effect. </a:t>
          </a:r>
        </a:p>
      </dgm:t>
    </dgm:pt>
    <dgm:pt modelId="{8EC4A7E6-5231-41E8-B4DC-9D4B17696C6B}" type="parTrans" cxnId="{B701D7B9-024D-4D29-84CA-439BE3639A0B}">
      <dgm:prSet/>
      <dgm:spPr/>
      <dgm:t>
        <a:bodyPr/>
        <a:lstStyle/>
        <a:p>
          <a:endParaRPr lang="en-GB"/>
        </a:p>
      </dgm:t>
    </dgm:pt>
    <dgm:pt modelId="{2CDADBCC-414E-4404-A368-43E0E6407B3F}" type="sibTrans" cxnId="{B701D7B9-024D-4D29-84CA-439BE3639A0B}">
      <dgm:prSet/>
      <dgm:spPr/>
      <dgm:t>
        <a:bodyPr/>
        <a:lstStyle/>
        <a:p>
          <a:endParaRPr lang="en-GB"/>
        </a:p>
      </dgm:t>
    </dgm:pt>
    <dgm:pt modelId="{E82BBBDE-FFEB-409E-986E-03F5D536A2CB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GB"/>
            <a:t>Acknowledge and know the level of uncertainty in the estimate you are quoting in you in claims</a:t>
          </a:r>
        </a:p>
      </dgm:t>
    </dgm:pt>
    <dgm:pt modelId="{D7C320C3-2F7E-4512-B66E-1109D397A517}" type="parTrans" cxnId="{FC6D3A46-0C4A-4FC3-8A11-A8EE3EC90E7C}">
      <dgm:prSet/>
      <dgm:spPr/>
      <dgm:t>
        <a:bodyPr/>
        <a:lstStyle/>
        <a:p>
          <a:endParaRPr lang="en-GB"/>
        </a:p>
      </dgm:t>
    </dgm:pt>
    <dgm:pt modelId="{0AA22266-2CD9-4117-86F9-A4A87E059603}" type="sibTrans" cxnId="{FC6D3A46-0C4A-4FC3-8A11-A8EE3EC90E7C}">
      <dgm:prSet/>
      <dgm:spPr/>
      <dgm:t>
        <a:bodyPr/>
        <a:lstStyle/>
        <a:p>
          <a:endParaRPr lang="en-GB"/>
        </a:p>
      </dgm:t>
    </dgm:pt>
    <dgm:pt modelId="{3FBF6750-6820-42F6-B5BF-3999159EEBE2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GB"/>
            <a:t>Remember to consider both statistical significance </a:t>
          </a:r>
          <a:r>
            <a:rPr lang="en-GB" i="1"/>
            <a:t>and</a:t>
          </a:r>
          <a:r>
            <a:rPr lang="en-GB"/>
            <a:t> clinical relevance.</a:t>
          </a:r>
        </a:p>
      </dgm:t>
    </dgm:pt>
    <dgm:pt modelId="{BA4AF68C-7B6B-43AC-BC25-98669C505C53}" type="parTrans" cxnId="{A6011F4E-5C09-481B-9B55-3F9F84BCB282}">
      <dgm:prSet/>
      <dgm:spPr/>
      <dgm:t>
        <a:bodyPr/>
        <a:lstStyle/>
        <a:p>
          <a:endParaRPr lang="en-GB"/>
        </a:p>
      </dgm:t>
    </dgm:pt>
    <dgm:pt modelId="{D5E85D5C-FD5F-40B2-9019-4B12A890D062}" type="sibTrans" cxnId="{A6011F4E-5C09-481B-9B55-3F9F84BCB282}">
      <dgm:prSet/>
      <dgm:spPr/>
      <dgm:t>
        <a:bodyPr/>
        <a:lstStyle/>
        <a:p>
          <a:endParaRPr lang="en-GB"/>
        </a:p>
      </dgm:t>
    </dgm:pt>
    <dgm:pt modelId="{447DD49A-06A4-4E6D-8A8C-3BCE2337070F}" type="pres">
      <dgm:prSet presAssocID="{931EFFB9-BD04-49BD-9694-02B3F4A9B724}" presName="linear" presStyleCnt="0">
        <dgm:presLayoutVars>
          <dgm:dir/>
          <dgm:animLvl val="lvl"/>
          <dgm:resizeHandles val="exact"/>
        </dgm:presLayoutVars>
      </dgm:prSet>
      <dgm:spPr/>
    </dgm:pt>
    <dgm:pt modelId="{7ADD2E8F-30C1-42D1-ACE9-C545D2B2866D}" type="pres">
      <dgm:prSet presAssocID="{396139CA-4DC3-48EA-8CBA-B1D44B8C690F}" presName="parentLin" presStyleCnt="0"/>
      <dgm:spPr/>
    </dgm:pt>
    <dgm:pt modelId="{347990ED-8D0C-4161-B372-9B025C95341E}" type="pres">
      <dgm:prSet presAssocID="{396139CA-4DC3-48EA-8CBA-B1D44B8C690F}" presName="parentLeftMargin" presStyleLbl="node1" presStyleIdx="0" presStyleCnt="2"/>
      <dgm:spPr/>
    </dgm:pt>
    <dgm:pt modelId="{C08FE6A4-AFAA-401F-8788-5B2EF4404F28}" type="pres">
      <dgm:prSet presAssocID="{396139CA-4DC3-48EA-8CBA-B1D44B8C690F}" presName="parentText" presStyleLbl="node1" presStyleIdx="0" presStyleCnt="2" custScaleY="81813">
        <dgm:presLayoutVars>
          <dgm:chMax val="0"/>
          <dgm:bulletEnabled val="1"/>
        </dgm:presLayoutVars>
      </dgm:prSet>
      <dgm:spPr/>
    </dgm:pt>
    <dgm:pt modelId="{33E3D091-0F1F-4AD1-9244-AF479C03FFCB}" type="pres">
      <dgm:prSet presAssocID="{396139CA-4DC3-48EA-8CBA-B1D44B8C690F}" presName="negativeSpace" presStyleCnt="0"/>
      <dgm:spPr/>
    </dgm:pt>
    <dgm:pt modelId="{E312D576-2262-4902-9BB8-7378FCFD3F79}" type="pres">
      <dgm:prSet presAssocID="{396139CA-4DC3-48EA-8CBA-B1D44B8C690F}" presName="childText" presStyleLbl="conFgAcc1" presStyleIdx="0" presStyleCnt="2" custScaleY="117620" custLinFactNeighborX="4" custLinFactNeighborY="-5390">
        <dgm:presLayoutVars>
          <dgm:bulletEnabled val="1"/>
        </dgm:presLayoutVars>
      </dgm:prSet>
      <dgm:spPr/>
    </dgm:pt>
    <dgm:pt modelId="{FFE15786-8A0D-4C7A-BEFF-0A1922236FC7}" type="pres">
      <dgm:prSet presAssocID="{47620660-F6FA-4B08-8C3A-723AD425FCDA}" presName="spaceBetweenRectangles" presStyleCnt="0"/>
      <dgm:spPr/>
    </dgm:pt>
    <dgm:pt modelId="{E578B430-5CF0-4DB2-B2F8-4609B5F4FA42}" type="pres">
      <dgm:prSet presAssocID="{B2BC8E56-6421-40F1-A752-CC45BA8F9896}" presName="parentLin" presStyleCnt="0"/>
      <dgm:spPr/>
    </dgm:pt>
    <dgm:pt modelId="{A523611D-3F6A-4FE1-AEE5-A5BF0209E934}" type="pres">
      <dgm:prSet presAssocID="{B2BC8E56-6421-40F1-A752-CC45BA8F9896}" presName="parentLeftMargin" presStyleLbl="node1" presStyleIdx="0" presStyleCnt="2"/>
      <dgm:spPr/>
    </dgm:pt>
    <dgm:pt modelId="{4DB2581C-ADBC-4738-93A9-430B6ACEF38A}" type="pres">
      <dgm:prSet presAssocID="{B2BC8E56-6421-40F1-A752-CC45BA8F9896}" presName="parentText" presStyleLbl="node1" presStyleIdx="1" presStyleCnt="2" custScaleY="81813">
        <dgm:presLayoutVars>
          <dgm:chMax val="0"/>
          <dgm:bulletEnabled val="1"/>
        </dgm:presLayoutVars>
      </dgm:prSet>
      <dgm:spPr/>
    </dgm:pt>
    <dgm:pt modelId="{A5751C39-E111-461D-9F50-68F29BA3FF36}" type="pres">
      <dgm:prSet presAssocID="{B2BC8E56-6421-40F1-A752-CC45BA8F9896}" presName="negativeSpace" presStyleCnt="0"/>
      <dgm:spPr/>
    </dgm:pt>
    <dgm:pt modelId="{887D9A82-0F84-4900-95BC-A421E82387A4}" type="pres">
      <dgm:prSet presAssocID="{B2BC8E56-6421-40F1-A752-CC45BA8F9896}" presName="childText" presStyleLbl="conFgAcc1" presStyleIdx="1" presStyleCnt="2" custLinFactNeighborX="4" custLinFactNeighborY="-9799">
        <dgm:presLayoutVars>
          <dgm:bulletEnabled val="1"/>
        </dgm:presLayoutVars>
      </dgm:prSet>
      <dgm:spPr/>
    </dgm:pt>
  </dgm:ptLst>
  <dgm:cxnLst>
    <dgm:cxn modelId="{FCF5A112-E0EC-416E-AD14-955723583FB3}" type="presOf" srcId="{396139CA-4DC3-48EA-8CBA-B1D44B8C690F}" destId="{347990ED-8D0C-4161-B372-9B025C95341E}" srcOrd="0" destOrd="0" presId="urn:microsoft.com/office/officeart/2005/8/layout/list1"/>
    <dgm:cxn modelId="{879F5732-A7F5-4E18-8332-FA859B436949}" type="presOf" srcId="{43A48367-6EF7-4F1B-BE15-DAD70FCC1AB9}" destId="{887D9A82-0F84-4900-95BC-A421E82387A4}" srcOrd="0" destOrd="0" presId="urn:microsoft.com/office/officeart/2005/8/layout/list1"/>
    <dgm:cxn modelId="{AE744C34-49BA-49BD-A147-D9085358F35B}" srcId="{396139CA-4DC3-48EA-8CBA-B1D44B8C690F}" destId="{0FEB305D-9D3D-40E3-9B11-D606B5B4CFC5}" srcOrd="0" destOrd="0" parTransId="{269C29B0-D780-4FA6-ABA5-2BC3D53DAB53}" sibTransId="{7C8A264C-B2B5-4262-8EF8-FEDC94D8C42F}"/>
    <dgm:cxn modelId="{B18F193B-40D0-4EE1-B589-7EEBB126A3FD}" srcId="{931EFFB9-BD04-49BD-9694-02B3F4A9B724}" destId="{396139CA-4DC3-48EA-8CBA-B1D44B8C690F}" srcOrd="0" destOrd="0" parTransId="{00854F48-D91F-47A1-A7C3-A30C6A2A49EE}" sibTransId="{47620660-F6FA-4B08-8C3A-723AD425FCDA}"/>
    <dgm:cxn modelId="{6D39803B-44C4-4EF1-8D68-286D69982106}" type="presOf" srcId="{B2BC8E56-6421-40F1-A752-CC45BA8F9896}" destId="{A523611D-3F6A-4FE1-AEE5-A5BF0209E934}" srcOrd="0" destOrd="0" presId="urn:microsoft.com/office/officeart/2005/8/layout/list1"/>
    <dgm:cxn modelId="{D1ECF65E-4864-404E-B14B-C021716D4D16}" type="presOf" srcId="{396139CA-4DC3-48EA-8CBA-B1D44B8C690F}" destId="{C08FE6A4-AFAA-401F-8788-5B2EF4404F28}" srcOrd="1" destOrd="0" presId="urn:microsoft.com/office/officeart/2005/8/layout/list1"/>
    <dgm:cxn modelId="{FC6D3A46-0C4A-4FC3-8A11-A8EE3EC90E7C}" srcId="{B2BC8E56-6421-40F1-A752-CC45BA8F9896}" destId="{E82BBBDE-FFEB-409E-986E-03F5D536A2CB}" srcOrd="1" destOrd="0" parTransId="{D7C320C3-2F7E-4512-B66E-1109D397A517}" sibTransId="{0AA22266-2CD9-4117-86F9-A4A87E059603}"/>
    <dgm:cxn modelId="{91D80E69-7643-4486-B6CB-AAADDF3E6C23}" srcId="{396139CA-4DC3-48EA-8CBA-B1D44B8C690F}" destId="{5F656BB2-1D61-4853-A2BA-8A0526063265}" srcOrd="2" destOrd="0" parTransId="{BA0C5364-82AA-4888-AD2B-DABFE1760523}" sibTransId="{9E02A037-7146-4109-899E-12AA99E39186}"/>
    <dgm:cxn modelId="{CCC9724D-815D-4EB6-8E58-C32E9081799E}" type="presOf" srcId="{85DECB26-9B5F-4BC8-B8DD-592083569B4E}" destId="{E312D576-2262-4902-9BB8-7378FCFD3F79}" srcOrd="0" destOrd="1" presId="urn:microsoft.com/office/officeart/2005/8/layout/list1"/>
    <dgm:cxn modelId="{A6011F4E-5C09-481B-9B55-3F9F84BCB282}" srcId="{B2BC8E56-6421-40F1-A752-CC45BA8F9896}" destId="{3FBF6750-6820-42F6-B5BF-3999159EEBE2}" srcOrd="2" destOrd="0" parTransId="{BA4AF68C-7B6B-43AC-BC25-98669C505C53}" sibTransId="{D5E85D5C-FD5F-40B2-9019-4B12A890D062}"/>
    <dgm:cxn modelId="{B701D7B9-024D-4D29-84CA-439BE3639A0B}" srcId="{396139CA-4DC3-48EA-8CBA-B1D44B8C690F}" destId="{85DECB26-9B5F-4BC8-B8DD-592083569B4E}" srcOrd="1" destOrd="0" parTransId="{8EC4A7E6-5231-41E8-B4DC-9D4B17696C6B}" sibTransId="{2CDADBCC-414E-4404-A368-43E0E6407B3F}"/>
    <dgm:cxn modelId="{689193BD-23F3-4128-9309-21A3DEF7CE95}" type="presOf" srcId="{5F656BB2-1D61-4853-A2BA-8A0526063265}" destId="{E312D576-2262-4902-9BB8-7378FCFD3F79}" srcOrd="0" destOrd="2" presId="urn:microsoft.com/office/officeart/2005/8/layout/list1"/>
    <dgm:cxn modelId="{A32B37D9-93A6-4AAE-83CA-1C3EF3C1E8E2}" type="presOf" srcId="{B2BC8E56-6421-40F1-A752-CC45BA8F9896}" destId="{4DB2581C-ADBC-4738-93A9-430B6ACEF38A}" srcOrd="1" destOrd="0" presId="urn:microsoft.com/office/officeart/2005/8/layout/list1"/>
    <dgm:cxn modelId="{D858AEE1-888A-4A09-920E-E3EFE4A1C074}" type="presOf" srcId="{931EFFB9-BD04-49BD-9694-02B3F4A9B724}" destId="{447DD49A-06A4-4E6D-8A8C-3BCE2337070F}" srcOrd="0" destOrd="0" presId="urn:microsoft.com/office/officeart/2005/8/layout/list1"/>
    <dgm:cxn modelId="{FD7015E5-770B-4F75-A9C3-F5570AB768EC}" type="presOf" srcId="{0FEB305D-9D3D-40E3-9B11-D606B5B4CFC5}" destId="{E312D576-2262-4902-9BB8-7378FCFD3F79}" srcOrd="0" destOrd="0" presId="urn:microsoft.com/office/officeart/2005/8/layout/list1"/>
    <dgm:cxn modelId="{AB9D06E6-3E27-4ED4-95C0-F341E39CCCAB}" srcId="{B2BC8E56-6421-40F1-A752-CC45BA8F9896}" destId="{43A48367-6EF7-4F1B-BE15-DAD70FCC1AB9}" srcOrd="0" destOrd="0" parTransId="{EF2940C4-C654-4A90-8FAC-5C60E8BFA1BD}" sibTransId="{C8CD75AC-532E-447F-B1A4-E21EE9CF8528}"/>
    <dgm:cxn modelId="{3B2250E8-BAF0-4EEE-AA39-F43E4AE905A1}" type="presOf" srcId="{3FBF6750-6820-42F6-B5BF-3999159EEBE2}" destId="{887D9A82-0F84-4900-95BC-A421E82387A4}" srcOrd="0" destOrd="2" presId="urn:microsoft.com/office/officeart/2005/8/layout/list1"/>
    <dgm:cxn modelId="{59E992FE-E2CB-46C6-A60D-0F7221D391E4}" srcId="{931EFFB9-BD04-49BD-9694-02B3F4A9B724}" destId="{B2BC8E56-6421-40F1-A752-CC45BA8F9896}" srcOrd="1" destOrd="0" parTransId="{E35343CF-07C8-465D-9389-8800863811D3}" sibTransId="{C4C9F067-9821-453E-BBB3-9B063265FAAD}"/>
    <dgm:cxn modelId="{B811ACFE-F141-4531-AE45-1C60D3236BAD}" type="presOf" srcId="{E82BBBDE-FFEB-409E-986E-03F5D536A2CB}" destId="{887D9A82-0F84-4900-95BC-A421E82387A4}" srcOrd="0" destOrd="1" presId="urn:microsoft.com/office/officeart/2005/8/layout/list1"/>
    <dgm:cxn modelId="{0454CE2D-C9BC-4BE9-ABCA-9CBEE81DEA32}" type="presParOf" srcId="{447DD49A-06A4-4E6D-8A8C-3BCE2337070F}" destId="{7ADD2E8F-30C1-42D1-ACE9-C545D2B2866D}" srcOrd="0" destOrd="0" presId="urn:microsoft.com/office/officeart/2005/8/layout/list1"/>
    <dgm:cxn modelId="{8D86E326-658F-4B92-87FC-D5DE2E8AC35E}" type="presParOf" srcId="{7ADD2E8F-30C1-42D1-ACE9-C545D2B2866D}" destId="{347990ED-8D0C-4161-B372-9B025C95341E}" srcOrd="0" destOrd="0" presId="urn:microsoft.com/office/officeart/2005/8/layout/list1"/>
    <dgm:cxn modelId="{ACE9C12D-09CB-4213-9B8D-B1C965B3D280}" type="presParOf" srcId="{7ADD2E8F-30C1-42D1-ACE9-C545D2B2866D}" destId="{C08FE6A4-AFAA-401F-8788-5B2EF4404F28}" srcOrd="1" destOrd="0" presId="urn:microsoft.com/office/officeart/2005/8/layout/list1"/>
    <dgm:cxn modelId="{AFC95DF0-129F-4D85-B26E-7912580A80F8}" type="presParOf" srcId="{447DD49A-06A4-4E6D-8A8C-3BCE2337070F}" destId="{33E3D091-0F1F-4AD1-9244-AF479C03FFCB}" srcOrd="1" destOrd="0" presId="urn:microsoft.com/office/officeart/2005/8/layout/list1"/>
    <dgm:cxn modelId="{A492B2A8-8B18-4299-A7DA-002C1F1931BD}" type="presParOf" srcId="{447DD49A-06A4-4E6D-8A8C-3BCE2337070F}" destId="{E312D576-2262-4902-9BB8-7378FCFD3F79}" srcOrd="2" destOrd="0" presId="urn:microsoft.com/office/officeart/2005/8/layout/list1"/>
    <dgm:cxn modelId="{210CC30D-B3DC-4C69-B04D-98320E47B4CD}" type="presParOf" srcId="{447DD49A-06A4-4E6D-8A8C-3BCE2337070F}" destId="{FFE15786-8A0D-4C7A-BEFF-0A1922236FC7}" srcOrd="3" destOrd="0" presId="urn:microsoft.com/office/officeart/2005/8/layout/list1"/>
    <dgm:cxn modelId="{8CB62076-0130-4ACF-9C7D-C1EF4EDBFA3D}" type="presParOf" srcId="{447DD49A-06A4-4E6D-8A8C-3BCE2337070F}" destId="{E578B430-5CF0-4DB2-B2F8-4609B5F4FA42}" srcOrd="4" destOrd="0" presId="urn:microsoft.com/office/officeart/2005/8/layout/list1"/>
    <dgm:cxn modelId="{A5237FBB-88D6-44A7-8A97-E0B237AF1F3D}" type="presParOf" srcId="{E578B430-5CF0-4DB2-B2F8-4609B5F4FA42}" destId="{A523611D-3F6A-4FE1-AEE5-A5BF0209E934}" srcOrd="0" destOrd="0" presId="urn:microsoft.com/office/officeart/2005/8/layout/list1"/>
    <dgm:cxn modelId="{2EBE6A13-7D87-4A52-ABC3-7CC945F7B035}" type="presParOf" srcId="{E578B430-5CF0-4DB2-B2F8-4609B5F4FA42}" destId="{4DB2581C-ADBC-4738-93A9-430B6ACEF38A}" srcOrd="1" destOrd="0" presId="urn:microsoft.com/office/officeart/2005/8/layout/list1"/>
    <dgm:cxn modelId="{57C65221-2405-48CE-8E3F-D324AAA06857}" type="presParOf" srcId="{447DD49A-06A4-4E6D-8A8C-3BCE2337070F}" destId="{A5751C39-E111-461D-9F50-68F29BA3FF36}" srcOrd="5" destOrd="0" presId="urn:microsoft.com/office/officeart/2005/8/layout/list1"/>
    <dgm:cxn modelId="{8996EFF9-2A76-46D9-89E2-29F84D7F7218}" type="presParOf" srcId="{447DD49A-06A4-4E6D-8A8C-3BCE2337070F}" destId="{887D9A82-0F84-4900-95BC-A421E82387A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12D576-2262-4902-9BB8-7378FCFD3F79}">
      <dsp:nvSpPr>
        <dsp:cNvPr id="0" name=""/>
        <dsp:cNvSpPr/>
      </dsp:nvSpPr>
      <dsp:spPr>
        <a:xfrm>
          <a:off x="0" y="306916"/>
          <a:ext cx="8423275" cy="12782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3740" tIns="312420" rIns="65374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Identical trials do not give identical results.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Our result is an estimate - not the true effect.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Confidence intervals and standard errors help us communicate this variability. </a:t>
          </a:r>
        </a:p>
      </dsp:txBody>
      <dsp:txXfrm>
        <a:off x="0" y="306916"/>
        <a:ext cx="8423275" cy="1278235"/>
      </dsp:txXfrm>
    </dsp:sp>
    <dsp:sp modelId="{C08FE6A4-AFAA-401F-8788-5B2EF4404F28}">
      <dsp:nvSpPr>
        <dsp:cNvPr id="0" name=""/>
        <dsp:cNvSpPr/>
      </dsp:nvSpPr>
      <dsp:spPr>
        <a:xfrm>
          <a:off x="421163" y="170414"/>
          <a:ext cx="5896292" cy="362267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866" tIns="0" rIns="22286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Uncertainty exists, acknowledge it</a:t>
          </a:r>
        </a:p>
      </dsp:txBody>
      <dsp:txXfrm>
        <a:off x="438847" y="188098"/>
        <a:ext cx="5860924" cy="326899"/>
      </dsp:txXfrm>
    </dsp:sp>
    <dsp:sp modelId="{887D9A82-0F84-4900-95BC-A421E82387A4}">
      <dsp:nvSpPr>
        <dsp:cNvPr id="0" name=""/>
        <dsp:cNvSpPr/>
      </dsp:nvSpPr>
      <dsp:spPr>
        <a:xfrm>
          <a:off x="0" y="1789690"/>
          <a:ext cx="8423275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3740" tIns="312420" rIns="65374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Don’t take a result as </a:t>
          </a:r>
          <a:r>
            <a:rPr lang="en-GB" sz="1500" b="1" kern="1200"/>
            <a:t>truth</a:t>
          </a:r>
          <a:endParaRPr lang="en-GB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Acknowledge and know the level of uncertainty in the estimate you are quoting in you in claims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Remember to consider both statistical significance </a:t>
          </a:r>
          <a:r>
            <a:rPr lang="en-GB" sz="1500" i="1" kern="1200"/>
            <a:t>and</a:t>
          </a:r>
          <a:r>
            <a:rPr lang="en-GB" sz="1500" kern="1200"/>
            <a:t> clinical relevance.</a:t>
          </a:r>
        </a:p>
      </dsp:txBody>
      <dsp:txXfrm>
        <a:off x="0" y="1789690"/>
        <a:ext cx="8423275" cy="1275750"/>
      </dsp:txXfrm>
    </dsp:sp>
    <dsp:sp modelId="{4DB2581C-ADBC-4738-93A9-430B6ACEF38A}">
      <dsp:nvSpPr>
        <dsp:cNvPr id="0" name=""/>
        <dsp:cNvSpPr/>
      </dsp:nvSpPr>
      <dsp:spPr>
        <a:xfrm>
          <a:off x="421163" y="1670517"/>
          <a:ext cx="5896292" cy="362267"/>
        </a:xfrm>
        <a:prstGeom prst="roundRect">
          <a:avLst/>
        </a:prstGeom>
        <a:solidFill>
          <a:schemeClr val="bg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866" tIns="0" rIns="22286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What do you need to do?</a:t>
          </a:r>
        </a:p>
      </dsp:txBody>
      <dsp:txXfrm>
        <a:off x="438847" y="1688201"/>
        <a:ext cx="5860924" cy="326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A8971-52B8-4C5A-99D8-986A596F2912}" type="datetimeFigureOut">
              <a:rPr lang="en-GB" smtClean="0"/>
              <a:pPr/>
              <a:t>27/11/2025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677863"/>
            <a:ext cx="6034088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594" y="4297403"/>
            <a:ext cx="5492750" cy="4071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93235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9109" y="8593235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B53C8-14E4-49A7-A1A5-3BF810B81EB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03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457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389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376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81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370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112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201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05013" y="20638"/>
            <a:ext cx="4711700" cy="26495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67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05013" y="20638"/>
            <a:ext cx="4711700" cy="26495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053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155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528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094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134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051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883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4"/>
          <a:stretch/>
        </p:blipFill>
        <p:spPr>
          <a:xfrm>
            <a:off x="0" y="1065924"/>
            <a:ext cx="4102298" cy="3827396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296521" y="2068940"/>
            <a:ext cx="2876985" cy="1000274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1" y="3427589"/>
            <a:ext cx="2554256" cy="4924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038" y="237109"/>
            <a:ext cx="1464646" cy="7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1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96520" y="2402365"/>
            <a:ext cx="5042395" cy="66684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heading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0" y="3427590"/>
            <a:ext cx="5042395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038" y="237109"/>
            <a:ext cx="1464646" cy="7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2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ctrTitle" hasCustomPrompt="1"/>
          </p:nvPr>
        </p:nvSpPr>
        <p:spPr>
          <a:xfrm>
            <a:off x="296521" y="1109709"/>
            <a:ext cx="5042394" cy="66684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heading style</a:t>
            </a:r>
            <a:endParaRPr lang="en-GB"/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0" y="2134932"/>
            <a:ext cx="5009911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038" y="237109"/>
            <a:ext cx="1464646" cy="722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 noChangeAspect="1"/>
          </p:cNvSpPr>
          <p:nvPr>
            <p:ph sz="quarter" idx="12"/>
          </p:nvPr>
        </p:nvSpPr>
        <p:spPr>
          <a:xfrm>
            <a:off x="359152" y="1192388"/>
            <a:ext cx="8423275" cy="307005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9152" y="4322020"/>
            <a:ext cx="8424000" cy="12311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05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 noChangeAspect="1"/>
          </p:cNvSpPr>
          <p:nvPr>
            <p:ph sz="quarter" idx="19"/>
          </p:nvPr>
        </p:nvSpPr>
        <p:spPr>
          <a:xfrm>
            <a:off x="360000" y="1539685"/>
            <a:ext cx="8418513" cy="2729104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59152" y="1191711"/>
            <a:ext cx="8418513" cy="338554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9152" y="4322020"/>
            <a:ext cx="8424000" cy="12311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332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4229687"/>
            <a:ext cx="8424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 hasCustomPrompt="1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12"/>
          <p:cNvSpPr>
            <a:spLocks noGrp="1" noChangeAspect="1"/>
          </p:cNvSpPr>
          <p:nvPr>
            <p:ph sz="quarter" idx="17"/>
          </p:nvPr>
        </p:nvSpPr>
        <p:spPr>
          <a:xfrm>
            <a:off x="360000" y="1192389"/>
            <a:ext cx="8423275" cy="3076400"/>
          </a:xfrm>
          <a:prstGeom prst="rect">
            <a:avLst/>
          </a:prstGeom>
        </p:spPr>
        <p:txBody>
          <a:bodyPr lIns="0"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225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 noChangeAspect="1"/>
          </p:cNvSpPr>
          <p:nvPr>
            <p:ph sz="quarter" idx="18"/>
          </p:nvPr>
        </p:nvSpPr>
        <p:spPr>
          <a:xfrm>
            <a:off x="4805363" y="1193800"/>
            <a:ext cx="3978275" cy="3065463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59152" y="4229687"/>
            <a:ext cx="3979486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797217" y="4229687"/>
            <a:ext cx="399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1"/>
          <p:cNvSpPr>
            <a:spLocks noGrp="1" noChangeAspect="1"/>
          </p:cNvSpPr>
          <p:nvPr>
            <p:ph sz="quarter" idx="17"/>
          </p:nvPr>
        </p:nvSpPr>
        <p:spPr>
          <a:xfrm>
            <a:off x="360000" y="1193800"/>
            <a:ext cx="3973875" cy="3065463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05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"/>
          <p:cNvSpPr>
            <a:spLocks noGrp="1"/>
          </p:cNvSpPr>
          <p:nvPr>
            <p:ph type="body" idx="19" hasCustomPrompt="1"/>
          </p:nvPr>
        </p:nvSpPr>
        <p:spPr>
          <a:xfrm>
            <a:off x="360000" y="1194204"/>
            <a:ext cx="3973875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4805363" y="1194204"/>
            <a:ext cx="3978275" cy="24622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7" name="Content Placeholder 11"/>
          <p:cNvSpPr>
            <a:spLocks noGrp="1" noChangeAspect="1"/>
          </p:cNvSpPr>
          <p:nvPr>
            <p:ph sz="quarter" idx="17"/>
          </p:nvPr>
        </p:nvSpPr>
        <p:spPr>
          <a:xfrm>
            <a:off x="360000" y="1516484"/>
            <a:ext cx="3973875" cy="2742779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Content Placeholder 13"/>
          <p:cNvSpPr>
            <a:spLocks noGrp="1" noChangeAspect="1"/>
          </p:cNvSpPr>
          <p:nvPr>
            <p:ph sz="quarter" idx="18"/>
          </p:nvPr>
        </p:nvSpPr>
        <p:spPr>
          <a:xfrm>
            <a:off x="4805363" y="1516484"/>
            <a:ext cx="3978275" cy="2745954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360000" y="4229687"/>
            <a:ext cx="3973875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798800" y="4229687"/>
            <a:ext cx="3984838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03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tandard (4x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 noChangeAspect="1"/>
          </p:cNvSpPr>
          <p:nvPr>
            <p:ph type="media" sz="quarter" idx="12" hasCustomPrompt="1"/>
          </p:nvPr>
        </p:nvSpPr>
        <p:spPr>
          <a:xfrm>
            <a:off x="2363400" y="1193800"/>
            <a:ext cx="4417200" cy="3311525"/>
          </a:xfrm>
          <a:prstGeom prst="rect">
            <a:avLst/>
          </a:prstGeom>
        </p:spPr>
        <p:txBody>
          <a:bodyPr lIns="108000" tIns="108000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on the film icon to insert your Standard (4x3 video)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5134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descreen (16x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5"/>
          <p:cNvSpPr>
            <a:spLocks noGrp="1" noChangeAspect="1"/>
          </p:cNvSpPr>
          <p:nvPr>
            <p:ph type="media" sz="quarter" idx="12" hasCustomPrompt="1"/>
          </p:nvPr>
        </p:nvSpPr>
        <p:spPr>
          <a:xfrm>
            <a:off x="1627200" y="1193800"/>
            <a:ext cx="5889600" cy="3312000"/>
          </a:xfrm>
          <a:prstGeom prst="rect">
            <a:avLst/>
          </a:prstGeom>
        </p:spPr>
        <p:txBody>
          <a:bodyPr lIns="108000" tIns="108000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on the film icon to insert your widescreen (16x9) video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59932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Non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3" y="1193239"/>
            <a:ext cx="3979484" cy="331012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798800" y="1193799"/>
            <a:ext cx="3982697" cy="3309567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</p:spTree>
    <p:extLst>
      <p:ext uri="{BB962C8B-B14F-4D97-AF65-F5344CB8AC3E}">
        <p14:creationId xmlns:p14="http://schemas.microsoft.com/office/powerpoint/2010/main" val="41240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798800" y="1193799"/>
            <a:ext cx="3982697" cy="3309567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2" y="1190625"/>
            <a:ext cx="3986213" cy="3312741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162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2" y="1190625"/>
            <a:ext cx="3986213" cy="3312741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Picture Placeholder 8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98800" y="1190626"/>
            <a:ext cx="3996794" cy="1228724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4798800" y="2517776"/>
            <a:ext cx="3996266" cy="253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268163" indent="0">
              <a:buNone/>
              <a:defRPr sz="800">
                <a:solidFill>
                  <a:schemeClr val="bg2"/>
                </a:solidFill>
              </a:defRPr>
            </a:lvl2pPr>
            <a:lvl3pPr marL="540000" indent="0">
              <a:buNone/>
              <a:defRPr sz="800">
                <a:solidFill>
                  <a:schemeClr val="bg2"/>
                </a:solidFill>
              </a:defRPr>
            </a:lvl3pPr>
            <a:lvl4pPr marL="811088" indent="0">
              <a:buNone/>
              <a:defRPr sz="800">
                <a:solidFill>
                  <a:schemeClr val="bg2"/>
                </a:solidFill>
              </a:defRPr>
            </a:lvl4pPr>
            <a:lvl5pPr marL="1080000" indent="0"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Enter your image caption text here</a:t>
            </a:r>
          </a:p>
        </p:txBody>
      </p:sp>
      <p:sp>
        <p:nvSpPr>
          <p:cNvPr id="35" name="Picture Placeholder 8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4798800" y="2922217"/>
            <a:ext cx="3996794" cy="1228724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4798800" y="4249367"/>
            <a:ext cx="3996266" cy="253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268163" indent="0">
              <a:buNone/>
              <a:defRPr sz="800">
                <a:solidFill>
                  <a:schemeClr val="bg2"/>
                </a:solidFill>
              </a:defRPr>
            </a:lvl2pPr>
            <a:lvl3pPr marL="540000" indent="0">
              <a:buNone/>
              <a:defRPr sz="800">
                <a:solidFill>
                  <a:schemeClr val="bg2"/>
                </a:solidFill>
              </a:defRPr>
            </a:lvl3pPr>
            <a:lvl4pPr marL="811088" indent="0">
              <a:buNone/>
              <a:defRPr sz="800">
                <a:solidFill>
                  <a:schemeClr val="bg2"/>
                </a:solidFill>
              </a:defRPr>
            </a:lvl4pPr>
            <a:lvl5pPr marL="1080000" indent="0"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Enter your image caption text here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212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190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359152" y="4599183"/>
            <a:ext cx="842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223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HITE with ORAN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743011"/>
            <a:ext cx="8193024" cy="400110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2200" i="0">
                <a:solidFill>
                  <a:schemeClr val="bg2"/>
                </a:solidFill>
                <a:latin typeface="+mn-lt"/>
              </a:defRPr>
            </a:lvl1pPr>
            <a:lvl2pPr marL="271463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5334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815975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11049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840385"/>
            <a:ext cx="8196702" cy="823302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lnSpc>
                <a:spcPts val="5700"/>
              </a:lnSpc>
              <a:spcAft>
                <a:spcPts val="0"/>
              </a:spcAft>
              <a:buNone/>
              <a:defRPr sz="5500" b="1">
                <a:solidFill>
                  <a:schemeClr val="bg2"/>
                </a:solidFill>
              </a:defRPr>
            </a:lvl1pPr>
            <a:lvl2pPr marL="271463" indent="0"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buNone/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HITE with GRE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743011"/>
            <a:ext cx="8193024" cy="400110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2200" i="0">
                <a:solidFill>
                  <a:schemeClr val="tx1"/>
                </a:solidFill>
                <a:latin typeface="+mn-lt"/>
              </a:defRPr>
            </a:lvl1pPr>
            <a:lvl2pPr marL="271463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5334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815975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11049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840385"/>
            <a:ext cx="8196702" cy="823302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lnSpc>
                <a:spcPts val="5700"/>
              </a:lnSpc>
              <a:spcAft>
                <a:spcPts val="0"/>
              </a:spcAft>
              <a:buNone/>
              <a:defRPr sz="5500" b="1">
                <a:solidFill>
                  <a:schemeClr val="tx1"/>
                </a:solidFill>
              </a:defRPr>
            </a:lvl1pPr>
            <a:lvl2pPr marL="271463" indent="0"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buNone/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61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INNOVA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lvl="0"/>
            <a:r>
              <a:rPr lang="en-US">
                <a:solidFill>
                  <a:schemeClr val="accent5"/>
                </a:solidFill>
              </a:rPr>
              <a:t>Innovation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97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ERFORMANC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marL="0" marR="0" lvl="0" indent="0" algn="l" defTabSz="91440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US">
                <a:solidFill>
                  <a:schemeClr val="accent4"/>
                </a:solidFill>
              </a:rPr>
              <a:t>Pe</a:t>
            </a:r>
            <a:r>
              <a:rPr lang="en-US" spc="500" baseline="0">
                <a:solidFill>
                  <a:schemeClr val="accent4"/>
                </a:solidFill>
              </a:rPr>
              <a:t>r</a:t>
            </a:r>
            <a:r>
              <a:rPr lang="en-US">
                <a:solidFill>
                  <a:schemeClr val="accent4"/>
                </a:solidFill>
              </a:rPr>
              <a:t>formance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6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TRU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lvl="0"/>
            <a:r>
              <a:rPr lang="en-US">
                <a:solidFill>
                  <a:schemeClr val="accent3"/>
                </a:solidFill>
              </a:rPr>
              <a:t>Trust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77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 noChangeAspect="1"/>
          </p:cNvSpPr>
          <p:nvPr>
            <p:ph sz="quarter" idx="12"/>
          </p:nvPr>
        </p:nvSpPr>
        <p:spPr>
          <a:xfrm>
            <a:off x="359152" y="1192387"/>
            <a:ext cx="8423275" cy="325755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72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152" y="4704001"/>
            <a:ext cx="2565024" cy="27384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59152" y="288639"/>
            <a:ext cx="7577139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59152" y="4599183"/>
            <a:ext cx="842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59152" y="1078541"/>
            <a:ext cx="8424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5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1" r:id="rId2"/>
    <p:sldLayoutId id="2147483759" r:id="rId3"/>
    <p:sldLayoutId id="2147483663" r:id="rId4"/>
    <p:sldLayoutId id="2147483665" r:id="rId5"/>
    <p:sldLayoutId id="2147483664" r:id="rId6"/>
    <p:sldLayoutId id="2147483668" r:id="rId7"/>
    <p:sldLayoutId id="2147483669" r:id="rId8"/>
    <p:sldLayoutId id="2147483670" r:id="rId9"/>
    <p:sldLayoutId id="2147483671" r:id="rId10"/>
    <p:sldLayoutId id="2147483730" r:id="rId11"/>
    <p:sldLayoutId id="2147483728" r:id="rId12"/>
    <p:sldLayoutId id="2147483673" r:id="rId13"/>
    <p:sldLayoutId id="2147483674" r:id="rId14"/>
    <p:sldLayoutId id="2147483675" r:id="rId15"/>
    <p:sldLayoutId id="2147483747" r:id="rId16"/>
    <p:sldLayoutId id="2147483760" r:id="rId17"/>
    <p:sldLayoutId id="2147483723" r:id="rId18"/>
    <p:sldLayoutId id="2147483724" r:id="rId19"/>
    <p:sldLayoutId id="2147483725" r:id="rId20"/>
    <p:sldLayoutId id="2147483761" r:id="rId2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spcBef>
          <a:spcPts val="0"/>
        </a:spcBef>
        <a:spcAft>
          <a:spcPts val="600"/>
        </a:spcAft>
        <a:buClr>
          <a:schemeClr val="tx1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81088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7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4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82brFpdr9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82brFpdr9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5F94E-1D21-48C1-A8FD-39348092E7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D0645-E3F3-4E03-9716-CBE45FECD6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>
                <a:solidFill>
                  <a:schemeClr val="bg2"/>
                </a:solidFill>
              </a:rPr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102462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7F3ACEF-6A36-4989-A338-B65A513DB01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841324" y="1192213"/>
            <a:ext cx="5458177" cy="307022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74CC4F-7224-427E-BC27-CF95AB5133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DDDC63-4BEA-4385-B2B6-4B9938CA85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3CF462-ACC9-4D2D-B6E5-989CF035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Uncertainty – why does it matter?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F03A4-E64F-407F-B535-5D725431DD5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C9134F3-8497-41C3-B1DF-24956F08595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229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005">
            <a:extLst>
              <a:ext uri="{FF2B5EF4-FFF2-40B4-BE49-F238E27FC236}">
                <a16:creationId xmlns:a16="http://schemas.microsoft.com/office/drawing/2014/main" id="{3099CF5C-D52F-4C2B-8F7A-D5A8D137D1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413" t="35409" r="28914" b="34222"/>
          <a:stretch/>
        </p:blipFill>
        <p:spPr bwMode="auto">
          <a:xfrm>
            <a:off x="4857087" y="1912950"/>
            <a:ext cx="2353188" cy="162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9F155-1495-42E6-B924-FD2C6B4FCA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Benlysta Pivotal Trials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0230EF-BEA7-41C6-A403-77396101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Is our estimate the whole story?</a:t>
            </a:r>
          </a:p>
        </p:txBody>
      </p:sp>
      <p:pic>
        <p:nvPicPr>
          <p:cNvPr id="28" name="Picture 2" descr="image005">
            <a:extLst>
              <a:ext uri="{FF2B5EF4-FFF2-40B4-BE49-F238E27FC236}">
                <a16:creationId xmlns:a16="http://schemas.microsoft.com/office/drawing/2014/main" id="{2CD460E2-CAE7-4B9D-894C-BD48E432EB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83" t="35743" r="50774" b="34849"/>
          <a:stretch/>
        </p:blipFill>
        <p:spPr bwMode="auto">
          <a:xfrm>
            <a:off x="746447" y="1916750"/>
            <a:ext cx="3592613" cy="16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D25AD2F-8807-42D1-9FF3-484E9C2C9DAB}"/>
              </a:ext>
            </a:extLst>
          </p:cNvPr>
          <p:cNvSpPr/>
          <p:nvPr/>
        </p:nvSpPr>
        <p:spPr bwMode="auto">
          <a:xfrm>
            <a:off x="3369377" y="2951629"/>
            <a:ext cx="572002" cy="337801"/>
          </a:xfrm>
          <a:prstGeom prst="ellipse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070490-0461-4534-A378-64F898F9AD15}"/>
              </a:ext>
            </a:extLst>
          </p:cNvPr>
          <p:cNvSpPr/>
          <p:nvPr/>
        </p:nvSpPr>
        <p:spPr bwMode="auto">
          <a:xfrm>
            <a:off x="6285199" y="2920097"/>
            <a:ext cx="572803" cy="369333"/>
          </a:xfrm>
          <a:prstGeom prst="ellipse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D5331-DBB0-4AFC-8634-69A574BF8694}"/>
              </a:ext>
            </a:extLst>
          </p:cNvPr>
          <p:cNvSpPr/>
          <p:nvPr/>
        </p:nvSpPr>
        <p:spPr>
          <a:xfrm>
            <a:off x="359152" y="1190688"/>
            <a:ext cx="8347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/>
              <a:t>Primary comparison for efficacy: Benlysta 10mg vs placebo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/>
              <a:t>Primary endpoint: T24 Response at Week 52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411DF82-F169-42DC-9CFE-B07C37815086}"/>
              </a:ext>
            </a:extLst>
          </p:cNvPr>
          <p:cNvSpPr/>
          <p:nvPr/>
        </p:nvSpPr>
        <p:spPr bwMode="auto">
          <a:xfrm>
            <a:off x="1815448" y="1802115"/>
            <a:ext cx="2640495" cy="2772000"/>
          </a:xfrm>
          <a:prstGeom prst="roundRect">
            <a:avLst/>
          </a:prstGeom>
          <a:noFill/>
          <a:ln w="6350">
            <a:solidFill>
              <a:schemeClr val="bg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D3A1112-6625-476B-BAEE-8DBB4FEED8F5}"/>
              </a:ext>
            </a:extLst>
          </p:cNvPr>
          <p:cNvSpPr/>
          <p:nvPr/>
        </p:nvSpPr>
        <p:spPr bwMode="auto">
          <a:xfrm>
            <a:off x="4713433" y="1790733"/>
            <a:ext cx="2640495" cy="2772000"/>
          </a:xfrm>
          <a:prstGeom prst="roundRect">
            <a:avLst/>
          </a:prstGeom>
          <a:noFill/>
          <a:ln w="6350"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BADE75-225C-4CEA-98E6-813577164035}"/>
              </a:ext>
            </a:extLst>
          </p:cNvPr>
          <p:cNvSpPr/>
          <p:nvPr/>
        </p:nvSpPr>
        <p:spPr>
          <a:xfrm>
            <a:off x="3088125" y="3727952"/>
            <a:ext cx="2993127" cy="369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GB" b="1">
                <a:solidFill>
                  <a:schemeClr val="bg1"/>
                </a:solidFill>
              </a:rPr>
              <a:t>Should we be surprised?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87331-1109-4013-A6E7-96DCDA47977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97F6DBF-F371-432A-9CA6-7D50B892FF1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49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6" grpId="0" animBg="1"/>
      <p:bldP spid="37" grpId="0" animBg="1"/>
      <p:bldP spid="38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005">
            <a:extLst>
              <a:ext uri="{FF2B5EF4-FFF2-40B4-BE49-F238E27FC236}">
                <a16:creationId xmlns:a16="http://schemas.microsoft.com/office/drawing/2014/main" id="{3099CF5C-D52F-4C2B-8F7A-D5A8D137D1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413" t="35409" r="28914" b="34222"/>
          <a:stretch/>
        </p:blipFill>
        <p:spPr bwMode="auto">
          <a:xfrm>
            <a:off x="4857087" y="1912950"/>
            <a:ext cx="2353188" cy="162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9F155-1495-42E6-B924-FD2C6B4FCA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Benlysta Pivotal Trials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0230EF-BEA7-41C6-A403-77396101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Is our estimate the whole story?</a:t>
            </a:r>
          </a:p>
        </p:txBody>
      </p:sp>
      <p:pic>
        <p:nvPicPr>
          <p:cNvPr id="28" name="Picture 2" descr="image005">
            <a:extLst>
              <a:ext uri="{FF2B5EF4-FFF2-40B4-BE49-F238E27FC236}">
                <a16:creationId xmlns:a16="http://schemas.microsoft.com/office/drawing/2014/main" id="{2CD460E2-CAE7-4B9D-894C-BD48E432EB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83" t="35743" r="50774" b="34849"/>
          <a:stretch/>
        </p:blipFill>
        <p:spPr bwMode="auto">
          <a:xfrm>
            <a:off x="746447" y="1916750"/>
            <a:ext cx="3592613" cy="16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12D5331-DBB0-4AFC-8634-69A574BF8694}"/>
              </a:ext>
            </a:extLst>
          </p:cNvPr>
          <p:cNvSpPr/>
          <p:nvPr/>
        </p:nvSpPr>
        <p:spPr>
          <a:xfrm>
            <a:off x="359152" y="1190688"/>
            <a:ext cx="8347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/>
              <a:t>Primary comparison for efficacy is Benlysta 10mg versus placebo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/>
              <a:t>Primary endpoint: T24 Response at Week 52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411DF82-F169-42DC-9CFE-B07C37815086}"/>
              </a:ext>
            </a:extLst>
          </p:cNvPr>
          <p:cNvSpPr/>
          <p:nvPr/>
        </p:nvSpPr>
        <p:spPr bwMode="auto">
          <a:xfrm>
            <a:off x="1815448" y="1802115"/>
            <a:ext cx="2640495" cy="2772000"/>
          </a:xfrm>
          <a:prstGeom prst="roundRect">
            <a:avLst/>
          </a:prstGeom>
          <a:noFill/>
          <a:ln w="6350">
            <a:solidFill>
              <a:schemeClr val="bg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D3A1112-6625-476B-BAEE-8DBB4FEED8F5}"/>
              </a:ext>
            </a:extLst>
          </p:cNvPr>
          <p:cNvSpPr/>
          <p:nvPr/>
        </p:nvSpPr>
        <p:spPr bwMode="auto">
          <a:xfrm>
            <a:off x="4713433" y="1790734"/>
            <a:ext cx="2640495" cy="2772000"/>
          </a:xfrm>
          <a:prstGeom prst="roundRect">
            <a:avLst/>
          </a:prstGeom>
          <a:noFill/>
          <a:ln w="6350"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87331-1109-4013-A6E7-96DCDA47977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97F6DBF-F371-432A-9CA6-7D50B892FF1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1D95BB5-EAC3-4F0D-A382-3C6FB803275A}"/>
              </a:ext>
            </a:extLst>
          </p:cNvPr>
          <p:cNvSpPr/>
          <p:nvPr/>
        </p:nvSpPr>
        <p:spPr bwMode="auto">
          <a:xfrm>
            <a:off x="1531917" y="1229884"/>
            <a:ext cx="6421112" cy="136613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" name="Graphic 20" descr="Group">
            <a:extLst>
              <a:ext uri="{FF2B5EF4-FFF2-40B4-BE49-F238E27FC236}">
                <a16:creationId xmlns:a16="http://schemas.microsoft.com/office/drawing/2014/main" id="{50F96F63-5CC9-4E9C-9569-AD828E6A41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4504" y="1545179"/>
            <a:ext cx="526681" cy="526681"/>
          </a:xfrm>
          <a:prstGeom prst="rect">
            <a:avLst/>
          </a:prstGeom>
        </p:spPr>
      </p:pic>
      <p:pic>
        <p:nvPicPr>
          <p:cNvPr id="22" name="Graphic 21" descr="Group">
            <a:extLst>
              <a:ext uri="{FF2B5EF4-FFF2-40B4-BE49-F238E27FC236}">
                <a16:creationId xmlns:a16="http://schemas.microsoft.com/office/drawing/2014/main" id="{7C0ADA13-7400-4D44-9A4C-3D60D8DF28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2714" y="1534046"/>
            <a:ext cx="526681" cy="526681"/>
          </a:xfrm>
          <a:prstGeom prst="rect">
            <a:avLst/>
          </a:prstGeom>
        </p:spPr>
      </p:pic>
      <p:pic>
        <p:nvPicPr>
          <p:cNvPr id="23" name="Graphic 22" descr="Group">
            <a:extLst>
              <a:ext uri="{FF2B5EF4-FFF2-40B4-BE49-F238E27FC236}">
                <a16:creationId xmlns:a16="http://schemas.microsoft.com/office/drawing/2014/main" id="{4CED7439-74AC-4331-9289-78815C49FE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6294" y="1528006"/>
            <a:ext cx="526681" cy="526681"/>
          </a:xfrm>
          <a:prstGeom prst="rect">
            <a:avLst/>
          </a:prstGeom>
        </p:spPr>
      </p:pic>
      <p:pic>
        <p:nvPicPr>
          <p:cNvPr id="24" name="Graphic 23" descr="Group">
            <a:extLst>
              <a:ext uri="{FF2B5EF4-FFF2-40B4-BE49-F238E27FC236}">
                <a16:creationId xmlns:a16="http://schemas.microsoft.com/office/drawing/2014/main" id="{B13300B9-4966-4FE6-A2BB-3A44ABEB4D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28812" y="1826127"/>
            <a:ext cx="526681" cy="526681"/>
          </a:xfrm>
          <a:prstGeom prst="rect">
            <a:avLst/>
          </a:prstGeom>
        </p:spPr>
      </p:pic>
      <p:pic>
        <p:nvPicPr>
          <p:cNvPr id="25" name="Graphic 24" descr="Group">
            <a:extLst>
              <a:ext uri="{FF2B5EF4-FFF2-40B4-BE49-F238E27FC236}">
                <a16:creationId xmlns:a16="http://schemas.microsoft.com/office/drawing/2014/main" id="{E712FB03-3791-4B9F-8BF9-DE0A882D6D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3763" y="1860652"/>
            <a:ext cx="526681" cy="526681"/>
          </a:xfrm>
          <a:prstGeom prst="rect">
            <a:avLst/>
          </a:prstGeom>
        </p:spPr>
      </p:pic>
      <p:pic>
        <p:nvPicPr>
          <p:cNvPr id="26" name="Graphic 25" descr="Group">
            <a:extLst>
              <a:ext uri="{FF2B5EF4-FFF2-40B4-BE49-F238E27FC236}">
                <a16:creationId xmlns:a16="http://schemas.microsoft.com/office/drawing/2014/main" id="{1165CCE8-D80B-4549-A894-A29BA7CC46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9599" y="1765315"/>
            <a:ext cx="526681" cy="526681"/>
          </a:xfrm>
          <a:prstGeom prst="rect">
            <a:avLst/>
          </a:prstGeom>
        </p:spPr>
      </p:pic>
      <p:pic>
        <p:nvPicPr>
          <p:cNvPr id="27" name="Graphic 26" descr="Group">
            <a:extLst>
              <a:ext uri="{FF2B5EF4-FFF2-40B4-BE49-F238E27FC236}">
                <a16:creationId xmlns:a16="http://schemas.microsoft.com/office/drawing/2014/main" id="{65BBD69A-AB53-49BE-A4FA-64844FD7A0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3257" y="2089468"/>
            <a:ext cx="526681" cy="526681"/>
          </a:xfrm>
          <a:prstGeom prst="rect">
            <a:avLst/>
          </a:prstGeom>
        </p:spPr>
      </p:pic>
      <p:pic>
        <p:nvPicPr>
          <p:cNvPr id="30" name="Graphic 29" descr="Group">
            <a:extLst>
              <a:ext uri="{FF2B5EF4-FFF2-40B4-BE49-F238E27FC236}">
                <a16:creationId xmlns:a16="http://schemas.microsoft.com/office/drawing/2014/main" id="{F1E44523-208E-4163-AD6A-EEC53DFDC4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2951" y="2082857"/>
            <a:ext cx="526681" cy="526681"/>
          </a:xfrm>
          <a:prstGeom prst="rect">
            <a:avLst/>
          </a:prstGeom>
        </p:spPr>
      </p:pic>
      <p:pic>
        <p:nvPicPr>
          <p:cNvPr id="31" name="Graphic 30" descr="Group">
            <a:extLst>
              <a:ext uri="{FF2B5EF4-FFF2-40B4-BE49-F238E27FC236}">
                <a16:creationId xmlns:a16="http://schemas.microsoft.com/office/drawing/2014/main" id="{F84699CA-C581-487F-83A3-25BDA14E6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0588" y="1776924"/>
            <a:ext cx="526681" cy="526681"/>
          </a:xfrm>
          <a:prstGeom prst="rect">
            <a:avLst/>
          </a:prstGeom>
        </p:spPr>
      </p:pic>
      <p:pic>
        <p:nvPicPr>
          <p:cNvPr id="32" name="Graphic 31" descr="Group">
            <a:extLst>
              <a:ext uri="{FF2B5EF4-FFF2-40B4-BE49-F238E27FC236}">
                <a16:creationId xmlns:a16="http://schemas.microsoft.com/office/drawing/2014/main" id="{75167C29-73B2-4108-8D70-8CB1614986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6174" y="1222736"/>
            <a:ext cx="526681" cy="526681"/>
          </a:xfrm>
          <a:prstGeom prst="rect">
            <a:avLst/>
          </a:prstGeom>
        </p:spPr>
      </p:pic>
      <p:pic>
        <p:nvPicPr>
          <p:cNvPr id="33" name="Graphic 32" descr="Group">
            <a:extLst>
              <a:ext uri="{FF2B5EF4-FFF2-40B4-BE49-F238E27FC236}">
                <a16:creationId xmlns:a16="http://schemas.microsoft.com/office/drawing/2014/main" id="{92588A84-7439-48B0-ABCF-790EB2B150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5388" y="1413767"/>
            <a:ext cx="526681" cy="526681"/>
          </a:xfrm>
          <a:prstGeom prst="rect">
            <a:avLst/>
          </a:prstGeom>
        </p:spPr>
      </p:pic>
      <p:pic>
        <p:nvPicPr>
          <p:cNvPr id="34" name="Graphic 33" descr="Group">
            <a:extLst>
              <a:ext uri="{FF2B5EF4-FFF2-40B4-BE49-F238E27FC236}">
                <a16:creationId xmlns:a16="http://schemas.microsoft.com/office/drawing/2014/main" id="{FC7625BE-2603-4D44-BA94-A573C5DFCC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3122" y="1460635"/>
            <a:ext cx="526681" cy="526681"/>
          </a:xfrm>
          <a:prstGeom prst="rect">
            <a:avLst/>
          </a:prstGeom>
        </p:spPr>
      </p:pic>
      <p:pic>
        <p:nvPicPr>
          <p:cNvPr id="39" name="Graphic 38" descr="Group">
            <a:extLst>
              <a:ext uri="{FF2B5EF4-FFF2-40B4-BE49-F238E27FC236}">
                <a16:creationId xmlns:a16="http://schemas.microsoft.com/office/drawing/2014/main" id="{B86CB70F-557E-471B-9AD4-0E500B21CF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0459" y="1684129"/>
            <a:ext cx="526681" cy="526681"/>
          </a:xfrm>
          <a:prstGeom prst="rect">
            <a:avLst/>
          </a:prstGeom>
        </p:spPr>
      </p:pic>
      <p:pic>
        <p:nvPicPr>
          <p:cNvPr id="40" name="Graphic 39" descr="Group">
            <a:extLst>
              <a:ext uri="{FF2B5EF4-FFF2-40B4-BE49-F238E27FC236}">
                <a16:creationId xmlns:a16="http://schemas.microsoft.com/office/drawing/2014/main" id="{765D0AF4-4720-40D1-84E2-C6D08473D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5405" y="1183142"/>
            <a:ext cx="526681" cy="526681"/>
          </a:xfrm>
          <a:prstGeom prst="rect">
            <a:avLst/>
          </a:prstGeom>
        </p:spPr>
      </p:pic>
      <p:pic>
        <p:nvPicPr>
          <p:cNvPr id="41" name="Graphic 40" descr="Group">
            <a:extLst>
              <a:ext uri="{FF2B5EF4-FFF2-40B4-BE49-F238E27FC236}">
                <a16:creationId xmlns:a16="http://schemas.microsoft.com/office/drawing/2014/main" id="{6CFD6B9B-7EFB-4AE0-B746-60A4BD0AC7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6430" y="1731843"/>
            <a:ext cx="526681" cy="526681"/>
          </a:xfrm>
          <a:prstGeom prst="rect">
            <a:avLst/>
          </a:prstGeom>
        </p:spPr>
      </p:pic>
      <p:pic>
        <p:nvPicPr>
          <p:cNvPr id="42" name="Graphic 41" descr="Group">
            <a:extLst>
              <a:ext uri="{FF2B5EF4-FFF2-40B4-BE49-F238E27FC236}">
                <a16:creationId xmlns:a16="http://schemas.microsoft.com/office/drawing/2014/main" id="{F8D4286B-3AC5-41CC-9E3E-4EEF796909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2097" y="1802084"/>
            <a:ext cx="526681" cy="526681"/>
          </a:xfrm>
          <a:prstGeom prst="rect">
            <a:avLst/>
          </a:prstGeom>
        </p:spPr>
      </p:pic>
      <p:pic>
        <p:nvPicPr>
          <p:cNvPr id="43" name="Graphic 42" descr="Group">
            <a:extLst>
              <a:ext uri="{FF2B5EF4-FFF2-40B4-BE49-F238E27FC236}">
                <a16:creationId xmlns:a16="http://schemas.microsoft.com/office/drawing/2014/main" id="{A08634A8-BB93-4EAC-8270-F5A6BC3C64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5339" y="1182887"/>
            <a:ext cx="526681" cy="526681"/>
          </a:xfrm>
          <a:prstGeom prst="rect">
            <a:avLst/>
          </a:prstGeom>
        </p:spPr>
      </p:pic>
      <p:pic>
        <p:nvPicPr>
          <p:cNvPr id="44" name="Graphic 43" descr="Group">
            <a:extLst>
              <a:ext uri="{FF2B5EF4-FFF2-40B4-BE49-F238E27FC236}">
                <a16:creationId xmlns:a16="http://schemas.microsoft.com/office/drawing/2014/main" id="{CA77AFA6-0338-4476-8D43-5632E8BF16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0753" y="1506665"/>
            <a:ext cx="526681" cy="526681"/>
          </a:xfrm>
          <a:prstGeom prst="rect">
            <a:avLst/>
          </a:prstGeom>
        </p:spPr>
      </p:pic>
      <p:pic>
        <p:nvPicPr>
          <p:cNvPr id="45" name="Graphic 44" descr="Group">
            <a:extLst>
              <a:ext uri="{FF2B5EF4-FFF2-40B4-BE49-F238E27FC236}">
                <a16:creationId xmlns:a16="http://schemas.microsoft.com/office/drawing/2014/main" id="{3418E3E2-2702-44B3-83CF-3B271E28AA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3679" y="2029986"/>
            <a:ext cx="526681" cy="526681"/>
          </a:xfrm>
          <a:prstGeom prst="rect">
            <a:avLst/>
          </a:prstGeom>
        </p:spPr>
      </p:pic>
      <p:pic>
        <p:nvPicPr>
          <p:cNvPr id="46" name="Graphic 45" descr="Group">
            <a:extLst>
              <a:ext uri="{FF2B5EF4-FFF2-40B4-BE49-F238E27FC236}">
                <a16:creationId xmlns:a16="http://schemas.microsoft.com/office/drawing/2014/main" id="{9C6922BC-5281-447F-8B51-CADCF966B1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4486" y="1357922"/>
            <a:ext cx="526681" cy="526681"/>
          </a:xfrm>
          <a:prstGeom prst="rect">
            <a:avLst/>
          </a:prstGeom>
        </p:spPr>
      </p:pic>
      <p:pic>
        <p:nvPicPr>
          <p:cNvPr id="47" name="Graphic 46" descr="Group">
            <a:extLst>
              <a:ext uri="{FF2B5EF4-FFF2-40B4-BE49-F238E27FC236}">
                <a16:creationId xmlns:a16="http://schemas.microsoft.com/office/drawing/2014/main" id="{C78F34E6-763B-4556-BDD9-A1E64640F6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8940" y="1267678"/>
            <a:ext cx="526681" cy="526681"/>
          </a:xfrm>
          <a:prstGeom prst="rect">
            <a:avLst/>
          </a:prstGeom>
        </p:spPr>
      </p:pic>
      <p:pic>
        <p:nvPicPr>
          <p:cNvPr id="48" name="Graphic 47" descr="Group">
            <a:extLst>
              <a:ext uri="{FF2B5EF4-FFF2-40B4-BE49-F238E27FC236}">
                <a16:creationId xmlns:a16="http://schemas.microsoft.com/office/drawing/2014/main" id="{994C78D2-1682-4616-B6CA-BC8C53E545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0329" y="1608292"/>
            <a:ext cx="526681" cy="526681"/>
          </a:xfrm>
          <a:prstGeom prst="rect">
            <a:avLst/>
          </a:prstGeom>
        </p:spPr>
      </p:pic>
      <p:pic>
        <p:nvPicPr>
          <p:cNvPr id="49" name="Graphic 48" descr="Group">
            <a:extLst>
              <a:ext uri="{FF2B5EF4-FFF2-40B4-BE49-F238E27FC236}">
                <a16:creationId xmlns:a16="http://schemas.microsoft.com/office/drawing/2014/main" id="{F0D022FC-1D92-4BDB-A937-D46CE84594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9827" y="1608171"/>
            <a:ext cx="526681" cy="526681"/>
          </a:xfrm>
          <a:prstGeom prst="rect">
            <a:avLst/>
          </a:prstGeom>
        </p:spPr>
      </p:pic>
      <p:pic>
        <p:nvPicPr>
          <p:cNvPr id="50" name="Graphic 49" descr="Group">
            <a:extLst>
              <a:ext uri="{FF2B5EF4-FFF2-40B4-BE49-F238E27FC236}">
                <a16:creationId xmlns:a16="http://schemas.microsoft.com/office/drawing/2014/main" id="{42652A83-5EF7-4384-AF1B-9E974F260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1576" y="1429939"/>
            <a:ext cx="526681" cy="526681"/>
          </a:xfrm>
          <a:prstGeom prst="rect">
            <a:avLst/>
          </a:prstGeom>
        </p:spPr>
      </p:pic>
      <p:pic>
        <p:nvPicPr>
          <p:cNvPr id="51" name="Graphic 50" descr="Group">
            <a:extLst>
              <a:ext uri="{FF2B5EF4-FFF2-40B4-BE49-F238E27FC236}">
                <a16:creationId xmlns:a16="http://schemas.microsoft.com/office/drawing/2014/main" id="{8491B4D6-CCA7-4033-B700-CADAFE8D21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0916" y="1827723"/>
            <a:ext cx="526681" cy="526681"/>
          </a:xfrm>
          <a:prstGeom prst="rect">
            <a:avLst/>
          </a:prstGeom>
        </p:spPr>
      </p:pic>
      <p:pic>
        <p:nvPicPr>
          <p:cNvPr id="52" name="Graphic 51" descr="Group">
            <a:extLst>
              <a:ext uri="{FF2B5EF4-FFF2-40B4-BE49-F238E27FC236}">
                <a16:creationId xmlns:a16="http://schemas.microsoft.com/office/drawing/2014/main" id="{EE8B230F-4CD8-472B-92CB-98B650364C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4635" y="1206901"/>
            <a:ext cx="526681" cy="526681"/>
          </a:xfrm>
          <a:prstGeom prst="rect">
            <a:avLst/>
          </a:prstGeom>
        </p:spPr>
      </p:pic>
      <p:pic>
        <p:nvPicPr>
          <p:cNvPr id="53" name="Graphic 52" descr="Group">
            <a:extLst>
              <a:ext uri="{FF2B5EF4-FFF2-40B4-BE49-F238E27FC236}">
                <a16:creationId xmlns:a16="http://schemas.microsoft.com/office/drawing/2014/main" id="{F63558BE-C238-4674-9758-98F912A764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8994" y="1657594"/>
            <a:ext cx="526681" cy="526681"/>
          </a:xfrm>
          <a:prstGeom prst="rect">
            <a:avLst/>
          </a:prstGeom>
        </p:spPr>
      </p:pic>
      <p:pic>
        <p:nvPicPr>
          <p:cNvPr id="54" name="Graphic 53" descr="Group">
            <a:extLst>
              <a:ext uri="{FF2B5EF4-FFF2-40B4-BE49-F238E27FC236}">
                <a16:creationId xmlns:a16="http://schemas.microsoft.com/office/drawing/2014/main" id="{6AC0A2A7-F377-4A14-AB45-90D468CFA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17000" y="1894961"/>
            <a:ext cx="526681" cy="526681"/>
          </a:xfrm>
          <a:prstGeom prst="rect">
            <a:avLst/>
          </a:prstGeom>
        </p:spPr>
      </p:pic>
      <p:pic>
        <p:nvPicPr>
          <p:cNvPr id="13" name="Graphic 12" descr="Group">
            <a:extLst>
              <a:ext uri="{FF2B5EF4-FFF2-40B4-BE49-F238E27FC236}">
                <a16:creationId xmlns:a16="http://schemas.microsoft.com/office/drawing/2014/main" id="{A83331BB-786D-4751-B6F4-FD416FFB8E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86884" y="1896322"/>
            <a:ext cx="720000" cy="720000"/>
          </a:xfrm>
          <a:prstGeom prst="rect">
            <a:avLst/>
          </a:prstGeom>
        </p:spPr>
      </p:pic>
      <p:pic>
        <p:nvPicPr>
          <p:cNvPr id="14" name="Graphic 13" descr="Group">
            <a:extLst>
              <a:ext uri="{FF2B5EF4-FFF2-40B4-BE49-F238E27FC236}">
                <a16:creationId xmlns:a16="http://schemas.microsoft.com/office/drawing/2014/main" id="{DB2DB72A-658F-43C7-911B-606CEADA65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8497" y="1973938"/>
            <a:ext cx="720000" cy="720000"/>
          </a:xfrm>
          <a:prstGeom prst="rect">
            <a:avLst/>
          </a:prstGeom>
        </p:spPr>
      </p:pic>
      <p:pic>
        <p:nvPicPr>
          <p:cNvPr id="29" name="Graphic 28" descr="Group">
            <a:extLst>
              <a:ext uri="{FF2B5EF4-FFF2-40B4-BE49-F238E27FC236}">
                <a16:creationId xmlns:a16="http://schemas.microsoft.com/office/drawing/2014/main" id="{5A80042F-D6B8-42A4-B78F-0724EDE47B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422" y="1681103"/>
            <a:ext cx="720000" cy="720000"/>
          </a:xfrm>
          <a:prstGeom prst="rect">
            <a:avLst/>
          </a:prstGeom>
        </p:spPr>
      </p:pic>
      <p:pic>
        <p:nvPicPr>
          <p:cNvPr id="55" name="Graphic 54" descr="Group">
            <a:extLst>
              <a:ext uri="{FF2B5EF4-FFF2-40B4-BE49-F238E27FC236}">
                <a16:creationId xmlns:a16="http://schemas.microsoft.com/office/drawing/2014/main" id="{F0183D08-A46F-4F27-8CC4-FB2504D93B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6217" y="1858067"/>
            <a:ext cx="720000" cy="720000"/>
          </a:xfrm>
          <a:prstGeom prst="rect">
            <a:avLst/>
          </a:prstGeom>
        </p:spPr>
      </p:pic>
      <p:pic>
        <p:nvPicPr>
          <p:cNvPr id="56" name="Graphic 55" descr="Group">
            <a:extLst>
              <a:ext uri="{FF2B5EF4-FFF2-40B4-BE49-F238E27FC236}">
                <a16:creationId xmlns:a16="http://schemas.microsoft.com/office/drawing/2014/main" id="{82C66D30-76AA-4EE1-8C84-9292BB1728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6972" y="1777817"/>
            <a:ext cx="720000" cy="720000"/>
          </a:xfrm>
          <a:prstGeom prst="rect">
            <a:avLst/>
          </a:prstGeom>
        </p:spPr>
      </p:pic>
      <p:pic>
        <p:nvPicPr>
          <p:cNvPr id="57" name="Graphic 56" descr="Group">
            <a:extLst>
              <a:ext uri="{FF2B5EF4-FFF2-40B4-BE49-F238E27FC236}">
                <a16:creationId xmlns:a16="http://schemas.microsoft.com/office/drawing/2014/main" id="{DF343EB5-7390-4FC4-84E0-31B1E6F0E1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5147" y="1963314"/>
            <a:ext cx="720000" cy="72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179D1-B191-47A0-B016-28FA9273D394}"/>
              </a:ext>
            </a:extLst>
          </p:cNvPr>
          <p:cNvSpPr txBox="1"/>
          <p:nvPr/>
        </p:nvSpPr>
        <p:spPr>
          <a:xfrm>
            <a:off x="6993307" y="1234497"/>
            <a:ext cx="2009007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2000" b="1"/>
              <a:t>Population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78286A-2911-4434-B810-0DC607C1C691}"/>
              </a:ext>
            </a:extLst>
          </p:cNvPr>
          <p:cNvSpPr txBox="1"/>
          <p:nvPr/>
        </p:nvSpPr>
        <p:spPr>
          <a:xfrm>
            <a:off x="6993308" y="4082771"/>
            <a:ext cx="2009006" cy="400110"/>
          </a:xfrm>
          <a:prstGeom prst="rect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2000" b="1"/>
              <a:t>Sample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16A5E6-E49F-44E2-80A8-09CA8A91E1EF}"/>
              </a:ext>
            </a:extLst>
          </p:cNvPr>
          <p:cNvCxnSpPr>
            <a:cxnSpLocks/>
          </p:cNvCxnSpPr>
          <p:nvPr/>
        </p:nvCxnSpPr>
        <p:spPr>
          <a:xfrm>
            <a:off x="7926480" y="1951297"/>
            <a:ext cx="5087" cy="18131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1BCFBB2-9E27-4FFA-8008-EA5CB2FAF7A5}"/>
              </a:ext>
            </a:extLst>
          </p:cNvPr>
          <p:cNvCxnSpPr>
            <a:cxnSpLocks/>
          </p:cNvCxnSpPr>
          <p:nvPr/>
        </p:nvCxnSpPr>
        <p:spPr>
          <a:xfrm flipV="1">
            <a:off x="8459641" y="1947469"/>
            <a:ext cx="5087" cy="18131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9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58025E-6 L 0.01823 0.399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3" y="1996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46914E-7 L -0.01215 0.3515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" y="1756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0.06076 0.33982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38" y="169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3.20988E-6 L 0.01511 0.31698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" y="1583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83951E-6 L -0.02222 0.33704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1" y="1685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09877E-6 L -0.02847 0.36019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4" y="179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9A0206-9028-47A5-BFFE-3A0360A31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4CDF0AC-7C57-47D0-9828-7E94EC658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Uncertainty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1AE9E99-A0E1-4417-AE18-B47D10DD2B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0362" y="2048391"/>
            <a:ext cx="8423275" cy="1046719"/>
          </a:xfr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buNone/>
            </a:pPr>
            <a:r>
              <a:rPr lang="en-GB"/>
              <a:t>How do we capture this uncertainty in our results?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EC808-7CB5-4E94-B9C9-0EF7F5F7DF5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71DFD41-E787-46E0-A523-28421F6E473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5A6435-7BA0-404D-B293-5DF54B925985}"/>
              </a:ext>
            </a:extLst>
          </p:cNvPr>
          <p:cNvSpPr txBox="1"/>
          <p:nvPr/>
        </p:nvSpPr>
        <p:spPr>
          <a:xfrm>
            <a:off x="1850576" y="3345557"/>
            <a:ext cx="608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>
                <a:solidFill>
                  <a:schemeClr val="accent5"/>
                </a:solidFill>
              </a:rPr>
              <a:t>Standard Error       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360913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C2104-DCFA-4B2E-A75C-2F70D1F33A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8880B6-E9DD-4586-9CA2-38279759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Standard Error?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EC820E-81B9-4A57-AE9E-526F7B5CE42D}"/>
              </a:ext>
            </a:extLst>
          </p:cNvPr>
          <p:cNvCxnSpPr>
            <a:cxnSpLocks/>
          </p:cNvCxnSpPr>
          <p:nvPr/>
        </p:nvCxnSpPr>
        <p:spPr>
          <a:xfrm flipH="1">
            <a:off x="4289953" y="3845225"/>
            <a:ext cx="33642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72FABDE-8827-4D8C-A5D6-35FCA8DD3D29}"/>
              </a:ext>
            </a:extLst>
          </p:cNvPr>
          <p:cNvSpPr/>
          <p:nvPr/>
        </p:nvSpPr>
        <p:spPr bwMode="auto">
          <a:xfrm>
            <a:off x="5008300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A8C079A-2375-494A-9FB0-C9608F2FAFE0}"/>
              </a:ext>
            </a:extLst>
          </p:cNvPr>
          <p:cNvSpPr/>
          <p:nvPr/>
        </p:nvSpPr>
        <p:spPr bwMode="auto">
          <a:xfrm>
            <a:off x="6379701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F98CAC6-9894-45E9-BCDE-C6DAD88E2DFA}"/>
              </a:ext>
            </a:extLst>
          </p:cNvPr>
          <p:cNvSpPr/>
          <p:nvPr/>
        </p:nvSpPr>
        <p:spPr bwMode="auto">
          <a:xfrm>
            <a:off x="5638776" y="348213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EF7222-6DD8-4A42-A459-5D5386A2CC1A}"/>
              </a:ext>
            </a:extLst>
          </p:cNvPr>
          <p:cNvSpPr/>
          <p:nvPr/>
        </p:nvSpPr>
        <p:spPr bwMode="auto">
          <a:xfrm>
            <a:off x="6840845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2C7395B-B84E-4D06-804B-F66DF9849DD0}"/>
              </a:ext>
            </a:extLst>
          </p:cNvPr>
          <p:cNvSpPr/>
          <p:nvPr/>
        </p:nvSpPr>
        <p:spPr bwMode="auto">
          <a:xfrm>
            <a:off x="6002779" y="366520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E19736-5507-439D-B23D-F03A86F128C6}"/>
              </a:ext>
            </a:extLst>
          </p:cNvPr>
          <p:cNvCxnSpPr/>
          <p:nvPr/>
        </p:nvCxnSpPr>
        <p:spPr>
          <a:xfrm>
            <a:off x="5945197" y="3140485"/>
            <a:ext cx="5760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FD83EBE-14A9-4EEB-8E62-47A306DBC58D}"/>
              </a:ext>
            </a:extLst>
          </p:cNvPr>
          <p:cNvCxnSpPr>
            <a:cxnSpLocks/>
          </p:cNvCxnSpPr>
          <p:nvPr/>
        </p:nvCxnSpPr>
        <p:spPr>
          <a:xfrm flipH="1">
            <a:off x="5350776" y="3140485"/>
            <a:ext cx="5760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00869FD6-35F3-4502-8C18-88DDE64E0C07}"/>
              </a:ext>
            </a:extLst>
          </p:cNvPr>
          <p:cNvSpPr/>
          <p:nvPr/>
        </p:nvSpPr>
        <p:spPr bwMode="auto">
          <a:xfrm>
            <a:off x="4715600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58D7321-47B4-46AD-B839-E27EB8B46DC5}"/>
              </a:ext>
            </a:extLst>
          </p:cNvPr>
          <p:cNvSpPr/>
          <p:nvPr/>
        </p:nvSpPr>
        <p:spPr bwMode="auto">
          <a:xfrm>
            <a:off x="6652386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851EB5-7F08-46CE-9E66-EE80B370E4BD}"/>
              </a:ext>
            </a:extLst>
          </p:cNvPr>
          <p:cNvSpPr/>
          <p:nvPr/>
        </p:nvSpPr>
        <p:spPr bwMode="auto">
          <a:xfrm>
            <a:off x="6379701" y="348213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7FFB3D-3E96-4FD2-80F4-5D5680548BF3}"/>
              </a:ext>
            </a:extLst>
          </p:cNvPr>
          <p:cNvSpPr txBox="1"/>
          <p:nvPr/>
        </p:nvSpPr>
        <p:spPr>
          <a:xfrm>
            <a:off x="6882458" y="286348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>
                <a:solidFill>
                  <a:schemeClr val="accent3"/>
                </a:solidFill>
              </a:rPr>
              <a:t>SD of </a:t>
            </a:r>
            <a:r>
              <a:rPr lang="en-GB" sz="1200" err="1">
                <a:solidFill>
                  <a:schemeClr val="accent3"/>
                </a:solidFill>
              </a:rPr>
              <a:t>LSmeans</a:t>
            </a:r>
            <a:r>
              <a:rPr lang="en-GB" sz="1200">
                <a:solidFill>
                  <a:schemeClr val="accent3"/>
                </a:solidFill>
              </a:rPr>
              <a:t> = SE</a:t>
            </a:r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DB707F65-4EB3-4807-96C0-44D04840D8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5589" y="2474940"/>
            <a:ext cx="3676459" cy="1342328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	Standard   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Treatment Group        n  LSMean   Error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--------------------------------------------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Placebo (N=18)         17  4.77     2.068    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050" b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GSK2982772 60mg (N=33) 28  2.10     1.594</a:t>
            </a:r>
            <a:r>
              <a:rPr lang="en-GB" sz="1050" b="1">
                <a:highlight>
                  <a:srgbClr val="ADD8E6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50" b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1050"/>
          </a:p>
        </p:txBody>
      </p:sp>
      <p:sp>
        <p:nvSpPr>
          <p:cNvPr id="48" name="Content Placeholder 1">
            <a:extLst>
              <a:ext uri="{FF2B5EF4-FFF2-40B4-BE49-F238E27FC236}">
                <a16:creationId xmlns:a16="http://schemas.microsoft.com/office/drawing/2014/main" id="{D2583A5E-6891-4EA9-9C04-926F5A5512CC}"/>
              </a:ext>
            </a:extLst>
          </p:cNvPr>
          <p:cNvSpPr txBox="1">
            <a:spLocks/>
          </p:cNvSpPr>
          <p:nvPr/>
        </p:nvSpPr>
        <p:spPr>
          <a:xfrm>
            <a:off x="410008" y="1182177"/>
            <a:ext cx="7208458" cy="1081138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Standard error is the </a:t>
            </a:r>
            <a:r>
              <a:rPr lang="en-GB" b="1"/>
              <a:t>standard deviation (SD) of a statistic</a:t>
            </a:r>
            <a:r>
              <a:rPr lang="en-GB"/>
              <a:t> based on </a:t>
            </a:r>
            <a:r>
              <a:rPr lang="en-GB" b="1"/>
              <a:t>samples drawn from the same population</a:t>
            </a:r>
          </a:p>
          <a:p>
            <a:r>
              <a:rPr lang="en-GB"/>
              <a:t>The smaller the standard error, the greater the precision in the estimate.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7162CE-1CE4-4EFE-BAD8-121F6678726D}"/>
              </a:ext>
            </a:extLst>
          </p:cNvPr>
          <p:cNvSpPr txBox="1"/>
          <p:nvPr/>
        </p:nvSpPr>
        <p:spPr>
          <a:xfrm>
            <a:off x="4627597" y="3894315"/>
            <a:ext cx="268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>
                <a:solidFill>
                  <a:schemeClr val="bg2"/>
                </a:solidFill>
              </a:rPr>
              <a:t>GSK </a:t>
            </a:r>
            <a:r>
              <a:rPr lang="en-GB" sz="1200" err="1">
                <a:solidFill>
                  <a:schemeClr val="bg2"/>
                </a:solidFill>
              </a:rPr>
              <a:t>LSMeans</a:t>
            </a:r>
            <a:r>
              <a:rPr lang="en-GB" sz="1200">
                <a:solidFill>
                  <a:schemeClr val="bg2"/>
                </a:solidFill>
              </a:rPr>
              <a:t> </a:t>
            </a:r>
          </a:p>
          <a:p>
            <a:pPr algn="ctr">
              <a:buClr>
                <a:schemeClr val="tx1"/>
              </a:buClr>
            </a:pPr>
            <a:r>
              <a:rPr lang="en-GB" sz="1200">
                <a:solidFill>
                  <a:schemeClr val="bg2"/>
                </a:solidFill>
              </a:rPr>
              <a:t>(based on different random samples)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2BE2CC-A13D-477F-AFF1-A764A0DE4F83}"/>
              </a:ext>
            </a:extLst>
          </p:cNvPr>
          <p:cNvSpPr txBox="1"/>
          <p:nvPr/>
        </p:nvSpPr>
        <p:spPr>
          <a:xfrm>
            <a:off x="5257000" y="2666614"/>
            <a:ext cx="1430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>
                <a:solidFill>
                  <a:schemeClr val="accent5"/>
                </a:solidFill>
              </a:rPr>
              <a:t>Mean of </a:t>
            </a:r>
            <a:r>
              <a:rPr lang="en-GB" sz="1200" err="1">
                <a:solidFill>
                  <a:schemeClr val="accent5"/>
                </a:solidFill>
              </a:rPr>
              <a:t>LSMeans</a:t>
            </a:r>
            <a:endParaRPr lang="en-GB" sz="1200">
              <a:solidFill>
                <a:schemeClr val="accent5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B72FAAE-7D8E-4BD7-8C36-A06C69982A33}"/>
              </a:ext>
            </a:extLst>
          </p:cNvPr>
          <p:cNvSpPr/>
          <p:nvPr/>
        </p:nvSpPr>
        <p:spPr bwMode="auto">
          <a:xfrm>
            <a:off x="5814318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39A109-C883-4FCA-A3AD-E14B99BFDDBA}"/>
              </a:ext>
            </a:extLst>
          </p:cNvPr>
          <p:cNvSpPr/>
          <p:nvPr/>
        </p:nvSpPr>
        <p:spPr bwMode="auto">
          <a:xfrm>
            <a:off x="5809890" y="3482614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D86D495-E93F-4F75-9EE6-E64040D9564C}"/>
              </a:ext>
            </a:extLst>
          </p:cNvPr>
          <p:cNvSpPr/>
          <p:nvPr/>
        </p:nvSpPr>
        <p:spPr bwMode="auto">
          <a:xfrm>
            <a:off x="5437396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F1C2C6-270A-48F7-B829-90EDFD1037E9}"/>
              </a:ext>
            </a:extLst>
          </p:cNvPr>
          <p:cNvSpPr/>
          <p:nvPr/>
        </p:nvSpPr>
        <p:spPr bwMode="auto">
          <a:xfrm>
            <a:off x="6191240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0525EA-9425-40F6-B099-15BEA96385F6}"/>
              </a:ext>
            </a:extLst>
          </p:cNvPr>
          <p:cNvSpPr/>
          <p:nvPr/>
        </p:nvSpPr>
        <p:spPr bwMode="auto">
          <a:xfrm>
            <a:off x="6002577" y="3463768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769A2D-23E8-468F-A0E5-77800872EE0E}"/>
              </a:ext>
            </a:extLst>
          </p:cNvPr>
          <p:cNvSpPr/>
          <p:nvPr/>
        </p:nvSpPr>
        <p:spPr bwMode="auto">
          <a:xfrm>
            <a:off x="5810945" y="3292369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DFBFA4-30FC-41E3-9001-CF566B973083}"/>
              </a:ext>
            </a:extLst>
          </p:cNvPr>
          <p:cNvCxnSpPr>
            <a:cxnSpLocks/>
          </p:cNvCxnSpPr>
          <p:nvPr/>
        </p:nvCxnSpPr>
        <p:spPr>
          <a:xfrm>
            <a:off x="5945197" y="3009900"/>
            <a:ext cx="0" cy="83532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DAADD1E-E590-420B-9CC9-4B19486D7AB2}"/>
              </a:ext>
            </a:extLst>
          </p:cNvPr>
          <p:cNvSpPr/>
          <p:nvPr/>
        </p:nvSpPr>
        <p:spPr bwMode="auto">
          <a:xfrm>
            <a:off x="5191354" y="3673268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F19C137-077B-41A4-B85C-C7017A8BC019}"/>
              </a:ext>
            </a:extLst>
          </p:cNvPr>
          <p:cNvSpPr/>
          <p:nvPr/>
        </p:nvSpPr>
        <p:spPr bwMode="auto">
          <a:xfrm>
            <a:off x="5186399" y="346482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515E1EB-47DC-4389-9242-AC24118C9CF9}"/>
              </a:ext>
            </a:extLst>
          </p:cNvPr>
          <p:cNvSpPr/>
          <p:nvPr/>
        </p:nvSpPr>
        <p:spPr bwMode="auto">
          <a:xfrm>
            <a:off x="7236640" y="3654497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1D34F0C-2D49-4014-AEAE-5E4FFFFFDDEC}"/>
              </a:ext>
            </a:extLst>
          </p:cNvPr>
          <p:cNvSpPr/>
          <p:nvPr/>
        </p:nvSpPr>
        <p:spPr bwMode="auto">
          <a:xfrm>
            <a:off x="6652386" y="3474475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45BDF33-51AC-408F-85D9-C3B1DA9D881C}"/>
              </a:ext>
            </a:extLst>
          </p:cNvPr>
          <p:cNvSpPr/>
          <p:nvPr/>
        </p:nvSpPr>
        <p:spPr bwMode="auto">
          <a:xfrm>
            <a:off x="6002577" y="3292369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6F38DA2-6847-4BD1-9ED0-BFEFD3609623}"/>
              </a:ext>
            </a:extLst>
          </p:cNvPr>
          <p:cNvCxnSpPr/>
          <p:nvPr/>
        </p:nvCxnSpPr>
        <p:spPr>
          <a:xfrm>
            <a:off x="2683042" y="3487136"/>
            <a:ext cx="302205" cy="0"/>
          </a:xfrm>
          <a:prstGeom prst="line">
            <a:avLst/>
          </a:prstGeom>
          <a:ln w="19050">
            <a:solidFill>
              <a:srgbClr val="0AC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AB256C9-EE0E-41F3-9C40-CE355098446A}"/>
              </a:ext>
            </a:extLst>
          </p:cNvPr>
          <p:cNvCxnSpPr>
            <a:cxnSpLocks/>
          </p:cNvCxnSpPr>
          <p:nvPr/>
        </p:nvCxnSpPr>
        <p:spPr>
          <a:xfrm>
            <a:off x="3388506" y="3478815"/>
            <a:ext cx="409203" cy="3316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CF4E8FCC-753A-47FD-A2A3-1C1DDF24DEF0}"/>
              </a:ext>
            </a:extLst>
          </p:cNvPr>
          <p:cNvSpPr/>
          <p:nvPr/>
        </p:nvSpPr>
        <p:spPr bwMode="auto">
          <a:xfrm>
            <a:off x="5625857" y="3665203"/>
            <a:ext cx="144000" cy="144000"/>
          </a:xfrm>
          <a:prstGeom prst="ellipse">
            <a:avLst/>
          </a:prstGeom>
          <a:solidFill>
            <a:srgbClr val="0ACEE8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00B0F0"/>
              </a:solidFill>
              <a:latin typeface="Arial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D822F91-2007-48FF-A563-98313064099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F05A87C-1713-4551-A5A7-64FE9F57F81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6A38F0-56E8-4F32-B607-E8C65D0A9C43}"/>
              </a:ext>
            </a:extLst>
          </p:cNvPr>
          <p:cNvSpPr/>
          <p:nvPr/>
        </p:nvSpPr>
        <p:spPr>
          <a:xfrm>
            <a:off x="359152" y="4355786"/>
            <a:ext cx="578742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>
                <a:hlinkClick r:id="rId3"/>
              </a:rPr>
              <a:t>YouTube video</a:t>
            </a:r>
            <a:endParaRPr lang="en-GB" sz="1050"/>
          </a:p>
        </p:txBody>
      </p:sp>
    </p:spTree>
    <p:extLst>
      <p:ext uri="{BB962C8B-B14F-4D97-AF65-F5344CB8AC3E}">
        <p14:creationId xmlns:p14="http://schemas.microsoft.com/office/powerpoint/2010/main" val="188205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2" grpId="0" animBg="1"/>
      <p:bldP spid="23" grpId="0" animBg="1"/>
      <p:bldP spid="24" grpId="0" animBg="1"/>
      <p:bldP spid="40" grpId="0" animBg="1"/>
      <p:bldP spid="41" grpId="0" animBg="1"/>
      <p:bldP spid="42" grpId="0" animBg="1"/>
      <p:bldP spid="44" grpId="0"/>
      <p:bldP spid="47" grpId="0" uiExpand="1"/>
      <p:bldP spid="49" grpId="0"/>
      <p:bldP spid="50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8" grpId="0" animBg="1"/>
      <p:bldP spid="39" grpId="0" animBg="1"/>
      <p:bldP spid="43" grpId="0" animBg="1"/>
      <p:bldP spid="45" grpId="0" animBg="1"/>
      <p:bldP spid="5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BCE4CCF1-86CB-4B4F-A313-B28AFC6E1122}"/>
              </a:ext>
            </a:extLst>
          </p:cNvPr>
          <p:cNvSpPr/>
          <p:nvPr/>
        </p:nvSpPr>
        <p:spPr bwMode="auto">
          <a:xfrm>
            <a:off x="5822104" y="3099734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C2104-DCFA-4B2E-A75C-2F70D1F33A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8880B6-E9DD-4586-9CA2-38279759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Standard Error?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EC820E-81B9-4A57-AE9E-526F7B5CE42D}"/>
              </a:ext>
            </a:extLst>
          </p:cNvPr>
          <p:cNvCxnSpPr>
            <a:cxnSpLocks/>
          </p:cNvCxnSpPr>
          <p:nvPr/>
        </p:nvCxnSpPr>
        <p:spPr>
          <a:xfrm flipH="1">
            <a:off x="4289953" y="3845225"/>
            <a:ext cx="33642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72FABDE-8827-4D8C-A5D6-35FCA8DD3D29}"/>
              </a:ext>
            </a:extLst>
          </p:cNvPr>
          <p:cNvSpPr/>
          <p:nvPr/>
        </p:nvSpPr>
        <p:spPr bwMode="auto">
          <a:xfrm>
            <a:off x="5248935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4190E1-3556-41B9-929D-20BA25AF3BCC}"/>
              </a:ext>
            </a:extLst>
          </p:cNvPr>
          <p:cNvSpPr/>
          <p:nvPr/>
        </p:nvSpPr>
        <p:spPr bwMode="auto">
          <a:xfrm>
            <a:off x="5625857" y="3665203"/>
            <a:ext cx="144000" cy="144000"/>
          </a:xfrm>
          <a:prstGeom prst="ellipse">
            <a:avLst/>
          </a:prstGeom>
          <a:solidFill>
            <a:srgbClr val="0ACEE8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A8C079A-2375-494A-9FB0-C9608F2FAFE0}"/>
              </a:ext>
            </a:extLst>
          </p:cNvPr>
          <p:cNvSpPr/>
          <p:nvPr/>
        </p:nvSpPr>
        <p:spPr bwMode="auto">
          <a:xfrm>
            <a:off x="6379701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F98CAC6-9894-45E9-BCDE-C6DAD88E2DFA}"/>
              </a:ext>
            </a:extLst>
          </p:cNvPr>
          <p:cNvSpPr/>
          <p:nvPr/>
        </p:nvSpPr>
        <p:spPr bwMode="auto">
          <a:xfrm>
            <a:off x="5638776" y="348213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2C7395B-B84E-4D06-804B-F66DF9849DD0}"/>
              </a:ext>
            </a:extLst>
          </p:cNvPr>
          <p:cNvSpPr/>
          <p:nvPr/>
        </p:nvSpPr>
        <p:spPr bwMode="auto">
          <a:xfrm>
            <a:off x="6002779" y="366520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E19736-5507-439D-B23D-F03A86F128C6}"/>
              </a:ext>
            </a:extLst>
          </p:cNvPr>
          <p:cNvCxnSpPr/>
          <p:nvPr/>
        </p:nvCxnSpPr>
        <p:spPr>
          <a:xfrm>
            <a:off x="5945197" y="3140485"/>
            <a:ext cx="2880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158D7321-47B4-46AD-B839-E27EB8B46DC5}"/>
              </a:ext>
            </a:extLst>
          </p:cNvPr>
          <p:cNvSpPr/>
          <p:nvPr/>
        </p:nvSpPr>
        <p:spPr bwMode="auto">
          <a:xfrm>
            <a:off x="5447070" y="3460956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851EB5-7F08-46CE-9E66-EE80B370E4BD}"/>
              </a:ext>
            </a:extLst>
          </p:cNvPr>
          <p:cNvSpPr/>
          <p:nvPr/>
        </p:nvSpPr>
        <p:spPr bwMode="auto">
          <a:xfrm>
            <a:off x="6379701" y="348213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7FFB3D-3E96-4FD2-80F4-5D5680548BF3}"/>
              </a:ext>
            </a:extLst>
          </p:cNvPr>
          <p:cNvSpPr txBox="1"/>
          <p:nvPr/>
        </p:nvSpPr>
        <p:spPr>
          <a:xfrm>
            <a:off x="6882458" y="286348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>
                <a:solidFill>
                  <a:schemeClr val="accent3"/>
                </a:solidFill>
              </a:rPr>
              <a:t>SD of </a:t>
            </a:r>
            <a:r>
              <a:rPr lang="en-GB" sz="1200" err="1">
                <a:solidFill>
                  <a:schemeClr val="accent3"/>
                </a:solidFill>
              </a:rPr>
              <a:t>LSmeans</a:t>
            </a:r>
            <a:r>
              <a:rPr lang="en-GB" sz="1200">
                <a:solidFill>
                  <a:schemeClr val="accent3"/>
                </a:solidFill>
              </a:rPr>
              <a:t> = SE</a:t>
            </a:r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DB707F65-4EB3-4807-96C0-44D04840D8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5589" y="2474940"/>
            <a:ext cx="3676459" cy="1342328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	Standard   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Treatment Group        n  LSMean   Error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--------------------------------------------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Placebo (N=18)         17  4.77     2.068    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050" b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GSK2982772 60mg (N=33) 28  2.10     0.594</a:t>
            </a:r>
            <a:r>
              <a:rPr lang="en-GB" sz="1050" b="1">
                <a:highlight>
                  <a:srgbClr val="ADD8E6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50" b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1050"/>
          </a:p>
        </p:txBody>
      </p:sp>
      <p:sp>
        <p:nvSpPr>
          <p:cNvPr id="48" name="Content Placeholder 1">
            <a:extLst>
              <a:ext uri="{FF2B5EF4-FFF2-40B4-BE49-F238E27FC236}">
                <a16:creationId xmlns:a16="http://schemas.microsoft.com/office/drawing/2014/main" id="{D2583A5E-6891-4EA9-9C04-926F5A5512CC}"/>
              </a:ext>
            </a:extLst>
          </p:cNvPr>
          <p:cNvSpPr txBox="1">
            <a:spLocks/>
          </p:cNvSpPr>
          <p:nvPr/>
        </p:nvSpPr>
        <p:spPr>
          <a:xfrm>
            <a:off x="410008" y="1182177"/>
            <a:ext cx="7208458" cy="1081138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Standard error is the </a:t>
            </a:r>
            <a:r>
              <a:rPr lang="en-GB" b="1"/>
              <a:t>standard deviation (SD) of a statistic</a:t>
            </a:r>
            <a:r>
              <a:rPr lang="en-GB"/>
              <a:t> based on </a:t>
            </a:r>
            <a:r>
              <a:rPr lang="en-GB" b="1"/>
              <a:t>samples drawn from the same population</a:t>
            </a:r>
          </a:p>
          <a:p>
            <a:r>
              <a:rPr lang="en-GB"/>
              <a:t>The smaller the standard error, the greater the precision in the estimate.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7162CE-1CE4-4EFE-BAD8-121F6678726D}"/>
              </a:ext>
            </a:extLst>
          </p:cNvPr>
          <p:cNvSpPr txBox="1"/>
          <p:nvPr/>
        </p:nvSpPr>
        <p:spPr>
          <a:xfrm>
            <a:off x="4627597" y="3894315"/>
            <a:ext cx="268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>
                <a:solidFill>
                  <a:schemeClr val="bg2"/>
                </a:solidFill>
              </a:rPr>
              <a:t>GSK </a:t>
            </a:r>
            <a:r>
              <a:rPr lang="en-GB" sz="1200" err="1">
                <a:solidFill>
                  <a:schemeClr val="bg2"/>
                </a:solidFill>
              </a:rPr>
              <a:t>LSMeans</a:t>
            </a:r>
            <a:r>
              <a:rPr lang="en-GB" sz="1200">
                <a:solidFill>
                  <a:schemeClr val="bg2"/>
                </a:solidFill>
              </a:rPr>
              <a:t> </a:t>
            </a:r>
          </a:p>
          <a:p>
            <a:pPr algn="ctr">
              <a:buClr>
                <a:schemeClr val="tx1"/>
              </a:buClr>
            </a:pPr>
            <a:r>
              <a:rPr lang="en-GB" sz="1200">
                <a:solidFill>
                  <a:schemeClr val="bg2"/>
                </a:solidFill>
              </a:rPr>
              <a:t>(based on different random samples)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2BE2CC-A13D-477F-AFF1-A764A0DE4F83}"/>
              </a:ext>
            </a:extLst>
          </p:cNvPr>
          <p:cNvSpPr txBox="1"/>
          <p:nvPr/>
        </p:nvSpPr>
        <p:spPr>
          <a:xfrm>
            <a:off x="5257000" y="2666614"/>
            <a:ext cx="1430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>
                <a:solidFill>
                  <a:schemeClr val="accent5"/>
                </a:solidFill>
              </a:rPr>
              <a:t>Mean of </a:t>
            </a:r>
            <a:r>
              <a:rPr lang="en-GB" sz="1200" err="1">
                <a:solidFill>
                  <a:schemeClr val="accent5"/>
                </a:solidFill>
              </a:rPr>
              <a:t>LSMeans</a:t>
            </a:r>
            <a:endParaRPr lang="en-GB" sz="1200">
              <a:solidFill>
                <a:schemeClr val="accent5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B72FAAE-7D8E-4BD7-8C36-A06C69982A33}"/>
              </a:ext>
            </a:extLst>
          </p:cNvPr>
          <p:cNvSpPr/>
          <p:nvPr/>
        </p:nvSpPr>
        <p:spPr bwMode="auto">
          <a:xfrm>
            <a:off x="5814318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39A109-C883-4FCA-A3AD-E14B99BFDDBA}"/>
              </a:ext>
            </a:extLst>
          </p:cNvPr>
          <p:cNvSpPr/>
          <p:nvPr/>
        </p:nvSpPr>
        <p:spPr bwMode="auto">
          <a:xfrm>
            <a:off x="5809890" y="3482614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D86D495-E93F-4F75-9EE6-E64040D9564C}"/>
              </a:ext>
            </a:extLst>
          </p:cNvPr>
          <p:cNvSpPr/>
          <p:nvPr/>
        </p:nvSpPr>
        <p:spPr bwMode="auto">
          <a:xfrm>
            <a:off x="5437396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F1C2C6-270A-48F7-B829-90EDFD1037E9}"/>
              </a:ext>
            </a:extLst>
          </p:cNvPr>
          <p:cNvSpPr/>
          <p:nvPr/>
        </p:nvSpPr>
        <p:spPr bwMode="auto">
          <a:xfrm>
            <a:off x="6191240" y="366520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0525EA-9425-40F6-B099-15BEA96385F6}"/>
              </a:ext>
            </a:extLst>
          </p:cNvPr>
          <p:cNvSpPr/>
          <p:nvPr/>
        </p:nvSpPr>
        <p:spPr bwMode="auto">
          <a:xfrm>
            <a:off x="6002577" y="3463768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5769A2D-23E8-468F-A0E5-77800872EE0E}"/>
              </a:ext>
            </a:extLst>
          </p:cNvPr>
          <p:cNvSpPr/>
          <p:nvPr/>
        </p:nvSpPr>
        <p:spPr bwMode="auto">
          <a:xfrm>
            <a:off x="5810945" y="3292369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DFBFA4-30FC-41E3-9001-CF566B973083}"/>
              </a:ext>
            </a:extLst>
          </p:cNvPr>
          <p:cNvCxnSpPr>
            <a:cxnSpLocks/>
          </p:cNvCxnSpPr>
          <p:nvPr/>
        </p:nvCxnSpPr>
        <p:spPr>
          <a:xfrm>
            <a:off x="5945197" y="3009900"/>
            <a:ext cx="0" cy="83532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9CA8DAC-392E-403A-B966-94B7D1A12DAF}"/>
              </a:ext>
            </a:extLst>
          </p:cNvPr>
          <p:cNvSpPr/>
          <p:nvPr/>
        </p:nvSpPr>
        <p:spPr bwMode="auto">
          <a:xfrm>
            <a:off x="5996872" y="3291573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FD83EBE-14A9-4EEB-8E62-47A306DBC58D}"/>
              </a:ext>
            </a:extLst>
          </p:cNvPr>
          <p:cNvCxnSpPr>
            <a:cxnSpLocks/>
          </p:cNvCxnSpPr>
          <p:nvPr/>
        </p:nvCxnSpPr>
        <p:spPr>
          <a:xfrm flipH="1">
            <a:off x="5650808" y="3140485"/>
            <a:ext cx="2880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A51177-C6AF-45DD-8BEA-2BA44EB5C699}"/>
              </a:ext>
            </a:extLst>
          </p:cNvPr>
          <p:cNvCxnSpPr/>
          <p:nvPr/>
        </p:nvCxnSpPr>
        <p:spPr>
          <a:xfrm>
            <a:off x="2683042" y="3487136"/>
            <a:ext cx="302205" cy="0"/>
          </a:xfrm>
          <a:prstGeom prst="line">
            <a:avLst/>
          </a:prstGeom>
          <a:ln w="19050">
            <a:solidFill>
              <a:srgbClr val="0AC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42E0FA2-D2C7-491D-A954-94E6382BD49E}"/>
              </a:ext>
            </a:extLst>
          </p:cNvPr>
          <p:cNvCxnSpPr>
            <a:cxnSpLocks/>
          </p:cNvCxnSpPr>
          <p:nvPr/>
        </p:nvCxnSpPr>
        <p:spPr>
          <a:xfrm>
            <a:off x="3388506" y="3478815"/>
            <a:ext cx="409203" cy="3316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0DD4149-5E0D-4A5B-AD12-B71E458487E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8026B61-E147-41D8-B402-6BC8CD9C7B0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CC2D63-E751-4592-9219-881B4DC5054C}"/>
              </a:ext>
            </a:extLst>
          </p:cNvPr>
          <p:cNvSpPr/>
          <p:nvPr/>
        </p:nvSpPr>
        <p:spPr>
          <a:xfrm>
            <a:off x="359152" y="4355786"/>
            <a:ext cx="578742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>
                <a:hlinkClick r:id="rId3"/>
              </a:rPr>
              <a:t>YouTube video</a:t>
            </a:r>
            <a:endParaRPr lang="en-GB" sz="1050"/>
          </a:p>
        </p:txBody>
      </p:sp>
    </p:spTree>
    <p:extLst>
      <p:ext uri="{BB962C8B-B14F-4D97-AF65-F5344CB8AC3E}">
        <p14:creationId xmlns:p14="http://schemas.microsoft.com/office/powerpoint/2010/main" val="195226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46">
            <a:extLst>
              <a:ext uri="{FF2B5EF4-FFF2-40B4-BE49-F238E27FC236}">
                <a16:creationId xmlns:a16="http://schemas.microsoft.com/office/drawing/2014/main" id="{FEF4E83E-987D-4F06-97AD-7FB346754FF6}"/>
              </a:ext>
            </a:extLst>
          </p:cNvPr>
          <p:cNvSpPr txBox="1">
            <a:spLocks/>
          </p:cNvSpPr>
          <p:nvPr/>
        </p:nvSpPr>
        <p:spPr>
          <a:xfrm>
            <a:off x="359152" y="2530697"/>
            <a:ext cx="4738913" cy="1342328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itchFamily="34" charset="0"/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	Standard    95% CI</a:t>
            </a:r>
          </a:p>
          <a:p>
            <a:pPr marL="0" indent="0">
              <a:spcAft>
                <a:spcPts val="0"/>
              </a:spcAft>
              <a:buFont typeface="Arial" pitchFamily="34" charset="0"/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Treatment Group        n  LSMean   Error    (lower, Upper)</a:t>
            </a:r>
          </a:p>
          <a:p>
            <a:pPr marL="0" indent="0">
              <a:spcAft>
                <a:spcPts val="0"/>
              </a:spcAft>
              <a:buFont typeface="Arial" pitchFamily="34" charset="0"/>
              <a:buNone/>
            </a:pP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----------------------------------------------------------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Placebo (N=18)         17  4.77     2.068    (0.28, 8.12)</a:t>
            </a:r>
          </a:p>
          <a:p>
            <a:pPr marL="0" indent="0">
              <a:spcAft>
                <a:spcPts val="0"/>
              </a:spcAft>
              <a:buFont typeface="Arial" pitchFamily="34" charset="0"/>
              <a:buNone/>
            </a:pPr>
            <a:r>
              <a:rPr lang="en-GB" sz="1050" b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GSK2982772 60mg (N=33) 28  2.10     0.594    (1.06, 3.14)</a:t>
            </a: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105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10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D5EBE9-FB7D-4E35-BA2A-2EFEB83ECDB7}"/>
              </a:ext>
            </a:extLst>
          </p:cNvPr>
          <p:cNvSpPr/>
          <p:nvPr/>
        </p:nvSpPr>
        <p:spPr bwMode="auto">
          <a:xfrm>
            <a:off x="6488082" y="2594782"/>
            <a:ext cx="1105786" cy="556308"/>
          </a:xfrm>
          <a:prstGeom prst="rect">
            <a:avLst/>
          </a:prstGeom>
          <a:solidFill>
            <a:srgbClr val="003366">
              <a:alpha val="23922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BCAF57-4A11-47EA-936F-A8431D7ACFF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1262" y="1209891"/>
            <a:ext cx="8672738" cy="1512873"/>
          </a:xfrm>
        </p:spPr>
        <p:txBody>
          <a:bodyPr/>
          <a:lstStyle/>
          <a:p>
            <a:r>
              <a:rPr lang="en-GB" sz="1400"/>
              <a:t>A confidence interval gives a </a:t>
            </a:r>
            <a:r>
              <a:rPr lang="en-GB" sz="1400" b="1"/>
              <a:t>range of true (population) effects </a:t>
            </a:r>
            <a:r>
              <a:rPr lang="en-GB" sz="1400"/>
              <a:t>for which the observed result is a </a:t>
            </a:r>
            <a:r>
              <a:rPr lang="en-GB" sz="1400" b="1"/>
              <a:t>plausible </a:t>
            </a:r>
            <a:r>
              <a:rPr lang="en-GB" sz="1400"/>
              <a:t>outcome. </a:t>
            </a:r>
          </a:p>
          <a:p>
            <a:r>
              <a:rPr lang="en-GB" sz="1400"/>
              <a:t>How we are defining </a:t>
            </a:r>
            <a:r>
              <a:rPr lang="en-GB" sz="1400" b="1"/>
              <a:t>plausible</a:t>
            </a:r>
            <a:r>
              <a:rPr lang="en-GB" sz="1400"/>
              <a:t>?</a:t>
            </a:r>
          </a:p>
          <a:p>
            <a:pPr marL="268163" lvl="1" indent="0">
              <a:buNone/>
            </a:pPr>
            <a:r>
              <a:rPr lang="en-GB"/>
              <a:t>Determined by the level of the CI (e.g. 95%)</a:t>
            </a:r>
          </a:p>
          <a:p>
            <a:endParaRPr lang="en-GB" sz="1400"/>
          </a:p>
          <a:p>
            <a:pPr marL="0" indent="0">
              <a:buNone/>
            </a:pPr>
            <a:endParaRPr lang="en-GB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148FC-699C-4805-A6B7-EC65F4E3E6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F523FC-DDD7-49A0-8F4F-8A09F0B9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a Confidence Interval?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AB83CA-7CF6-445B-860F-A22FA5B5B5D5}"/>
              </a:ext>
            </a:extLst>
          </p:cNvPr>
          <p:cNvCxnSpPr>
            <a:cxnSpLocks/>
          </p:cNvCxnSpPr>
          <p:nvPr/>
        </p:nvCxnSpPr>
        <p:spPr>
          <a:xfrm>
            <a:off x="3983145" y="3576142"/>
            <a:ext cx="83300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59C067-C04D-40D9-8008-B2109BE843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C6A39-4ACB-4ABB-AA8D-86EB3B32C46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364A93-55D5-47B2-B212-7187A937F3F0}"/>
              </a:ext>
            </a:extLst>
          </p:cNvPr>
          <p:cNvCxnSpPr>
            <a:cxnSpLocks/>
          </p:cNvCxnSpPr>
          <p:nvPr/>
        </p:nvCxnSpPr>
        <p:spPr>
          <a:xfrm flipV="1">
            <a:off x="5879024" y="3155898"/>
            <a:ext cx="21507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0D1E26-63A6-43D0-96DF-9407A1222889}"/>
              </a:ext>
            </a:extLst>
          </p:cNvPr>
          <p:cNvCxnSpPr>
            <a:cxnSpLocks/>
          </p:cNvCxnSpPr>
          <p:nvPr/>
        </p:nvCxnSpPr>
        <p:spPr>
          <a:xfrm>
            <a:off x="6488082" y="2597800"/>
            <a:ext cx="11057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2CA7682-1827-4A04-AEF0-DCA0D985B3C9}"/>
              </a:ext>
            </a:extLst>
          </p:cNvPr>
          <p:cNvSpPr/>
          <p:nvPr/>
        </p:nvSpPr>
        <p:spPr bwMode="auto">
          <a:xfrm>
            <a:off x="6990867" y="2544637"/>
            <a:ext cx="108000" cy="108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FC43E0-DC5F-4B3D-BD24-A430FBCA65E8}"/>
              </a:ext>
            </a:extLst>
          </p:cNvPr>
          <p:cNvSpPr/>
          <p:nvPr/>
        </p:nvSpPr>
        <p:spPr>
          <a:xfrm>
            <a:off x="5879024" y="3223808"/>
            <a:ext cx="230864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0     1     2     3     4</a:t>
            </a:r>
            <a:endParaRPr lang="en-GB" sz="11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8AB912-4B51-4B80-B6FA-843F1740B3AE}"/>
              </a:ext>
            </a:extLst>
          </p:cNvPr>
          <p:cNvSpPr/>
          <p:nvPr/>
        </p:nvSpPr>
        <p:spPr>
          <a:xfrm>
            <a:off x="5702694" y="3445688"/>
            <a:ext cx="25763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latin typeface="Calibri" panose="020F0502020204030204" pitchFamily="34" charset="0"/>
                <a:cs typeface="Calibri" panose="020F0502020204030204" pitchFamily="34" charset="0"/>
              </a:rPr>
              <a:t>True (population level) Treatment Effect</a:t>
            </a:r>
            <a:endParaRPr lang="en-GB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DBE25FA-8BD4-4F5A-B6D4-EA03746B7768}"/>
              </a:ext>
            </a:extLst>
          </p:cNvPr>
          <p:cNvCxnSpPr>
            <a:cxnSpLocks/>
          </p:cNvCxnSpPr>
          <p:nvPr/>
        </p:nvCxnSpPr>
        <p:spPr>
          <a:xfrm>
            <a:off x="2442466" y="3576142"/>
            <a:ext cx="43067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51CB69C-9C78-41ED-991F-D7EA49A976BF}"/>
              </a:ext>
            </a:extLst>
          </p:cNvPr>
          <p:cNvCxnSpPr>
            <a:cxnSpLocks/>
          </p:cNvCxnSpPr>
          <p:nvPr/>
        </p:nvCxnSpPr>
        <p:spPr>
          <a:xfrm flipV="1">
            <a:off x="6605040" y="2760638"/>
            <a:ext cx="327936" cy="3952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F917930-B90B-4B81-B39A-14D434DEE0F5}"/>
              </a:ext>
            </a:extLst>
          </p:cNvPr>
          <p:cNvCxnSpPr>
            <a:cxnSpLocks/>
            <a:stCxn id="23" idx="2"/>
          </p:cNvCxnSpPr>
          <p:nvPr/>
        </p:nvCxnSpPr>
        <p:spPr>
          <a:xfrm flipV="1">
            <a:off x="7040975" y="2746990"/>
            <a:ext cx="0" cy="40410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B6F1EE0-388C-4114-B732-0331ED4C7016}"/>
              </a:ext>
            </a:extLst>
          </p:cNvPr>
          <p:cNvCxnSpPr>
            <a:cxnSpLocks/>
          </p:cNvCxnSpPr>
          <p:nvPr/>
        </p:nvCxnSpPr>
        <p:spPr>
          <a:xfrm flipH="1" flipV="1">
            <a:off x="7162493" y="2762654"/>
            <a:ext cx="314418" cy="3952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4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 animBg="1"/>
      <p:bldP spid="19" grpId="0" animBg="1"/>
      <p:bldP spid="20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7E278C-8EE8-4771-8778-121563F92A2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5260" y="1523338"/>
            <a:ext cx="3292941" cy="1744513"/>
          </a:xfrm>
        </p:spPr>
        <p:txBody>
          <a:bodyPr/>
          <a:lstStyle/>
          <a:p>
            <a:pPr lvl="1"/>
            <a:r>
              <a:rPr lang="en-GB"/>
              <a:t>Sample size</a:t>
            </a:r>
          </a:p>
          <a:p>
            <a:pPr lvl="1"/>
            <a:r>
              <a:rPr lang="en-GB"/>
              <a:t>Variability of the data</a:t>
            </a:r>
          </a:p>
          <a:p>
            <a:pPr lvl="1">
              <a:spcAft>
                <a:spcPts val="0"/>
              </a:spcAft>
            </a:pPr>
            <a:r>
              <a:rPr lang="en-GB"/>
              <a:t>Chosen level of confidence</a:t>
            </a:r>
          </a:p>
          <a:p>
            <a:pPr marL="540000" lvl="2" indent="0">
              <a:buNone/>
            </a:pPr>
            <a:r>
              <a:rPr lang="en-GB"/>
              <a:t>(It doesn’t have to be 95%)</a:t>
            </a:r>
          </a:p>
          <a:p>
            <a:pPr marL="0" indent="0">
              <a:buNone/>
            </a:pPr>
            <a:endParaRPr lang="en-GB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C7C68-9C1D-48B3-91C6-6DA202F76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541069-269A-47A7-A437-3D896A2B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What is a Confidence Interval?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72766F6-7A49-4183-9466-B53378676603}"/>
              </a:ext>
            </a:extLst>
          </p:cNvPr>
          <p:cNvCxnSpPr>
            <a:cxnSpLocks/>
          </p:cNvCxnSpPr>
          <p:nvPr/>
        </p:nvCxnSpPr>
        <p:spPr>
          <a:xfrm>
            <a:off x="5736626" y="2009991"/>
            <a:ext cx="2700000" cy="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3B626EE-2A49-489D-9D13-ACAC290FC653}"/>
              </a:ext>
            </a:extLst>
          </p:cNvPr>
          <p:cNvCxnSpPr>
            <a:cxnSpLocks/>
          </p:cNvCxnSpPr>
          <p:nvPr/>
        </p:nvCxnSpPr>
        <p:spPr>
          <a:xfrm>
            <a:off x="6186626" y="2787034"/>
            <a:ext cx="1800000" cy="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51404DA-7DE0-45ED-BE1E-639CB4BDC61F}"/>
              </a:ext>
            </a:extLst>
          </p:cNvPr>
          <p:cNvCxnSpPr>
            <a:cxnSpLocks/>
          </p:cNvCxnSpPr>
          <p:nvPr/>
        </p:nvCxnSpPr>
        <p:spPr>
          <a:xfrm>
            <a:off x="5577126" y="3617312"/>
            <a:ext cx="3110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646ECF-F9B6-42E6-9414-C3921859D727}"/>
              </a:ext>
            </a:extLst>
          </p:cNvPr>
          <p:cNvSpPr txBox="1"/>
          <p:nvPr/>
        </p:nvSpPr>
        <p:spPr>
          <a:xfrm>
            <a:off x="4462046" y="1871680"/>
            <a:ext cx="131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99% confidence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5CD451-F7F3-4F51-BE4B-14C95CFBC0F2}"/>
              </a:ext>
            </a:extLst>
          </p:cNvPr>
          <p:cNvSpPr txBox="1"/>
          <p:nvPr/>
        </p:nvSpPr>
        <p:spPr>
          <a:xfrm>
            <a:off x="4464006" y="2252511"/>
            <a:ext cx="131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95% confidence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640506-87CC-45A2-99F3-7FB7B159E6F1}"/>
              </a:ext>
            </a:extLst>
          </p:cNvPr>
          <p:cNvSpPr txBox="1"/>
          <p:nvPr/>
        </p:nvSpPr>
        <p:spPr>
          <a:xfrm>
            <a:off x="4464006" y="2621720"/>
            <a:ext cx="1311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90% confidence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A2F9B5-0CA0-42A0-9299-BC7FD55BEB9B}"/>
              </a:ext>
            </a:extLst>
          </p:cNvPr>
          <p:cNvSpPr txBox="1"/>
          <p:nvPr/>
        </p:nvSpPr>
        <p:spPr>
          <a:xfrm>
            <a:off x="5710815" y="3672378"/>
            <a:ext cx="272581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  <a:cs typeface="Calibri" panose="020F0502020204030204" pitchFamily="34" charset="0"/>
              </a:rPr>
              <a:t>Possible true values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04B7DD-DC47-463D-9083-4F6FA128DAE6}"/>
              </a:ext>
            </a:extLst>
          </p:cNvPr>
          <p:cNvCxnSpPr>
            <a:cxnSpLocks/>
          </p:cNvCxnSpPr>
          <p:nvPr/>
        </p:nvCxnSpPr>
        <p:spPr>
          <a:xfrm>
            <a:off x="5577126" y="3617312"/>
            <a:ext cx="3110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1D38CB-27A2-45FD-917F-1F715FC3D6A7}"/>
              </a:ext>
            </a:extLst>
          </p:cNvPr>
          <p:cNvCxnSpPr/>
          <p:nvPr/>
        </p:nvCxnSpPr>
        <p:spPr>
          <a:xfrm>
            <a:off x="5450188" y="3617312"/>
            <a:ext cx="3356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F99F01-A7F1-409A-B394-10EFAF9B6D72}"/>
              </a:ext>
            </a:extLst>
          </p:cNvPr>
          <p:cNvCxnSpPr>
            <a:cxnSpLocks/>
          </p:cNvCxnSpPr>
          <p:nvPr/>
        </p:nvCxnSpPr>
        <p:spPr>
          <a:xfrm>
            <a:off x="5711445" y="3617312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C4A2ACF-9133-4D61-9BD3-293041A0030E}"/>
              </a:ext>
            </a:extLst>
          </p:cNvPr>
          <p:cNvCxnSpPr>
            <a:cxnSpLocks/>
          </p:cNvCxnSpPr>
          <p:nvPr/>
        </p:nvCxnSpPr>
        <p:spPr>
          <a:xfrm>
            <a:off x="5863845" y="3618990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A3FB82-58A2-4C1C-9A24-C56B47809C6F}"/>
              </a:ext>
            </a:extLst>
          </p:cNvPr>
          <p:cNvCxnSpPr>
            <a:cxnSpLocks/>
          </p:cNvCxnSpPr>
          <p:nvPr/>
        </p:nvCxnSpPr>
        <p:spPr>
          <a:xfrm>
            <a:off x="6016245" y="3620666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2B54476-6E6E-458A-B81A-1ED09CDCAF16}"/>
              </a:ext>
            </a:extLst>
          </p:cNvPr>
          <p:cNvCxnSpPr>
            <a:cxnSpLocks/>
          </p:cNvCxnSpPr>
          <p:nvPr/>
        </p:nvCxnSpPr>
        <p:spPr>
          <a:xfrm>
            <a:off x="6168645" y="3617578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6B024F-3D24-4E35-BC7B-9BD414655A48}"/>
              </a:ext>
            </a:extLst>
          </p:cNvPr>
          <p:cNvCxnSpPr>
            <a:cxnSpLocks/>
          </p:cNvCxnSpPr>
          <p:nvPr/>
        </p:nvCxnSpPr>
        <p:spPr>
          <a:xfrm>
            <a:off x="6321045" y="3619780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171F5FA-AF4F-4038-8F19-DCF8A628EF85}"/>
              </a:ext>
            </a:extLst>
          </p:cNvPr>
          <p:cNvCxnSpPr/>
          <p:nvPr/>
        </p:nvCxnSpPr>
        <p:spPr>
          <a:xfrm>
            <a:off x="6473445" y="3621982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26A0110-81E6-414F-8B77-E7AE56C43B15}"/>
              </a:ext>
            </a:extLst>
          </p:cNvPr>
          <p:cNvCxnSpPr/>
          <p:nvPr/>
        </p:nvCxnSpPr>
        <p:spPr>
          <a:xfrm>
            <a:off x="6625845" y="3618899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7C5AF7A-C70E-4E44-9E17-CA569C015AA3}"/>
              </a:ext>
            </a:extLst>
          </p:cNvPr>
          <p:cNvCxnSpPr/>
          <p:nvPr/>
        </p:nvCxnSpPr>
        <p:spPr>
          <a:xfrm>
            <a:off x="6778245" y="3620055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3FD3FDB-E224-47EC-96DD-194A4563225E}"/>
              </a:ext>
            </a:extLst>
          </p:cNvPr>
          <p:cNvCxnSpPr/>
          <p:nvPr/>
        </p:nvCxnSpPr>
        <p:spPr>
          <a:xfrm>
            <a:off x="6930645" y="3617493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6ECFA88-5DEB-43B4-80E9-366D92ED4964}"/>
              </a:ext>
            </a:extLst>
          </p:cNvPr>
          <p:cNvCxnSpPr/>
          <p:nvPr/>
        </p:nvCxnSpPr>
        <p:spPr>
          <a:xfrm>
            <a:off x="7083045" y="3617607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15D6C14-DFCD-48DE-8930-A2B68AF9713C}"/>
              </a:ext>
            </a:extLst>
          </p:cNvPr>
          <p:cNvCxnSpPr/>
          <p:nvPr/>
        </p:nvCxnSpPr>
        <p:spPr>
          <a:xfrm>
            <a:off x="7235445" y="3620331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6925FA6-E3F1-47EE-9A38-80BEAC31C53D}"/>
              </a:ext>
            </a:extLst>
          </p:cNvPr>
          <p:cNvCxnSpPr/>
          <p:nvPr/>
        </p:nvCxnSpPr>
        <p:spPr>
          <a:xfrm>
            <a:off x="7387845" y="3616726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56A1423-FF03-40DC-9C8B-AAFC46E53E77}"/>
              </a:ext>
            </a:extLst>
          </p:cNvPr>
          <p:cNvCxnSpPr/>
          <p:nvPr/>
        </p:nvCxnSpPr>
        <p:spPr>
          <a:xfrm>
            <a:off x="7540245" y="3618406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D6136C3-3F0B-4B6E-AA7D-A69CDC883C47}"/>
              </a:ext>
            </a:extLst>
          </p:cNvPr>
          <p:cNvCxnSpPr/>
          <p:nvPr/>
        </p:nvCxnSpPr>
        <p:spPr>
          <a:xfrm>
            <a:off x="7692645" y="3620605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2B782CD-0A78-49E7-A6A1-49CD7CD5FE88}"/>
              </a:ext>
            </a:extLst>
          </p:cNvPr>
          <p:cNvCxnSpPr/>
          <p:nvPr/>
        </p:nvCxnSpPr>
        <p:spPr>
          <a:xfrm>
            <a:off x="7845045" y="3620716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3D79F5C-0ED7-44C9-B979-947628ACCA9B}"/>
              </a:ext>
            </a:extLst>
          </p:cNvPr>
          <p:cNvCxnSpPr/>
          <p:nvPr/>
        </p:nvCxnSpPr>
        <p:spPr>
          <a:xfrm>
            <a:off x="7997445" y="3618153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23A54DE-B869-44B2-B72B-5F775AE5784F}"/>
              </a:ext>
            </a:extLst>
          </p:cNvPr>
          <p:cNvCxnSpPr/>
          <p:nvPr/>
        </p:nvCxnSpPr>
        <p:spPr>
          <a:xfrm>
            <a:off x="8149845" y="3619833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D85538A-208B-404A-912A-EE9197380547}"/>
              </a:ext>
            </a:extLst>
          </p:cNvPr>
          <p:cNvCxnSpPr/>
          <p:nvPr/>
        </p:nvCxnSpPr>
        <p:spPr>
          <a:xfrm>
            <a:off x="8302245" y="3621509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498A961-F5E6-4BC9-AFF5-15B1EAF0EDC2}"/>
              </a:ext>
            </a:extLst>
          </p:cNvPr>
          <p:cNvCxnSpPr/>
          <p:nvPr/>
        </p:nvCxnSpPr>
        <p:spPr>
          <a:xfrm>
            <a:off x="8454645" y="3617904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4E31204-7D62-4DE4-8E5D-0E4053E92396}"/>
              </a:ext>
            </a:extLst>
          </p:cNvPr>
          <p:cNvCxnSpPr/>
          <p:nvPr/>
        </p:nvCxnSpPr>
        <p:spPr>
          <a:xfrm>
            <a:off x="8607045" y="3619584"/>
            <a:ext cx="0" cy="45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60525D-3AC9-434B-AF6C-65B28536EFE3}"/>
              </a:ext>
            </a:extLst>
          </p:cNvPr>
          <p:cNvCxnSpPr>
            <a:cxnSpLocks/>
          </p:cNvCxnSpPr>
          <p:nvPr/>
        </p:nvCxnSpPr>
        <p:spPr>
          <a:xfrm>
            <a:off x="7083045" y="1633576"/>
            <a:ext cx="0" cy="19860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AB9DE45-5E84-48BD-8269-DE51CDA24BCA}"/>
              </a:ext>
            </a:extLst>
          </p:cNvPr>
          <p:cNvSpPr txBox="1"/>
          <p:nvPr/>
        </p:nvSpPr>
        <p:spPr>
          <a:xfrm>
            <a:off x="6269177" y="1501978"/>
            <a:ext cx="162550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Observed value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82DB71-0BBA-4CCC-AC7F-DC747461502C}"/>
              </a:ext>
            </a:extLst>
          </p:cNvPr>
          <p:cNvCxnSpPr>
            <a:cxnSpLocks/>
          </p:cNvCxnSpPr>
          <p:nvPr/>
        </p:nvCxnSpPr>
        <p:spPr>
          <a:xfrm>
            <a:off x="5916626" y="2396653"/>
            <a:ext cx="2340000" cy="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21441E4-24F1-44DD-B0C4-99B35F42DCA8}"/>
              </a:ext>
            </a:extLst>
          </p:cNvPr>
          <p:cNvSpPr/>
          <p:nvPr/>
        </p:nvSpPr>
        <p:spPr bwMode="auto">
          <a:xfrm>
            <a:off x="7032626" y="1954175"/>
            <a:ext cx="108000" cy="108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97EB30C-6AB4-4FD0-AE6E-D95FC5CD1492}"/>
              </a:ext>
            </a:extLst>
          </p:cNvPr>
          <p:cNvSpPr/>
          <p:nvPr/>
        </p:nvSpPr>
        <p:spPr bwMode="auto">
          <a:xfrm>
            <a:off x="7032626" y="2341595"/>
            <a:ext cx="108000" cy="108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F96FE31-7B00-4EE4-8127-05AF33334D37}"/>
              </a:ext>
            </a:extLst>
          </p:cNvPr>
          <p:cNvSpPr/>
          <p:nvPr/>
        </p:nvSpPr>
        <p:spPr bwMode="auto">
          <a:xfrm>
            <a:off x="7032626" y="2719407"/>
            <a:ext cx="108000" cy="108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AC9DFA4-BC11-473F-BE60-E4DBCD7421B0}"/>
              </a:ext>
            </a:extLst>
          </p:cNvPr>
          <p:cNvCxnSpPr>
            <a:cxnSpLocks/>
          </p:cNvCxnSpPr>
          <p:nvPr/>
        </p:nvCxnSpPr>
        <p:spPr>
          <a:xfrm>
            <a:off x="6726626" y="3154322"/>
            <a:ext cx="720000" cy="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9D14DAA0-7B96-419D-8041-AF07D8F05EAE}"/>
              </a:ext>
            </a:extLst>
          </p:cNvPr>
          <p:cNvSpPr/>
          <p:nvPr/>
        </p:nvSpPr>
        <p:spPr bwMode="auto">
          <a:xfrm>
            <a:off x="7032626" y="3100322"/>
            <a:ext cx="108000" cy="108000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0EF541-9C87-4EC3-B1A8-8066282C1D06}"/>
              </a:ext>
            </a:extLst>
          </p:cNvPr>
          <p:cNvSpPr txBox="1"/>
          <p:nvPr/>
        </p:nvSpPr>
        <p:spPr>
          <a:xfrm>
            <a:off x="4464006" y="2999020"/>
            <a:ext cx="1311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50% confidence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1A5FD39-CD47-4F21-A7F8-98D2E9B01726}"/>
              </a:ext>
            </a:extLst>
          </p:cNvPr>
          <p:cNvCxnSpPr>
            <a:cxnSpLocks/>
          </p:cNvCxnSpPr>
          <p:nvPr/>
        </p:nvCxnSpPr>
        <p:spPr>
          <a:xfrm>
            <a:off x="8436626" y="1933791"/>
            <a:ext cx="0" cy="15240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A4EF7D0-14C1-4346-9F99-933B6FB813AD}"/>
              </a:ext>
            </a:extLst>
          </p:cNvPr>
          <p:cNvCxnSpPr>
            <a:cxnSpLocks/>
          </p:cNvCxnSpPr>
          <p:nvPr/>
        </p:nvCxnSpPr>
        <p:spPr>
          <a:xfrm>
            <a:off x="8267354" y="2320453"/>
            <a:ext cx="0" cy="15240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7DF0948-BD6D-4DFF-91DC-E098E0621532}"/>
              </a:ext>
            </a:extLst>
          </p:cNvPr>
          <p:cNvCxnSpPr>
            <a:cxnSpLocks/>
          </p:cNvCxnSpPr>
          <p:nvPr/>
        </p:nvCxnSpPr>
        <p:spPr>
          <a:xfrm>
            <a:off x="7975743" y="2710834"/>
            <a:ext cx="0" cy="15240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CA1BDB0-FF6F-4979-AD34-A7D6D93FD3D5}"/>
              </a:ext>
            </a:extLst>
          </p:cNvPr>
          <p:cNvCxnSpPr>
            <a:cxnSpLocks/>
          </p:cNvCxnSpPr>
          <p:nvPr/>
        </p:nvCxnSpPr>
        <p:spPr>
          <a:xfrm>
            <a:off x="7427651" y="3078122"/>
            <a:ext cx="0" cy="15240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027B3BC-5206-4AEC-9661-893553F046F6}"/>
              </a:ext>
            </a:extLst>
          </p:cNvPr>
          <p:cNvCxnSpPr>
            <a:cxnSpLocks/>
          </p:cNvCxnSpPr>
          <p:nvPr/>
        </p:nvCxnSpPr>
        <p:spPr>
          <a:xfrm>
            <a:off x="5746621" y="1925682"/>
            <a:ext cx="0" cy="15240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8660A71-D2CC-4CD8-8CB9-4AE1F787924F}"/>
              </a:ext>
            </a:extLst>
          </p:cNvPr>
          <p:cNvCxnSpPr>
            <a:cxnSpLocks/>
          </p:cNvCxnSpPr>
          <p:nvPr/>
        </p:nvCxnSpPr>
        <p:spPr>
          <a:xfrm>
            <a:off x="5921928" y="2312344"/>
            <a:ext cx="0" cy="15240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11EA50A-84F1-4F80-80A1-060F9AD68B75}"/>
              </a:ext>
            </a:extLst>
          </p:cNvPr>
          <p:cNvCxnSpPr>
            <a:cxnSpLocks/>
          </p:cNvCxnSpPr>
          <p:nvPr/>
        </p:nvCxnSpPr>
        <p:spPr>
          <a:xfrm>
            <a:off x="6186626" y="2702742"/>
            <a:ext cx="0" cy="15240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8E3C274-119A-4E26-A926-7A1889ABD164}"/>
              </a:ext>
            </a:extLst>
          </p:cNvPr>
          <p:cNvCxnSpPr>
            <a:cxnSpLocks/>
          </p:cNvCxnSpPr>
          <p:nvPr/>
        </p:nvCxnSpPr>
        <p:spPr>
          <a:xfrm>
            <a:off x="6726626" y="3078105"/>
            <a:ext cx="0" cy="152400"/>
          </a:xfrm>
          <a:prstGeom prst="line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D90984E-E674-4DD1-80D9-8FCFAE3B2250}"/>
              </a:ext>
            </a:extLst>
          </p:cNvPr>
          <p:cNvSpPr/>
          <p:nvPr/>
        </p:nvSpPr>
        <p:spPr>
          <a:xfrm>
            <a:off x="359152" y="1181704"/>
            <a:ext cx="62558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/>
              <a:t>The width depends on: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2DD2695-0456-49CB-B4B2-FE24B64E0A3D}"/>
              </a:ext>
            </a:extLst>
          </p:cNvPr>
          <p:cNvCxnSpPr>
            <a:cxnSpLocks/>
          </p:cNvCxnSpPr>
          <p:nvPr/>
        </p:nvCxnSpPr>
        <p:spPr>
          <a:xfrm>
            <a:off x="6016245" y="1633576"/>
            <a:ext cx="0" cy="2003417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186AE4C-2932-4B65-B846-706558C92C2D}"/>
              </a:ext>
            </a:extLst>
          </p:cNvPr>
          <p:cNvSpPr txBox="1"/>
          <p:nvPr/>
        </p:nvSpPr>
        <p:spPr>
          <a:xfrm>
            <a:off x="5777216" y="3796225"/>
            <a:ext cx="53079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050">
                <a:solidFill>
                  <a:srgbClr val="40488D"/>
                </a:solidFill>
              </a:rPr>
              <a:t>Null value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942D629-C605-4AEC-B089-A30337BE8BA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916C58F-4866-4766-90D0-B8DD0964AE9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9B932-6723-4D25-A25E-4DA44E57C320}"/>
              </a:ext>
            </a:extLst>
          </p:cNvPr>
          <p:cNvSpPr/>
          <p:nvPr/>
        </p:nvSpPr>
        <p:spPr>
          <a:xfrm>
            <a:off x="269544" y="2860367"/>
            <a:ext cx="3768393" cy="14927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>
                <a:solidFill>
                  <a:srgbClr val="40488D"/>
                </a:solidFill>
              </a:rPr>
              <a:t>Statistical significance &amp; CI</a:t>
            </a:r>
          </a:p>
          <a:p>
            <a:r>
              <a:rPr lang="en-GB" sz="1400"/>
              <a:t>A result is statistically significant at the </a:t>
            </a:r>
            <a:r>
              <a:rPr lang="en-GB" sz="1400">
                <a:solidFill>
                  <a:schemeClr val="bg2"/>
                </a:solidFill>
              </a:rPr>
              <a:t>5% (two-sided) </a:t>
            </a:r>
            <a:r>
              <a:rPr lang="en-GB" sz="1400"/>
              <a:t>level, if the </a:t>
            </a:r>
            <a:r>
              <a:rPr lang="en-GB" sz="1400">
                <a:solidFill>
                  <a:schemeClr val="bg2"/>
                </a:solidFill>
              </a:rPr>
              <a:t>95% CI </a:t>
            </a:r>
            <a:r>
              <a:rPr lang="en-GB" sz="1400"/>
              <a:t>for the treatment difference does not contain the </a:t>
            </a:r>
            <a:r>
              <a:rPr lang="en-GB" sz="1400">
                <a:solidFill>
                  <a:srgbClr val="40488D"/>
                </a:solidFill>
              </a:rPr>
              <a:t>null (“no-effect”) value.</a:t>
            </a:r>
          </a:p>
          <a:p>
            <a:endParaRPr lang="en-GB" sz="1400">
              <a:solidFill>
                <a:srgbClr val="40488D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4C646DE-E886-4B2F-A5B8-8179017D23F8}"/>
              </a:ext>
            </a:extLst>
          </p:cNvPr>
          <p:cNvSpPr/>
          <p:nvPr/>
        </p:nvSpPr>
        <p:spPr>
          <a:xfrm>
            <a:off x="269544" y="2860367"/>
            <a:ext cx="3768393" cy="14927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>
                <a:solidFill>
                  <a:srgbClr val="40488D"/>
                </a:solidFill>
              </a:rPr>
              <a:t>Statistical significance &amp; CI</a:t>
            </a:r>
          </a:p>
          <a:p>
            <a:r>
              <a:rPr lang="en-GB" sz="1400"/>
              <a:t>A result is statistically significant at the </a:t>
            </a:r>
            <a:r>
              <a:rPr lang="en-GB" sz="1400">
                <a:solidFill>
                  <a:schemeClr val="bg2"/>
                </a:solidFill>
              </a:rPr>
              <a:t>10% (two-sided) </a:t>
            </a:r>
            <a:r>
              <a:rPr lang="en-GB" sz="1400"/>
              <a:t>level, if the </a:t>
            </a:r>
            <a:r>
              <a:rPr lang="en-GB" sz="1400">
                <a:solidFill>
                  <a:schemeClr val="bg2"/>
                </a:solidFill>
              </a:rPr>
              <a:t>90% CI </a:t>
            </a:r>
            <a:r>
              <a:rPr lang="en-GB" sz="1400"/>
              <a:t>for the treatment difference does not contain the </a:t>
            </a:r>
            <a:r>
              <a:rPr lang="en-GB" sz="1400">
                <a:solidFill>
                  <a:srgbClr val="40488D"/>
                </a:solidFill>
              </a:rPr>
              <a:t>null (“no-effect”) value.</a:t>
            </a:r>
          </a:p>
          <a:p>
            <a:endParaRPr lang="en-GB" sz="1400">
              <a:solidFill>
                <a:srgbClr val="4048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35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2" grpId="0" animBg="1"/>
      <p:bldP spid="48" grpId="0" animBg="1"/>
      <p:bldP spid="49" grpId="0" animBg="1"/>
      <p:bldP spid="54" grpId="0" animBg="1"/>
      <p:bldP spid="55" grpId="0"/>
      <p:bldP spid="81" grpId="0"/>
      <p:bldP spid="5" grpId="0" animBg="1"/>
      <p:bldP spid="5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ADF7F05-540D-48A9-A4E2-34BC9AF147EB}"/>
              </a:ext>
            </a:extLst>
          </p:cNvPr>
          <p:cNvCxnSpPr>
            <a:cxnSpLocks/>
          </p:cNvCxnSpPr>
          <p:nvPr/>
        </p:nvCxnSpPr>
        <p:spPr>
          <a:xfrm flipH="1">
            <a:off x="7452171" y="3145962"/>
            <a:ext cx="447675" cy="0"/>
          </a:xfrm>
          <a:prstGeom prst="straightConnector1">
            <a:avLst/>
          </a:prstGeom>
          <a:ln w="19050" cap="rnd">
            <a:solidFill>
              <a:schemeClr val="bg1">
                <a:lumMod val="75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CF1F573-6E54-4310-A615-9589532CDAF5}"/>
              </a:ext>
            </a:extLst>
          </p:cNvPr>
          <p:cNvCxnSpPr>
            <a:cxnSpLocks/>
          </p:cNvCxnSpPr>
          <p:nvPr/>
        </p:nvCxnSpPr>
        <p:spPr>
          <a:xfrm flipH="1">
            <a:off x="6760752" y="2657864"/>
            <a:ext cx="479080" cy="0"/>
          </a:xfrm>
          <a:prstGeom prst="straightConnector1">
            <a:avLst/>
          </a:prstGeom>
          <a:ln w="19050" cap="rnd">
            <a:solidFill>
              <a:schemeClr val="bg1">
                <a:lumMod val="75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577464-89A7-491A-B4F2-59C2E530D93C}"/>
              </a:ext>
            </a:extLst>
          </p:cNvPr>
          <p:cNvCxnSpPr>
            <a:cxnSpLocks/>
          </p:cNvCxnSpPr>
          <p:nvPr/>
        </p:nvCxnSpPr>
        <p:spPr>
          <a:xfrm flipH="1" flipV="1">
            <a:off x="6601812" y="2160810"/>
            <a:ext cx="796961" cy="7419"/>
          </a:xfrm>
          <a:prstGeom prst="straightConnector1">
            <a:avLst/>
          </a:prstGeom>
          <a:ln w="19050" cap="rnd">
            <a:solidFill>
              <a:schemeClr val="bg1">
                <a:lumMod val="75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7BCC6F-3430-450E-B630-0210E517D8A5}"/>
              </a:ext>
            </a:extLst>
          </p:cNvPr>
          <p:cNvCxnSpPr>
            <a:cxnSpLocks/>
          </p:cNvCxnSpPr>
          <p:nvPr/>
        </p:nvCxnSpPr>
        <p:spPr>
          <a:xfrm flipH="1">
            <a:off x="6378577" y="1674854"/>
            <a:ext cx="586520" cy="0"/>
          </a:xfrm>
          <a:prstGeom prst="straightConnector1">
            <a:avLst/>
          </a:prstGeom>
          <a:ln w="19050" cap="rnd">
            <a:solidFill>
              <a:schemeClr val="bg1">
                <a:lumMod val="75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E8CC19-C9D1-4FE3-99F5-0A493E00594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152" y="1302251"/>
            <a:ext cx="3468416" cy="2209393"/>
          </a:xfrm>
        </p:spPr>
        <p:txBody>
          <a:bodyPr/>
          <a:lstStyle/>
          <a:p>
            <a:pPr marL="0" indent="0">
              <a:buNone/>
            </a:pPr>
            <a:r>
              <a:rPr lang="en-GB" sz="1200" b="1">
                <a:solidFill>
                  <a:srgbClr val="40488D"/>
                </a:solidFill>
              </a:rPr>
              <a:t>Statistical significance </a:t>
            </a:r>
          </a:p>
          <a:p>
            <a:pPr marL="0" indent="0">
              <a:buNone/>
            </a:pPr>
            <a:r>
              <a:rPr lang="en-GB" sz="1200"/>
              <a:t>is based on a </a:t>
            </a:r>
            <a:r>
              <a:rPr lang="en-GB" sz="1200">
                <a:solidFill>
                  <a:srgbClr val="40488D"/>
                </a:solidFill>
              </a:rPr>
              <a:t>p-value </a:t>
            </a:r>
            <a:r>
              <a:rPr lang="en-GB" sz="1200"/>
              <a:t>and our </a:t>
            </a:r>
            <a:r>
              <a:rPr lang="en-GB" sz="1200">
                <a:solidFill>
                  <a:srgbClr val="40488D"/>
                </a:solidFill>
              </a:rPr>
              <a:t>chosen level </a:t>
            </a:r>
            <a:r>
              <a:rPr lang="en-GB" sz="1200"/>
              <a:t>of what is not plausible (e.g. 5%)</a:t>
            </a:r>
          </a:p>
          <a:p>
            <a:pPr marL="0" indent="0">
              <a:buNone/>
            </a:pPr>
            <a:endParaRPr lang="en-GB" sz="1200"/>
          </a:p>
          <a:p>
            <a:pPr marL="0" indent="0">
              <a:buNone/>
            </a:pPr>
            <a:r>
              <a:rPr lang="en-GB" sz="1200" b="1">
                <a:solidFill>
                  <a:schemeClr val="accent3"/>
                </a:solidFill>
              </a:rPr>
              <a:t>Clinical importance</a:t>
            </a:r>
          </a:p>
          <a:p>
            <a:pPr marL="0" indent="0">
              <a:buNone/>
            </a:pPr>
            <a:r>
              <a:rPr lang="en-GB" sz="1200"/>
              <a:t>is the practical importance of a treatment effect. To be of clinical importance, the estimate and the associated CI must be above the </a:t>
            </a:r>
            <a:r>
              <a:rPr lang="en-GB" sz="1200">
                <a:solidFill>
                  <a:schemeClr val="accent3"/>
                </a:solidFill>
              </a:rPr>
              <a:t>minimal clinically important difference</a:t>
            </a:r>
            <a:r>
              <a:rPr lang="en-GB" sz="120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9A9A0-6A65-4543-95CC-7D8296F825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CA6EE0-259F-4663-9486-84BD5D87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Statistical Significance vs Clinical Importance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9C3723-95EE-442D-8387-EB572DE4B09C}"/>
              </a:ext>
            </a:extLst>
          </p:cNvPr>
          <p:cNvCxnSpPr/>
          <p:nvPr/>
        </p:nvCxnSpPr>
        <p:spPr>
          <a:xfrm>
            <a:off x="4796212" y="3857105"/>
            <a:ext cx="3385417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5930E9-EEA1-41FE-8AB6-D84817930865}"/>
              </a:ext>
            </a:extLst>
          </p:cNvPr>
          <p:cNvCxnSpPr/>
          <p:nvPr/>
        </p:nvCxnSpPr>
        <p:spPr>
          <a:xfrm>
            <a:off x="6488920" y="1512605"/>
            <a:ext cx="0" cy="2344499"/>
          </a:xfrm>
          <a:prstGeom prst="line">
            <a:avLst/>
          </a:prstGeom>
          <a:ln>
            <a:solidFill>
              <a:srgbClr val="4048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1B23C5-C8C1-492E-9182-B17517B2F4A3}"/>
              </a:ext>
            </a:extLst>
          </p:cNvPr>
          <p:cNvCxnSpPr/>
          <p:nvPr/>
        </p:nvCxnSpPr>
        <p:spPr>
          <a:xfrm>
            <a:off x="7308701" y="1512605"/>
            <a:ext cx="0" cy="234449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D65B4AF-54EE-4E9A-9B2D-069B584554A9}"/>
              </a:ext>
            </a:extLst>
          </p:cNvPr>
          <p:cNvSpPr txBox="1"/>
          <p:nvPr/>
        </p:nvSpPr>
        <p:spPr>
          <a:xfrm>
            <a:off x="3827568" y="1565634"/>
            <a:ext cx="23907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050"/>
              <a:t>A) Not significant and not important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E211FC-3DCA-40D6-B7A8-A482A309B8AA}"/>
              </a:ext>
            </a:extLst>
          </p:cNvPr>
          <p:cNvSpPr txBox="1"/>
          <p:nvPr/>
        </p:nvSpPr>
        <p:spPr>
          <a:xfrm>
            <a:off x="3827568" y="2033852"/>
            <a:ext cx="26248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050"/>
              <a:t>B) Significant and possibly important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DE2116-EE2B-4849-9422-49FA46342674}"/>
              </a:ext>
            </a:extLst>
          </p:cNvPr>
          <p:cNvSpPr txBox="1"/>
          <p:nvPr/>
        </p:nvSpPr>
        <p:spPr>
          <a:xfrm>
            <a:off x="3827569" y="2982535"/>
            <a:ext cx="2240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050"/>
              <a:t>D) Significant and important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94BCCC-520B-48C6-B55F-9037D6BD65A9}"/>
              </a:ext>
            </a:extLst>
          </p:cNvPr>
          <p:cNvSpPr txBox="1"/>
          <p:nvPr/>
        </p:nvSpPr>
        <p:spPr>
          <a:xfrm>
            <a:off x="3827569" y="2504346"/>
            <a:ext cx="2240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050"/>
              <a:t>C) Significant, but not important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EEB6ABE-B2EA-4AFC-B836-D5DEDFA46031}"/>
              </a:ext>
            </a:extLst>
          </p:cNvPr>
          <p:cNvSpPr/>
          <p:nvPr/>
        </p:nvSpPr>
        <p:spPr bwMode="auto">
          <a:xfrm>
            <a:off x="6602249" y="163067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98DAC7-4E36-4C15-8916-D8D808A1DEF3}"/>
              </a:ext>
            </a:extLst>
          </p:cNvPr>
          <p:cNvSpPr/>
          <p:nvPr/>
        </p:nvSpPr>
        <p:spPr bwMode="auto">
          <a:xfrm>
            <a:off x="7622008" y="30939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18702B-45D2-4619-8072-E74C44815891}"/>
              </a:ext>
            </a:extLst>
          </p:cNvPr>
          <p:cNvSpPr/>
          <p:nvPr/>
        </p:nvSpPr>
        <p:spPr bwMode="auto">
          <a:xfrm>
            <a:off x="6946292" y="260477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EF4226-44F6-4A31-9517-93DB5CCC66E6}"/>
              </a:ext>
            </a:extLst>
          </p:cNvPr>
          <p:cNvSpPr/>
          <p:nvPr/>
        </p:nvSpPr>
        <p:spPr bwMode="auto">
          <a:xfrm>
            <a:off x="6946292" y="2115597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46D901-50EF-4438-A12E-D63D1E46C7E0}"/>
              </a:ext>
            </a:extLst>
          </p:cNvPr>
          <p:cNvSpPr txBox="1"/>
          <p:nvPr/>
        </p:nvSpPr>
        <p:spPr>
          <a:xfrm>
            <a:off x="6265518" y="3953760"/>
            <a:ext cx="53079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050">
                <a:solidFill>
                  <a:srgbClr val="40488D"/>
                </a:solidFill>
              </a:rPr>
              <a:t>Null value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D852E4-1A56-4A52-B9D7-3CE8D577CFB8}"/>
              </a:ext>
            </a:extLst>
          </p:cNvPr>
          <p:cNvSpPr txBox="1"/>
          <p:nvPr/>
        </p:nvSpPr>
        <p:spPr>
          <a:xfrm>
            <a:off x="6766656" y="3956803"/>
            <a:ext cx="11274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050">
                <a:solidFill>
                  <a:schemeClr val="accent3"/>
                </a:solidFill>
              </a:rPr>
              <a:t>Min. clin. relevant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5163C1-FCB8-48C2-A0E4-93CC9E316286}"/>
              </a:ext>
            </a:extLst>
          </p:cNvPr>
          <p:cNvSpPr txBox="1"/>
          <p:nvPr/>
        </p:nvSpPr>
        <p:spPr>
          <a:xfrm>
            <a:off x="4686407" y="1149255"/>
            <a:ext cx="33854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050" b="1"/>
              <a:t>Example: Treatment difference &amp; 95% CI</a:t>
            </a:r>
          </a:p>
        </p:txBody>
      </p:sp>
      <p:graphicFrame>
        <p:nvGraphicFramePr>
          <p:cNvPr id="53" name="Table 53">
            <a:extLst>
              <a:ext uri="{FF2B5EF4-FFF2-40B4-BE49-F238E27FC236}">
                <a16:creationId xmlns:a16="http://schemas.microsoft.com/office/drawing/2014/main" id="{CBDF6E2F-CCF3-4778-916E-54E763E6E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29154"/>
              </p:ext>
            </p:extLst>
          </p:nvPr>
        </p:nvGraphicFramePr>
        <p:xfrm>
          <a:off x="8143613" y="1160393"/>
          <a:ext cx="685800" cy="2218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510623282"/>
                    </a:ext>
                  </a:extLst>
                </a:gridCol>
              </a:tblGrid>
              <a:tr h="261501">
                <a:tc>
                  <a:txBody>
                    <a:bodyPr/>
                    <a:lstStyle/>
                    <a:p>
                      <a:pPr algn="ctr"/>
                      <a:r>
                        <a:rPr lang="en-GB" sz="1050" b="1"/>
                        <a:t>P-value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966701"/>
                  </a:ext>
                </a:extLst>
              </a:tr>
              <a:tr h="489269">
                <a:tc>
                  <a:txBody>
                    <a:bodyPr/>
                    <a:lstStyle/>
                    <a:p>
                      <a:pPr algn="r"/>
                      <a:r>
                        <a:rPr lang="en-GB" sz="1050"/>
                        <a:t>0.38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3578139"/>
                  </a:ext>
                </a:extLst>
              </a:tr>
              <a:tr h="489269">
                <a:tc>
                  <a:txBody>
                    <a:bodyPr/>
                    <a:lstStyle/>
                    <a:p>
                      <a:pPr algn="r"/>
                      <a:r>
                        <a:rPr lang="en-GB" sz="1050" b="0"/>
                        <a:t>0.04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957753"/>
                  </a:ext>
                </a:extLst>
              </a:tr>
              <a:tr h="489269">
                <a:tc>
                  <a:txBody>
                    <a:bodyPr/>
                    <a:lstStyle/>
                    <a:p>
                      <a:pPr algn="r"/>
                      <a:r>
                        <a:rPr lang="en-GB" sz="1050" b="0"/>
                        <a:t>0.01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7942280"/>
                  </a:ext>
                </a:extLst>
              </a:tr>
              <a:tr h="489269">
                <a:tc>
                  <a:txBody>
                    <a:bodyPr/>
                    <a:lstStyle/>
                    <a:p>
                      <a:pPr algn="r"/>
                      <a:r>
                        <a:rPr lang="en-GB" sz="1050" b="0"/>
                        <a:t>0.007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669889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71C3374-A1F7-49E4-9FF4-FA286BFE2FD6}"/>
              </a:ext>
            </a:extLst>
          </p:cNvPr>
          <p:cNvSpPr/>
          <p:nvPr/>
        </p:nvSpPr>
        <p:spPr bwMode="auto">
          <a:xfrm>
            <a:off x="3821663" y="2449349"/>
            <a:ext cx="5168845" cy="400689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265408C-9245-4209-B926-3381A411C3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E292738-72F3-46A7-B796-C61AE50732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08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19" grpId="0"/>
      <p:bldP spid="20" grpId="0" animBg="1"/>
      <p:bldP spid="21" grpId="0" animBg="1"/>
      <p:bldP spid="22" grpId="0" animBg="1"/>
      <p:bldP spid="24" grpId="0" animBg="1"/>
      <p:bldP spid="50" grpId="0"/>
      <p:bldP spid="51" grpId="0"/>
      <p:bldP spid="52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0822-A528-447F-95BA-8057F7E22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EXPEDITION TRIALS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94C81D-4730-409D-A654-FAB649E6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Eli Lilly Alzheimer’s Disease (AD) </a:t>
            </a:r>
            <a:r>
              <a:rPr lang="en-GB" err="1"/>
              <a:t>Solanezumab</a:t>
            </a:r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2513A0-F913-438F-B0C7-FFFB19C0C1A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78700-42CE-4EF5-9561-52BD92CE6F7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00B7B4-DF2F-47D8-A94A-9052910CAFD0}"/>
              </a:ext>
            </a:extLst>
          </p:cNvPr>
          <p:cNvSpPr txBox="1"/>
          <p:nvPr/>
        </p:nvSpPr>
        <p:spPr>
          <a:xfrm>
            <a:off x="2702859" y="1302251"/>
            <a:ext cx="6080293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–"/>
            </a:pPr>
            <a:r>
              <a:rPr lang="en-GB" sz="1400"/>
              <a:t>Two identical Phase 3 trials in Mild-Moderate AD started in 2009</a:t>
            </a:r>
          </a:p>
          <a:p>
            <a:pPr marL="171450" indent="-1714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–"/>
            </a:pPr>
            <a:r>
              <a:rPr lang="en-GB" sz="1400"/>
              <a:t>Primary endpoint is ADAS-Cog11 at 18 months</a:t>
            </a:r>
          </a:p>
          <a:p>
            <a:pPr marL="171450" indent="-1714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–"/>
            </a:pPr>
            <a:r>
              <a:rPr lang="en-GB" sz="1400"/>
              <a:t>N=500 per arm</a:t>
            </a:r>
          </a:p>
          <a:p>
            <a:pPr marL="171450" indent="-1714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–"/>
            </a:pPr>
            <a:r>
              <a:rPr lang="en-GB" sz="1400"/>
              <a:t>Secondary endpoint of ADAS-Cog14 (endpoint used for mild disease).</a:t>
            </a:r>
          </a:p>
          <a:p>
            <a:pPr marL="171450" indent="-1714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–"/>
            </a:pPr>
            <a:endParaRPr lang="en-GB" sz="1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9BAC59-5ADE-4AC2-BD74-210D87059F61}"/>
              </a:ext>
            </a:extLst>
          </p:cNvPr>
          <p:cNvSpPr/>
          <p:nvPr/>
        </p:nvSpPr>
        <p:spPr bwMode="auto">
          <a:xfrm>
            <a:off x="473241" y="1302251"/>
            <a:ext cx="1732711" cy="58376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solidFill>
              <a:schemeClr val="bg2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  <a:latin typeface="Arial"/>
              </a:rPr>
              <a:t>EXPEDITION 1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  <a:latin typeface="Arial"/>
              </a:rPr>
              <a:t>Mild-Moderate 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7F163E-7B6F-43AC-8ED4-3FD6CB1AB7F9}"/>
              </a:ext>
            </a:extLst>
          </p:cNvPr>
          <p:cNvSpPr/>
          <p:nvPr/>
        </p:nvSpPr>
        <p:spPr bwMode="auto">
          <a:xfrm>
            <a:off x="487754" y="2193430"/>
            <a:ext cx="1732711" cy="58376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solidFill>
              <a:schemeClr val="bg2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EXPEDITION 2</a:t>
            </a:r>
          </a:p>
          <a:p>
            <a:pPr algn="ctr" eaLnBrk="0" hangingPunct="0"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Mild-Moderate AD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-GB" sz="1100" b="1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94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BCDAC-7528-4AF7-8D5C-5211F17E00F2}"/>
              </a:ext>
            </a:extLst>
          </p:cNvPr>
          <p:cNvSpPr/>
          <p:nvPr/>
        </p:nvSpPr>
        <p:spPr bwMode="auto">
          <a:xfrm>
            <a:off x="487754" y="2193430"/>
            <a:ext cx="1732711" cy="58376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solidFill>
              <a:schemeClr val="bg2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EXPEDITION 2</a:t>
            </a:r>
          </a:p>
          <a:p>
            <a:pPr algn="ctr" eaLnBrk="0" hangingPunct="0"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Mild-Moderate AD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-GB" sz="1100" b="1" kern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0822-A528-447F-95BA-8057F7E22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EXPEDITION TRIALS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94C81D-4730-409D-A654-FAB649E6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Eli Lilly Alzheimer’s Disease (AD) </a:t>
            </a:r>
            <a:r>
              <a:rPr lang="en-GB" err="1"/>
              <a:t>Solanezumab</a:t>
            </a:r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2513A0-F913-438F-B0C7-FFFB19C0C1A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78700-42CE-4EF5-9561-52BD92CE6F7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2BBD4B-15A7-48DD-9C3F-6328E145CB4F}"/>
              </a:ext>
            </a:extLst>
          </p:cNvPr>
          <p:cNvSpPr/>
          <p:nvPr/>
        </p:nvSpPr>
        <p:spPr bwMode="auto">
          <a:xfrm>
            <a:off x="473241" y="1302251"/>
            <a:ext cx="1732711" cy="58376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solidFill>
              <a:schemeClr val="bg2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  <a:latin typeface="Arial"/>
              </a:rPr>
              <a:t>EXPEDITION 1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  <a:latin typeface="Arial"/>
              </a:rPr>
              <a:t>Mild-Moderate AD</a:t>
            </a:r>
          </a:p>
        </p:txBody>
      </p:sp>
      <p:sp>
        <p:nvSpPr>
          <p:cNvPr id="40" name="Content Placeholder 1">
            <a:extLst>
              <a:ext uri="{FF2B5EF4-FFF2-40B4-BE49-F238E27FC236}">
                <a16:creationId xmlns:a16="http://schemas.microsoft.com/office/drawing/2014/main" id="{C3D45C25-922F-4AAD-A985-B51BA4571A08}"/>
              </a:ext>
            </a:extLst>
          </p:cNvPr>
          <p:cNvSpPr txBox="1">
            <a:spLocks/>
          </p:cNvSpPr>
          <p:nvPr/>
        </p:nvSpPr>
        <p:spPr>
          <a:xfrm>
            <a:off x="2083966" y="1255320"/>
            <a:ext cx="2890249" cy="821106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100" b="1"/>
              <a:t>Failed secondary endpoint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100"/>
              <a:t>Mean difference in ADAS-Cog14</a:t>
            </a:r>
          </a:p>
          <a:p>
            <a:pPr marL="0" indent="0" algn="ctr">
              <a:buNone/>
            </a:pPr>
            <a:r>
              <a:rPr lang="en-GB" sz="1100" b="1">
                <a:solidFill>
                  <a:schemeClr val="accent3"/>
                </a:solidFill>
              </a:rPr>
              <a:t>mild-moderate</a:t>
            </a:r>
            <a:r>
              <a:rPr lang="en-GB" sz="1100"/>
              <a:t> AD</a:t>
            </a:r>
          </a:p>
          <a:p>
            <a:pPr marL="0" indent="0" algn="ctr">
              <a:buNone/>
            </a:pPr>
            <a:r>
              <a:rPr lang="en-GB" sz="1100" b="1"/>
              <a:t>-1.4 (p=0.09)</a:t>
            </a:r>
          </a:p>
        </p:txBody>
      </p:sp>
      <p:sp>
        <p:nvSpPr>
          <p:cNvPr id="35" name="Content Placeholder 1">
            <a:extLst>
              <a:ext uri="{FF2B5EF4-FFF2-40B4-BE49-F238E27FC236}">
                <a16:creationId xmlns:a16="http://schemas.microsoft.com/office/drawing/2014/main" id="{4E9E12E1-D649-48A1-A97B-ADD74615089A}"/>
              </a:ext>
            </a:extLst>
          </p:cNvPr>
          <p:cNvSpPr txBox="1">
            <a:spLocks/>
          </p:cNvSpPr>
          <p:nvPr/>
        </p:nvSpPr>
        <p:spPr>
          <a:xfrm>
            <a:off x="2648628" y="1302251"/>
            <a:ext cx="1732712" cy="520227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200" b="1"/>
              <a:t>Failed co-primary endpoints</a:t>
            </a:r>
          </a:p>
          <a:p>
            <a:pPr marL="0" indent="0" algn="ctr">
              <a:spcAft>
                <a:spcPts val="0"/>
              </a:spcAft>
              <a:buNone/>
            </a:pPr>
            <a:endParaRPr lang="en-GB" sz="1400" b="1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EDA7914C-AFD0-4499-AD7A-D94C01B7A609}"/>
              </a:ext>
            </a:extLst>
          </p:cNvPr>
          <p:cNvSpPr/>
          <p:nvPr/>
        </p:nvSpPr>
        <p:spPr bwMode="auto">
          <a:xfrm>
            <a:off x="999323" y="2334580"/>
            <a:ext cx="767995" cy="474340"/>
          </a:xfrm>
          <a:prstGeom prst="mathMultiply">
            <a:avLst>
              <a:gd name="adj1" fmla="val 7390"/>
            </a:avLst>
          </a:prstGeom>
          <a:solidFill>
            <a:srgbClr val="FF0000"/>
          </a:solidFill>
          <a:ln>
            <a:solidFill>
              <a:srgbClr val="FF0000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85F5020E-974E-4E31-82A9-C017989AA9AB}"/>
              </a:ext>
            </a:extLst>
          </p:cNvPr>
          <p:cNvSpPr txBox="1">
            <a:spLocks/>
          </p:cNvSpPr>
          <p:nvPr/>
        </p:nvSpPr>
        <p:spPr>
          <a:xfrm>
            <a:off x="4974215" y="1302251"/>
            <a:ext cx="2548454" cy="686882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200" b="1"/>
              <a:t>Prespecified subgroup analysis 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200"/>
              <a:t>Mild vs Moderate disease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400" b="1"/>
              <a:t>(p&lt;0.05)</a:t>
            </a:r>
            <a:endParaRPr lang="en-GB" sz="120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A9644D8-E547-42E5-A8DB-45B2DD346FA5}"/>
              </a:ext>
            </a:extLst>
          </p:cNvPr>
          <p:cNvCxnSpPr>
            <a:cxnSpLocks/>
          </p:cNvCxnSpPr>
          <p:nvPr/>
        </p:nvCxnSpPr>
        <p:spPr>
          <a:xfrm>
            <a:off x="4310886" y="1814985"/>
            <a:ext cx="1026259" cy="7493"/>
          </a:xfrm>
          <a:prstGeom prst="straightConnector1">
            <a:avLst/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97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35" grpId="0" uiExpand="1" build="p"/>
      <p:bldP spid="35" grpId="1" build="allAtOnce"/>
      <p:bldP spid="37" grpId="0" animBg="1"/>
      <p:bldP spid="3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01E092-3011-4F49-83DF-7B85F3E982E3}"/>
              </a:ext>
            </a:extLst>
          </p:cNvPr>
          <p:cNvCxnSpPr>
            <a:cxnSpLocks/>
          </p:cNvCxnSpPr>
          <p:nvPr/>
        </p:nvCxnSpPr>
        <p:spPr>
          <a:xfrm>
            <a:off x="8340900" y="1465446"/>
            <a:ext cx="0" cy="28025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5E420F-4269-41A5-9DE6-1CDD10828057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218112" y="1465446"/>
            <a:ext cx="0" cy="270162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0822-A528-447F-95BA-8057F7E22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EXPEDITION TRIALS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94C81D-4730-409D-A654-FAB649E6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Eli Lilly Alzheimer’s Disease (AD) </a:t>
            </a:r>
            <a:r>
              <a:rPr lang="en-GB" err="1"/>
              <a:t>Solanezumab</a:t>
            </a:r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2513A0-F913-438F-B0C7-FFFB19C0C1A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78700-42CE-4EF5-9561-52BD92CE6F7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2BBD4B-15A7-48DD-9C3F-6328E145CB4F}"/>
              </a:ext>
            </a:extLst>
          </p:cNvPr>
          <p:cNvSpPr/>
          <p:nvPr/>
        </p:nvSpPr>
        <p:spPr bwMode="auto">
          <a:xfrm>
            <a:off x="473241" y="1302251"/>
            <a:ext cx="1732711" cy="58376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solidFill>
              <a:schemeClr val="bg2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  <a:latin typeface="Arial"/>
              </a:rPr>
              <a:t>EXPEDITION 1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  <a:latin typeface="Arial"/>
              </a:rPr>
              <a:t>Mild-Moderate AD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DBEF77-AB01-44DE-9BBF-82AC874BC3E3}"/>
              </a:ext>
            </a:extLst>
          </p:cNvPr>
          <p:cNvSpPr/>
          <p:nvPr/>
        </p:nvSpPr>
        <p:spPr bwMode="auto">
          <a:xfrm>
            <a:off x="487754" y="2193430"/>
            <a:ext cx="1732711" cy="58376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solidFill>
              <a:schemeClr val="bg2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EXPEDITION 2</a:t>
            </a:r>
          </a:p>
          <a:p>
            <a:pPr algn="ctr" eaLnBrk="0" hangingPunct="0"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Mild-Moderate AD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-GB" sz="1100" b="1" kern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783475-5184-4511-B66F-9740DBC21522}"/>
              </a:ext>
            </a:extLst>
          </p:cNvPr>
          <p:cNvSpPr/>
          <p:nvPr/>
        </p:nvSpPr>
        <p:spPr bwMode="auto">
          <a:xfrm>
            <a:off x="487754" y="3068174"/>
            <a:ext cx="1732711" cy="58376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EXPEDITION 3</a:t>
            </a:r>
          </a:p>
          <a:p>
            <a:pPr algn="ctr" eaLnBrk="0" hangingPunct="0"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Mild AD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6BB84C0E-D929-4BC7-8866-81403DBF4D32}"/>
              </a:ext>
            </a:extLst>
          </p:cNvPr>
          <p:cNvSpPr txBox="1">
            <a:spLocks/>
          </p:cNvSpPr>
          <p:nvPr/>
        </p:nvSpPr>
        <p:spPr>
          <a:xfrm>
            <a:off x="2232457" y="2193430"/>
            <a:ext cx="2593266" cy="788187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100" b="1"/>
              <a:t>Failed primary endpoint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100"/>
              <a:t>Mean difference in ADAS-Cog14</a:t>
            </a:r>
          </a:p>
          <a:p>
            <a:pPr marL="0" indent="0" algn="ctr">
              <a:buNone/>
            </a:pPr>
            <a:r>
              <a:rPr lang="en-GB" sz="1100" b="1">
                <a:solidFill>
                  <a:schemeClr val="tx2"/>
                </a:solidFill>
              </a:rPr>
              <a:t>mild</a:t>
            </a:r>
            <a:r>
              <a:rPr lang="en-GB" sz="1100"/>
              <a:t> AD</a:t>
            </a:r>
          </a:p>
          <a:p>
            <a:pPr marL="0" indent="0" algn="ctr">
              <a:buNone/>
            </a:pPr>
            <a:r>
              <a:rPr lang="en-GB" sz="1100" b="1"/>
              <a:t>-1.7 (p=0.06)</a:t>
            </a:r>
            <a:r>
              <a:rPr lang="en-GB" sz="1100">
                <a:solidFill>
                  <a:schemeClr val="bg1"/>
                </a:solidFill>
              </a:rPr>
              <a:t>r</a:t>
            </a:r>
            <a:endParaRPr lang="en-GB" sz="1100"/>
          </a:p>
        </p:txBody>
      </p:sp>
      <p:sp>
        <p:nvSpPr>
          <p:cNvPr id="47" name="Content Placeholder 1">
            <a:extLst>
              <a:ext uri="{FF2B5EF4-FFF2-40B4-BE49-F238E27FC236}">
                <a16:creationId xmlns:a16="http://schemas.microsoft.com/office/drawing/2014/main" id="{F1D3C8A4-A775-4D36-AF76-538CE3BB0274}"/>
              </a:ext>
            </a:extLst>
          </p:cNvPr>
          <p:cNvSpPr txBox="1">
            <a:spLocks/>
          </p:cNvSpPr>
          <p:nvPr/>
        </p:nvSpPr>
        <p:spPr>
          <a:xfrm>
            <a:off x="2255887" y="3077215"/>
            <a:ext cx="2546407" cy="765676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100" b="1">
                <a:solidFill>
                  <a:srgbClr val="FF0000"/>
                </a:solidFill>
              </a:rPr>
              <a:t>Failed primary endpoint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100"/>
              <a:t>Mean difference in ADAS-Cog14</a:t>
            </a:r>
          </a:p>
          <a:p>
            <a:pPr marL="0" indent="0" algn="ctr">
              <a:buNone/>
            </a:pPr>
            <a:r>
              <a:rPr lang="en-GB" sz="1100" b="1">
                <a:solidFill>
                  <a:schemeClr val="tx2"/>
                </a:solidFill>
              </a:rPr>
              <a:t>mild</a:t>
            </a:r>
            <a:r>
              <a:rPr lang="en-GB" sz="1100">
                <a:solidFill>
                  <a:schemeClr val="tx2"/>
                </a:solidFill>
              </a:rPr>
              <a:t> </a:t>
            </a:r>
            <a:r>
              <a:rPr lang="en-GB" sz="1100"/>
              <a:t>AD</a:t>
            </a:r>
          </a:p>
          <a:p>
            <a:pPr marL="0" indent="0" algn="ctr">
              <a:buNone/>
            </a:pPr>
            <a:r>
              <a:rPr lang="en-GB" sz="1100" b="1"/>
              <a:t>-0.8 (p=0.10)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7A19FB-AA40-425E-B21B-F54223C12EED}"/>
              </a:ext>
            </a:extLst>
          </p:cNvPr>
          <p:cNvCxnSpPr>
            <a:cxnSpLocks/>
          </p:cNvCxnSpPr>
          <p:nvPr/>
        </p:nvCxnSpPr>
        <p:spPr>
          <a:xfrm>
            <a:off x="5163760" y="4159017"/>
            <a:ext cx="360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E2E3A2F-6F3C-44D3-ABD6-C2FACDB52E30}"/>
              </a:ext>
            </a:extLst>
          </p:cNvPr>
          <p:cNvSpPr/>
          <p:nvPr/>
        </p:nvSpPr>
        <p:spPr bwMode="auto">
          <a:xfrm>
            <a:off x="7190331" y="1633974"/>
            <a:ext cx="108000" cy="108000"/>
          </a:xfrm>
          <a:prstGeom prst="ellipse">
            <a:avLst/>
          </a:prstGeom>
          <a:solidFill>
            <a:schemeClr val="accent3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8239AF-A6F6-4BD8-9A79-F2D604A46250}"/>
              </a:ext>
            </a:extLst>
          </p:cNvPr>
          <p:cNvSpPr/>
          <p:nvPr/>
        </p:nvSpPr>
        <p:spPr bwMode="auto">
          <a:xfrm>
            <a:off x="6929623" y="2566915"/>
            <a:ext cx="108000" cy="108000"/>
          </a:xfrm>
          <a:prstGeom prst="ellipse">
            <a:avLst/>
          </a:prstGeom>
          <a:solidFill>
            <a:schemeClr val="tx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40AEB1-EBDD-4C32-81B9-1E3C7756E904}"/>
              </a:ext>
            </a:extLst>
          </p:cNvPr>
          <p:cNvSpPr/>
          <p:nvPr/>
        </p:nvSpPr>
        <p:spPr bwMode="auto">
          <a:xfrm>
            <a:off x="7698331" y="3406053"/>
            <a:ext cx="108000" cy="108000"/>
          </a:xfrm>
          <a:prstGeom prst="ellipse">
            <a:avLst/>
          </a:prstGeom>
          <a:solidFill>
            <a:schemeClr val="tx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0D77F2-547C-406C-8630-AC650FC16B89}"/>
              </a:ext>
            </a:extLst>
          </p:cNvPr>
          <p:cNvCxnSpPr>
            <a:cxnSpLocks/>
          </p:cNvCxnSpPr>
          <p:nvPr/>
        </p:nvCxnSpPr>
        <p:spPr>
          <a:xfrm>
            <a:off x="59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02D814-3A9B-4FE4-9576-547189CE9C57}"/>
              </a:ext>
            </a:extLst>
          </p:cNvPr>
          <p:cNvCxnSpPr>
            <a:cxnSpLocks/>
          </p:cNvCxnSpPr>
          <p:nvPr/>
        </p:nvCxnSpPr>
        <p:spPr>
          <a:xfrm>
            <a:off x="67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4A9865-07F7-4D09-B751-73B99CA1FDF6}"/>
              </a:ext>
            </a:extLst>
          </p:cNvPr>
          <p:cNvCxnSpPr>
            <a:cxnSpLocks/>
          </p:cNvCxnSpPr>
          <p:nvPr/>
        </p:nvCxnSpPr>
        <p:spPr>
          <a:xfrm>
            <a:off x="55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B288A5B-9081-4074-B9FF-1C0D85A2E01C}"/>
              </a:ext>
            </a:extLst>
          </p:cNvPr>
          <p:cNvCxnSpPr>
            <a:cxnSpLocks/>
          </p:cNvCxnSpPr>
          <p:nvPr/>
        </p:nvCxnSpPr>
        <p:spPr>
          <a:xfrm>
            <a:off x="5163760" y="4043259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5FB6AD2-D9A3-49CF-A37F-A28249057641}"/>
              </a:ext>
            </a:extLst>
          </p:cNvPr>
          <p:cNvCxnSpPr>
            <a:cxnSpLocks/>
          </p:cNvCxnSpPr>
          <p:nvPr/>
        </p:nvCxnSpPr>
        <p:spPr>
          <a:xfrm>
            <a:off x="63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0B02F8-C878-4F38-9712-63EF932D7276}"/>
              </a:ext>
            </a:extLst>
          </p:cNvPr>
          <p:cNvCxnSpPr>
            <a:cxnSpLocks/>
          </p:cNvCxnSpPr>
          <p:nvPr/>
        </p:nvCxnSpPr>
        <p:spPr>
          <a:xfrm>
            <a:off x="71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8646755-2A24-4A05-B297-7D20B4563FCA}"/>
              </a:ext>
            </a:extLst>
          </p:cNvPr>
          <p:cNvCxnSpPr>
            <a:cxnSpLocks/>
          </p:cNvCxnSpPr>
          <p:nvPr/>
        </p:nvCxnSpPr>
        <p:spPr>
          <a:xfrm>
            <a:off x="75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2CE050-2326-46C8-B80E-B6F25850770E}"/>
              </a:ext>
            </a:extLst>
          </p:cNvPr>
          <p:cNvCxnSpPr>
            <a:cxnSpLocks/>
          </p:cNvCxnSpPr>
          <p:nvPr/>
        </p:nvCxnSpPr>
        <p:spPr>
          <a:xfrm>
            <a:off x="79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59CFF2-CC50-4173-AAE4-6F2A6B237796}"/>
              </a:ext>
            </a:extLst>
          </p:cNvPr>
          <p:cNvCxnSpPr>
            <a:cxnSpLocks/>
          </p:cNvCxnSpPr>
          <p:nvPr/>
        </p:nvCxnSpPr>
        <p:spPr>
          <a:xfrm>
            <a:off x="87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1558117-3155-4E98-96FD-09C737A8C774}"/>
              </a:ext>
            </a:extLst>
          </p:cNvPr>
          <p:cNvSpPr/>
          <p:nvPr/>
        </p:nvSpPr>
        <p:spPr>
          <a:xfrm>
            <a:off x="5019374" y="4235867"/>
            <a:ext cx="40927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-4       -3       -2        -1        0   0.5</a:t>
            </a:r>
            <a:endParaRPr lang="en-GB" sz="110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2BE881D-6D8F-4555-BB5A-8DBDF57B257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354110" y="2777191"/>
            <a:ext cx="0" cy="290983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5668A68-1421-44D2-8E2E-BD09BBCB5E81}"/>
              </a:ext>
            </a:extLst>
          </p:cNvPr>
          <p:cNvSpPr/>
          <p:nvPr/>
        </p:nvSpPr>
        <p:spPr bwMode="auto">
          <a:xfrm>
            <a:off x="4804820" y="3309460"/>
            <a:ext cx="2646949" cy="630853"/>
          </a:xfrm>
          <a:prstGeom prst="rect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400" b="1" kern="0">
                <a:solidFill>
                  <a:srgbClr val="FFFFFF"/>
                </a:solidFill>
                <a:latin typeface="Arial"/>
              </a:rPr>
              <a:t>How did this happen?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626887-A207-4C56-AF76-4C9A6C88CCA0}"/>
              </a:ext>
            </a:extLst>
          </p:cNvPr>
          <p:cNvSpPr txBox="1"/>
          <p:nvPr/>
        </p:nvSpPr>
        <p:spPr>
          <a:xfrm>
            <a:off x="5043914" y="1034559"/>
            <a:ext cx="2348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050">
                <a:solidFill>
                  <a:schemeClr val="tx2"/>
                </a:solidFill>
              </a:rPr>
              <a:t>Protocol target for mild</a:t>
            </a:r>
          </a:p>
          <a:p>
            <a:pPr algn="ctr">
              <a:buClr>
                <a:schemeClr val="tx1"/>
              </a:buClr>
            </a:pPr>
            <a:r>
              <a:rPr lang="en-GB" sz="1050">
                <a:solidFill>
                  <a:schemeClr val="tx2"/>
                </a:solidFill>
              </a:rPr>
              <a:t> (based on subgroup analysis)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50F9904-E873-499B-9071-59F3F2C41C0F}"/>
              </a:ext>
            </a:extLst>
          </p:cNvPr>
          <p:cNvCxnSpPr>
            <a:cxnSpLocks/>
          </p:cNvCxnSpPr>
          <p:nvPr/>
        </p:nvCxnSpPr>
        <p:spPr>
          <a:xfrm>
            <a:off x="8340900" y="4043259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CFA3E35-EF77-42CC-94BD-B33AC0BC50E3}"/>
              </a:ext>
            </a:extLst>
          </p:cNvPr>
          <p:cNvSpPr/>
          <p:nvPr/>
        </p:nvSpPr>
        <p:spPr>
          <a:xfrm>
            <a:off x="5812444" y="4352871"/>
            <a:ext cx="223170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100"/>
              <a:t>Mean difference in ADAS-Cog14</a:t>
            </a:r>
          </a:p>
        </p:txBody>
      </p:sp>
      <p:sp>
        <p:nvSpPr>
          <p:cNvPr id="40" name="Content Placeholder 1">
            <a:extLst>
              <a:ext uri="{FF2B5EF4-FFF2-40B4-BE49-F238E27FC236}">
                <a16:creationId xmlns:a16="http://schemas.microsoft.com/office/drawing/2014/main" id="{C3D45C25-922F-4AAD-A985-B51BA4571A08}"/>
              </a:ext>
            </a:extLst>
          </p:cNvPr>
          <p:cNvSpPr txBox="1">
            <a:spLocks/>
          </p:cNvSpPr>
          <p:nvPr/>
        </p:nvSpPr>
        <p:spPr>
          <a:xfrm>
            <a:off x="2083966" y="1255320"/>
            <a:ext cx="2890249" cy="821106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100" b="1"/>
              <a:t>Failed secondary endpoint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100"/>
              <a:t>Mean difference in ADAS-Cog14</a:t>
            </a:r>
          </a:p>
          <a:p>
            <a:pPr marL="0" indent="0" algn="ctr">
              <a:buNone/>
            </a:pPr>
            <a:r>
              <a:rPr lang="en-GB" sz="1100" b="1">
                <a:solidFill>
                  <a:schemeClr val="accent3"/>
                </a:solidFill>
              </a:rPr>
              <a:t>mild-moderate</a:t>
            </a:r>
            <a:r>
              <a:rPr lang="en-GB" sz="1100"/>
              <a:t> AD</a:t>
            </a:r>
          </a:p>
          <a:p>
            <a:pPr marL="0" indent="0" algn="ctr">
              <a:buNone/>
            </a:pPr>
            <a:r>
              <a:rPr lang="en-GB" sz="1100" b="1"/>
              <a:t>-1.4 (p=0.09)</a:t>
            </a:r>
          </a:p>
        </p:txBody>
      </p: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E7F2877C-14BB-42B7-8173-68B0673F7257}"/>
              </a:ext>
            </a:extLst>
          </p:cNvPr>
          <p:cNvSpPr/>
          <p:nvPr/>
        </p:nvSpPr>
        <p:spPr bwMode="auto">
          <a:xfrm>
            <a:off x="999323" y="2334580"/>
            <a:ext cx="767995" cy="474340"/>
          </a:xfrm>
          <a:prstGeom prst="mathMultiply">
            <a:avLst>
              <a:gd name="adj1" fmla="val 7390"/>
            </a:avLst>
          </a:prstGeom>
          <a:solidFill>
            <a:srgbClr val="FF0000"/>
          </a:solidFill>
          <a:ln>
            <a:solidFill>
              <a:srgbClr val="FF0000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475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47" grpId="0"/>
      <p:bldP spid="22" grpId="0" animBg="1"/>
      <p:bldP spid="25" grpId="0" animBg="1"/>
      <p:bldP spid="27" grpId="0" animBg="1"/>
      <p:bldP spid="48" grpId="0" animBg="1"/>
      <p:bldP spid="48" grpId="1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01E092-3011-4F49-83DF-7B85F3E982E3}"/>
              </a:ext>
            </a:extLst>
          </p:cNvPr>
          <p:cNvCxnSpPr>
            <a:cxnSpLocks/>
          </p:cNvCxnSpPr>
          <p:nvPr/>
        </p:nvCxnSpPr>
        <p:spPr>
          <a:xfrm>
            <a:off x="8340900" y="1465446"/>
            <a:ext cx="0" cy="28025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5E420F-4269-41A5-9DE6-1CDD10828057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218112" y="1465446"/>
            <a:ext cx="0" cy="270162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0822-A528-447F-95BA-8057F7E22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EXPEDITION TRIALS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94C81D-4730-409D-A654-FAB649E6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Eli Lilly Alzheimer’s Disease (AD) </a:t>
            </a:r>
            <a:r>
              <a:rPr lang="en-GB" err="1"/>
              <a:t>Solanezumab</a:t>
            </a:r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2513A0-F913-438F-B0C7-FFFB19C0C1A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78700-42CE-4EF5-9561-52BD92CE6F7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2BBD4B-15A7-48DD-9C3F-6328E145CB4F}"/>
              </a:ext>
            </a:extLst>
          </p:cNvPr>
          <p:cNvSpPr/>
          <p:nvPr/>
        </p:nvSpPr>
        <p:spPr bwMode="auto">
          <a:xfrm>
            <a:off x="473241" y="1302251"/>
            <a:ext cx="1732711" cy="58376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solidFill>
              <a:schemeClr val="bg2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  <a:latin typeface="Arial"/>
              </a:rPr>
              <a:t>EXPEDITION 1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  <a:latin typeface="Arial"/>
              </a:rPr>
              <a:t>Mild-Moderate AD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DBEF77-AB01-44DE-9BBF-82AC874BC3E3}"/>
              </a:ext>
            </a:extLst>
          </p:cNvPr>
          <p:cNvSpPr/>
          <p:nvPr/>
        </p:nvSpPr>
        <p:spPr bwMode="auto">
          <a:xfrm>
            <a:off x="487754" y="2193430"/>
            <a:ext cx="1732711" cy="58376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solidFill>
              <a:schemeClr val="bg2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EXPEDITION 2</a:t>
            </a:r>
          </a:p>
          <a:p>
            <a:pPr algn="ctr" eaLnBrk="0" hangingPunct="0"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Mild AD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-GB" sz="1100" b="1" kern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783475-5184-4511-B66F-9740DBC21522}"/>
              </a:ext>
            </a:extLst>
          </p:cNvPr>
          <p:cNvSpPr/>
          <p:nvPr/>
        </p:nvSpPr>
        <p:spPr bwMode="auto">
          <a:xfrm>
            <a:off x="487754" y="3068174"/>
            <a:ext cx="1732711" cy="58376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EXPEDITION 3</a:t>
            </a:r>
          </a:p>
          <a:p>
            <a:pPr algn="ctr" eaLnBrk="0" hangingPunct="0">
              <a:buClr>
                <a:schemeClr val="bg1"/>
              </a:buClr>
            </a:pPr>
            <a:r>
              <a:rPr lang="en-GB" sz="1100" b="1" kern="0">
                <a:solidFill>
                  <a:schemeClr val="tx1"/>
                </a:solidFill>
              </a:rPr>
              <a:t>Mild AD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6BB84C0E-D929-4BC7-8866-81403DBF4D32}"/>
              </a:ext>
            </a:extLst>
          </p:cNvPr>
          <p:cNvSpPr txBox="1">
            <a:spLocks/>
          </p:cNvSpPr>
          <p:nvPr/>
        </p:nvSpPr>
        <p:spPr>
          <a:xfrm>
            <a:off x="2232457" y="2193430"/>
            <a:ext cx="2593266" cy="788187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100" b="1"/>
              <a:t>Failed primary endpoint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100"/>
              <a:t>Mean difference in ADAS-Cog14</a:t>
            </a:r>
          </a:p>
          <a:p>
            <a:pPr marL="0" indent="0" algn="ctr">
              <a:buNone/>
            </a:pPr>
            <a:r>
              <a:rPr lang="en-GB" sz="1100" b="1">
                <a:solidFill>
                  <a:schemeClr val="tx2"/>
                </a:solidFill>
              </a:rPr>
              <a:t>mild</a:t>
            </a:r>
            <a:r>
              <a:rPr lang="en-GB" sz="1100"/>
              <a:t> AD</a:t>
            </a:r>
          </a:p>
          <a:p>
            <a:pPr marL="0" indent="0" algn="ctr">
              <a:buNone/>
            </a:pPr>
            <a:r>
              <a:rPr lang="en-GB" sz="1100" b="1"/>
              <a:t>-1.7 (p=0.06)</a:t>
            </a:r>
            <a:r>
              <a:rPr lang="en-GB" sz="1100">
                <a:solidFill>
                  <a:schemeClr val="bg1"/>
                </a:solidFill>
              </a:rPr>
              <a:t>r</a:t>
            </a:r>
            <a:endParaRPr lang="en-GB" sz="1100"/>
          </a:p>
        </p:txBody>
      </p:sp>
      <p:sp>
        <p:nvSpPr>
          <p:cNvPr id="47" name="Content Placeholder 1">
            <a:extLst>
              <a:ext uri="{FF2B5EF4-FFF2-40B4-BE49-F238E27FC236}">
                <a16:creationId xmlns:a16="http://schemas.microsoft.com/office/drawing/2014/main" id="{F1D3C8A4-A775-4D36-AF76-538CE3BB0274}"/>
              </a:ext>
            </a:extLst>
          </p:cNvPr>
          <p:cNvSpPr txBox="1">
            <a:spLocks/>
          </p:cNvSpPr>
          <p:nvPr/>
        </p:nvSpPr>
        <p:spPr>
          <a:xfrm>
            <a:off x="2255887" y="3077215"/>
            <a:ext cx="2546407" cy="765676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100" b="1">
                <a:solidFill>
                  <a:srgbClr val="FF0000"/>
                </a:solidFill>
              </a:rPr>
              <a:t>Failed primary endpoint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100"/>
              <a:t>Mean difference in ADAS-Cog14</a:t>
            </a:r>
          </a:p>
          <a:p>
            <a:pPr marL="0" indent="0" algn="ctr">
              <a:buNone/>
            </a:pPr>
            <a:r>
              <a:rPr lang="en-GB" sz="1100" b="1">
                <a:solidFill>
                  <a:schemeClr val="tx2"/>
                </a:solidFill>
              </a:rPr>
              <a:t>mild</a:t>
            </a:r>
            <a:r>
              <a:rPr lang="en-GB" sz="1100">
                <a:solidFill>
                  <a:schemeClr val="tx2"/>
                </a:solidFill>
              </a:rPr>
              <a:t> </a:t>
            </a:r>
            <a:r>
              <a:rPr lang="en-GB" sz="1100"/>
              <a:t>AD</a:t>
            </a:r>
          </a:p>
          <a:p>
            <a:pPr marL="0" indent="0" algn="ctr">
              <a:buNone/>
            </a:pPr>
            <a:r>
              <a:rPr lang="en-GB" sz="1100" b="1"/>
              <a:t>-0.8 (p=0.10)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7A19FB-AA40-425E-B21B-F54223C12EED}"/>
              </a:ext>
            </a:extLst>
          </p:cNvPr>
          <p:cNvCxnSpPr>
            <a:cxnSpLocks/>
          </p:cNvCxnSpPr>
          <p:nvPr/>
        </p:nvCxnSpPr>
        <p:spPr>
          <a:xfrm>
            <a:off x="5163760" y="4159017"/>
            <a:ext cx="360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0D77F2-547C-406C-8630-AC650FC16B89}"/>
              </a:ext>
            </a:extLst>
          </p:cNvPr>
          <p:cNvCxnSpPr>
            <a:cxnSpLocks/>
          </p:cNvCxnSpPr>
          <p:nvPr/>
        </p:nvCxnSpPr>
        <p:spPr>
          <a:xfrm>
            <a:off x="59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02D814-3A9B-4FE4-9576-547189CE9C57}"/>
              </a:ext>
            </a:extLst>
          </p:cNvPr>
          <p:cNvCxnSpPr>
            <a:cxnSpLocks/>
          </p:cNvCxnSpPr>
          <p:nvPr/>
        </p:nvCxnSpPr>
        <p:spPr>
          <a:xfrm>
            <a:off x="67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4A9865-07F7-4D09-B751-73B99CA1FDF6}"/>
              </a:ext>
            </a:extLst>
          </p:cNvPr>
          <p:cNvCxnSpPr>
            <a:cxnSpLocks/>
          </p:cNvCxnSpPr>
          <p:nvPr/>
        </p:nvCxnSpPr>
        <p:spPr>
          <a:xfrm>
            <a:off x="55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5FB6AD2-D9A3-49CF-A37F-A28249057641}"/>
              </a:ext>
            </a:extLst>
          </p:cNvPr>
          <p:cNvCxnSpPr>
            <a:cxnSpLocks/>
          </p:cNvCxnSpPr>
          <p:nvPr/>
        </p:nvCxnSpPr>
        <p:spPr>
          <a:xfrm>
            <a:off x="63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0B02F8-C878-4F38-9712-63EF932D7276}"/>
              </a:ext>
            </a:extLst>
          </p:cNvPr>
          <p:cNvCxnSpPr>
            <a:cxnSpLocks/>
          </p:cNvCxnSpPr>
          <p:nvPr/>
        </p:nvCxnSpPr>
        <p:spPr>
          <a:xfrm>
            <a:off x="71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8646755-2A24-4A05-B297-7D20B4563FCA}"/>
              </a:ext>
            </a:extLst>
          </p:cNvPr>
          <p:cNvCxnSpPr>
            <a:cxnSpLocks/>
          </p:cNvCxnSpPr>
          <p:nvPr/>
        </p:nvCxnSpPr>
        <p:spPr>
          <a:xfrm>
            <a:off x="75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2CE050-2326-46C8-B80E-B6F25850770E}"/>
              </a:ext>
            </a:extLst>
          </p:cNvPr>
          <p:cNvCxnSpPr>
            <a:cxnSpLocks/>
          </p:cNvCxnSpPr>
          <p:nvPr/>
        </p:nvCxnSpPr>
        <p:spPr>
          <a:xfrm>
            <a:off x="79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59CFF2-CC50-4173-AAE4-6F2A6B237796}"/>
              </a:ext>
            </a:extLst>
          </p:cNvPr>
          <p:cNvCxnSpPr>
            <a:cxnSpLocks/>
          </p:cNvCxnSpPr>
          <p:nvPr/>
        </p:nvCxnSpPr>
        <p:spPr>
          <a:xfrm>
            <a:off x="8763760" y="4046631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1558117-3155-4E98-96FD-09C737A8C774}"/>
              </a:ext>
            </a:extLst>
          </p:cNvPr>
          <p:cNvSpPr/>
          <p:nvPr/>
        </p:nvSpPr>
        <p:spPr>
          <a:xfrm>
            <a:off x="5019374" y="4235867"/>
            <a:ext cx="40927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-4       -3       -2        -1        0   0.5</a:t>
            </a:r>
            <a:endParaRPr lang="en-GB" sz="110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2BE881D-6D8F-4555-BB5A-8DBDF57B257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354110" y="2777191"/>
            <a:ext cx="0" cy="290983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7626887-A207-4C56-AF76-4C9A6C88CCA0}"/>
              </a:ext>
            </a:extLst>
          </p:cNvPr>
          <p:cNvSpPr txBox="1"/>
          <p:nvPr/>
        </p:nvSpPr>
        <p:spPr>
          <a:xfrm>
            <a:off x="5043914" y="1034559"/>
            <a:ext cx="2348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050">
                <a:solidFill>
                  <a:schemeClr val="tx2"/>
                </a:solidFill>
              </a:rPr>
              <a:t>Protocol target for mild</a:t>
            </a:r>
          </a:p>
          <a:p>
            <a:pPr algn="ctr">
              <a:buClr>
                <a:schemeClr val="tx1"/>
              </a:buClr>
            </a:pPr>
            <a:r>
              <a:rPr lang="en-GB" sz="1050">
                <a:solidFill>
                  <a:schemeClr val="tx2"/>
                </a:solidFill>
              </a:rPr>
              <a:t> (based on subgroup analysis)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50F9904-E873-499B-9071-59F3F2C41C0F}"/>
              </a:ext>
            </a:extLst>
          </p:cNvPr>
          <p:cNvCxnSpPr>
            <a:cxnSpLocks/>
          </p:cNvCxnSpPr>
          <p:nvPr/>
        </p:nvCxnSpPr>
        <p:spPr>
          <a:xfrm>
            <a:off x="8340900" y="4043259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CFA3E35-EF77-42CC-94BD-B33AC0BC50E3}"/>
              </a:ext>
            </a:extLst>
          </p:cNvPr>
          <p:cNvSpPr/>
          <p:nvPr/>
        </p:nvSpPr>
        <p:spPr>
          <a:xfrm>
            <a:off x="5812444" y="4352871"/>
            <a:ext cx="223170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100"/>
              <a:t>Mean difference in ADAS-Cog14</a:t>
            </a:r>
          </a:p>
        </p:txBody>
      </p:sp>
      <p:sp>
        <p:nvSpPr>
          <p:cNvPr id="40" name="Content Placeholder 1">
            <a:extLst>
              <a:ext uri="{FF2B5EF4-FFF2-40B4-BE49-F238E27FC236}">
                <a16:creationId xmlns:a16="http://schemas.microsoft.com/office/drawing/2014/main" id="{C3D45C25-922F-4AAD-A985-B51BA4571A08}"/>
              </a:ext>
            </a:extLst>
          </p:cNvPr>
          <p:cNvSpPr txBox="1">
            <a:spLocks/>
          </p:cNvSpPr>
          <p:nvPr/>
        </p:nvSpPr>
        <p:spPr>
          <a:xfrm>
            <a:off x="2083966" y="1255320"/>
            <a:ext cx="2890249" cy="821106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</a:pPr>
            <a:r>
              <a:rPr lang="en-GB" sz="1100" b="1"/>
              <a:t>Failed secondary endpoint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sz="1100"/>
              <a:t>Mean difference in ADAS-Cog14</a:t>
            </a:r>
          </a:p>
          <a:p>
            <a:pPr marL="0" indent="0" algn="ctr">
              <a:buNone/>
            </a:pPr>
            <a:r>
              <a:rPr lang="en-GB" sz="1100" b="1">
                <a:solidFill>
                  <a:schemeClr val="accent3"/>
                </a:solidFill>
              </a:rPr>
              <a:t>mild-moderate</a:t>
            </a:r>
            <a:r>
              <a:rPr lang="en-GB" sz="1100"/>
              <a:t> AD</a:t>
            </a:r>
          </a:p>
          <a:p>
            <a:pPr marL="0" indent="0" algn="ctr">
              <a:buNone/>
            </a:pPr>
            <a:r>
              <a:rPr lang="en-GB" sz="1100" b="1"/>
              <a:t>-1.4 (p=0.09)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D3A679-412A-4DCF-BC2F-D50FD8374CFA}"/>
              </a:ext>
            </a:extLst>
          </p:cNvPr>
          <p:cNvCxnSpPr>
            <a:cxnSpLocks/>
          </p:cNvCxnSpPr>
          <p:nvPr/>
        </p:nvCxnSpPr>
        <p:spPr>
          <a:xfrm flipH="1" flipV="1">
            <a:off x="6013989" y="1694619"/>
            <a:ext cx="2520000" cy="1285"/>
          </a:xfrm>
          <a:prstGeom prst="straightConnector1">
            <a:avLst/>
          </a:prstGeom>
          <a:ln w="19050" cap="rnd">
            <a:solidFill>
              <a:schemeClr val="bg1">
                <a:lumMod val="75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5EC66A8-233D-41B3-9225-B59E94077A8D}"/>
              </a:ext>
            </a:extLst>
          </p:cNvPr>
          <p:cNvCxnSpPr>
            <a:cxnSpLocks/>
          </p:cNvCxnSpPr>
          <p:nvPr/>
        </p:nvCxnSpPr>
        <p:spPr>
          <a:xfrm flipH="1">
            <a:off x="5569665" y="2619361"/>
            <a:ext cx="2885762" cy="0"/>
          </a:xfrm>
          <a:prstGeom prst="straightConnector1">
            <a:avLst/>
          </a:prstGeom>
          <a:ln w="19050" cap="rnd">
            <a:solidFill>
              <a:schemeClr val="bg1">
                <a:lumMod val="75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83E474-CEC2-445C-97F1-A20C1F23AEF1}"/>
              </a:ext>
            </a:extLst>
          </p:cNvPr>
          <p:cNvCxnSpPr>
            <a:cxnSpLocks/>
          </p:cNvCxnSpPr>
          <p:nvPr/>
        </p:nvCxnSpPr>
        <p:spPr>
          <a:xfrm flipH="1">
            <a:off x="6975686" y="3467672"/>
            <a:ext cx="1476000" cy="4766"/>
          </a:xfrm>
          <a:prstGeom prst="straightConnector1">
            <a:avLst/>
          </a:prstGeom>
          <a:ln w="19050" cap="rnd">
            <a:solidFill>
              <a:schemeClr val="bg1">
                <a:lumMod val="75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DC4AA21-975D-46EB-9DE5-9B0C9D2AA254}"/>
              </a:ext>
            </a:extLst>
          </p:cNvPr>
          <p:cNvSpPr/>
          <p:nvPr/>
        </p:nvSpPr>
        <p:spPr>
          <a:xfrm>
            <a:off x="4802294" y="1465526"/>
            <a:ext cx="11657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>
                <a:solidFill>
                  <a:schemeClr val="accent3"/>
                </a:solidFill>
              </a:rPr>
              <a:t>N=500 per arm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60A713-9786-4861-A3D9-B73671AB4156}"/>
              </a:ext>
            </a:extLst>
          </p:cNvPr>
          <p:cNvSpPr/>
          <p:nvPr/>
        </p:nvSpPr>
        <p:spPr>
          <a:xfrm>
            <a:off x="4775350" y="2395074"/>
            <a:ext cx="11657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>
                <a:solidFill>
                  <a:schemeClr val="tx2"/>
                </a:solidFill>
              </a:rPr>
              <a:t>N=350 per arm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84BC2D-8EBD-470C-8973-E2EB8035A7D8}"/>
              </a:ext>
            </a:extLst>
          </p:cNvPr>
          <p:cNvSpPr/>
          <p:nvPr/>
        </p:nvSpPr>
        <p:spPr>
          <a:xfrm>
            <a:off x="4696803" y="3193113"/>
            <a:ext cx="12442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>
                <a:solidFill>
                  <a:schemeClr val="tx2"/>
                </a:solidFill>
              </a:rPr>
              <a:t>N=1000 per arm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348C440-9FC7-4CFB-9557-84FFECC2F0ED}"/>
              </a:ext>
            </a:extLst>
          </p:cNvPr>
          <p:cNvSpPr/>
          <p:nvPr/>
        </p:nvSpPr>
        <p:spPr bwMode="auto">
          <a:xfrm>
            <a:off x="5571255" y="1893549"/>
            <a:ext cx="2882581" cy="414323"/>
          </a:xfrm>
          <a:prstGeom prst="rect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200" b="1" kern="0">
                <a:solidFill>
                  <a:srgbClr val="FFFFFF"/>
                </a:solidFill>
                <a:latin typeface="Arial"/>
              </a:rPr>
              <a:t>Any effects in this range could be the true effect!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E2E3A2F-6F3C-44D3-ABD6-C2FACDB52E30}"/>
              </a:ext>
            </a:extLst>
          </p:cNvPr>
          <p:cNvSpPr/>
          <p:nvPr/>
        </p:nvSpPr>
        <p:spPr bwMode="auto">
          <a:xfrm>
            <a:off x="7190331" y="1633974"/>
            <a:ext cx="108000" cy="108000"/>
          </a:xfrm>
          <a:prstGeom prst="ellipse">
            <a:avLst/>
          </a:prstGeom>
          <a:solidFill>
            <a:schemeClr val="accent3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8239AF-A6F6-4BD8-9A79-F2D604A46250}"/>
              </a:ext>
            </a:extLst>
          </p:cNvPr>
          <p:cNvSpPr/>
          <p:nvPr/>
        </p:nvSpPr>
        <p:spPr bwMode="auto">
          <a:xfrm>
            <a:off x="6929623" y="2566915"/>
            <a:ext cx="108000" cy="108000"/>
          </a:xfrm>
          <a:prstGeom prst="ellipse">
            <a:avLst/>
          </a:prstGeom>
          <a:solidFill>
            <a:schemeClr val="tx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40AEB1-EBDD-4C32-81B9-1E3C7756E904}"/>
              </a:ext>
            </a:extLst>
          </p:cNvPr>
          <p:cNvSpPr/>
          <p:nvPr/>
        </p:nvSpPr>
        <p:spPr bwMode="auto">
          <a:xfrm>
            <a:off x="7698331" y="3406053"/>
            <a:ext cx="108000" cy="108000"/>
          </a:xfrm>
          <a:prstGeom prst="ellipse">
            <a:avLst/>
          </a:prstGeom>
          <a:solidFill>
            <a:schemeClr val="tx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A4644FC-EF64-4019-BDFF-525481FB106A}"/>
              </a:ext>
            </a:extLst>
          </p:cNvPr>
          <p:cNvCxnSpPr>
            <a:cxnSpLocks/>
          </p:cNvCxnSpPr>
          <p:nvPr/>
        </p:nvCxnSpPr>
        <p:spPr>
          <a:xfrm>
            <a:off x="7776832" y="2263621"/>
            <a:ext cx="0" cy="3557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016F681-7212-407F-94BD-268F89D6451E}"/>
              </a:ext>
            </a:extLst>
          </p:cNvPr>
          <p:cNvCxnSpPr>
            <a:cxnSpLocks/>
          </p:cNvCxnSpPr>
          <p:nvPr/>
        </p:nvCxnSpPr>
        <p:spPr>
          <a:xfrm>
            <a:off x="7298331" y="2960245"/>
            <a:ext cx="0" cy="4657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5182BE-0748-41B8-81C3-D1E4C5A0B76E}"/>
              </a:ext>
            </a:extLst>
          </p:cNvPr>
          <p:cNvCxnSpPr>
            <a:cxnSpLocks/>
          </p:cNvCxnSpPr>
          <p:nvPr/>
        </p:nvCxnSpPr>
        <p:spPr>
          <a:xfrm>
            <a:off x="5163760" y="4043259"/>
            <a:ext cx="0" cy="224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AB11A72-B1DB-4FDF-AD08-3527AFE57FB1}"/>
              </a:ext>
            </a:extLst>
          </p:cNvPr>
          <p:cNvSpPr/>
          <p:nvPr/>
        </p:nvSpPr>
        <p:spPr bwMode="auto">
          <a:xfrm>
            <a:off x="2255887" y="1148576"/>
            <a:ext cx="2439627" cy="2894683"/>
          </a:xfrm>
          <a:prstGeom prst="rect">
            <a:avLst/>
          </a:prstGeom>
          <a:solidFill>
            <a:srgbClr val="FFFFFF">
              <a:alpha val="78039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0272B4-5477-4402-991D-3FE9F4401AA4}"/>
              </a:ext>
            </a:extLst>
          </p:cNvPr>
          <p:cNvSpPr/>
          <p:nvPr/>
        </p:nvSpPr>
        <p:spPr bwMode="auto">
          <a:xfrm>
            <a:off x="6149977" y="2758785"/>
            <a:ext cx="2880430" cy="479441"/>
          </a:xfrm>
          <a:prstGeom prst="rect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100" b="1" kern="0">
                <a:solidFill>
                  <a:srgbClr val="FFFFFF"/>
                </a:solidFill>
                <a:latin typeface="Arial"/>
              </a:rPr>
              <a:t>More precision reveals lower true effects are most likely</a:t>
            </a:r>
          </a:p>
        </p:txBody>
      </p:sp>
    </p:spTree>
    <p:extLst>
      <p:ext uri="{BB962C8B-B14F-4D97-AF65-F5344CB8AC3E}">
        <p14:creationId xmlns:p14="http://schemas.microsoft.com/office/powerpoint/2010/main" val="386004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9" grpId="0"/>
      <p:bldP spid="50" grpId="0"/>
      <p:bldP spid="51" grpId="0" animBg="1"/>
      <p:bldP spid="51" grpId="1" animBg="1"/>
      <p:bldP spid="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AB7DE-E2BB-48E1-AAB5-967BC190F7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B79AE-8C09-440E-92CE-7EFFC801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Key Messages</a:t>
            </a:r>
            <a:endParaRPr lang="en-GB" b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57B26B4-D971-4D1F-ADB3-CC66B892AEE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41334990"/>
              </p:ext>
            </p:extLst>
          </p:nvPr>
        </p:nvGraphicFramePr>
        <p:xfrm>
          <a:off x="358775" y="1192213"/>
          <a:ext cx="8423275" cy="3257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DFBA8-5302-433B-9A99-B2089D1ED8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5FB003-7590-41B3-912C-9BB27090D2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096349"/>
      </p:ext>
    </p:extLst>
  </p:cSld>
  <p:clrMapOvr>
    <a:masterClrMapping/>
  </p:clrMapOvr>
</p:sld>
</file>

<file path=ppt/theme/theme1.xml><?xml version="1.0" encoding="utf-8"?>
<a:theme xmlns:a="http://schemas.openxmlformats.org/drawingml/2006/main" name="GSK ">
  <a:themeElements>
    <a:clrScheme name="GSK 2017 4">
      <a:dk1>
        <a:srgbClr val="544F40"/>
      </a:dk1>
      <a:lt1>
        <a:srgbClr val="FFFFFF"/>
      </a:lt1>
      <a:dk2>
        <a:srgbClr val="15717D"/>
      </a:dk2>
      <a:lt2>
        <a:srgbClr val="F36633"/>
      </a:lt2>
      <a:accent1>
        <a:srgbClr val="F36633"/>
      </a:accent1>
      <a:accent2>
        <a:srgbClr val="544F40"/>
      </a:accent2>
      <a:accent3>
        <a:srgbClr val="008A00"/>
      </a:accent3>
      <a:accent4>
        <a:srgbClr val="BC1077"/>
      </a:accent4>
      <a:accent5>
        <a:srgbClr val="40488D"/>
      </a:accent5>
      <a:accent6>
        <a:srgbClr val="ED003C"/>
      </a:accent6>
      <a:hlink>
        <a:srgbClr val="F36633"/>
      </a:hlink>
      <a:folHlink>
        <a:srgbClr val="F36633"/>
      </a:folHlink>
    </a:clrScheme>
    <a:fontScheme name="GS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>
          <a:noFill/>
          <a:headEnd/>
          <a:tailEnd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marL="180975" indent="-180975" eaLnBrk="0" fontAlgn="auto" hangingPunct="0">
          <a:spcBef>
            <a:spcPts val="0"/>
          </a:spcBef>
          <a:spcAft>
            <a:spcPts val="0"/>
          </a:spcAft>
          <a:buClr>
            <a:schemeClr val="bg1"/>
          </a:buClr>
          <a:buFont typeface="Arial" pitchFamily="34" charset="0"/>
          <a:buChar char="–"/>
          <a:defRPr sz="1200" b="1" kern="0" dirty="0" err="1" smtClean="0">
            <a:solidFill>
              <a:srgbClr val="FFFFFF"/>
            </a:solidFill>
            <a:latin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71450" indent="-171450">
          <a:buClr>
            <a:schemeClr val="tx1"/>
          </a:buClr>
          <a:buFont typeface="Arial" pitchFamily="34" charset="0"/>
          <a:buChar char="–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SK_16x9 PowerPoint_V1_20170629" id="{B8F049B3-8A91-4FD3-B156-B44F80C0BC27}" vid="{B103CDC2-14D8-4A5C-86DD-96EA2A18BF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2f27799-0169-4b70-93d7-49e0001469b7">
      <UserInfo>
        <DisplayName>Raj Sharma</DisplayName>
        <AccountId>32</AccountId>
        <AccountType/>
      </UserInfo>
      <UserInfo>
        <DisplayName>David Leather</DisplayName>
        <AccountId>24</AccountId>
        <AccountType/>
      </UserInfo>
      <UserInfo>
        <DisplayName>Jon Robertson</DisplayName>
        <AccountId>10</AccountId>
        <AccountType/>
      </UserInfo>
      <UserInfo>
        <DisplayName>Nigel Dallow</DisplayName>
        <AccountId>20</AccountId>
        <AccountType/>
      </UserInfo>
      <UserInfo>
        <DisplayName>Emily Jarvis</DisplayName>
        <AccountId>13</AccountId>
        <AccountType/>
      </UserInfo>
      <UserInfo>
        <DisplayName>Agne Zarankaite</DisplayName>
        <AccountId>21</AccountId>
        <AccountType/>
      </UserInfo>
      <UserInfo>
        <DisplayName>Dawn Midwinter</DisplayName>
        <AccountId>25</AccountId>
        <AccountType/>
      </UserInfo>
      <UserInfo>
        <DisplayName>Zelie Bailes</DisplayName>
        <AccountId>33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E2C101F8FE24EAE9C8B3E64B68458" ma:contentTypeVersion="8" ma:contentTypeDescription="Create a new document." ma:contentTypeScope="" ma:versionID="f13d9be91b28acf62ccaa10e213e4c8a">
  <xsd:schema xmlns:xsd="http://www.w3.org/2001/XMLSchema" xmlns:xs="http://www.w3.org/2001/XMLSchema" xmlns:p="http://schemas.microsoft.com/office/2006/metadata/properties" xmlns:ns2="b065ee36-be87-4344-8b29-f2acbb5bc7a3" xmlns:ns3="d2f27799-0169-4b70-93d7-49e0001469b7" targetNamespace="http://schemas.microsoft.com/office/2006/metadata/properties" ma:root="true" ma:fieldsID="cdeb94149ca64a908789746a34144e05" ns2:_="" ns3:_="">
    <xsd:import namespace="b065ee36-be87-4344-8b29-f2acbb5bc7a3"/>
    <xsd:import namespace="d2f27799-0169-4b70-93d7-49e000146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5ee36-be87-4344-8b29-f2acbb5bc7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f27799-0169-4b70-93d7-49e0001469b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7F6992-6940-4143-AC62-96142C4EF75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2f27799-0169-4b70-93d7-49e0001469b7"/>
    <ds:schemaRef ds:uri="b065ee36-be87-4344-8b29-f2acbb5bc7a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3FF14A3-0B79-4250-A823-8E178C64B25C}">
  <ds:schemaRefs>
    <ds:schemaRef ds:uri="b065ee36-be87-4344-8b29-f2acbb5bc7a3"/>
    <ds:schemaRef ds:uri="d2f27799-0169-4b70-93d7-49e0001469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AD869F-BABB-40CE-B3FC-3DDCF75BCD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1116</Words>
  <Application>Microsoft Office PowerPoint</Application>
  <PresentationFormat>On-screen Show (16:9)</PresentationFormat>
  <Paragraphs>215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GSK </vt:lpstr>
      <vt:lpstr>PowerPoint Presentation</vt:lpstr>
      <vt:lpstr>Uncertainty – why does it matter?</vt:lpstr>
      <vt:lpstr>Is our estimate the whole story?</vt:lpstr>
      <vt:lpstr>Is our estimate the whole story?</vt:lpstr>
      <vt:lpstr>Uncertainty</vt:lpstr>
      <vt:lpstr>What is Standard Error?</vt:lpstr>
      <vt:lpstr>What is Standard Error?</vt:lpstr>
      <vt:lpstr>What is a Confidence Interval?</vt:lpstr>
      <vt:lpstr>What is a Confidence Interval?</vt:lpstr>
      <vt:lpstr>Statistical Significance vs Clinical Importance </vt:lpstr>
      <vt:lpstr>Eli Lilly Alzheimer’s Disease (AD) Solanezumab</vt:lpstr>
      <vt:lpstr>Eli Lilly Alzheimer’s Disease (AD) Solanezumab</vt:lpstr>
      <vt:lpstr>Eli Lilly Alzheimer’s Disease (AD) Solanezumab</vt:lpstr>
      <vt:lpstr>Eli Lilly Alzheimer’s Disease (AD) Solanezumab</vt:lpstr>
      <vt:lpstr>Key Messages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Affairs Statistical Training</dc:title>
  <dc:creator>Zelie Bailes</dc:creator>
  <cp:lastModifiedBy>Steve Mallett</cp:lastModifiedBy>
  <cp:revision>4</cp:revision>
  <cp:lastPrinted>2022-01-06T16:10:08Z</cp:lastPrinted>
  <dcterms:created xsi:type="dcterms:W3CDTF">2021-08-16T16:14:15Z</dcterms:created>
  <dcterms:modified xsi:type="dcterms:W3CDTF">2025-11-27T15:22:14Z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0x0101001BDE2C101F8FE24EAE9C8B3E64B68458</vt:lpwstr>
  </property>
</Properties>
</file>