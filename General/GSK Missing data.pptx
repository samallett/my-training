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19631" r:id="rId5"/>
    <p:sldId id="19632" r:id="rId6"/>
    <p:sldId id="19674" r:id="rId7"/>
    <p:sldId id="19675" r:id="rId8"/>
    <p:sldId id="19672" r:id="rId9"/>
    <p:sldId id="19667" r:id="rId10"/>
    <p:sldId id="19639" r:id="rId11"/>
    <p:sldId id="19640" r:id="rId12"/>
    <p:sldId id="19641" r:id="rId13"/>
    <p:sldId id="19670" r:id="rId14"/>
    <p:sldId id="2145708157" r:id="rId15"/>
    <p:sldId id="19651" r:id="rId16"/>
    <p:sldId id="19644" r:id="rId17"/>
    <p:sldId id="19676" r:id="rId18"/>
    <p:sldId id="19680" r:id="rId19"/>
    <p:sldId id="19671" r:id="rId20"/>
    <p:sldId id="19677" r:id="rId21"/>
    <p:sldId id="19679" r:id="rId22"/>
    <p:sldId id="2145708176" r:id="rId23"/>
    <p:sldId id="19648" r:id="rId24"/>
    <p:sldId id="19658" r:id="rId25"/>
    <p:sldId id="19611" r:id="rId26"/>
  </p:sldIdLst>
  <p:sldSz cx="9144000" cy="5143500" type="screen16x9"/>
  <p:notesSz cx="6865938" cy="90471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y 1 Intro (5min)" id="{3FD90219-2FB5-4A0C-888B-736C3637EBF0}">
          <p14:sldIdLst/>
        </p14:section>
        <p14:section name="Data types (22min)" id="{2559A92C-2BAD-4220-B869-651668A45C9E}">
          <p14:sldIdLst/>
        </p14:section>
        <p14:section name="NNT and NNH (12min)" id="{97773DEE-88EA-4174-9B48-50759666DC48}">
          <p14:sldIdLst/>
        </p14:section>
        <p14:section name="Signficance testing (18min)" id="{9F60E464-46FD-4111-86B5-10DD1FD9D48E}">
          <p14:sldIdLst/>
        </p14:section>
        <p14:section name="Uncertainty (22min/15min)" id="{D5649482-5C0E-4FCE-9237-12A795FE360D}">
          <p14:sldIdLst/>
        </p14:section>
        <p14:section name="Adjusted vs Unadjusted (14min)" id="{8C04CADD-B6B7-43AB-8B4B-3E4257CE8B4F}">
          <p14:sldIdLst/>
        </p14:section>
        <p14:section name="Day 2 Intro" id="{D1639E2D-CB00-461F-A813-83038DEB90E5}">
          <p14:sldIdLst/>
        </p14:section>
        <p14:section name="Missing Data (25-30mins)" id="{1699B0CF-CAF4-4878-8065-D329560DF856}">
          <p14:sldIdLst>
            <p14:sldId id="19631"/>
            <p14:sldId id="19632"/>
            <p14:sldId id="19674"/>
            <p14:sldId id="19675"/>
            <p14:sldId id="19672"/>
            <p14:sldId id="19667"/>
            <p14:sldId id="19639"/>
            <p14:sldId id="19640"/>
            <p14:sldId id="19641"/>
            <p14:sldId id="19670"/>
            <p14:sldId id="2145708157"/>
            <p14:sldId id="19651"/>
            <p14:sldId id="19644"/>
            <p14:sldId id="19676"/>
            <p14:sldId id="19680"/>
            <p14:sldId id="19671"/>
            <p14:sldId id="19677"/>
            <p14:sldId id="19679"/>
            <p14:sldId id="2145708176"/>
            <p14:sldId id="19648"/>
            <p14:sldId id="19658"/>
            <p14:sldId id="19611"/>
          </p14:sldIdLst>
        </p14:section>
        <p14:section name="Multiplicity (23mins)" id="{81BA755E-B6C8-4751-B927-FDB8A8C372A8}">
          <p14:sldIdLst/>
        </p14:section>
        <p14:section name="Subgroup Analysis" id="{FE2359E8-8B55-4020-B15A-1DF57AAB9C5B}">
          <p14:sldIdLst/>
        </p14:section>
        <p14:section name="Case Study" id="{E8E3C5D2-EEB0-4893-9F0C-6F74FAA4B1E5}">
          <p14:sldIdLst/>
        </p14:section>
        <p14:section name="Day 3 Core Claims" id="{0666949B-A69F-4A9D-837A-4C842BECDAF7}">
          <p14:sldIdLst/>
        </p14:section>
      </p14:sectionLst>
    </p:ext>
    <p:ext uri="{EFAFB233-063F-42B5-8137-9DF3F51BA10A}">
      <p15:sldGuideLst xmlns:p15="http://schemas.microsoft.com/office/powerpoint/2012/main">
        <p15:guide id="1" orient="horz" pos="752">
          <p15:clr>
            <a:srgbClr val="A4A3A4"/>
          </p15:clr>
        </p15:guide>
        <p15:guide id="2" orient="horz" pos="2685">
          <p15:clr>
            <a:srgbClr val="A4A3A4"/>
          </p15:clr>
        </p15:guide>
        <p15:guide id="3" pos="2879">
          <p15:clr>
            <a:srgbClr val="A4A3A4"/>
          </p15:clr>
        </p15:guide>
        <p15:guide id="4" pos="3027">
          <p15:clr>
            <a:srgbClr val="A4A3A4"/>
          </p15:clr>
        </p15:guide>
        <p15:guide id="5" pos="5533">
          <p15:clr>
            <a:srgbClr val="A4A3A4"/>
          </p15:clr>
        </p15:guide>
        <p15:guide id="6" pos="2733">
          <p15:clr>
            <a:srgbClr val="A4A3A4"/>
          </p15:clr>
        </p15:guide>
        <p15:guide id="7" pos="22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Rich Davies" initials="RD" lastIdx="5" clrIdx="6">
    <p:extLst>
      <p:ext uri="{19B8F6BF-5375-455C-9EA6-DF929625EA0E}">
        <p15:presenceInfo xmlns:p15="http://schemas.microsoft.com/office/powerpoint/2012/main" userId="S::richard.y.davies@gsk.com::8b5f16ec-b0bb-430c-9137-91526ccc0ab4" providerId="AD"/>
      </p:ext>
    </p:extLst>
  </p:cmAuthor>
  <p:cmAuthor id="1" name="Zelie Bailes" initials="ZB" lastIdx="119" clrIdx="0">
    <p:extLst>
      <p:ext uri="{19B8F6BF-5375-455C-9EA6-DF929625EA0E}">
        <p15:presenceInfo xmlns:p15="http://schemas.microsoft.com/office/powerpoint/2012/main" userId="Zelie Bailes" providerId="None"/>
      </p:ext>
    </p:extLst>
  </p:cmAuthor>
  <p:cmAuthor id="8" name="Nigel Dallow" initials="ND" lastIdx="6" clrIdx="7">
    <p:extLst>
      <p:ext uri="{19B8F6BF-5375-455C-9EA6-DF929625EA0E}">
        <p15:presenceInfo xmlns:p15="http://schemas.microsoft.com/office/powerpoint/2012/main" userId="S::nigel.s.dallow@gsk.com::22126230-7899-40dc-9c70-c90d97679fcc" providerId="AD"/>
      </p:ext>
    </p:extLst>
  </p:cmAuthor>
  <p:cmAuthor id="2" name="Zelie Bailes" initials="ZB [2]" lastIdx="4" clrIdx="1">
    <p:extLst>
      <p:ext uri="{19B8F6BF-5375-455C-9EA6-DF929625EA0E}">
        <p15:presenceInfo xmlns:p15="http://schemas.microsoft.com/office/powerpoint/2012/main" userId="S::zelie.a.bailes@gsk.com::016fc419-2509-4044-b219-254c2702790b" providerId="AD"/>
      </p:ext>
    </p:extLst>
  </p:cmAuthor>
  <p:cmAuthor id="9" name="Nigel Dallow" initials="ND [2]" lastIdx="5" clrIdx="8">
    <p:extLst>
      <p:ext uri="{19B8F6BF-5375-455C-9EA6-DF929625EA0E}">
        <p15:presenceInfo xmlns:p15="http://schemas.microsoft.com/office/powerpoint/2012/main" userId="Nigel Dallow" providerId="None"/>
      </p:ext>
    </p:extLst>
  </p:cmAuthor>
  <p:cmAuthor id="3" name="Katie Thorn" initials="KT" lastIdx="126" clrIdx="2">
    <p:extLst>
      <p:ext uri="{19B8F6BF-5375-455C-9EA6-DF929625EA0E}">
        <p15:presenceInfo xmlns:p15="http://schemas.microsoft.com/office/powerpoint/2012/main" userId="Katie Thorn" providerId="None"/>
      </p:ext>
    </p:extLst>
  </p:cmAuthor>
  <p:cmAuthor id="10" name="Dawn Midwinter" initials="DM [2]" lastIdx="21" clrIdx="9">
    <p:extLst>
      <p:ext uri="{19B8F6BF-5375-455C-9EA6-DF929625EA0E}">
        <p15:presenceInfo xmlns:p15="http://schemas.microsoft.com/office/powerpoint/2012/main" userId="Dawn Midwinter" providerId="None"/>
      </p:ext>
    </p:extLst>
  </p:cmAuthor>
  <p:cmAuthor id="4" name="Agne Zarankaite" initials="AZ" lastIdx="129" clrIdx="3">
    <p:extLst>
      <p:ext uri="{19B8F6BF-5375-455C-9EA6-DF929625EA0E}">
        <p15:presenceInfo xmlns:p15="http://schemas.microsoft.com/office/powerpoint/2012/main" userId="Agne Zarankaite" providerId="None"/>
      </p:ext>
    </p:extLst>
  </p:cmAuthor>
  <p:cmAuthor id="11" name="Alisa Urbano" initials="AU" lastIdx="6" clrIdx="10">
    <p:extLst>
      <p:ext uri="{19B8F6BF-5375-455C-9EA6-DF929625EA0E}">
        <p15:presenceInfo xmlns:p15="http://schemas.microsoft.com/office/powerpoint/2012/main" userId="Alisa Urbano" providerId="None"/>
      </p:ext>
    </p:extLst>
  </p:cmAuthor>
  <p:cmAuthor id="5" name="Dawn Midwinter" initials="DM" lastIdx="18" clrIdx="4">
    <p:extLst>
      <p:ext uri="{19B8F6BF-5375-455C-9EA6-DF929625EA0E}">
        <p15:presenceInfo xmlns:p15="http://schemas.microsoft.com/office/powerpoint/2012/main" userId="S::dawn.a.midwinter@gsk.com::12e9609d-3428-473d-a14d-db946382f5a8" providerId="AD"/>
      </p:ext>
    </p:extLst>
  </p:cmAuthor>
  <p:cmAuthor id="12" name="Zoe Guy" initials="ZG" lastIdx="7" clrIdx="11">
    <p:extLst>
      <p:ext uri="{19B8F6BF-5375-455C-9EA6-DF929625EA0E}">
        <p15:presenceInfo xmlns:p15="http://schemas.microsoft.com/office/powerpoint/2012/main" userId="Zoe Guy" providerId="None"/>
      </p:ext>
    </p:extLst>
  </p:cmAuthor>
  <p:cmAuthor id="6" name="Anny Stari" initials="AS" lastIdx="1" clrIdx="5">
    <p:extLst>
      <p:ext uri="{19B8F6BF-5375-455C-9EA6-DF929625EA0E}">
        <p15:presenceInfo xmlns:p15="http://schemas.microsoft.com/office/powerpoint/2012/main" userId="S::anny.x.stari@gsk.com::db1607f0-112a-4109-a9d7-c266bb6f20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152C56"/>
    <a:srgbClr val="2F81A6"/>
    <a:srgbClr val="0F2842"/>
    <a:srgbClr val="163E51"/>
    <a:srgbClr val="D5D7EC"/>
    <a:srgbClr val="F9C6BE"/>
    <a:srgbClr val="BC1077"/>
    <a:srgbClr val="9E00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326" autoAdjust="0"/>
    <p:restoredTop sz="67215" autoAdjust="0"/>
  </p:normalViewPr>
  <p:slideViewPr>
    <p:cSldViewPr snapToGrid="0">
      <p:cViewPr varScale="1">
        <p:scale>
          <a:sx n="96" d="100"/>
          <a:sy n="96" d="100"/>
        </p:scale>
        <p:origin x="1584" y="78"/>
      </p:cViewPr>
      <p:guideLst>
        <p:guide orient="horz" pos="752"/>
        <p:guide orient="horz" pos="2685"/>
        <p:guide pos="2879"/>
        <p:guide pos="3027"/>
        <p:guide pos="5533"/>
        <p:guide pos="2733"/>
        <p:guide pos="22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https://mydrive.gsk.com/personal/katharine_x_thorn_gsk_com/Documents/Documents/Fundamental%20stats%20training%20ideas/Recognition%20202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mydrive.gsk.com/personal/katharine_x_thorn_gsk_com/Documents/Documents/Fundamental%20stats%20training%20ideas/Recognition%202021.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ACR20</a:t>
            </a:r>
            <a:r>
              <a:rPr lang="en-GB" baseline="0"/>
              <a:t> Response at Week 16</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Sheet2!$B$2</c:f>
              <c:strCache>
                <c:ptCount val="1"/>
                <c:pt idx="0">
                  <c:v>Responder</c:v>
                </c:pt>
              </c:strCache>
            </c:strRef>
          </c:tx>
          <c:spPr>
            <a:solidFill>
              <a:schemeClr val="accent1"/>
            </a:solidFill>
            <a:ln>
              <a:noFill/>
            </a:ln>
            <a:effectLst/>
          </c:spPr>
          <c:invertIfNegative val="0"/>
          <c:cat>
            <c:strRef>
              <c:f>Sheet2!$A$2:$A$3</c:f>
              <c:strCache>
                <c:ptCount val="2"/>
                <c:pt idx="0">
                  <c:v>GSK</c:v>
                </c:pt>
                <c:pt idx="1">
                  <c:v>Placebo</c:v>
                </c:pt>
              </c:strCache>
            </c:strRef>
          </c:cat>
          <c:val>
            <c:numRef>
              <c:f>Sheet2!$C$2:$D$2</c:f>
              <c:numCache>
                <c:formatCode>General</c:formatCode>
                <c:ptCount val="2"/>
                <c:pt idx="0">
                  <c:v>56</c:v>
                </c:pt>
                <c:pt idx="1">
                  <c:v>32</c:v>
                </c:pt>
              </c:numCache>
            </c:numRef>
          </c:val>
          <c:extLst>
            <c:ext xmlns:c16="http://schemas.microsoft.com/office/drawing/2014/chart" uri="{C3380CC4-5D6E-409C-BE32-E72D297353CC}">
              <c16:uniqueId val="{00000000-12EF-4408-A1D2-C59AD4269526}"/>
            </c:ext>
          </c:extLst>
        </c:ser>
        <c:ser>
          <c:idx val="1"/>
          <c:order val="1"/>
          <c:tx>
            <c:strRef>
              <c:f>Sheet2!$B$3</c:f>
              <c:strCache>
                <c:ptCount val="1"/>
                <c:pt idx="0">
                  <c:v>Non-Responder</c:v>
                </c:pt>
              </c:strCache>
            </c:strRef>
          </c:tx>
          <c:spPr>
            <a:solidFill>
              <a:schemeClr val="tx1"/>
            </a:solidFill>
            <a:ln>
              <a:solidFill>
                <a:schemeClr val="bg1"/>
              </a:solidFill>
            </a:ln>
            <a:effectLst/>
          </c:spPr>
          <c:invertIfNegative val="0"/>
          <c:cat>
            <c:strRef>
              <c:f>Sheet2!$A$2:$A$3</c:f>
              <c:strCache>
                <c:ptCount val="2"/>
                <c:pt idx="0">
                  <c:v>GSK</c:v>
                </c:pt>
                <c:pt idx="1">
                  <c:v>Placebo</c:v>
                </c:pt>
              </c:strCache>
            </c:strRef>
          </c:cat>
          <c:val>
            <c:numRef>
              <c:f>Sheet2!$C$3:$D$3</c:f>
              <c:numCache>
                <c:formatCode>General</c:formatCode>
                <c:ptCount val="2"/>
                <c:pt idx="0">
                  <c:v>44</c:v>
                </c:pt>
                <c:pt idx="1">
                  <c:v>68</c:v>
                </c:pt>
              </c:numCache>
            </c:numRef>
          </c:val>
          <c:extLst>
            <c:ext xmlns:c16="http://schemas.microsoft.com/office/drawing/2014/chart" uri="{C3380CC4-5D6E-409C-BE32-E72D297353CC}">
              <c16:uniqueId val="{00000001-12EF-4408-A1D2-C59AD4269526}"/>
            </c:ext>
          </c:extLst>
        </c:ser>
        <c:ser>
          <c:idx val="2"/>
          <c:order val="2"/>
          <c:tx>
            <c:v> </c:v>
          </c:tx>
          <c:spPr>
            <a:solidFill>
              <a:schemeClr val="accent3"/>
            </a:solidFill>
            <a:ln>
              <a:noFill/>
            </a:ln>
            <a:effectLst/>
          </c:spPr>
          <c:invertIfNegative val="0"/>
          <c:val>
            <c:numRef>
              <c:f>Sheet2!$C$4:$D$4</c:f>
              <c:numCache>
                <c:formatCode>General</c:formatCode>
                <c:ptCount val="2"/>
              </c:numCache>
            </c:numRef>
          </c:val>
          <c:extLst>
            <c:ext xmlns:c16="http://schemas.microsoft.com/office/drawing/2014/chart" uri="{C3380CC4-5D6E-409C-BE32-E72D297353CC}">
              <c16:uniqueId val="{00000002-12EF-4408-A1D2-C59AD4269526}"/>
            </c:ext>
          </c:extLst>
        </c:ser>
        <c:dLbls>
          <c:showLegendKey val="0"/>
          <c:showVal val="0"/>
          <c:showCatName val="0"/>
          <c:showSerName val="0"/>
          <c:showPercent val="0"/>
          <c:showBubbleSize val="0"/>
        </c:dLbls>
        <c:gapWidth val="219"/>
        <c:overlap val="-27"/>
        <c:axId val="439869800"/>
        <c:axId val="507857728"/>
      </c:barChart>
      <c:catAx>
        <c:axId val="439869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7857728"/>
        <c:crosses val="autoZero"/>
        <c:auto val="1"/>
        <c:lblAlgn val="ctr"/>
        <c:lblOffset val="100"/>
        <c:noMultiLvlLbl val="0"/>
      </c:catAx>
      <c:valAx>
        <c:axId val="50785772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ACR</a:t>
                </a:r>
                <a:r>
                  <a:rPr lang="en-GB" baseline="0"/>
                  <a:t>20 Response (%)</a:t>
                </a:r>
                <a:endParaRPr lang="en-GB"/>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9869800"/>
        <c:crosses val="autoZero"/>
        <c:crossBetween val="between"/>
      </c:val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baseline="0">
                <a:effectLst/>
              </a:rPr>
              <a:t>ACR20 Response at Week 16</a:t>
            </a:r>
            <a:endParaRPr lang="en-GB" sz="110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Sheet2!$B$7</c:f>
              <c:strCache>
                <c:ptCount val="1"/>
                <c:pt idx="0">
                  <c:v>Responder</c:v>
                </c:pt>
              </c:strCache>
            </c:strRef>
          </c:tx>
          <c:spPr>
            <a:solidFill>
              <a:schemeClr val="accent1"/>
            </a:solidFill>
            <a:ln>
              <a:noFill/>
            </a:ln>
            <a:effectLst/>
          </c:spPr>
          <c:invertIfNegative val="0"/>
          <c:cat>
            <c:strRef>
              <c:f>Sheet2!$A$7:$A$8</c:f>
              <c:strCache>
                <c:ptCount val="2"/>
                <c:pt idx="0">
                  <c:v>GSK</c:v>
                </c:pt>
                <c:pt idx="1">
                  <c:v>Placebo</c:v>
                </c:pt>
              </c:strCache>
            </c:strRef>
          </c:cat>
          <c:val>
            <c:numRef>
              <c:f>Sheet2!$C$7:$D$7</c:f>
              <c:numCache>
                <c:formatCode>General</c:formatCode>
                <c:ptCount val="2"/>
                <c:pt idx="0">
                  <c:v>56</c:v>
                </c:pt>
                <c:pt idx="1">
                  <c:v>32</c:v>
                </c:pt>
              </c:numCache>
            </c:numRef>
          </c:val>
          <c:extLst>
            <c:ext xmlns:c16="http://schemas.microsoft.com/office/drawing/2014/chart" uri="{C3380CC4-5D6E-409C-BE32-E72D297353CC}">
              <c16:uniqueId val="{00000000-F181-49C5-A8CB-ED4854039BEC}"/>
            </c:ext>
          </c:extLst>
        </c:ser>
        <c:ser>
          <c:idx val="1"/>
          <c:order val="1"/>
          <c:tx>
            <c:strRef>
              <c:f>Sheet2!$B$8</c:f>
              <c:strCache>
                <c:ptCount val="1"/>
                <c:pt idx="0">
                  <c:v>Non-Responder</c:v>
                </c:pt>
              </c:strCache>
            </c:strRef>
          </c:tx>
          <c:spPr>
            <a:solidFill>
              <a:schemeClr val="tx1"/>
            </a:solidFill>
            <a:ln>
              <a:noFill/>
            </a:ln>
            <a:effectLst/>
          </c:spPr>
          <c:invertIfNegative val="0"/>
          <c:cat>
            <c:strRef>
              <c:f>Sheet2!$A$7:$A$8</c:f>
              <c:strCache>
                <c:ptCount val="2"/>
                <c:pt idx="0">
                  <c:v>GSK</c:v>
                </c:pt>
                <c:pt idx="1">
                  <c:v>Placebo</c:v>
                </c:pt>
              </c:strCache>
            </c:strRef>
          </c:cat>
          <c:val>
            <c:numRef>
              <c:f>Sheet2!$C$8:$D$8</c:f>
              <c:numCache>
                <c:formatCode>General</c:formatCode>
                <c:ptCount val="2"/>
                <c:pt idx="0">
                  <c:v>34</c:v>
                </c:pt>
                <c:pt idx="1">
                  <c:v>28</c:v>
                </c:pt>
              </c:numCache>
            </c:numRef>
          </c:val>
          <c:extLst>
            <c:ext xmlns:c16="http://schemas.microsoft.com/office/drawing/2014/chart" uri="{C3380CC4-5D6E-409C-BE32-E72D297353CC}">
              <c16:uniqueId val="{00000001-F181-49C5-A8CB-ED4854039BEC}"/>
            </c:ext>
          </c:extLst>
        </c:ser>
        <c:ser>
          <c:idx val="2"/>
          <c:order val="2"/>
          <c:tx>
            <c:strRef>
              <c:f>Sheet2!$B$9</c:f>
              <c:strCache>
                <c:ptCount val="1"/>
                <c:pt idx="0">
                  <c:v>Missing</c:v>
                </c:pt>
              </c:strCache>
            </c:strRef>
          </c:tx>
          <c:spPr>
            <a:solidFill>
              <a:schemeClr val="accent5"/>
            </a:solidFill>
            <a:ln>
              <a:noFill/>
            </a:ln>
            <a:effectLst/>
          </c:spPr>
          <c:invertIfNegative val="0"/>
          <c:cat>
            <c:strRef>
              <c:f>Sheet2!$A$7:$A$8</c:f>
              <c:strCache>
                <c:ptCount val="2"/>
                <c:pt idx="0">
                  <c:v>GSK</c:v>
                </c:pt>
                <c:pt idx="1">
                  <c:v>Placebo</c:v>
                </c:pt>
              </c:strCache>
            </c:strRef>
          </c:cat>
          <c:val>
            <c:numRef>
              <c:f>Sheet2!$C$9:$D$9</c:f>
              <c:numCache>
                <c:formatCode>General</c:formatCode>
                <c:ptCount val="2"/>
                <c:pt idx="0">
                  <c:v>10</c:v>
                </c:pt>
                <c:pt idx="1">
                  <c:v>40</c:v>
                </c:pt>
              </c:numCache>
            </c:numRef>
          </c:val>
          <c:extLst>
            <c:ext xmlns:c16="http://schemas.microsoft.com/office/drawing/2014/chart" uri="{C3380CC4-5D6E-409C-BE32-E72D297353CC}">
              <c16:uniqueId val="{00000002-F181-49C5-A8CB-ED4854039BEC}"/>
            </c:ext>
          </c:extLst>
        </c:ser>
        <c:dLbls>
          <c:showLegendKey val="0"/>
          <c:showVal val="0"/>
          <c:showCatName val="0"/>
          <c:showSerName val="0"/>
          <c:showPercent val="0"/>
          <c:showBubbleSize val="0"/>
        </c:dLbls>
        <c:gapWidth val="219"/>
        <c:overlap val="-27"/>
        <c:axId val="503782552"/>
        <c:axId val="503782224"/>
      </c:barChart>
      <c:catAx>
        <c:axId val="503782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3782224"/>
        <c:crosses val="autoZero"/>
        <c:auto val="1"/>
        <c:lblAlgn val="ctr"/>
        <c:lblOffset val="100"/>
        <c:noMultiLvlLbl val="0"/>
      </c:catAx>
      <c:valAx>
        <c:axId val="503782224"/>
        <c:scaling>
          <c:orientation val="minMax"/>
          <c:max val="8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ACR20 Response</a:t>
                </a:r>
                <a:r>
                  <a:rPr lang="en-GB" baseline="0"/>
                  <a:t> (%)</a:t>
                </a:r>
                <a:endParaRPr lang="en-GB"/>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37825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1EFFB9-BD04-49BD-9694-02B3F4A9B724}"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396139CA-4DC3-48EA-8CBA-B1D44B8C690F}">
      <dgm:prSet phldrT="[Text]" custT="1"/>
      <dgm:spPr>
        <a:solidFill>
          <a:srgbClr val="40488D"/>
        </a:solidFill>
      </dgm:spPr>
      <dgm:t>
        <a:bodyPr/>
        <a:lstStyle/>
        <a:p>
          <a:r>
            <a:rPr lang="en-GB" sz="1800"/>
            <a:t>Missing Data</a:t>
          </a:r>
        </a:p>
      </dgm:t>
    </dgm:pt>
    <dgm:pt modelId="{00854F48-D91F-47A1-A7C3-A30C6A2A49EE}" type="parTrans" cxnId="{B18F193B-40D0-4EE1-B589-7EEBB126A3FD}">
      <dgm:prSet/>
      <dgm:spPr/>
      <dgm:t>
        <a:bodyPr/>
        <a:lstStyle/>
        <a:p>
          <a:endParaRPr lang="en-GB" sz="1400"/>
        </a:p>
      </dgm:t>
    </dgm:pt>
    <dgm:pt modelId="{47620660-F6FA-4B08-8C3A-723AD425FCDA}" type="sibTrans" cxnId="{B18F193B-40D0-4EE1-B589-7EEBB126A3FD}">
      <dgm:prSet/>
      <dgm:spPr/>
      <dgm:t>
        <a:bodyPr/>
        <a:lstStyle/>
        <a:p>
          <a:endParaRPr lang="en-GB" sz="1400"/>
        </a:p>
      </dgm:t>
    </dgm:pt>
    <dgm:pt modelId="{46A9294B-E955-4C66-AD7A-00C623529141}">
      <dgm:prSet phldrT="[Text]" custT="1"/>
      <dgm:spPr>
        <a:solidFill>
          <a:schemeClr val="bg2"/>
        </a:solidFill>
      </dgm:spPr>
      <dgm:t>
        <a:bodyPr/>
        <a:lstStyle/>
        <a:p>
          <a:r>
            <a:rPr lang="en-GB" sz="1800"/>
            <a:t>What do you need to do?</a:t>
          </a:r>
        </a:p>
      </dgm:t>
    </dgm:pt>
    <dgm:pt modelId="{FDD06839-9DBC-4ADE-8ECC-4C4F2CF9C7B1}" type="parTrans" cxnId="{A309F978-F6B4-44F2-BD7D-05515C54CDB8}">
      <dgm:prSet/>
      <dgm:spPr/>
      <dgm:t>
        <a:bodyPr/>
        <a:lstStyle/>
        <a:p>
          <a:endParaRPr lang="en-GB" sz="1400"/>
        </a:p>
      </dgm:t>
    </dgm:pt>
    <dgm:pt modelId="{556F560E-2545-477C-B18D-D4DD7C002CAD}" type="sibTrans" cxnId="{A309F978-F6B4-44F2-BD7D-05515C54CDB8}">
      <dgm:prSet/>
      <dgm:spPr/>
      <dgm:t>
        <a:bodyPr/>
        <a:lstStyle/>
        <a:p>
          <a:endParaRPr lang="en-GB" sz="1400"/>
        </a:p>
      </dgm:t>
    </dgm:pt>
    <dgm:pt modelId="{0FEB305D-9D3D-40E3-9B11-D606B5B4CFC5}">
      <dgm:prSet/>
      <dgm:spPr>
        <a:ln>
          <a:solidFill>
            <a:schemeClr val="accent5"/>
          </a:solidFill>
        </a:ln>
      </dgm:spPr>
      <dgm:t>
        <a:bodyPr/>
        <a:lstStyle/>
        <a:p>
          <a:r>
            <a:rPr lang="en-GB"/>
            <a:t>Missing data can introduce bias.</a:t>
          </a:r>
        </a:p>
      </dgm:t>
    </dgm:pt>
    <dgm:pt modelId="{269C29B0-D780-4FA6-ABA5-2BC3D53DAB53}" type="parTrans" cxnId="{AE744C34-49BA-49BD-A147-D9085358F35B}">
      <dgm:prSet/>
      <dgm:spPr/>
      <dgm:t>
        <a:bodyPr/>
        <a:lstStyle/>
        <a:p>
          <a:endParaRPr lang="en-GB"/>
        </a:p>
      </dgm:t>
    </dgm:pt>
    <dgm:pt modelId="{7C8A264C-B2B5-4262-8EF8-FEDC94D8C42F}" type="sibTrans" cxnId="{AE744C34-49BA-49BD-A147-D9085358F35B}">
      <dgm:prSet/>
      <dgm:spPr/>
      <dgm:t>
        <a:bodyPr/>
        <a:lstStyle/>
        <a:p>
          <a:endParaRPr lang="en-GB"/>
        </a:p>
      </dgm:t>
    </dgm:pt>
    <dgm:pt modelId="{2B2C975A-7242-4C45-A126-4F76B97155E3}">
      <dgm:prSet/>
      <dgm:spPr>
        <a:ln>
          <a:solidFill>
            <a:schemeClr val="bg2"/>
          </a:solidFill>
        </a:ln>
      </dgm:spPr>
      <dgm:t>
        <a:bodyPr/>
        <a:lstStyle/>
        <a:p>
          <a:r>
            <a:rPr lang="en-GB" b="0" i="0">
              <a:solidFill>
                <a:schemeClr val="tx1"/>
              </a:solidFill>
              <a:effectLst/>
              <a:latin typeface="+mn-lt"/>
              <a:ea typeface="+mn-ea"/>
              <a:cs typeface="+mn-cs"/>
            </a:rPr>
            <a:t>Be aware of discontinuation rates in studies, and whether they are balanced across treatment groups.</a:t>
          </a:r>
          <a:endParaRPr lang="en-GB"/>
        </a:p>
      </dgm:t>
    </dgm:pt>
    <dgm:pt modelId="{221732C5-2D94-4F66-9A46-D2BB7AA0761F}" type="parTrans" cxnId="{53BD0953-655C-4CFD-AE22-7F0C74A70F6A}">
      <dgm:prSet/>
      <dgm:spPr/>
      <dgm:t>
        <a:bodyPr/>
        <a:lstStyle/>
        <a:p>
          <a:endParaRPr lang="en-GB"/>
        </a:p>
      </dgm:t>
    </dgm:pt>
    <dgm:pt modelId="{C3649512-A06A-403D-8C7F-5B13E93D71E4}" type="sibTrans" cxnId="{53BD0953-655C-4CFD-AE22-7F0C74A70F6A}">
      <dgm:prSet/>
      <dgm:spPr/>
      <dgm:t>
        <a:bodyPr/>
        <a:lstStyle/>
        <a:p>
          <a:endParaRPr lang="en-GB"/>
        </a:p>
      </dgm:t>
    </dgm:pt>
    <dgm:pt modelId="{79A3B954-FE5C-4498-A719-7B9D01280AFF}">
      <dgm:prSet/>
      <dgm:spPr>
        <a:ln>
          <a:solidFill>
            <a:schemeClr val="accent5"/>
          </a:solidFill>
        </a:ln>
      </dgm:spPr>
      <dgm:t>
        <a:bodyPr/>
        <a:lstStyle/>
        <a:p>
          <a:r>
            <a:rPr lang="en-GB"/>
            <a:t>Prevention is the first step to cure - plan trials in such a way to minimise missing data.</a:t>
          </a:r>
        </a:p>
      </dgm:t>
    </dgm:pt>
    <dgm:pt modelId="{36B6A614-54B4-4EF6-8F38-66EEE79FC7AD}" type="parTrans" cxnId="{A045A9CB-9067-411E-9C71-293D48576410}">
      <dgm:prSet/>
      <dgm:spPr/>
      <dgm:t>
        <a:bodyPr/>
        <a:lstStyle/>
        <a:p>
          <a:endParaRPr lang="en-GB"/>
        </a:p>
      </dgm:t>
    </dgm:pt>
    <dgm:pt modelId="{F3A5CA85-A21C-44C8-A038-68AAAB88FEEA}" type="sibTrans" cxnId="{A045A9CB-9067-411E-9C71-293D48576410}">
      <dgm:prSet/>
      <dgm:spPr/>
      <dgm:t>
        <a:bodyPr/>
        <a:lstStyle/>
        <a:p>
          <a:endParaRPr lang="en-GB"/>
        </a:p>
      </dgm:t>
    </dgm:pt>
    <dgm:pt modelId="{D208A884-4972-428C-87E9-1FEFBCFD78E8}">
      <dgm:prSet/>
      <dgm:spPr>
        <a:ln>
          <a:solidFill>
            <a:schemeClr val="bg2"/>
          </a:solidFill>
        </a:ln>
      </dgm:spPr>
      <dgm:t>
        <a:bodyPr/>
        <a:lstStyle/>
        <a:p>
          <a:r>
            <a:rPr lang="en-GB"/>
            <a:t>If results are “borderline” statistically significant (i.e. p-value is close to 0.05), consider how missing data has been handled and whether sensitivity analyses have been performed.</a:t>
          </a:r>
        </a:p>
      </dgm:t>
    </dgm:pt>
    <dgm:pt modelId="{39F39A08-CAA3-43E1-85FD-85F47E42AEAA}" type="parTrans" cxnId="{F2C4C016-7F75-4ECD-80CD-2668E6BD8BBA}">
      <dgm:prSet/>
      <dgm:spPr/>
      <dgm:t>
        <a:bodyPr/>
        <a:lstStyle/>
        <a:p>
          <a:endParaRPr lang="en-GB"/>
        </a:p>
      </dgm:t>
    </dgm:pt>
    <dgm:pt modelId="{4D638877-44CF-4CBA-B544-A06FA357E517}" type="sibTrans" cxnId="{F2C4C016-7F75-4ECD-80CD-2668E6BD8BBA}">
      <dgm:prSet/>
      <dgm:spPr/>
      <dgm:t>
        <a:bodyPr/>
        <a:lstStyle/>
        <a:p>
          <a:endParaRPr lang="en-GB"/>
        </a:p>
      </dgm:t>
    </dgm:pt>
    <dgm:pt modelId="{FE13A7D1-8BE0-4600-A07C-1E4FA338F393}">
      <dgm:prSet/>
      <dgm:spPr/>
      <dgm:t>
        <a:bodyPr/>
        <a:lstStyle/>
        <a:p>
          <a:r>
            <a:rPr lang="en-GB">
              <a:solidFill>
                <a:schemeClr val="bg2"/>
              </a:solidFill>
            </a:rPr>
            <a:t>If in doubt: Talk to your Statistician!</a:t>
          </a:r>
        </a:p>
      </dgm:t>
    </dgm:pt>
    <dgm:pt modelId="{C1A684C5-082D-4902-A2DD-CF51CDB93726}" type="parTrans" cxnId="{3C605CEF-90EE-45D7-A69B-29DC5F765DDC}">
      <dgm:prSet/>
      <dgm:spPr/>
      <dgm:t>
        <a:bodyPr/>
        <a:lstStyle/>
        <a:p>
          <a:endParaRPr lang="en-GB"/>
        </a:p>
      </dgm:t>
    </dgm:pt>
    <dgm:pt modelId="{EFF789DD-3098-43D1-8D79-5995B9234492}" type="sibTrans" cxnId="{3C605CEF-90EE-45D7-A69B-29DC5F765DDC}">
      <dgm:prSet/>
      <dgm:spPr/>
      <dgm:t>
        <a:bodyPr/>
        <a:lstStyle/>
        <a:p>
          <a:endParaRPr lang="en-GB"/>
        </a:p>
      </dgm:t>
    </dgm:pt>
    <dgm:pt modelId="{41DB72D5-0608-4405-8BDA-8296837181C3}">
      <dgm:prSet/>
      <dgm:spPr>
        <a:ln>
          <a:solidFill>
            <a:schemeClr val="accent5"/>
          </a:solidFill>
        </a:ln>
      </dgm:spPr>
      <dgm:t>
        <a:bodyPr/>
        <a:lstStyle/>
        <a:p>
          <a:r>
            <a:rPr lang="en-GB"/>
            <a:t>Missing data is a reality of clinical research. We need to be aware of it and its potential to bias our inferences. </a:t>
          </a:r>
        </a:p>
      </dgm:t>
    </dgm:pt>
    <dgm:pt modelId="{EA92B05B-5885-4B97-9A3B-A39350ADF86C}" type="parTrans" cxnId="{7A888556-8DCA-4DE1-9B48-D71FA82572C9}">
      <dgm:prSet/>
      <dgm:spPr/>
      <dgm:t>
        <a:bodyPr/>
        <a:lstStyle/>
        <a:p>
          <a:endParaRPr lang="en-GB"/>
        </a:p>
      </dgm:t>
    </dgm:pt>
    <dgm:pt modelId="{9C410335-0AE9-4981-9673-42C0647EEF3A}" type="sibTrans" cxnId="{7A888556-8DCA-4DE1-9B48-D71FA82572C9}">
      <dgm:prSet/>
      <dgm:spPr/>
      <dgm:t>
        <a:bodyPr/>
        <a:lstStyle/>
        <a:p>
          <a:endParaRPr lang="en-GB"/>
        </a:p>
      </dgm:t>
    </dgm:pt>
    <dgm:pt modelId="{264E83FC-18B2-4CAA-A111-704B5434F0DB}">
      <dgm:prSet/>
      <dgm:spPr>
        <a:ln>
          <a:solidFill>
            <a:schemeClr val="accent5"/>
          </a:solidFill>
        </a:ln>
      </dgm:spPr>
      <dgm:t>
        <a:bodyPr/>
        <a:lstStyle/>
        <a:p>
          <a:r>
            <a:rPr lang="en-GB"/>
            <a:t>Be clear about how it should be handled and understand the implications of this.</a:t>
          </a:r>
        </a:p>
      </dgm:t>
    </dgm:pt>
    <dgm:pt modelId="{7FE39A22-31B2-479E-A453-0043C9B46C21}" type="parTrans" cxnId="{4F6E04D0-E3E4-42E8-B100-0CEC8A543EDB}">
      <dgm:prSet/>
      <dgm:spPr/>
      <dgm:t>
        <a:bodyPr/>
        <a:lstStyle/>
        <a:p>
          <a:endParaRPr lang="en-GB"/>
        </a:p>
      </dgm:t>
    </dgm:pt>
    <dgm:pt modelId="{EB0DB9DE-8DEA-4086-818E-6F520B63532B}" type="sibTrans" cxnId="{4F6E04D0-E3E4-42E8-B100-0CEC8A543EDB}">
      <dgm:prSet/>
      <dgm:spPr/>
      <dgm:t>
        <a:bodyPr/>
        <a:lstStyle/>
        <a:p>
          <a:endParaRPr lang="en-GB"/>
        </a:p>
      </dgm:t>
    </dgm:pt>
    <dgm:pt modelId="{A2EABE70-F20C-4D5E-B872-62261A17B6E1}">
      <dgm:prSet/>
      <dgm:spPr>
        <a:ln>
          <a:solidFill>
            <a:schemeClr val="bg2"/>
          </a:solidFill>
        </a:ln>
      </dgm:spPr>
      <dgm:t>
        <a:bodyPr/>
        <a:lstStyle/>
        <a:p>
          <a:r>
            <a:rPr lang="en-GB"/>
            <a:t>Consider what assumptions would be reasonable for subjects who stop taking treatment. Be involved in this discussion in protocol development.</a:t>
          </a:r>
        </a:p>
      </dgm:t>
    </dgm:pt>
    <dgm:pt modelId="{B51E411F-E4D7-414D-A372-CE2C1C6EC759}" type="parTrans" cxnId="{BEC3459F-E3D0-43AA-A561-2CA7ACFF1F2B}">
      <dgm:prSet/>
      <dgm:spPr/>
    </dgm:pt>
    <dgm:pt modelId="{6429C9C6-D91C-4336-8896-164155541142}" type="sibTrans" cxnId="{BEC3459F-E3D0-43AA-A561-2CA7ACFF1F2B}">
      <dgm:prSet/>
      <dgm:spPr/>
    </dgm:pt>
    <dgm:pt modelId="{447DD49A-06A4-4E6D-8A8C-3BCE2337070F}" type="pres">
      <dgm:prSet presAssocID="{931EFFB9-BD04-49BD-9694-02B3F4A9B724}" presName="linear" presStyleCnt="0">
        <dgm:presLayoutVars>
          <dgm:dir/>
          <dgm:animLvl val="lvl"/>
          <dgm:resizeHandles val="exact"/>
        </dgm:presLayoutVars>
      </dgm:prSet>
      <dgm:spPr/>
    </dgm:pt>
    <dgm:pt modelId="{7ADD2E8F-30C1-42D1-ACE9-C545D2B2866D}" type="pres">
      <dgm:prSet presAssocID="{396139CA-4DC3-48EA-8CBA-B1D44B8C690F}" presName="parentLin" presStyleCnt="0"/>
      <dgm:spPr/>
    </dgm:pt>
    <dgm:pt modelId="{347990ED-8D0C-4161-B372-9B025C95341E}" type="pres">
      <dgm:prSet presAssocID="{396139CA-4DC3-48EA-8CBA-B1D44B8C690F}" presName="parentLeftMargin" presStyleLbl="node1" presStyleIdx="0" presStyleCnt="2"/>
      <dgm:spPr/>
    </dgm:pt>
    <dgm:pt modelId="{C08FE6A4-AFAA-401F-8788-5B2EF4404F28}" type="pres">
      <dgm:prSet presAssocID="{396139CA-4DC3-48EA-8CBA-B1D44B8C690F}" presName="parentText" presStyleLbl="node1" presStyleIdx="0" presStyleCnt="2" custScaleX="107889" custScaleY="81813">
        <dgm:presLayoutVars>
          <dgm:chMax val="0"/>
          <dgm:bulletEnabled val="1"/>
        </dgm:presLayoutVars>
      </dgm:prSet>
      <dgm:spPr/>
    </dgm:pt>
    <dgm:pt modelId="{33E3D091-0F1F-4AD1-9244-AF479C03FFCB}" type="pres">
      <dgm:prSet presAssocID="{396139CA-4DC3-48EA-8CBA-B1D44B8C690F}" presName="negativeSpace" presStyleCnt="0"/>
      <dgm:spPr/>
    </dgm:pt>
    <dgm:pt modelId="{E312D576-2262-4902-9BB8-7378FCFD3F79}" type="pres">
      <dgm:prSet presAssocID="{396139CA-4DC3-48EA-8CBA-B1D44B8C690F}" presName="childText" presStyleLbl="conFgAcc1" presStyleIdx="0" presStyleCnt="2" custScaleY="116928" custLinFactNeighborX="4" custLinFactNeighborY="-5390">
        <dgm:presLayoutVars>
          <dgm:bulletEnabled val="1"/>
        </dgm:presLayoutVars>
      </dgm:prSet>
      <dgm:spPr/>
    </dgm:pt>
    <dgm:pt modelId="{FFE15786-8A0D-4C7A-BEFF-0A1922236FC7}" type="pres">
      <dgm:prSet presAssocID="{47620660-F6FA-4B08-8C3A-723AD425FCDA}" presName="spaceBetweenRectangles" presStyleCnt="0"/>
      <dgm:spPr/>
    </dgm:pt>
    <dgm:pt modelId="{631A932B-AD3F-4429-B224-2EA951F396FE}" type="pres">
      <dgm:prSet presAssocID="{46A9294B-E955-4C66-AD7A-00C623529141}" presName="parentLin" presStyleCnt="0"/>
      <dgm:spPr/>
    </dgm:pt>
    <dgm:pt modelId="{5F222D84-7399-4696-AF3C-EA782BD12598}" type="pres">
      <dgm:prSet presAssocID="{46A9294B-E955-4C66-AD7A-00C623529141}" presName="parentLeftMargin" presStyleLbl="node1" presStyleIdx="0" presStyleCnt="2"/>
      <dgm:spPr/>
    </dgm:pt>
    <dgm:pt modelId="{DBB2BA91-92B9-4D59-9135-38B4B0DBFBFE}" type="pres">
      <dgm:prSet presAssocID="{46A9294B-E955-4C66-AD7A-00C623529141}" presName="parentText" presStyleLbl="node1" presStyleIdx="1" presStyleCnt="2" custScaleY="81813">
        <dgm:presLayoutVars>
          <dgm:chMax val="0"/>
          <dgm:bulletEnabled val="1"/>
        </dgm:presLayoutVars>
      </dgm:prSet>
      <dgm:spPr/>
    </dgm:pt>
    <dgm:pt modelId="{36D1AE16-5482-47F7-AF7E-D3B6ECEA8328}" type="pres">
      <dgm:prSet presAssocID="{46A9294B-E955-4C66-AD7A-00C623529141}" presName="negativeSpace" presStyleCnt="0"/>
      <dgm:spPr/>
    </dgm:pt>
    <dgm:pt modelId="{E9878A77-7479-4CA0-90B1-B049D97040E7}" type="pres">
      <dgm:prSet presAssocID="{46A9294B-E955-4C66-AD7A-00C623529141}" presName="childText" presStyleLbl="conFgAcc1" presStyleIdx="1" presStyleCnt="2">
        <dgm:presLayoutVars>
          <dgm:bulletEnabled val="1"/>
        </dgm:presLayoutVars>
      </dgm:prSet>
      <dgm:spPr/>
    </dgm:pt>
  </dgm:ptLst>
  <dgm:cxnLst>
    <dgm:cxn modelId="{C9085010-FD0A-4E69-B78A-6AC5CF8BD346}" type="presOf" srcId="{46A9294B-E955-4C66-AD7A-00C623529141}" destId="{DBB2BA91-92B9-4D59-9135-38B4B0DBFBFE}" srcOrd="1" destOrd="0" presId="urn:microsoft.com/office/officeart/2005/8/layout/list1"/>
    <dgm:cxn modelId="{FCF5A112-E0EC-416E-AD14-955723583FB3}" type="presOf" srcId="{396139CA-4DC3-48EA-8CBA-B1D44B8C690F}" destId="{347990ED-8D0C-4161-B372-9B025C95341E}" srcOrd="0" destOrd="0" presId="urn:microsoft.com/office/officeart/2005/8/layout/list1"/>
    <dgm:cxn modelId="{F2C4C016-7F75-4ECD-80CD-2668E6BD8BBA}" srcId="{46A9294B-E955-4C66-AD7A-00C623529141}" destId="{D208A884-4972-428C-87E9-1FEFBCFD78E8}" srcOrd="1" destOrd="0" parTransId="{39F39A08-CAA3-43E1-85FD-85F47E42AEAA}" sibTransId="{4D638877-44CF-4CBA-B544-A06FA357E517}"/>
    <dgm:cxn modelId="{AE744C34-49BA-49BD-A147-D9085358F35B}" srcId="{396139CA-4DC3-48EA-8CBA-B1D44B8C690F}" destId="{0FEB305D-9D3D-40E3-9B11-D606B5B4CFC5}" srcOrd="0" destOrd="0" parTransId="{269C29B0-D780-4FA6-ABA5-2BC3D53DAB53}" sibTransId="{7C8A264C-B2B5-4262-8EF8-FEDC94D8C42F}"/>
    <dgm:cxn modelId="{B18F193B-40D0-4EE1-B589-7EEBB126A3FD}" srcId="{931EFFB9-BD04-49BD-9694-02B3F4A9B724}" destId="{396139CA-4DC3-48EA-8CBA-B1D44B8C690F}" srcOrd="0" destOrd="0" parTransId="{00854F48-D91F-47A1-A7C3-A30C6A2A49EE}" sibTransId="{47620660-F6FA-4B08-8C3A-723AD425FCDA}"/>
    <dgm:cxn modelId="{D1ECF65E-4864-404E-B14B-C021716D4D16}" type="presOf" srcId="{396139CA-4DC3-48EA-8CBA-B1D44B8C690F}" destId="{C08FE6A4-AFAA-401F-8788-5B2EF4404F28}" srcOrd="1" destOrd="0" presId="urn:microsoft.com/office/officeart/2005/8/layout/list1"/>
    <dgm:cxn modelId="{53BD0953-655C-4CFD-AE22-7F0C74A70F6A}" srcId="{46A9294B-E955-4C66-AD7A-00C623529141}" destId="{2B2C975A-7242-4C45-A126-4F76B97155E3}" srcOrd="0" destOrd="0" parTransId="{221732C5-2D94-4F66-9A46-D2BB7AA0761F}" sibTransId="{C3649512-A06A-403D-8C7F-5B13E93D71E4}"/>
    <dgm:cxn modelId="{7A888556-8DCA-4DE1-9B48-D71FA82572C9}" srcId="{396139CA-4DC3-48EA-8CBA-B1D44B8C690F}" destId="{41DB72D5-0608-4405-8BDA-8296837181C3}" srcOrd="1" destOrd="0" parTransId="{EA92B05B-5885-4B97-9A3B-A39350ADF86C}" sibTransId="{9C410335-0AE9-4981-9673-42C0647EEF3A}"/>
    <dgm:cxn modelId="{A309F978-F6B4-44F2-BD7D-05515C54CDB8}" srcId="{931EFFB9-BD04-49BD-9694-02B3F4A9B724}" destId="{46A9294B-E955-4C66-AD7A-00C623529141}" srcOrd="1" destOrd="0" parTransId="{FDD06839-9DBC-4ADE-8ECC-4C4F2CF9C7B1}" sibTransId="{556F560E-2545-477C-B18D-D4DD7C002CAD}"/>
    <dgm:cxn modelId="{85A63179-2C4D-4B5A-B8B8-6D4B50E77706}" type="presOf" srcId="{46A9294B-E955-4C66-AD7A-00C623529141}" destId="{5F222D84-7399-4696-AF3C-EA782BD12598}" srcOrd="0" destOrd="0" presId="urn:microsoft.com/office/officeart/2005/8/layout/list1"/>
    <dgm:cxn modelId="{3D30768F-26A0-4E63-B191-6DD3D105D187}" type="presOf" srcId="{2B2C975A-7242-4C45-A126-4F76B97155E3}" destId="{E9878A77-7479-4CA0-90B1-B049D97040E7}" srcOrd="0" destOrd="0" presId="urn:microsoft.com/office/officeart/2005/8/layout/list1"/>
    <dgm:cxn modelId="{BEC3459F-E3D0-43AA-A561-2CA7ACFF1F2B}" srcId="{46A9294B-E955-4C66-AD7A-00C623529141}" destId="{A2EABE70-F20C-4D5E-B872-62261A17B6E1}" srcOrd="2" destOrd="0" parTransId="{B51E411F-E4D7-414D-A372-CE2C1C6EC759}" sibTransId="{6429C9C6-D91C-4336-8896-164155541142}"/>
    <dgm:cxn modelId="{3D0CDABC-0EB9-4EEB-A3C5-0D5BDB491CC8}" type="presOf" srcId="{D208A884-4972-428C-87E9-1FEFBCFD78E8}" destId="{E9878A77-7479-4CA0-90B1-B049D97040E7}" srcOrd="0" destOrd="1" presId="urn:microsoft.com/office/officeart/2005/8/layout/list1"/>
    <dgm:cxn modelId="{E48481BF-C269-4933-9CC8-D567E2D70EC4}" type="presOf" srcId="{FE13A7D1-8BE0-4600-A07C-1E4FA338F393}" destId="{E9878A77-7479-4CA0-90B1-B049D97040E7}" srcOrd="0" destOrd="3" presId="urn:microsoft.com/office/officeart/2005/8/layout/list1"/>
    <dgm:cxn modelId="{A045A9CB-9067-411E-9C71-293D48576410}" srcId="{396139CA-4DC3-48EA-8CBA-B1D44B8C690F}" destId="{79A3B954-FE5C-4498-A719-7B9D01280AFF}" srcOrd="3" destOrd="0" parTransId="{36B6A614-54B4-4EF6-8F38-66EEE79FC7AD}" sibTransId="{F3A5CA85-A21C-44C8-A038-68AAAB88FEEA}"/>
    <dgm:cxn modelId="{4F6E04D0-E3E4-42E8-B100-0CEC8A543EDB}" srcId="{396139CA-4DC3-48EA-8CBA-B1D44B8C690F}" destId="{264E83FC-18B2-4CAA-A111-704B5434F0DB}" srcOrd="2" destOrd="0" parTransId="{7FE39A22-31B2-479E-A453-0043C9B46C21}" sibTransId="{EB0DB9DE-8DEA-4086-818E-6F520B63532B}"/>
    <dgm:cxn modelId="{0A70B6D1-C54D-4E04-9095-79EB027B6157}" type="presOf" srcId="{79A3B954-FE5C-4498-A719-7B9D01280AFF}" destId="{E312D576-2262-4902-9BB8-7378FCFD3F79}" srcOrd="0" destOrd="3" presId="urn:microsoft.com/office/officeart/2005/8/layout/list1"/>
    <dgm:cxn modelId="{4D5BFDD7-C076-46D7-826A-8FBD32F58503}" type="presOf" srcId="{A2EABE70-F20C-4D5E-B872-62261A17B6E1}" destId="{E9878A77-7479-4CA0-90B1-B049D97040E7}" srcOrd="0" destOrd="2" presId="urn:microsoft.com/office/officeart/2005/8/layout/list1"/>
    <dgm:cxn modelId="{B9E647DF-494E-4C3A-A4EF-B85E1B1121DC}" type="presOf" srcId="{264E83FC-18B2-4CAA-A111-704B5434F0DB}" destId="{E312D576-2262-4902-9BB8-7378FCFD3F79}" srcOrd="0" destOrd="2" presId="urn:microsoft.com/office/officeart/2005/8/layout/list1"/>
    <dgm:cxn modelId="{D858AEE1-888A-4A09-920E-E3EFE4A1C074}" type="presOf" srcId="{931EFFB9-BD04-49BD-9694-02B3F4A9B724}" destId="{447DD49A-06A4-4E6D-8A8C-3BCE2337070F}" srcOrd="0" destOrd="0" presId="urn:microsoft.com/office/officeart/2005/8/layout/list1"/>
    <dgm:cxn modelId="{FD7015E5-770B-4F75-A9C3-F5570AB768EC}" type="presOf" srcId="{0FEB305D-9D3D-40E3-9B11-D606B5B4CFC5}" destId="{E312D576-2262-4902-9BB8-7378FCFD3F79}" srcOrd="0" destOrd="0" presId="urn:microsoft.com/office/officeart/2005/8/layout/list1"/>
    <dgm:cxn modelId="{F280E2E7-C2D2-4CBB-B774-8EBEDC350427}" type="presOf" srcId="{41DB72D5-0608-4405-8BDA-8296837181C3}" destId="{E312D576-2262-4902-9BB8-7378FCFD3F79}" srcOrd="0" destOrd="1" presId="urn:microsoft.com/office/officeart/2005/8/layout/list1"/>
    <dgm:cxn modelId="{3C605CEF-90EE-45D7-A69B-29DC5F765DDC}" srcId="{46A9294B-E955-4C66-AD7A-00C623529141}" destId="{FE13A7D1-8BE0-4600-A07C-1E4FA338F393}" srcOrd="3" destOrd="0" parTransId="{C1A684C5-082D-4902-A2DD-CF51CDB93726}" sibTransId="{EFF789DD-3098-43D1-8D79-5995B9234492}"/>
    <dgm:cxn modelId="{0454CE2D-C9BC-4BE9-ABCA-9CBEE81DEA32}" type="presParOf" srcId="{447DD49A-06A4-4E6D-8A8C-3BCE2337070F}" destId="{7ADD2E8F-30C1-42D1-ACE9-C545D2B2866D}" srcOrd="0" destOrd="0" presId="urn:microsoft.com/office/officeart/2005/8/layout/list1"/>
    <dgm:cxn modelId="{8D86E326-658F-4B92-87FC-D5DE2E8AC35E}" type="presParOf" srcId="{7ADD2E8F-30C1-42D1-ACE9-C545D2B2866D}" destId="{347990ED-8D0C-4161-B372-9B025C95341E}" srcOrd="0" destOrd="0" presId="urn:microsoft.com/office/officeart/2005/8/layout/list1"/>
    <dgm:cxn modelId="{ACE9C12D-09CB-4213-9B8D-B1C965B3D280}" type="presParOf" srcId="{7ADD2E8F-30C1-42D1-ACE9-C545D2B2866D}" destId="{C08FE6A4-AFAA-401F-8788-5B2EF4404F28}" srcOrd="1" destOrd="0" presId="urn:microsoft.com/office/officeart/2005/8/layout/list1"/>
    <dgm:cxn modelId="{AFC95DF0-129F-4D85-B26E-7912580A80F8}" type="presParOf" srcId="{447DD49A-06A4-4E6D-8A8C-3BCE2337070F}" destId="{33E3D091-0F1F-4AD1-9244-AF479C03FFCB}" srcOrd="1" destOrd="0" presId="urn:microsoft.com/office/officeart/2005/8/layout/list1"/>
    <dgm:cxn modelId="{A492B2A8-8B18-4299-A7DA-002C1F1931BD}" type="presParOf" srcId="{447DD49A-06A4-4E6D-8A8C-3BCE2337070F}" destId="{E312D576-2262-4902-9BB8-7378FCFD3F79}" srcOrd="2" destOrd="0" presId="urn:microsoft.com/office/officeart/2005/8/layout/list1"/>
    <dgm:cxn modelId="{210CC30D-B3DC-4C69-B04D-98320E47B4CD}" type="presParOf" srcId="{447DD49A-06A4-4E6D-8A8C-3BCE2337070F}" destId="{FFE15786-8A0D-4C7A-BEFF-0A1922236FC7}" srcOrd="3" destOrd="0" presId="urn:microsoft.com/office/officeart/2005/8/layout/list1"/>
    <dgm:cxn modelId="{12E27C0B-7FCD-4E88-8423-5C08940CE565}" type="presParOf" srcId="{447DD49A-06A4-4E6D-8A8C-3BCE2337070F}" destId="{631A932B-AD3F-4429-B224-2EA951F396FE}" srcOrd="4" destOrd="0" presId="urn:microsoft.com/office/officeart/2005/8/layout/list1"/>
    <dgm:cxn modelId="{688B9CE1-7CA6-4919-93D7-44FEE195F7B7}" type="presParOf" srcId="{631A932B-AD3F-4429-B224-2EA951F396FE}" destId="{5F222D84-7399-4696-AF3C-EA782BD12598}" srcOrd="0" destOrd="0" presId="urn:microsoft.com/office/officeart/2005/8/layout/list1"/>
    <dgm:cxn modelId="{3FACF7CA-115D-4C04-B955-775CA2AF6F40}" type="presParOf" srcId="{631A932B-AD3F-4429-B224-2EA951F396FE}" destId="{DBB2BA91-92B9-4D59-9135-38B4B0DBFBFE}" srcOrd="1" destOrd="0" presId="urn:microsoft.com/office/officeart/2005/8/layout/list1"/>
    <dgm:cxn modelId="{88F463C2-AE35-4493-B24B-564A80CD3C77}" type="presParOf" srcId="{447DD49A-06A4-4E6D-8A8C-3BCE2337070F}" destId="{36D1AE16-5482-47F7-AF7E-D3B6ECEA8328}" srcOrd="5" destOrd="0" presId="urn:microsoft.com/office/officeart/2005/8/layout/list1"/>
    <dgm:cxn modelId="{5CB9CF38-103C-4B4B-8256-04385B0C5CF5}" type="presParOf" srcId="{447DD49A-06A4-4E6D-8A8C-3BCE2337070F}" destId="{E9878A77-7479-4CA0-90B1-B049D97040E7}"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2D576-2262-4902-9BB8-7378FCFD3F79}">
      <dsp:nvSpPr>
        <dsp:cNvPr id="0" name=""/>
        <dsp:cNvSpPr/>
      </dsp:nvSpPr>
      <dsp:spPr>
        <a:xfrm>
          <a:off x="0" y="313520"/>
          <a:ext cx="8423275" cy="1414361"/>
        </a:xfrm>
        <a:prstGeom prst="rect">
          <a:avLst/>
        </a:prstGeom>
        <a:solidFill>
          <a:schemeClr val="lt1">
            <a:alpha val="90000"/>
            <a:hueOff val="0"/>
            <a:satOff val="0"/>
            <a:lumOff val="0"/>
            <a:alphaOff val="0"/>
          </a:schemeClr>
        </a:solidFill>
        <a:ln w="25400" cap="flat" cmpd="sng" algn="ctr">
          <a:solidFill>
            <a:schemeClr val="accent5"/>
          </a:solidFill>
          <a:prstDash val="solid"/>
        </a:ln>
        <a:effectLst/>
      </dsp:spPr>
      <dsp:style>
        <a:lnRef idx="2">
          <a:scrgbClr r="0" g="0" b="0"/>
        </a:lnRef>
        <a:fillRef idx="1">
          <a:scrgbClr r="0" g="0" b="0"/>
        </a:fillRef>
        <a:effectRef idx="0">
          <a:scrgbClr r="0" g="0" b="0"/>
        </a:effectRef>
        <a:fontRef idx="minor"/>
      </dsp:style>
      <dsp:txBody>
        <a:bodyPr spcFirstLastPara="0" vert="horz" wrap="square" lIns="653740" tIns="249936" rIns="653740" bIns="85344" numCol="1" spcCol="1270" anchor="t" anchorCtr="0">
          <a:noAutofit/>
        </a:bodyPr>
        <a:lstStyle/>
        <a:p>
          <a:pPr marL="114300" lvl="1" indent="-114300" algn="l" defTabSz="533400">
            <a:lnSpc>
              <a:spcPct val="90000"/>
            </a:lnSpc>
            <a:spcBef>
              <a:spcPct val="0"/>
            </a:spcBef>
            <a:spcAft>
              <a:spcPct val="15000"/>
            </a:spcAft>
            <a:buChar char="•"/>
          </a:pPr>
          <a:r>
            <a:rPr lang="en-GB" sz="1200" kern="1200"/>
            <a:t>Missing data can introduce bias.</a:t>
          </a:r>
        </a:p>
        <a:p>
          <a:pPr marL="114300" lvl="1" indent="-114300" algn="l" defTabSz="533400">
            <a:lnSpc>
              <a:spcPct val="90000"/>
            </a:lnSpc>
            <a:spcBef>
              <a:spcPct val="0"/>
            </a:spcBef>
            <a:spcAft>
              <a:spcPct val="15000"/>
            </a:spcAft>
            <a:buChar char="•"/>
          </a:pPr>
          <a:r>
            <a:rPr lang="en-GB" sz="1200" kern="1200"/>
            <a:t>Missing data is a reality of clinical research. We need to be aware of it and its potential to bias our inferences. </a:t>
          </a:r>
        </a:p>
        <a:p>
          <a:pPr marL="114300" lvl="1" indent="-114300" algn="l" defTabSz="533400">
            <a:lnSpc>
              <a:spcPct val="90000"/>
            </a:lnSpc>
            <a:spcBef>
              <a:spcPct val="0"/>
            </a:spcBef>
            <a:spcAft>
              <a:spcPct val="15000"/>
            </a:spcAft>
            <a:buChar char="•"/>
          </a:pPr>
          <a:r>
            <a:rPr lang="en-GB" sz="1200" kern="1200"/>
            <a:t>Be clear about how it should be handled and understand the implications of this.</a:t>
          </a:r>
        </a:p>
        <a:p>
          <a:pPr marL="114300" lvl="1" indent="-114300" algn="l" defTabSz="533400">
            <a:lnSpc>
              <a:spcPct val="90000"/>
            </a:lnSpc>
            <a:spcBef>
              <a:spcPct val="0"/>
            </a:spcBef>
            <a:spcAft>
              <a:spcPct val="15000"/>
            </a:spcAft>
            <a:buChar char="•"/>
          </a:pPr>
          <a:r>
            <a:rPr lang="en-GB" sz="1200" kern="1200"/>
            <a:t>Prevention is the first step to cure - plan trials in such a way to minimise missing data.</a:t>
          </a:r>
        </a:p>
      </dsp:txBody>
      <dsp:txXfrm>
        <a:off x="0" y="313520"/>
        <a:ext cx="8423275" cy="1414361"/>
      </dsp:txXfrm>
    </dsp:sp>
    <dsp:sp modelId="{C08FE6A4-AFAA-401F-8788-5B2EF4404F28}">
      <dsp:nvSpPr>
        <dsp:cNvPr id="0" name=""/>
        <dsp:cNvSpPr/>
      </dsp:nvSpPr>
      <dsp:spPr>
        <a:xfrm>
          <a:off x="421163" y="204319"/>
          <a:ext cx="6361451" cy="289814"/>
        </a:xfrm>
        <a:prstGeom prst="roundRect">
          <a:avLst/>
        </a:prstGeom>
        <a:solidFill>
          <a:srgbClr val="40488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866" tIns="0" rIns="222866" bIns="0" numCol="1" spcCol="1270" anchor="ctr" anchorCtr="0">
          <a:noAutofit/>
        </a:bodyPr>
        <a:lstStyle/>
        <a:p>
          <a:pPr marL="0" lvl="0" indent="0" algn="l" defTabSz="800100">
            <a:lnSpc>
              <a:spcPct val="90000"/>
            </a:lnSpc>
            <a:spcBef>
              <a:spcPct val="0"/>
            </a:spcBef>
            <a:spcAft>
              <a:spcPct val="35000"/>
            </a:spcAft>
            <a:buNone/>
          </a:pPr>
          <a:r>
            <a:rPr lang="en-GB" sz="1800" kern="1200"/>
            <a:t>Missing Data</a:t>
          </a:r>
        </a:p>
      </dsp:txBody>
      <dsp:txXfrm>
        <a:off x="435311" y="218467"/>
        <a:ext cx="6333155" cy="261518"/>
      </dsp:txXfrm>
    </dsp:sp>
    <dsp:sp modelId="{E9878A77-7479-4CA0-90B1-B049D97040E7}">
      <dsp:nvSpPr>
        <dsp:cNvPr id="0" name=""/>
        <dsp:cNvSpPr/>
      </dsp:nvSpPr>
      <dsp:spPr>
        <a:xfrm>
          <a:off x="0" y="1908868"/>
          <a:ext cx="8423275" cy="1398600"/>
        </a:xfrm>
        <a:prstGeom prst="rect">
          <a:avLst/>
        </a:prstGeom>
        <a:solidFill>
          <a:schemeClr val="lt1">
            <a:alpha val="90000"/>
            <a:hueOff val="0"/>
            <a:satOff val="0"/>
            <a:lumOff val="0"/>
            <a:alphaOff val="0"/>
          </a:schemeClr>
        </a:solidFill>
        <a:ln w="25400" cap="flat" cmpd="sng" algn="ctr">
          <a:solidFill>
            <a:schemeClr val="bg2"/>
          </a:solidFill>
          <a:prstDash val="solid"/>
        </a:ln>
        <a:effectLst/>
      </dsp:spPr>
      <dsp:style>
        <a:lnRef idx="2">
          <a:scrgbClr r="0" g="0" b="0"/>
        </a:lnRef>
        <a:fillRef idx="1">
          <a:scrgbClr r="0" g="0" b="0"/>
        </a:fillRef>
        <a:effectRef idx="0">
          <a:scrgbClr r="0" g="0" b="0"/>
        </a:effectRef>
        <a:fontRef idx="minor"/>
      </dsp:style>
      <dsp:txBody>
        <a:bodyPr spcFirstLastPara="0" vert="horz" wrap="square" lIns="653740" tIns="249936" rIns="653740" bIns="85344" numCol="1" spcCol="1270" anchor="t" anchorCtr="0">
          <a:noAutofit/>
        </a:bodyPr>
        <a:lstStyle/>
        <a:p>
          <a:pPr marL="114300" lvl="1" indent="-114300" algn="l" defTabSz="533400">
            <a:lnSpc>
              <a:spcPct val="90000"/>
            </a:lnSpc>
            <a:spcBef>
              <a:spcPct val="0"/>
            </a:spcBef>
            <a:spcAft>
              <a:spcPct val="15000"/>
            </a:spcAft>
            <a:buChar char="•"/>
          </a:pPr>
          <a:r>
            <a:rPr lang="en-GB" sz="1200" b="0" i="0" kern="1200">
              <a:solidFill>
                <a:schemeClr val="tx1"/>
              </a:solidFill>
              <a:effectLst/>
              <a:latin typeface="+mn-lt"/>
              <a:ea typeface="+mn-ea"/>
              <a:cs typeface="+mn-cs"/>
            </a:rPr>
            <a:t>Be aware of discontinuation rates in studies, and whether they are balanced across treatment groups.</a:t>
          </a:r>
          <a:endParaRPr lang="en-GB" sz="1200" kern="1200"/>
        </a:p>
        <a:p>
          <a:pPr marL="114300" lvl="1" indent="-114300" algn="l" defTabSz="533400">
            <a:lnSpc>
              <a:spcPct val="90000"/>
            </a:lnSpc>
            <a:spcBef>
              <a:spcPct val="0"/>
            </a:spcBef>
            <a:spcAft>
              <a:spcPct val="15000"/>
            </a:spcAft>
            <a:buChar char="•"/>
          </a:pPr>
          <a:r>
            <a:rPr lang="en-GB" sz="1200" kern="1200"/>
            <a:t>If results are “borderline” statistically significant (i.e. p-value is close to 0.05), consider how missing data has been handled and whether sensitivity analyses have been performed.</a:t>
          </a:r>
        </a:p>
        <a:p>
          <a:pPr marL="114300" lvl="1" indent="-114300" algn="l" defTabSz="533400">
            <a:lnSpc>
              <a:spcPct val="90000"/>
            </a:lnSpc>
            <a:spcBef>
              <a:spcPct val="0"/>
            </a:spcBef>
            <a:spcAft>
              <a:spcPct val="15000"/>
            </a:spcAft>
            <a:buChar char="•"/>
          </a:pPr>
          <a:r>
            <a:rPr lang="en-GB" sz="1200" kern="1200"/>
            <a:t>Consider what assumptions would be reasonable for subjects who stop taking treatment. Be involved in this discussion in protocol development.</a:t>
          </a:r>
        </a:p>
        <a:p>
          <a:pPr marL="114300" lvl="1" indent="-114300" algn="l" defTabSz="533400">
            <a:lnSpc>
              <a:spcPct val="90000"/>
            </a:lnSpc>
            <a:spcBef>
              <a:spcPct val="0"/>
            </a:spcBef>
            <a:spcAft>
              <a:spcPct val="15000"/>
            </a:spcAft>
            <a:buChar char="•"/>
          </a:pPr>
          <a:r>
            <a:rPr lang="en-GB" sz="1200" kern="1200">
              <a:solidFill>
                <a:schemeClr val="bg2"/>
              </a:solidFill>
            </a:rPr>
            <a:t>If in doubt: Talk to your Statistician!</a:t>
          </a:r>
        </a:p>
      </dsp:txBody>
      <dsp:txXfrm>
        <a:off x="0" y="1908868"/>
        <a:ext cx="8423275" cy="1398600"/>
      </dsp:txXfrm>
    </dsp:sp>
    <dsp:sp modelId="{DBB2BA91-92B9-4D59-9135-38B4B0DBFBFE}">
      <dsp:nvSpPr>
        <dsp:cNvPr id="0" name=""/>
        <dsp:cNvSpPr/>
      </dsp:nvSpPr>
      <dsp:spPr>
        <a:xfrm>
          <a:off x="421163" y="1796174"/>
          <a:ext cx="5896292" cy="289814"/>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866" tIns="0" rIns="222866" bIns="0" numCol="1" spcCol="1270" anchor="ctr" anchorCtr="0">
          <a:noAutofit/>
        </a:bodyPr>
        <a:lstStyle/>
        <a:p>
          <a:pPr marL="0" lvl="0" indent="0" algn="l" defTabSz="800100">
            <a:lnSpc>
              <a:spcPct val="90000"/>
            </a:lnSpc>
            <a:spcBef>
              <a:spcPct val="0"/>
            </a:spcBef>
            <a:spcAft>
              <a:spcPct val="35000"/>
            </a:spcAft>
            <a:buNone/>
          </a:pPr>
          <a:r>
            <a:rPr lang="en-GB" sz="1800" kern="1200"/>
            <a:t>What do you need to do?</a:t>
          </a:r>
        </a:p>
      </dsp:txBody>
      <dsp:txXfrm>
        <a:off x="435311" y="1810322"/>
        <a:ext cx="5867996" cy="26151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5240" cy="45235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9109" y="0"/>
            <a:ext cx="2975240" cy="452358"/>
          </a:xfrm>
          <a:prstGeom prst="rect">
            <a:avLst/>
          </a:prstGeom>
        </p:spPr>
        <p:txBody>
          <a:bodyPr vert="horz" lIns="91440" tIns="45720" rIns="91440" bIns="45720" rtlCol="0"/>
          <a:lstStyle>
            <a:lvl1pPr algn="r">
              <a:defRPr sz="1200"/>
            </a:lvl1pPr>
          </a:lstStyle>
          <a:p>
            <a:fld id="{050A8971-52B8-4C5A-99D8-986A596F2912}" type="datetimeFigureOut">
              <a:rPr lang="en-GB" smtClean="0"/>
              <a:pPr/>
              <a:t>27/11/2025</a:t>
            </a:fld>
            <a:endParaRPr lang="en-GB"/>
          </a:p>
        </p:txBody>
      </p:sp>
      <p:sp>
        <p:nvSpPr>
          <p:cNvPr id="4" name="Slide Image Placeholder 3"/>
          <p:cNvSpPr>
            <a:spLocks noGrp="1" noRot="1" noChangeAspect="1"/>
          </p:cNvSpPr>
          <p:nvPr>
            <p:ph type="sldImg" idx="2"/>
          </p:nvPr>
        </p:nvSpPr>
        <p:spPr>
          <a:xfrm>
            <a:off x="415925" y="677863"/>
            <a:ext cx="6034088" cy="33940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6594" y="4297403"/>
            <a:ext cx="5492750" cy="407122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593235"/>
            <a:ext cx="2975240" cy="45235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9109" y="8593235"/>
            <a:ext cx="2975240" cy="452358"/>
          </a:xfrm>
          <a:prstGeom prst="rect">
            <a:avLst/>
          </a:prstGeom>
        </p:spPr>
        <p:txBody>
          <a:bodyPr vert="horz" lIns="91440" tIns="45720" rIns="91440" bIns="45720" rtlCol="0" anchor="b"/>
          <a:lstStyle>
            <a:lvl1pPr algn="r">
              <a:defRPr sz="1200"/>
            </a:lvl1pPr>
          </a:lstStyle>
          <a:p>
            <a:fld id="{026B53C8-14E4-49A7-A1A5-3BF810B81EBE}" type="slidenum">
              <a:rPr lang="en-GB" smtClean="0"/>
              <a:pPr/>
              <a:t>‹#›</a:t>
            </a:fld>
            <a:endParaRPr lang="en-GB"/>
          </a:p>
        </p:txBody>
      </p:sp>
    </p:spTree>
    <p:extLst>
      <p:ext uri="{BB962C8B-B14F-4D97-AF65-F5344CB8AC3E}">
        <p14:creationId xmlns:p14="http://schemas.microsoft.com/office/powerpoint/2010/main" val="4209032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a:t>
            </a:fld>
            <a:endParaRPr lang="en-GB"/>
          </a:p>
        </p:txBody>
      </p:sp>
    </p:spTree>
    <p:extLst>
      <p:ext uri="{BB962C8B-B14F-4D97-AF65-F5344CB8AC3E}">
        <p14:creationId xmlns:p14="http://schemas.microsoft.com/office/powerpoint/2010/main" val="1807515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2</a:t>
            </a:fld>
            <a:endParaRPr lang="en-GB"/>
          </a:p>
        </p:txBody>
      </p:sp>
    </p:spTree>
    <p:extLst>
      <p:ext uri="{BB962C8B-B14F-4D97-AF65-F5344CB8AC3E}">
        <p14:creationId xmlns:p14="http://schemas.microsoft.com/office/powerpoint/2010/main" val="1497290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3</a:t>
            </a:fld>
            <a:endParaRPr lang="en-GB"/>
          </a:p>
        </p:txBody>
      </p:sp>
    </p:spTree>
    <p:extLst>
      <p:ext uri="{BB962C8B-B14F-4D97-AF65-F5344CB8AC3E}">
        <p14:creationId xmlns:p14="http://schemas.microsoft.com/office/powerpoint/2010/main" val="1694052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4783">
              <a:defRPr/>
            </a:pPr>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4</a:t>
            </a:fld>
            <a:endParaRPr lang="en-GB"/>
          </a:p>
        </p:txBody>
      </p:sp>
    </p:spTree>
    <p:extLst>
      <p:ext uri="{BB962C8B-B14F-4D97-AF65-F5344CB8AC3E}">
        <p14:creationId xmlns:p14="http://schemas.microsoft.com/office/powerpoint/2010/main" val="848701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5</a:t>
            </a:fld>
            <a:endParaRPr lang="en-GB"/>
          </a:p>
        </p:txBody>
      </p:sp>
    </p:spTree>
    <p:extLst>
      <p:ext uri="{BB962C8B-B14F-4D97-AF65-F5344CB8AC3E}">
        <p14:creationId xmlns:p14="http://schemas.microsoft.com/office/powerpoint/2010/main" val="4014199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6</a:t>
            </a:fld>
            <a:endParaRPr lang="en-GB"/>
          </a:p>
        </p:txBody>
      </p:sp>
    </p:spTree>
    <p:extLst>
      <p:ext uri="{BB962C8B-B14F-4D97-AF65-F5344CB8AC3E}">
        <p14:creationId xmlns:p14="http://schemas.microsoft.com/office/powerpoint/2010/main" val="659241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7</a:t>
            </a:fld>
            <a:endParaRPr lang="en-GB"/>
          </a:p>
        </p:txBody>
      </p:sp>
    </p:spTree>
    <p:extLst>
      <p:ext uri="{BB962C8B-B14F-4D97-AF65-F5344CB8AC3E}">
        <p14:creationId xmlns:p14="http://schemas.microsoft.com/office/powerpoint/2010/main" val="2950352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8</a:t>
            </a:fld>
            <a:endParaRPr lang="en-GB"/>
          </a:p>
        </p:txBody>
      </p:sp>
    </p:spTree>
    <p:extLst>
      <p:ext uri="{BB962C8B-B14F-4D97-AF65-F5344CB8AC3E}">
        <p14:creationId xmlns:p14="http://schemas.microsoft.com/office/powerpoint/2010/main" val="1243373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9</a:t>
            </a:fld>
            <a:endParaRPr lang="en-GB"/>
          </a:p>
        </p:txBody>
      </p:sp>
    </p:spTree>
    <p:extLst>
      <p:ext uri="{BB962C8B-B14F-4D97-AF65-F5344CB8AC3E}">
        <p14:creationId xmlns:p14="http://schemas.microsoft.com/office/powerpoint/2010/main" val="1118706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10</a:t>
            </a:fld>
            <a:endParaRPr lang="en-GB"/>
          </a:p>
        </p:txBody>
      </p:sp>
    </p:spTree>
    <p:extLst>
      <p:ext uri="{BB962C8B-B14F-4D97-AF65-F5344CB8AC3E}">
        <p14:creationId xmlns:p14="http://schemas.microsoft.com/office/powerpoint/2010/main" val="4272608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11</a:t>
            </a:fld>
            <a:endParaRPr lang="en-GB"/>
          </a:p>
        </p:txBody>
      </p:sp>
    </p:spTree>
    <p:extLst>
      <p:ext uri="{BB962C8B-B14F-4D97-AF65-F5344CB8AC3E}">
        <p14:creationId xmlns:p14="http://schemas.microsoft.com/office/powerpoint/2010/main" val="2185725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12</a:t>
            </a:fld>
            <a:endParaRPr lang="en-GB"/>
          </a:p>
        </p:txBody>
      </p:sp>
    </p:spTree>
    <p:extLst>
      <p:ext uri="{BB962C8B-B14F-4D97-AF65-F5344CB8AC3E}">
        <p14:creationId xmlns:p14="http://schemas.microsoft.com/office/powerpoint/2010/main" val="3535530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13</a:t>
            </a:fld>
            <a:endParaRPr lang="en-GB"/>
          </a:p>
        </p:txBody>
      </p:sp>
    </p:spTree>
    <p:extLst>
      <p:ext uri="{BB962C8B-B14F-4D97-AF65-F5344CB8AC3E}">
        <p14:creationId xmlns:p14="http://schemas.microsoft.com/office/powerpoint/2010/main" val="11449562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GB"/>
          </a:p>
        </p:txBody>
      </p:sp>
      <p:sp>
        <p:nvSpPr>
          <p:cNvPr id="4" name="Slide Number Placeholder 3"/>
          <p:cNvSpPr>
            <a:spLocks noGrp="1"/>
          </p:cNvSpPr>
          <p:nvPr>
            <p:ph type="sldNum" sz="quarter" idx="10"/>
          </p:nvPr>
        </p:nvSpPr>
        <p:spPr/>
        <p:txBody>
          <a:bodyPr/>
          <a:lstStyle/>
          <a:p>
            <a:fld id="{026B53C8-14E4-49A7-A1A5-3BF810B81EBE}" type="slidenum">
              <a:rPr lang="en-GB" smtClean="0"/>
              <a:pPr/>
              <a:t>14</a:t>
            </a:fld>
            <a:endParaRPr lang="en-GB"/>
          </a:p>
        </p:txBody>
      </p:sp>
    </p:spTree>
    <p:extLst>
      <p:ext uri="{BB962C8B-B14F-4D97-AF65-F5344CB8AC3E}">
        <p14:creationId xmlns:p14="http://schemas.microsoft.com/office/powerpoint/2010/main" val="1925658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15</a:t>
            </a:fld>
            <a:endParaRPr lang="en-GB"/>
          </a:p>
        </p:txBody>
      </p:sp>
    </p:spTree>
    <p:extLst>
      <p:ext uri="{BB962C8B-B14F-4D97-AF65-F5344CB8AC3E}">
        <p14:creationId xmlns:p14="http://schemas.microsoft.com/office/powerpoint/2010/main" val="4119675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16</a:t>
            </a:fld>
            <a:endParaRPr lang="en-GB"/>
          </a:p>
        </p:txBody>
      </p:sp>
    </p:spTree>
    <p:extLst>
      <p:ext uri="{BB962C8B-B14F-4D97-AF65-F5344CB8AC3E}">
        <p14:creationId xmlns:p14="http://schemas.microsoft.com/office/powerpoint/2010/main" val="33923933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6B53C8-14E4-49A7-A1A5-3BF810B81EBE}" type="slidenum">
              <a:rPr lang="en-GB" smtClean="0"/>
              <a:pPr/>
              <a:t>17</a:t>
            </a:fld>
            <a:endParaRPr lang="en-GB"/>
          </a:p>
        </p:txBody>
      </p:sp>
    </p:spTree>
    <p:extLst>
      <p:ext uri="{BB962C8B-B14F-4D97-AF65-F5344CB8AC3E}">
        <p14:creationId xmlns:p14="http://schemas.microsoft.com/office/powerpoint/2010/main" val="9149314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6B53C8-14E4-49A7-A1A5-3BF810B81EBE}" type="slidenum">
              <a:rPr lang="en-GB" smtClean="0"/>
              <a:pPr/>
              <a:t>18</a:t>
            </a:fld>
            <a:endParaRPr lang="en-GB"/>
          </a:p>
        </p:txBody>
      </p:sp>
    </p:spTree>
    <p:extLst>
      <p:ext uri="{BB962C8B-B14F-4D97-AF65-F5344CB8AC3E}">
        <p14:creationId xmlns:p14="http://schemas.microsoft.com/office/powerpoint/2010/main" val="5753445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4783"/>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19</a:t>
            </a:fld>
            <a:endParaRPr lang="en-GB"/>
          </a:p>
        </p:txBody>
      </p:sp>
    </p:spTree>
    <p:extLst>
      <p:ext uri="{BB962C8B-B14F-4D97-AF65-F5344CB8AC3E}">
        <p14:creationId xmlns:p14="http://schemas.microsoft.com/office/powerpoint/2010/main" val="4088304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20</a:t>
            </a:fld>
            <a:endParaRPr lang="en-GB"/>
          </a:p>
        </p:txBody>
      </p:sp>
    </p:spTree>
    <p:extLst>
      <p:ext uri="{BB962C8B-B14F-4D97-AF65-F5344CB8AC3E}">
        <p14:creationId xmlns:p14="http://schemas.microsoft.com/office/powerpoint/2010/main" val="1980350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21</a:t>
            </a:fld>
            <a:endParaRPr lang="en-GB"/>
          </a:p>
        </p:txBody>
      </p:sp>
    </p:spTree>
    <p:extLst>
      <p:ext uri="{BB962C8B-B14F-4D97-AF65-F5344CB8AC3E}">
        <p14:creationId xmlns:p14="http://schemas.microsoft.com/office/powerpoint/2010/main" val="1507093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26B53C8-14E4-49A7-A1A5-3BF810B81EBE}" type="slidenum">
              <a:rPr lang="en-GB" smtClean="0"/>
              <a:pPr/>
              <a:t>22</a:t>
            </a:fld>
            <a:endParaRPr lang="en-GB"/>
          </a:p>
        </p:txBody>
      </p:sp>
    </p:spTree>
    <p:extLst>
      <p:ext uri="{BB962C8B-B14F-4D97-AF65-F5344CB8AC3E}">
        <p14:creationId xmlns:p14="http://schemas.microsoft.com/office/powerpoint/2010/main" val="14337479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Blank">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34"/>
          <a:stretch/>
        </p:blipFill>
        <p:spPr>
          <a:xfrm>
            <a:off x="0" y="1065924"/>
            <a:ext cx="4102298" cy="3827396"/>
          </a:xfrm>
          <a:prstGeom prst="rect">
            <a:avLst/>
          </a:prstGeom>
        </p:spPr>
      </p:pic>
      <p:sp>
        <p:nvSpPr>
          <p:cNvPr id="17" name="Title 1"/>
          <p:cNvSpPr>
            <a:spLocks noGrp="1"/>
          </p:cNvSpPr>
          <p:nvPr>
            <p:ph type="ctrTitle" hasCustomPrompt="1"/>
          </p:nvPr>
        </p:nvSpPr>
        <p:spPr>
          <a:xfrm>
            <a:off x="296521" y="2068940"/>
            <a:ext cx="2876985" cy="1000274"/>
          </a:xfrm>
          <a:prstGeom prst="rect">
            <a:avLst/>
          </a:prstGeom>
        </p:spPr>
        <p:txBody>
          <a:bodyPr anchor="b" anchorCtr="0"/>
          <a:lstStyle>
            <a:lvl1pPr>
              <a:lnSpc>
                <a:spcPts val="2600"/>
              </a:lnSpc>
              <a:defRPr sz="2600">
                <a:solidFill>
                  <a:schemeClr val="bg1"/>
                </a:solidFill>
              </a:defRPr>
            </a:lvl1pPr>
          </a:lstStyle>
          <a:p>
            <a:r>
              <a:rPr lang="en-US"/>
              <a:t>Click to edit Master heading style</a:t>
            </a:r>
            <a:endParaRPr lang="en-GB"/>
          </a:p>
        </p:txBody>
      </p:sp>
      <p:sp>
        <p:nvSpPr>
          <p:cNvPr id="20" name="Subtitle 2"/>
          <p:cNvSpPr>
            <a:spLocks noGrp="1"/>
          </p:cNvSpPr>
          <p:nvPr>
            <p:ph type="subTitle" idx="1" hasCustomPrompt="1"/>
          </p:nvPr>
        </p:nvSpPr>
        <p:spPr>
          <a:xfrm>
            <a:off x="296521" y="3427589"/>
            <a:ext cx="2554256" cy="492443"/>
          </a:xfrm>
          <a:prstGeom prst="rect">
            <a:avLst/>
          </a:prstGeom>
        </p:spPr>
        <p:txBody>
          <a:bodyPr wrap="square" lIns="0" tIns="0" rIns="0" bIns="0" anchor="t" anchorCtr="0">
            <a:spAutoFit/>
          </a:bodyPr>
          <a:lstStyle>
            <a:lvl1pPr marL="0" indent="0" algn="l">
              <a:spcAft>
                <a:spcPts val="0"/>
              </a:spcAft>
              <a:buNone/>
              <a:defRPr i="0">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subheading</a:t>
            </a:r>
            <a:endParaRPr lang="en-GB"/>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87038" y="237109"/>
            <a:ext cx="1464646" cy="722376"/>
          </a:xfrm>
          <a:prstGeom prst="rect">
            <a:avLst/>
          </a:prstGeom>
        </p:spPr>
      </p:pic>
    </p:spTree>
    <p:extLst>
      <p:ext uri="{BB962C8B-B14F-4D97-AF65-F5344CB8AC3E}">
        <p14:creationId xmlns:p14="http://schemas.microsoft.com/office/powerpoint/2010/main" val="2016613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Text Only">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296520" y="2402365"/>
            <a:ext cx="5042395" cy="666849"/>
          </a:xfrm>
          <a:prstGeom prst="rect">
            <a:avLst/>
          </a:prstGeom>
        </p:spPr>
        <p:txBody>
          <a:bodyPr anchor="b" anchorCtr="0"/>
          <a:lstStyle>
            <a:lvl1pPr>
              <a:lnSpc>
                <a:spcPts val="2600"/>
              </a:lnSpc>
              <a:defRPr sz="2600">
                <a:solidFill>
                  <a:schemeClr val="bg2"/>
                </a:solidFill>
              </a:defRPr>
            </a:lvl1pPr>
          </a:lstStyle>
          <a:p>
            <a:r>
              <a:rPr lang="en-US"/>
              <a:t>Click to edit Master </a:t>
            </a:r>
            <a:br>
              <a:rPr lang="en-US"/>
            </a:br>
            <a:r>
              <a:rPr lang="en-US"/>
              <a:t>heading style</a:t>
            </a:r>
            <a:endParaRPr lang="en-GB"/>
          </a:p>
        </p:txBody>
      </p:sp>
      <p:sp>
        <p:nvSpPr>
          <p:cNvPr id="10" name="Subtitle 2"/>
          <p:cNvSpPr>
            <a:spLocks noGrp="1"/>
          </p:cNvSpPr>
          <p:nvPr>
            <p:ph type="subTitle" idx="1" hasCustomPrompt="1"/>
          </p:nvPr>
        </p:nvSpPr>
        <p:spPr>
          <a:xfrm>
            <a:off x="296520" y="3427590"/>
            <a:ext cx="5042395" cy="33855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subheading</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87038" y="237109"/>
            <a:ext cx="1464646" cy="722376"/>
          </a:xfrm>
          <a:prstGeom prst="rect">
            <a:avLst/>
          </a:prstGeom>
        </p:spPr>
      </p:pic>
    </p:spTree>
    <p:extLst>
      <p:ext uri="{BB962C8B-B14F-4D97-AF65-F5344CB8AC3E}">
        <p14:creationId xmlns:p14="http://schemas.microsoft.com/office/powerpoint/2010/main" val="2032220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Text and Table">
    <p:spTree>
      <p:nvGrpSpPr>
        <p:cNvPr id="1" name=""/>
        <p:cNvGrpSpPr/>
        <p:nvPr/>
      </p:nvGrpSpPr>
      <p:grpSpPr>
        <a:xfrm>
          <a:off x="0" y="0"/>
          <a:ext cx="0" cy="0"/>
          <a:chOff x="0" y="0"/>
          <a:chExt cx="0" cy="0"/>
        </a:xfrm>
      </p:grpSpPr>
      <p:sp>
        <p:nvSpPr>
          <p:cNvPr id="21" name="Title 1"/>
          <p:cNvSpPr>
            <a:spLocks noGrp="1"/>
          </p:cNvSpPr>
          <p:nvPr>
            <p:ph type="ctrTitle" hasCustomPrompt="1"/>
          </p:nvPr>
        </p:nvSpPr>
        <p:spPr>
          <a:xfrm>
            <a:off x="296521" y="1109709"/>
            <a:ext cx="5042394" cy="666849"/>
          </a:xfrm>
          <a:prstGeom prst="rect">
            <a:avLst/>
          </a:prstGeom>
        </p:spPr>
        <p:txBody>
          <a:bodyPr anchor="b" anchorCtr="0"/>
          <a:lstStyle>
            <a:lvl1pPr>
              <a:lnSpc>
                <a:spcPts val="2600"/>
              </a:lnSpc>
              <a:defRPr sz="2600">
                <a:solidFill>
                  <a:schemeClr val="bg2"/>
                </a:solidFill>
              </a:defRPr>
            </a:lvl1pPr>
          </a:lstStyle>
          <a:p>
            <a:r>
              <a:rPr lang="en-US"/>
              <a:t>Click to edit Master </a:t>
            </a:r>
            <a:br>
              <a:rPr lang="en-US"/>
            </a:br>
            <a:r>
              <a:rPr lang="en-US"/>
              <a:t>heading style</a:t>
            </a:r>
            <a:endParaRPr lang="en-GB"/>
          </a:p>
        </p:txBody>
      </p:sp>
      <p:sp>
        <p:nvSpPr>
          <p:cNvPr id="22" name="Subtitle 2"/>
          <p:cNvSpPr>
            <a:spLocks noGrp="1"/>
          </p:cNvSpPr>
          <p:nvPr>
            <p:ph type="subTitle" idx="1" hasCustomPrompt="1"/>
          </p:nvPr>
        </p:nvSpPr>
        <p:spPr>
          <a:xfrm>
            <a:off x="296520" y="2134932"/>
            <a:ext cx="5009911" cy="33855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subheading</a:t>
            </a: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87038" y="237109"/>
            <a:ext cx="1464646" cy="72237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359152" y="1192388"/>
            <a:ext cx="8423275" cy="3070050"/>
          </a:xfrm>
          <a:prstGeom prst="rect">
            <a:avLst/>
          </a:prstGeom>
        </p:spPr>
        <p:txBody>
          <a:bodyPr l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Text Placeholder 5"/>
          <p:cNvSpPr>
            <a:spLocks noGrp="1"/>
          </p:cNvSpPr>
          <p:nvPr>
            <p:ph type="body" sz="quarter" idx="18" hasCustomPrompt="1"/>
          </p:nvPr>
        </p:nvSpPr>
        <p:spPr>
          <a:xfrm>
            <a:off x="359152" y="4322020"/>
            <a:ext cx="8424000" cy="123111"/>
          </a:xfrm>
          <a:prstGeom prst="rect">
            <a:avLst/>
          </a:prstGeom>
        </p:spPr>
        <p:txBody>
          <a:bodyPr wrap="square"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4" name="Title 3"/>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7" name="Date Placeholder 6"/>
          <p:cNvSpPr>
            <a:spLocks noGrp="1"/>
          </p:cNvSpPr>
          <p:nvPr>
            <p:ph type="dt" sz="half" idx="19"/>
          </p:nvPr>
        </p:nvSpPr>
        <p:spPr/>
        <p:txBody>
          <a:bodyPr/>
          <a:lstStyle/>
          <a:p>
            <a:pPr algn="ctr"/>
            <a:r>
              <a:rPr lang="en-US"/>
              <a:t>Insert your date / confidentiality text here</a:t>
            </a:r>
            <a:endParaRPr lang="en-GB"/>
          </a:p>
        </p:txBody>
      </p:sp>
      <p:sp>
        <p:nvSpPr>
          <p:cNvPr id="9" name="Footer Placeholder 8"/>
          <p:cNvSpPr>
            <a:spLocks noGrp="1"/>
          </p:cNvSpPr>
          <p:nvPr>
            <p:ph type="ftr" sz="quarter" idx="20"/>
          </p:nvPr>
        </p:nvSpPr>
        <p:spPr/>
        <p:txBody>
          <a:bodyPr/>
          <a:lstStyle>
            <a:lvl1pPr>
              <a:defRPr/>
            </a:lvl1pPr>
          </a:lstStyle>
          <a:p>
            <a:r>
              <a:rPr lang="en-GB"/>
              <a:t>16x9 core template</a:t>
            </a:r>
          </a:p>
        </p:txBody>
      </p:sp>
      <p:sp>
        <p:nvSpPr>
          <p:cNvPr id="10" name="Slide Number Placeholder 9"/>
          <p:cNvSpPr>
            <a:spLocks noGrp="1"/>
          </p:cNvSpPr>
          <p:nvPr>
            <p:ph type="sldNum" sz="quarter" idx="2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314054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0" name="Content Placeholder 9"/>
          <p:cNvSpPr>
            <a:spLocks noGrp="1" noChangeAspect="1"/>
          </p:cNvSpPr>
          <p:nvPr>
            <p:ph sz="quarter" idx="19"/>
          </p:nvPr>
        </p:nvSpPr>
        <p:spPr>
          <a:xfrm>
            <a:off x="360000" y="1539685"/>
            <a:ext cx="8418513" cy="2729104"/>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2"/>
          <p:cNvSpPr>
            <a:spLocks noGrp="1"/>
          </p:cNvSpPr>
          <p:nvPr>
            <p:ph type="body" sz="quarter" idx="13" hasCustomPrompt="1"/>
          </p:nvPr>
        </p:nvSpPr>
        <p:spPr>
          <a:xfrm>
            <a:off x="359152" y="1191711"/>
            <a:ext cx="8418513" cy="338554"/>
          </a:xfrm>
          <a:prstGeom prst="rect">
            <a:avLst/>
          </a:prstGeom>
        </p:spPr>
        <p:txBody>
          <a:bodyPr lIns="0" anchor="t" anchorCtr="0">
            <a:spAutoFit/>
          </a:bodyPr>
          <a:lstStyle>
            <a:lvl1pPr marL="0" indent="0">
              <a:spcAft>
                <a:spcPts val="0"/>
              </a:spcAft>
              <a:buNone/>
              <a:defRPr sz="1600" b="1">
                <a:solidFill>
                  <a:schemeClr val="accent1"/>
                </a:solidFill>
              </a:defRPr>
            </a:lvl1pPr>
            <a:lvl2pPr marL="271463" indent="0">
              <a:buNone/>
              <a:defRPr/>
            </a:lvl2pPr>
            <a:lvl3pPr marL="533400" indent="0">
              <a:buNone/>
              <a:defRPr/>
            </a:lvl3pPr>
            <a:lvl4pPr marL="815975" indent="0">
              <a:buNone/>
              <a:defRPr/>
            </a:lvl4pPr>
            <a:lvl5pPr marL="1104900" indent="0">
              <a:buNone/>
              <a:defRPr/>
            </a:lvl5pPr>
          </a:lstStyle>
          <a:p>
            <a:pPr lvl="0"/>
            <a:r>
              <a:rPr lang="en-US"/>
              <a:t>Subheading here if required</a:t>
            </a:r>
          </a:p>
        </p:txBody>
      </p:sp>
      <p:sp>
        <p:nvSpPr>
          <p:cNvPr id="14"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6" name="Text Placeholder 5"/>
          <p:cNvSpPr>
            <a:spLocks noGrp="1"/>
          </p:cNvSpPr>
          <p:nvPr>
            <p:ph type="body" sz="quarter" idx="18" hasCustomPrompt="1"/>
          </p:nvPr>
        </p:nvSpPr>
        <p:spPr>
          <a:xfrm>
            <a:off x="359152" y="4322020"/>
            <a:ext cx="8424000" cy="123111"/>
          </a:xfrm>
          <a:prstGeom prst="rect">
            <a:avLst/>
          </a:prstGeom>
        </p:spPr>
        <p:txBody>
          <a:bodyPr wrap="square" anchor="b" anchorCtr="0">
            <a:spAutoFit/>
          </a:bodyPr>
          <a:lstStyle>
            <a:lvl1pPr marL="0" marR="0" indent="0" algn="l" defTabSz="914400" rtl="0" eaLnBrk="1" fontAlgn="auto" latinLnBrk="0" hangingPunct="1">
              <a:lnSpc>
                <a:spcPct val="100000"/>
              </a:lnSpc>
              <a:spcBef>
                <a:spcPts val="0"/>
              </a:spcBef>
              <a:spcAft>
                <a:spcPts val="600"/>
              </a:spcAft>
              <a:buClr>
                <a:schemeClr val="tx1"/>
              </a:buClr>
              <a:buSzTx/>
              <a:buFont typeface="Arial" pitchFamily="34" charset="0"/>
              <a:buNone/>
              <a:tabLst/>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0" name="Title 19"/>
          <p:cNvSpPr>
            <a:spLocks noGrp="1"/>
          </p:cNvSpPr>
          <p:nvPr>
            <p:ph type="title" hasCustomPrompt="1"/>
          </p:nvPr>
        </p:nvSpPr>
        <p:spPr/>
        <p:txBody>
          <a:bodyPr/>
          <a:lstStyle/>
          <a:p>
            <a:r>
              <a:rPr lang="en-US"/>
              <a:t>Click to edit Master heading style</a:t>
            </a:r>
            <a:endParaRPr lang="en-GB"/>
          </a:p>
        </p:txBody>
      </p:sp>
      <p:sp>
        <p:nvSpPr>
          <p:cNvPr id="5" name="Date Placeholder 4"/>
          <p:cNvSpPr>
            <a:spLocks noGrp="1"/>
          </p:cNvSpPr>
          <p:nvPr>
            <p:ph type="dt" sz="half" idx="20"/>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21"/>
          </p:nvPr>
        </p:nvSpPr>
        <p:spPr/>
        <p:txBody>
          <a:bodyPr/>
          <a:lstStyle>
            <a:lvl1pPr>
              <a:defRPr/>
            </a:lvl1pPr>
          </a:lstStyle>
          <a:p>
            <a:r>
              <a:rPr lang="en-GB"/>
              <a:t>16x9 core template</a:t>
            </a:r>
          </a:p>
        </p:txBody>
      </p:sp>
      <p:sp>
        <p:nvSpPr>
          <p:cNvPr id="7" name="Slide Number Placeholder 6"/>
          <p:cNvSpPr>
            <a:spLocks noGrp="1"/>
          </p:cNvSpPr>
          <p:nvPr>
            <p:ph type="sldNum" sz="quarter" idx="2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512332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4"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5" name="Text Placeholder 5"/>
          <p:cNvSpPr>
            <a:spLocks noGrp="1"/>
          </p:cNvSpPr>
          <p:nvPr>
            <p:ph type="body" sz="quarter" idx="18" hasCustomPrompt="1"/>
          </p:nvPr>
        </p:nvSpPr>
        <p:spPr>
          <a:xfrm>
            <a:off x="360000" y="4229687"/>
            <a:ext cx="8424000"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19" name="Title 18"/>
          <p:cNvSpPr>
            <a:spLocks noGrp="1"/>
          </p:cNvSpPr>
          <p:nvPr>
            <p:ph type="title" hasCustomPrompt="1"/>
          </p:nvPr>
        </p:nvSpPr>
        <p:spPr>
          <a:xfrm>
            <a:off x="360000" y="288639"/>
            <a:ext cx="7577139" cy="338554"/>
          </a:xfrm>
        </p:spPr>
        <p:txBody>
          <a:bodyPr/>
          <a:lstStyle/>
          <a:p>
            <a:r>
              <a:rPr lang="en-US"/>
              <a:t>Click to edit Master heading style</a:t>
            </a:r>
            <a:endParaRPr lang="en-GB"/>
          </a:p>
        </p:txBody>
      </p:sp>
      <p:sp>
        <p:nvSpPr>
          <p:cNvPr id="5" name="Date Placeholder 4"/>
          <p:cNvSpPr>
            <a:spLocks noGrp="1"/>
          </p:cNvSpPr>
          <p:nvPr>
            <p:ph type="dt" sz="half" idx="19"/>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20"/>
          </p:nvPr>
        </p:nvSpPr>
        <p:spPr/>
        <p:txBody>
          <a:bodyPr/>
          <a:lstStyle>
            <a:lvl1pPr>
              <a:defRPr/>
            </a:lvl1pPr>
          </a:lstStyle>
          <a:p>
            <a:r>
              <a:rPr lang="en-GB"/>
              <a:t>16x9 core template</a:t>
            </a:r>
          </a:p>
        </p:txBody>
      </p:sp>
      <p:sp>
        <p:nvSpPr>
          <p:cNvPr id="7" name="Slide Number Placeholder 6"/>
          <p:cNvSpPr>
            <a:spLocks noGrp="1"/>
          </p:cNvSpPr>
          <p:nvPr>
            <p:ph type="sldNum" sz="quarter" idx="21"/>
          </p:nvPr>
        </p:nvSpPr>
        <p:spPr/>
        <p:txBody>
          <a:bodyPr/>
          <a:lstStyle/>
          <a:p>
            <a:fld id="{9F9F533D-B52E-4A2F-BF72-0ADD2D94BD75}" type="slidenum">
              <a:rPr lang="en-GB" smtClean="0"/>
              <a:pPr/>
              <a:t>‹#›</a:t>
            </a:fld>
            <a:endParaRPr lang="en-GB"/>
          </a:p>
        </p:txBody>
      </p:sp>
      <p:sp>
        <p:nvSpPr>
          <p:cNvPr id="9" name="Content Placeholder 12"/>
          <p:cNvSpPr>
            <a:spLocks noGrp="1" noChangeAspect="1"/>
          </p:cNvSpPr>
          <p:nvPr>
            <p:ph sz="quarter" idx="17"/>
          </p:nvPr>
        </p:nvSpPr>
        <p:spPr>
          <a:xfrm>
            <a:off x="360000" y="1192389"/>
            <a:ext cx="8423275" cy="3076400"/>
          </a:xfrm>
          <a:prstGeom prst="rect">
            <a:avLst/>
          </a:prstGeom>
        </p:spPr>
        <p:txBody>
          <a:bodyPr lIns="0"/>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17225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4" name="Content Placeholder 13"/>
          <p:cNvSpPr>
            <a:spLocks noGrp="1" noChangeAspect="1"/>
          </p:cNvSpPr>
          <p:nvPr>
            <p:ph sz="quarter" idx="18"/>
          </p:nvPr>
        </p:nvSpPr>
        <p:spPr>
          <a:xfrm>
            <a:off x="4805363" y="1193800"/>
            <a:ext cx="3978275" cy="3065463"/>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8"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9" name="Text Placeholder 5"/>
          <p:cNvSpPr>
            <a:spLocks noGrp="1"/>
          </p:cNvSpPr>
          <p:nvPr>
            <p:ph type="body" sz="quarter" idx="19" hasCustomPrompt="1"/>
          </p:nvPr>
        </p:nvSpPr>
        <p:spPr>
          <a:xfrm>
            <a:off x="359152" y="4229687"/>
            <a:ext cx="3979486"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0" name="Text Placeholder 5"/>
          <p:cNvSpPr>
            <a:spLocks noGrp="1"/>
          </p:cNvSpPr>
          <p:nvPr>
            <p:ph type="body" sz="quarter" idx="20" hasCustomPrompt="1"/>
          </p:nvPr>
        </p:nvSpPr>
        <p:spPr>
          <a:xfrm>
            <a:off x="4797217" y="4229687"/>
            <a:ext cx="3996000"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3" name="Date Placeholder 2"/>
          <p:cNvSpPr>
            <a:spLocks noGrp="1"/>
          </p:cNvSpPr>
          <p:nvPr>
            <p:ph type="dt" sz="half" idx="21"/>
          </p:nvPr>
        </p:nvSpPr>
        <p:spPr/>
        <p:txBody>
          <a:bodyPr/>
          <a:lstStyle/>
          <a:p>
            <a:pPr algn="ctr"/>
            <a:r>
              <a:rPr lang="en-US"/>
              <a:t>Insert your date / confidentiality text here</a:t>
            </a:r>
            <a:endParaRPr lang="en-GB"/>
          </a:p>
        </p:txBody>
      </p:sp>
      <p:sp>
        <p:nvSpPr>
          <p:cNvPr id="4" name="Footer Placeholder 3"/>
          <p:cNvSpPr>
            <a:spLocks noGrp="1"/>
          </p:cNvSpPr>
          <p:nvPr>
            <p:ph type="ftr" sz="quarter" idx="22"/>
          </p:nvPr>
        </p:nvSpPr>
        <p:spPr/>
        <p:txBody>
          <a:bodyPr/>
          <a:lstStyle>
            <a:lvl1pPr>
              <a:defRPr/>
            </a:lvl1pPr>
          </a:lstStyle>
          <a:p>
            <a:r>
              <a:rPr lang="en-GB"/>
              <a:t>16x9 core template</a:t>
            </a:r>
          </a:p>
        </p:txBody>
      </p:sp>
      <p:sp>
        <p:nvSpPr>
          <p:cNvPr id="5" name="Slide Number Placeholder 4"/>
          <p:cNvSpPr>
            <a:spLocks noGrp="1"/>
          </p:cNvSpPr>
          <p:nvPr>
            <p:ph type="sldNum" sz="quarter" idx="23"/>
          </p:nvPr>
        </p:nvSpPr>
        <p:spPr/>
        <p:txBody>
          <a:bodyPr/>
          <a:lstStyle/>
          <a:p>
            <a:fld id="{9F9F533D-B52E-4A2F-BF72-0ADD2D94BD75}" type="slidenum">
              <a:rPr lang="en-GB" smtClean="0"/>
              <a:pPr/>
              <a:t>‹#›</a:t>
            </a:fld>
            <a:endParaRPr lang="en-GB"/>
          </a:p>
        </p:txBody>
      </p:sp>
      <p:sp>
        <p:nvSpPr>
          <p:cNvPr id="11" name="Content Placeholder 11"/>
          <p:cNvSpPr>
            <a:spLocks noGrp="1" noChangeAspect="1"/>
          </p:cNvSpPr>
          <p:nvPr>
            <p:ph sz="quarter" idx="17"/>
          </p:nvPr>
        </p:nvSpPr>
        <p:spPr>
          <a:xfrm>
            <a:off x="360000" y="1193800"/>
            <a:ext cx="3973875" cy="3065463"/>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06052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8" name="Text Placeholder 2"/>
          <p:cNvSpPr>
            <a:spLocks noGrp="1"/>
          </p:cNvSpPr>
          <p:nvPr>
            <p:ph type="body" idx="19" hasCustomPrompt="1"/>
          </p:nvPr>
        </p:nvSpPr>
        <p:spPr>
          <a:xfrm>
            <a:off x="360000" y="1194204"/>
            <a:ext cx="3973875" cy="338554"/>
          </a:xfrm>
          <a:prstGeom prst="rect">
            <a:avLst/>
          </a:prstGeom>
        </p:spPr>
        <p:txBody>
          <a:bodyPr wrap="square" lIns="0" anchor="t" anchorCtr="0">
            <a:spAutoFit/>
          </a:bodyPr>
          <a:lstStyle>
            <a:lvl1pPr marL="0" indent="0">
              <a:buNone/>
              <a:defRPr sz="1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Subheading here if required</a:t>
            </a:r>
          </a:p>
        </p:txBody>
      </p:sp>
      <p:sp>
        <p:nvSpPr>
          <p:cNvPr id="20" name="Text Placeholder 2"/>
          <p:cNvSpPr>
            <a:spLocks noGrp="1"/>
          </p:cNvSpPr>
          <p:nvPr>
            <p:ph type="body" idx="21" hasCustomPrompt="1"/>
          </p:nvPr>
        </p:nvSpPr>
        <p:spPr>
          <a:xfrm>
            <a:off x="4805363" y="1194204"/>
            <a:ext cx="3978275" cy="246221"/>
          </a:xfrm>
          <a:prstGeom prst="rect">
            <a:avLst/>
          </a:prstGeom>
        </p:spPr>
        <p:txBody>
          <a:bodyPr wrap="square" anchor="t" anchorCtr="0">
            <a:spAutoFit/>
          </a:bodyPr>
          <a:lstStyle>
            <a:lvl1pPr marL="0" indent="0">
              <a:buNone/>
              <a:defRPr sz="1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Subheading here if required</a:t>
            </a:r>
          </a:p>
        </p:txBody>
      </p:sp>
      <p:sp>
        <p:nvSpPr>
          <p:cNvPr id="2" name="Title 1"/>
          <p:cNvSpPr>
            <a:spLocks noGrp="1"/>
          </p:cNvSpPr>
          <p:nvPr>
            <p:ph type="title" hasCustomPrompt="1"/>
          </p:nvPr>
        </p:nvSpPr>
        <p:spPr>
          <a:xfrm>
            <a:off x="360000" y="288639"/>
            <a:ext cx="7577139" cy="338554"/>
          </a:xfrm>
        </p:spPr>
        <p:txBody>
          <a:bodyPr/>
          <a:lstStyle/>
          <a:p>
            <a:r>
              <a:rPr lang="en-US"/>
              <a:t>Click to edit Master heading style</a:t>
            </a:r>
            <a:endParaRPr lang="en-GB"/>
          </a:p>
        </p:txBody>
      </p:sp>
      <p:sp>
        <p:nvSpPr>
          <p:cNvPr id="17" name="Content Placeholder 11"/>
          <p:cNvSpPr>
            <a:spLocks noGrp="1" noChangeAspect="1"/>
          </p:cNvSpPr>
          <p:nvPr>
            <p:ph sz="quarter" idx="17"/>
          </p:nvPr>
        </p:nvSpPr>
        <p:spPr>
          <a:xfrm>
            <a:off x="360000" y="1516484"/>
            <a:ext cx="3973875" cy="2742779"/>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13"/>
          <p:cNvSpPr>
            <a:spLocks noGrp="1" noChangeAspect="1"/>
          </p:cNvSpPr>
          <p:nvPr>
            <p:ph sz="quarter" idx="18"/>
          </p:nvPr>
        </p:nvSpPr>
        <p:spPr>
          <a:xfrm>
            <a:off x="4805363" y="1516484"/>
            <a:ext cx="3978275" cy="2745954"/>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5"/>
          <p:cNvSpPr>
            <a:spLocks noGrp="1"/>
          </p:cNvSpPr>
          <p:nvPr>
            <p:ph type="body" sz="quarter" idx="31" hasCustomPrompt="1"/>
          </p:nvPr>
        </p:nvSpPr>
        <p:spPr>
          <a:xfrm>
            <a:off x="360000" y="4229687"/>
            <a:ext cx="3973875"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4" name="Text Placeholder 5"/>
          <p:cNvSpPr>
            <a:spLocks noGrp="1"/>
          </p:cNvSpPr>
          <p:nvPr>
            <p:ph type="body" sz="quarter" idx="20" hasCustomPrompt="1"/>
          </p:nvPr>
        </p:nvSpPr>
        <p:spPr>
          <a:xfrm>
            <a:off x="4798800" y="4229687"/>
            <a:ext cx="3984838" cy="215444"/>
          </a:xfrm>
          <a:prstGeom prst="rect">
            <a:avLst/>
          </a:prstGeom>
        </p:spPr>
        <p:txBody>
          <a:bodyPr wrap="square" lIns="0"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28"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2"/>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3"/>
          </p:nvPr>
        </p:nvSpPr>
        <p:spPr/>
        <p:txBody>
          <a:bodyPr/>
          <a:lstStyle>
            <a:lvl1pPr>
              <a:defRPr/>
            </a:lvl1pPr>
          </a:lstStyle>
          <a:p>
            <a:r>
              <a:rPr lang="en-GB"/>
              <a:t>16x9 core template</a:t>
            </a:r>
          </a:p>
        </p:txBody>
      </p:sp>
      <p:sp>
        <p:nvSpPr>
          <p:cNvPr id="8" name="Slide Number Placeholder 7"/>
          <p:cNvSpPr>
            <a:spLocks noGrp="1"/>
          </p:cNvSpPr>
          <p:nvPr>
            <p:ph type="sldNum" sz="quarter" idx="34"/>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618036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ideo Standard (4x3)">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363400" y="1193800"/>
            <a:ext cx="4417200" cy="3311525"/>
          </a:xfrm>
          <a:prstGeom prst="rect">
            <a:avLst/>
          </a:prstGeom>
        </p:spPr>
        <p:txBody>
          <a:bodyPr lIns="108000" tIns="108000"/>
          <a:lstStyle>
            <a:lvl1pPr marL="0" indent="0">
              <a:buNone/>
              <a:defRPr baseline="0">
                <a:solidFill>
                  <a:schemeClr val="tx1"/>
                </a:solidFill>
              </a:defRPr>
            </a:lvl1pPr>
          </a:lstStyle>
          <a:p>
            <a:r>
              <a:rPr lang="en-GB"/>
              <a:t>Click on the film icon to insert your Standard (4x3 video)</a:t>
            </a:r>
          </a:p>
        </p:txBody>
      </p:sp>
      <p:sp>
        <p:nvSpPr>
          <p:cNvPr id="2" name="Title 1"/>
          <p:cNvSpPr>
            <a:spLocks noGrp="1"/>
          </p:cNvSpPr>
          <p:nvPr>
            <p:ph type="title" hasCustomPrompt="1"/>
          </p:nvPr>
        </p:nvSpPr>
        <p:spPr/>
        <p:txBody>
          <a:bodyPr/>
          <a:lstStyle/>
          <a:p>
            <a:r>
              <a:rPr lang="en-US"/>
              <a:t>Click to edit Master heading style</a:t>
            </a:r>
            <a:endParaRPr lang="en-GB"/>
          </a:p>
        </p:txBody>
      </p:sp>
      <p:sp>
        <p:nvSpPr>
          <p:cNvPr id="3" name="Date Placeholder 2"/>
          <p:cNvSpPr>
            <a:spLocks noGrp="1"/>
          </p:cNvSpPr>
          <p:nvPr>
            <p:ph type="dt" sz="half" idx="15"/>
          </p:nvPr>
        </p:nvSpPr>
        <p:spPr/>
        <p:txBody>
          <a:bodyPr/>
          <a:lstStyle/>
          <a:p>
            <a:pPr algn="ctr"/>
            <a:r>
              <a:rPr lang="en-US"/>
              <a:t>Insert your date / confidentiality text here</a:t>
            </a:r>
            <a:endParaRPr lang="en-GB"/>
          </a:p>
        </p:txBody>
      </p:sp>
      <p:sp>
        <p:nvSpPr>
          <p:cNvPr id="4" name="Footer Placeholder 3"/>
          <p:cNvSpPr>
            <a:spLocks noGrp="1"/>
          </p:cNvSpPr>
          <p:nvPr>
            <p:ph type="ftr" sz="quarter" idx="16"/>
          </p:nvPr>
        </p:nvSpPr>
        <p:spPr/>
        <p:txBody>
          <a:bodyPr/>
          <a:lstStyle>
            <a:lvl1pPr>
              <a:defRPr/>
            </a:lvl1pPr>
          </a:lstStyle>
          <a:p>
            <a:r>
              <a:rPr lang="en-GB"/>
              <a:t>16x9 core template</a:t>
            </a:r>
          </a:p>
        </p:txBody>
      </p:sp>
      <p:sp>
        <p:nvSpPr>
          <p:cNvPr id="9" name="Slide Number Placeholder 8"/>
          <p:cNvSpPr>
            <a:spLocks noGrp="1"/>
          </p:cNvSpPr>
          <p:nvPr>
            <p:ph type="sldNum" sz="quarter" idx="17"/>
          </p:nvPr>
        </p:nvSpPr>
        <p:spPr/>
        <p:txBody>
          <a:bodyPr/>
          <a:lstStyle/>
          <a:p>
            <a:fld id="{9F9F533D-B52E-4A2F-BF72-0ADD2D94BD75}" type="slidenum">
              <a:rPr lang="en-GB" smtClean="0"/>
              <a:pPr/>
              <a:t>‹#›</a:t>
            </a:fld>
            <a:endParaRPr lang="en-GB"/>
          </a:p>
        </p:txBody>
      </p:sp>
      <p:sp>
        <p:nvSpPr>
          <p:cNvPr id="8"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Tree>
    <p:extLst>
      <p:ext uri="{BB962C8B-B14F-4D97-AF65-F5344CB8AC3E}">
        <p14:creationId xmlns:p14="http://schemas.microsoft.com/office/powerpoint/2010/main" val="2851349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ideo Widescreen (16x9)">
    <p:spTree>
      <p:nvGrpSpPr>
        <p:cNvPr id="1" name=""/>
        <p:cNvGrpSpPr/>
        <p:nvPr/>
      </p:nvGrpSpPr>
      <p:grpSpPr>
        <a:xfrm>
          <a:off x="0" y="0"/>
          <a:ext cx="0" cy="0"/>
          <a:chOff x="0" y="0"/>
          <a:chExt cx="0" cy="0"/>
        </a:xfrm>
      </p:grpSpPr>
      <p:sp>
        <p:nvSpPr>
          <p:cNvPr id="5" name="Media Placeholder 5"/>
          <p:cNvSpPr>
            <a:spLocks noGrp="1" noChangeAspect="1"/>
          </p:cNvSpPr>
          <p:nvPr>
            <p:ph type="media" sz="quarter" idx="12" hasCustomPrompt="1"/>
          </p:nvPr>
        </p:nvSpPr>
        <p:spPr>
          <a:xfrm>
            <a:off x="1627200" y="1193800"/>
            <a:ext cx="5889600" cy="3312000"/>
          </a:xfrm>
          <a:prstGeom prst="rect">
            <a:avLst/>
          </a:prstGeom>
        </p:spPr>
        <p:txBody>
          <a:bodyPr lIns="108000" tIns="108000"/>
          <a:lstStyle>
            <a:lvl1pPr marL="0" indent="0">
              <a:buNone/>
              <a:defRPr baseline="0">
                <a:solidFill>
                  <a:schemeClr val="tx1"/>
                </a:solidFill>
              </a:defRPr>
            </a:lvl1pPr>
          </a:lstStyle>
          <a:p>
            <a:r>
              <a:rPr lang="en-GB"/>
              <a:t>Click on the film icon to insert your widescreen (16x9) video</a:t>
            </a:r>
          </a:p>
        </p:txBody>
      </p:sp>
      <p:sp>
        <p:nvSpPr>
          <p:cNvPr id="10" name="Title 9"/>
          <p:cNvSpPr>
            <a:spLocks noGrp="1"/>
          </p:cNvSpPr>
          <p:nvPr>
            <p:ph type="title" hasCustomPrompt="1"/>
          </p:nvPr>
        </p:nvSpPr>
        <p:spPr/>
        <p:txBody>
          <a:bodyPr/>
          <a:lstStyle/>
          <a:p>
            <a:r>
              <a:rPr lang="en-US"/>
              <a:t>Click to edit Master heading style</a:t>
            </a:r>
            <a:endParaRPr lang="en-GB"/>
          </a:p>
        </p:txBody>
      </p:sp>
      <p:sp>
        <p:nvSpPr>
          <p:cNvPr id="2" name="Date Placeholder 1"/>
          <p:cNvSpPr>
            <a:spLocks noGrp="1"/>
          </p:cNvSpPr>
          <p:nvPr>
            <p:ph type="dt" sz="half" idx="17"/>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18"/>
          </p:nvPr>
        </p:nvSpPr>
        <p:spPr/>
        <p:txBody>
          <a:bodyPr/>
          <a:lstStyle>
            <a:lvl1pPr>
              <a:defRPr/>
            </a:lvl1pPr>
          </a:lstStyle>
          <a:p>
            <a:r>
              <a:rPr lang="en-GB"/>
              <a:t>16x9 core template</a:t>
            </a:r>
          </a:p>
        </p:txBody>
      </p:sp>
      <p:sp>
        <p:nvSpPr>
          <p:cNvPr id="4" name="Slide Number Placeholder 3"/>
          <p:cNvSpPr>
            <a:spLocks noGrp="1"/>
          </p:cNvSpPr>
          <p:nvPr>
            <p:ph type="sldNum" sz="quarter" idx="19"/>
          </p:nvPr>
        </p:nvSpPr>
        <p:spPr/>
        <p:txBody>
          <a:bodyPr/>
          <a:lstStyle/>
          <a:p>
            <a:fld id="{9F9F533D-B52E-4A2F-BF72-0ADD2D94BD75}" type="slidenum">
              <a:rPr lang="en-GB" smtClean="0"/>
              <a:pPr/>
              <a:t>‹#›</a:t>
            </a:fld>
            <a:endParaRPr lang="en-GB"/>
          </a:p>
        </p:txBody>
      </p:sp>
      <p:sp>
        <p:nvSpPr>
          <p:cNvPr id="8" name="Text Placeholder 2"/>
          <p:cNvSpPr>
            <a:spLocks noGrp="1"/>
          </p:cNvSpPr>
          <p:nvPr>
            <p:ph type="body" sz="quarter" idx="14" hasCustomPrompt="1"/>
          </p:nvPr>
        </p:nvSpPr>
        <p:spPr>
          <a:xfrm>
            <a:off x="360000"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Tree>
    <p:extLst>
      <p:ext uri="{BB962C8B-B14F-4D97-AF65-F5344CB8AC3E}">
        <p14:creationId xmlns:p14="http://schemas.microsoft.com/office/powerpoint/2010/main" val="2599322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and Non Bulleted Text">
    <p:spTree>
      <p:nvGrpSpPr>
        <p:cNvPr id="1" name=""/>
        <p:cNvGrpSpPr/>
        <p:nvPr/>
      </p:nvGrpSpPr>
      <p:grpSpPr>
        <a:xfrm>
          <a:off x="0" y="0"/>
          <a:ext cx="0" cy="0"/>
          <a:chOff x="0" y="0"/>
          <a:chExt cx="0" cy="0"/>
        </a:xfrm>
      </p:grpSpPr>
      <p:sp>
        <p:nvSpPr>
          <p:cNvPr id="16" name="Text Placeholder 6"/>
          <p:cNvSpPr>
            <a:spLocks noGrp="1"/>
          </p:cNvSpPr>
          <p:nvPr>
            <p:ph type="body" sz="quarter" idx="13"/>
          </p:nvPr>
        </p:nvSpPr>
        <p:spPr>
          <a:xfrm>
            <a:off x="359153" y="1193239"/>
            <a:ext cx="3979484" cy="3310128"/>
          </a:xfrm>
          <a:prstGeom prst="rect">
            <a:avLst/>
          </a:prstGeom>
        </p:spPr>
        <p:txBody>
          <a:bodyPr lIns="0"/>
          <a:lstStyle>
            <a:lvl1pPr marL="0" indent="0">
              <a:buNone/>
              <a:defRPr/>
            </a:lvl1pPr>
          </a:lstStyle>
          <a:p>
            <a:pPr lvl="0"/>
            <a:r>
              <a:rPr lang="en-US"/>
              <a:t>Click to edit Master text styles</a:t>
            </a:r>
          </a:p>
        </p:txBody>
      </p:sp>
      <p:sp>
        <p:nvSpPr>
          <p:cNvPr id="6" name="Title 5"/>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2" name="Text Placeholder 2"/>
          <p:cNvSpPr>
            <a:spLocks noGrp="1"/>
          </p:cNvSpPr>
          <p:nvPr>
            <p:ph type="body" sz="quarter" idx="27"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28"/>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29"/>
          </p:nvPr>
        </p:nvSpPr>
        <p:spPr/>
        <p:txBody>
          <a:bodyPr/>
          <a:lstStyle>
            <a:lvl1pPr>
              <a:defRPr/>
            </a:lvl1pPr>
          </a:lstStyle>
          <a:p>
            <a:r>
              <a:rPr lang="en-GB"/>
              <a:t>16x9 core template</a:t>
            </a:r>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13" name="Picture Placeholder 8"/>
          <p:cNvSpPr>
            <a:spLocks noGrp="1"/>
          </p:cNvSpPr>
          <p:nvPr>
            <p:ph type="pic" sz="quarter" idx="14" hasCustomPrompt="1"/>
          </p:nvPr>
        </p:nvSpPr>
        <p:spPr>
          <a:xfrm>
            <a:off x="4798800" y="1193799"/>
            <a:ext cx="3982697" cy="3309567"/>
          </a:xfrm>
          <a:prstGeom prst="rect">
            <a:avLst/>
          </a:prstGeom>
        </p:spPr>
        <p:txBody>
          <a:bodyPr lIns="0" tIns="0"/>
          <a:lstStyle>
            <a:lvl1pPr marL="0" indent="0">
              <a:buNone/>
              <a:defRPr sz="1100" baseline="0"/>
            </a:lvl1pPr>
          </a:lstStyle>
          <a:p>
            <a:r>
              <a:rPr lang="en-GB"/>
              <a:t>Click on the picture icon to insert your picture</a:t>
            </a:r>
          </a:p>
        </p:txBody>
      </p:sp>
    </p:spTree>
    <p:extLst>
      <p:ext uri="{BB962C8B-B14F-4D97-AF65-F5344CB8AC3E}">
        <p14:creationId xmlns:p14="http://schemas.microsoft.com/office/powerpoint/2010/main" val="41240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2" name="Text Placeholder 2"/>
          <p:cNvSpPr>
            <a:spLocks noGrp="1"/>
          </p:cNvSpPr>
          <p:nvPr>
            <p:ph type="body" sz="quarter" idx="27"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28"/>
          </p:nvPr>
        </p:nvSpPr>
        <p:spPr/>
        <p:txBody>
          <a:bodyPr/>
          <a:lstStyle/>
          <a:p>
            <a:pPr algn="ctr"/>
            <a:r>
              <a:rPr lang="en-US"/>
              <a:t>Insert your date / confidentiality text here</a:t>
            </a:r>
            <a:endParaRPr lang="en-GB"/>
          </a:p>
        </p:txBody>
      </p:sp>
      <p:sp>
        <p:nvSpPr>
          <p:cNvPr id="3" name="Footer Placeholder 2"/>
          <p:cNvSpPr>
            <a:spLocks noGrp="1"/>
          </p:cNvSpPr>
          <p:nvPr>
            <p:ph type="ftr" sz="quarter" idx="29"/>
          </p:nvPr>
        </p:nvSpPr>
        <p:spPr/>
        <p:txBody>
          <a:bodyPr/>
          <a:lstStyle>
            <a:lvl1pPr>
              <a:defRPr/>
            </a:lvl1pPr>
          </a:lstStyle>
          <a:p>
            <a:r>
              <a:rPr lang="en-GB"/>
              <a:t>16x9 core template</a:t>
            </a:r>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13" name="Picture Placeholder 8"/>
          <p:cNvSpPr>
            <a:spLocks noGrp="1"/>
          </p:cNvSpPr>
          <p:nvPr>
            <p:ph type="pic" sz="quarter" idx="14" hasCustomPrompt="1"/>
          </p:nvPr>
        </p:nvSpPr>
        <p:spPr>
          <a:xfrm>
            <a:off x="4798800" y="1193799"/>
            <a:ext cx="3982697" cy="3309567"/>
          </a:xfrm>
          <a:prstGeom prst="rect">
            <a:avLst/>
          </a:prstGeom>
        </p:spPr>
        <p:txBody>
          <a:bodyPr lIns="0" tIns="0"/>
          <a:lstStyle>
            <a:lvl1pPr marL="0" indent="0">
              <a:buNone/>
              <a:defRPr sz="1100" baseline="0"/>
            </a:lvl1pPr>
          </a:lstStyle>
          <a:p>
            <a:r>
              <a:rPr lang="en-GB"/>
              <a:t>Click on the picture icon to insert your picture</a:t>
            </a:r>
          </a:p>
        </p:txBody>
      </p:sp>
      <p:sp>
        <p:nvSpPr>
          <p:cNvPr id="9" name="Text Placeholder 6"/>
          <p:cNvSpPr>
            <a:spLocks noGrp="1"/>
          </p:cNvSpPr>
          <p:nvPr>
            <p:ph type="body" sz="quarter" idx="13"/>
          </p:nvPr>
        </p:nvSpPr>
        <p:spPr>
          <a:xfrm>
            <a:off x="359152" y="1190625"/>
            <a:ext cx="3986213" cy="3312741"/>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90162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6" name="Title 5"/>
          <p:cNvSpPr>
            <a:spLocks noGrp="1"/>
          </p:cNvSpPr>
          <p:nvPr>
            <p:ph type="title" hasCustomPrompt="1"/>
          </p:nvPr>
        </p:nvSpPr>
        <p:spPr/>
        <p:txBody>
          <a:bodyPr/>
          <a:lstStyle/>
          <a:p>
            <a:r>
              <a:rPr lang="en-US"/>
              <a:t>Click to edit Master heading style</a:t>
            </a:r>
            <a:endParaRPr lang="en-GB"/>
          </a:p>
        </p:txBody>
      </p:sp>
      <p:sp>
        <p:nvSpPr>
          <p:cNvPr id="19" name="Text Placeholder 6"/>
          <p:cNvSpPr>
            <a:spLocks noGrp="1"/>
          </p:cNvSpPr>
          <p:nvPr>
            <p:ph type="body" sz="quarter" idx="13"/>
          </p:nvPr>
        </p:nvSpPr>
        <p:spPr>
          <a:xfrm>
            <a:off x="359152" y="1190625"/>
            <a:ext cx="3986213" cy="3312741"/>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Picture Placeholder 8"/>
          <p:cNvSpPr>
            <a:spLocks noGrp="1" noChangeAspect="1"/>
          </p:cNvSpPr>
          <p:nvPr>
            <p:ph type="pic" sz="quarter" idx="14" hasCustomPrompt="1"/>
          </p:nvPr>
        </p:nvSpPr>
        <p:spPr>
          <a:xfrm>
            <a:off x="4798800" y="1190626"/>
            <a:ext cx="3996794" cy="1228724"/>
          </a:xfrm>
          <a:prstGeom prst="rect">
            <a:avLst/>
          </a:prstGeom>
        </p:spPr>
        <p:txBody>
          <a:bodyPr lIns="0" tIns="0"/>
          <a:lstStyle>
            <a:lvl1pPr marL="0" indent="0">
              <a:buNone/>
              <a:defRPr sz="1100" baseline="0"/>
            </a:lvl1pPr>
          </a:lstStyle>
          <a:p>
            <a:r>
              <a:rPr lang="en-GB"/>
              <a:t>Click on the picture icon to insert your picture</a:t>
            </a:r>
          </a:p>
        </p:txBody>
      </p:sp>
      <p:sp>
        <p:nvSpPr>
          <p:cNvPr id="21" name="Text Placeholder 7"/>
          <p:cNvSpPr>
            <a:spLocks noGrp="1"/>
          </p:cNvSpPr>
          <p:nvPr>
            <p:ph type="body" sz="quarter" idx="26" hasCustomPrompt="1"/>
          </p:nvPr>
        </p:nvSpPr>
        <p:spPr>
          <a:xfrm>
            <a:off x="4798800" y="2517776"/>
            <a:ext cx="3996266" cy="253999"/>
          </a:xfrm>
          <a:prstGeom prst="rect">
            <a:avLst/>
          </a:prstGeom>
        </p:spPr>
        <p:txBody>
          <a:bodyPr lIns="0" tIns="0" rIns="0" bIns="0"/>
          <a:lstStyle>
            <a:lvl1pPr marL="0" indent="0">
              <a:spcAft>
                <a:spcPts val="0"/>
              </a:spcAft>
              <a:buNone/>
              <a:defRPr sz="800">
                <a:solidFill>
                  <a:schemeClr val="accent1"/>
                </a:solidFill>
              </a:defRPr>
            </a:lvl1pPr>
            <a:lvl2pPr marL="268163" indent="0">
              <a:buNone/>
              <a:defRPr sz="800">
                <a:solidFill>
                  <a:schemeClr val="bg2"/>
                </a:solidFill>
              </a:defRPr>
            </a:lvl2pPr>
            <a:lvl3pPr marL="540000" indent="0">
              <a:buNone/>
              <a:defRPr sz="800">
                <a:solidFill>
                  <a:schemeClr val="bg2"/>
                </a:solidFill>
              </a:defRPr>
            </a:lvl3pPr>
            <a:lvl4pPr marL="811088" indent="0">
              <a:buNone/>
              <a:defRPr sz="800">
                <a:solidFill>
                  <a:schemeClr val="bg2"/>
                </a:solidFill>
              </a:defRPr>
            </a:lvl4pPr>
            <a:lvl5pPr marL="1080000" indent="0">
              <a:buNone/>
              <a:defRPr sz="800">
                <a:solidFill>
                  <a:schemeClr val="bg2"/>
                </a:solidFill>
              </a:defRPr>
            </a:lvl5pPr>
          </a:lstStyle>
          <a:p>
            <a:pPr lvl="0"/>
            <a:r>
              <a:rPr lang="en-US"/>
              <a:t>Enter your image caption text here</a:t>
            </a:r>
          </a:p>
        </p:txBody>
      </p:sp>
      <p:sp>
        <p:nvSpPr>
          <p:cNvPr id="35" name="Picture Placeholder 8"/>
          <p:cNvSpPr>
            <a:spLocks noGrp="1" noChangeAspect="1"/>
          </p:cNvSpPr>
          <p:nvPr>
            <p:ph type="pic" sz="quarter" idx="27" hasCustomPrompt="1"/>
          </p:nvPr>
        </p:nvSpPr>
        <p:spPr>
          <a:xfrm>
            <a:off x="4798800" y="2922217"/>
            <a:ext cx="3996794" cy="1228724"/>
          </a:xfrm>
          <a:prstGeom prst="rect">
            <a:avLst/>
          </a:prstGeom>
        </p:spPr>
        <p:txBody>
          <a:bodyPr lIns="0" tIns="0"/>
          <a:lstStyle>
            <a:lvl1pPr marL="0" indent="0">
              <a:buNone/>
              <a:defRPr sz="1100" baseline="0"/>
            </a:lvl1pPr>
          </a:lstStyle>
          <a:p>
            <a:r>
              <a:rPr lang="en-GB"/>
              <a:t>Click on the picture icon to insert your picture</a:t>
            </a:r>
          </a:p>
        </p:txBody>
      </p:sp>
      <p:sp>
        <p:nvSpPr>
          <p:cNvPr id="36" name="Text Placeholder 7"/>
          <p:cNvSpPr>
            <a:spLocks noGrp="1"/>
          </p:cNvSpPr>
          <p:nvPr>
            <p:ph type="body" sz="quarter" idx="28" hasCustomPrompt="1"/>
          </p:nvPr>
        </p:nvSpPr>
        <p:spPr>
          <a:xfrm>
            <a:off x="4798800" y="4249367"/>
            <a:ext cx="3996266" cy="253999"/>
          </a:xfrm>
          <a:prstGeom prst="rect">
            <a:avLst/>
          </a:prstGeom>
        </p:spPr>
        <p:txBody>
          <a:bodyPr lIns="0" tIns="0" rIns="0" bIns="0"/>
          <a:lstStyle>
            <a:lvl1pPr marL="0" indent="0">
              <a:spcAft>
                <a:spcPts val="0"/>
              </a:spcAft>
              <a:buNone/>
              <a:defRPr sz="800">
                <a:solidFill>
                  <a:schemeClr val="accent1"/>
                </a:solidFill>
              </a:defRPr>
            </a:lvl1pPr>
            <a:lvl2pPr marL="268163" indent="0">
              <a:buNone/>
              <a:defRPr sz="800">
                <a:solidFill>
                  <a:schemeClr val="bg2"/>
                </a:solidFill>
              </a:defRPr>
            </a:lvl2pPr>
            <a:lvl3pPr marL="540000" indent="0">
              <a:buNone/>
              <a:defRPr sz="800">
                <a:solidFill>
                  <a:schemeClr val="bg2"/>
                </a:solidFill>
              </a:defRPr>
            </a:lvl3pPr>
            <a:lvl4pPr marL="811088" indent="0">
              <a:buNone/>
              <a:defRPr sz="800">
                <a:solidFill>
                  <a:schemeClr val="bg2"/>
                </a:solidFill>
              </a:defRPr>
            </a:lvl4pPr>
            <a:lvl5pPr marL="1080000" indent="0">
              <a:buNone/>
              <a:defRPr sz="800">
                <a:solidFill>
                  <a:schemeClr val="bg2"/>
                </a:solidFill>
              </a:defRPr>
            </a:lvl5pPr>
          </a:lstStyle>
          <a:p>
            <a:pPr lvl="0"/>
            <a:r>
              <a:rPr lang="en-US"/>
              <a:t>Enter your image caption text here</a:t>
            </a:r>
          </a:p>
        </p:txBody>
      </p:sp>
      <p:sp>
        <p:nvSpPr>
          <p:cNvPr id="37" name="Text Placeholder 2"/>
          <p:cNvSpPr>
            <a:spLocks noGrp="1"/>
          </p:cNvSpPr>
          <p:nvPr>
            <p:ph type="body" sz="quarter" idx="29"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5" name="Date Placeholder 4"/>
          <p:cNvSpPr>
            <a:spLocks noGrp="1"/>
          </p:cNvSpPr>
          <p:nvPr>
            <p:ph type="dt" sz="half" idx="30"/>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1"/>
          </p:nvPr>
        </p:nvSpPr>
        <p:spPr/>
        <p:txBody>
          <a:bodyPr/>
          <a:lstStyle>
            <a:lvl1pPr>
              <a:defRPr/>
            </a:lvl1pPr>
          </a:lstStyle>
          <a:p>
            <a:r>
              <a:rPr lang="en-GB"/>
              <a:t>16x9 core template</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127212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heading style</a:t>
            </a:r>
            <a:endParaRPr lang="en-GB"/>
          </a:p>
        </p:txBody>
      </p:sp>
      <p:sp>
        <p:nvSpPr>
          <p:cNvPr id="11" name="Text Placeholder 2"/>
          <p:cNvSpPr>
            <a:spLocks noGrp="1"/>
          </p:cNvSpPr>
          <p:nvPr>
            <p:ph type="body" sz="quarter" idx="29"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0"/>
          </p:nvPr>
        </p:nvSpPr>
        <p:spPr/>
        <p:txBody>
          <a:bodyPr/>
          <a:lstStyle/>
          <a:p>
            <a:pPr algn="ctr"/>
            <a:r>
              <a:rPr lang="en-US"/>
              <a:t>Insert your date / confidentiality text here</a:t>
            </a:r>
            <a:endParaRPr lang="en-GB"/>
          </a:p>
        </p:txBody>
      </p:sp>
      <p:sp>
        <p:nvSpPr>
          <p:cNvPr id="7" name="Footer Placeholder 6"/>
          <p:cNvSpPr>
            <a:spLocks noGrp="1"/>
          </p:cNvSpPr>
          <p:nvPr>
            <p:ph type="ftr" sz="quarter" idx="31"/>
          </p:nvPr>
        </p:nvSpPr>
        <p:spPr/>
        <p:txBody>
          <a:bodyPr/>
          <a:lstStyle>
            <a:lvl1pPr>
              <a:defRPr/>
            </a:lvl1pPr>
          </a:lstStyle>
          <a:p>
            <a:r>
              <a:rPr lang="en-GB"/>
              <a:t>16x9 core template</a:t>
            </a:r>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769190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cxnSp>
        <p:nvCxnSpPr>
          <p:cNvPr id="12" name="Straight Connector 11"/>
          <p:cNvCxnSpPr/>
          <p:nvPr userDrawn="1"/>
        </p:nvCxnSpPr>
        <p:spPr>
          <a:xfrm>
            <a:off x="359152" y="4599183"/>
            <a:ext cx="842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10"/>
          </p:nvPr>
        </p:nvSpPr>
        <p:spPr/>
        <p:txBody>
          <a:bodyPr/>
          <a:lstStyle/>
          <a:p>
            <a:pPr algn="ctr"/>
            <a:r>
              <a:rPr lang="en-US"/>
              <a:t>Insert your date / confidentiality text here</a:t>
            </a:r>
            <a:endParaRPr lang="en-GB"/>
          </a:p>
        </p:txBody>
      </p:sp>
      <p:sp>
        <p:nvSpPr>
          <p:cNvPr id="6" name="Footer Placeholder 5"/>
          <p:cNvSpPr>
            <a:spLocks noGrp="1"/>
          </p:cNvSpPr>
          <p:nvPr>
            <p:ph type="ftr" sz="quarter" idx="11"/>
          </p:nvPr>
        </p:nvSpPr>
        <p:spPr/>
        <p:txBody>
          <a:bodyPr/>
          <a:lstStyle>
            <a:lvl1pPr>
              <a:defRPr/>
            </a:lvl1pPr>
          </a:lstStyle>
          <a:p>
            <a:r>
              <a:rPr lang="en-GB"/>
              <a:t>16x9 core template</a:t>
            </a:r>
          </a:p>
        </p:txBody>
      </p:sp>
      <p:sp>
        <p:nvSpPr>
          <p:cNvPr id="7" name="Slide Number Placeholder 6"/>
          <p:cNvSpPr>
            <a:spLocks noGrp="1"/>
          </p:cNvSpPr>
          <p:nvPr>
            <p:ph type="sldNum" sz="quarter" idx="1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448223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ORANGE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360000" y="3743011"/>
            <a:ext cx="8193024" cy="400110"/>
          </a:xfrm>
          <a:prstGeom prst="rect">
            <a:avLst/>
          </a:prstGeom>
        </p:spPr>
        <p:txBody>
          <a:bodyPr lIns="0" anchor="t" anchorCtr="0">
            <a:spAutoFit/>
          </a:bodyPr>
          <a:lstStyle>
            <a:lvl1pPr marL="0" marR="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sz="2200" i="0">
                <a:solidFill>
                  <a:schemeClr val="bg2"/>
                </a:solidFill>
                <a:latin typeface="+mn-lt"/>
              </a:defRPr>
            </a:lvl1pPr>
            <a:lvl2pPr marL="271463" indent="0">
              <a:spcAft>
                <a:spcPts val="0"/>
              </a:spcAft>
              <a:buNone/>
              <a:defRPr>
                <a:solidFill>
                  <a:schemeClr val="bg1"/>
                </a:solidFill>
              </a:defRPr>
            </a:lvl2pPr>
            <a:lvl3pPr marL="533400" indent="0">
              <a:spcAft>
                <a:spcPts val="0"/>
              </a:spcAft>
              <a:buNone/>
              <a:defRPr>
                <a:solidFill>
                  <a:schemeClr val="bg1"/>
                </a:solidFill>
              </a:defRPr>
            </a:lvl3pPr>
            <a:lvl4pPr marL="815975" indent="0">
              <a:spcAft>
                <a:spcPts val="0"/>
              </a:spcAft>
              <a:buNone/>
              <a:defRPr>
                <a:solidFill>
                  <a:schemeClr val="bg1"/>
                </a:solidFill>
              </a:defRPr>
            </a:lvl4pPr>
            <a:lvl5pPr marL="1104900" indent="0">
              <a:spcAft>
                <a:spcPts val="0"/>
              </a:spcAft>
              <a:buNone/>
              <a:defRPr>
                <a:solidFill>
                  <a:schemeClr val="bg1"/>
                </a:solidFill>
              </a:defRPr>
            </a:lvl5pPr>
          </a:lstStyle>
          <a:p>
            <a:pPr marL="0" marR="0" lvl="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3" name="Text Placeholder 3"/>
          <p:cNvSpPr>
            <a:spLocks noGrp="1"/>
          </p:cNvSpPr>
          <p:nvPr>
            <p:ph type="body" sz="quarter" idx="10" hasCustomPrompt="1"/>
          </p:nvPr>
        </p:nvSpPr>
        <p:spPr>
          <a:xfrm>
            <a:off x="360000" y="2840385"/>
            <a:ext cx="8196702" cy="823302"/>
          </a:xfrm>
          <a:prstGeom prst="rect">
            <a:avLst/>
          </a:prstGeom>
        </p:spPr>
        <p:txBody>
          <a:bodyPr wrap="square" lIns="0" anchor="b" anchorCtr="0">
            <a:spAutoFit/>
          </a:bodyPr>
          <a:lstStyle>
            <a:lvl1pPr marL="0" indent="0">
              <a:lnSpc>
                <a:spcPts val="5700"/>
              </a:lnSpc>
              <a:spcAft>
                <a:spcPts val="0"/>
              </a:spcAft>
              <a:buNone/>
              <a:defRPr sz="5500" b="1">
                <a:solidFill>
                  <a:schemeClr val="bg2"/>
                </a:solidFill>
              </a:defRPr>
            </a:lvl1pPr>
            <a:lvl2pPr marL="271463" indent="0">
              <a:buNone/>
              <a:defRPr sz="2600" b="1">
                <a:solidFill>
                  <a:schemeClr val="bg1"/>
                </a:solidFill>
              </a:defRPr>
            </a:lvl2pPr>
            <a:lvl3pPr marL="533400" indent="0">
              <a:buNone/>
              <a:defRPr sz="2600" b="1">
                <a:solidFill>
                  <a:schemeClr val="bg1"/>
                </a:solidFill>
              </a:defRPr>
            </a:lvl3pPr>
            <a:lvl4pPr marL="815975" indent="0">
              <a:buNone/>
              <a:defRPr sz="2600" b="1">
                <a:solidFill>
                  <a:schemeClr val="bg1"/>
                </a:solidFill>
              </a:defRPr>
            </a:lvl4pPr>
            <a:lvl5pPr marL="1104900" indent="0">
              <a:buNone/>
              <a:defRPr sz="2600" b="1">
                <a:solidFill>
                  <a:schemeClr val="bg1"/>
                </a:solidFill>
              </a:defRPr>
            </a:lvl5pPr>
          </a:lstStyle>
          <a:p>
            <a:pPr lvl="0"/>
            <a:r>
              <a:rPr lang="en-US"/>
              <a:t>Section Heading title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GREY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360000" y="3743011"/>
            <a:ext cx="8193024" cy="400110"/>
          </a:xfrm>
          <a:prstGeom prst="rect">
            <a:avLst/>
          </a:prstGeom>
        </p:spPr>
        <p:txBody>
          <a:bodyPr lIns="0" anchor="t" anchorCtr="0">
            <a:spAutoFit/>
          </a:bodyPr>
          <a:lstStyle>
            <a:lvl1pPr marL="0" marR="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sz="2200" i="0">
                <a:solidFill>
                  <a:schemeClr val="tx1"/>
                </a:solidFill>
                <a:latin typeface="+mn-lt"/>
              </a:defRPr>
            </a:lvl1pPr>
            <a:lvl2pPr marL="271463" indent="0">
              <a:spcAft>
                <a:spcPts val="0"/>
              </a:spcAft>
              <a:buNone/>
              <a:defRPr>
                <a:solidFill>
                  <a:schemeClr val="bg1"/>
                </a:solidFill>
              </a:defRPr>
            </a:lvl2pPr>
            <a:lvl3pPr marL="533400" indent="0">
              <a:spcAft>
                <a:spcPts val="0"/>
              </a:spcAft>
              <a:buNone/>
              <a:defRPr>
                <a:solidFill>
                  <a:schemeClr val="bg1"/>
                </a:solidFill>
              </a:defRPr>
            </a:lvl3pPr>
            <a:lvl4pPr marL="815975" indent="0">
              <a:spcAft>
                <a:spcPts val="0"/>
              </a:spcAft>
              <a:buNone/>
              <a:defRPr>
                <a:solidFill>
                  <a:schemeClr val="bg1"/>
                </a:solidFill>
              </a:defRPr>
            </a:lvl4pPr>
            <a:lvl5pPr marL="1104900" indent="0">
              <a:spcAft>
                <a:spcPts val="0"/>
              </a:spcAft>
              <a:buNone/>
              <a:defRPr>
                <a:solidFill>
                  <a:schemeClr val="bg1"/>
                </a:solidFill>
              </a:defRPr>
            </a:lvl5pPr>
          </a:lstStyle>
          <a:p>
            <a:pPr marL="0" marR="0" lvl="0" indent="0" algn="l" defTabSz="914400" rtl="0" eaLnBrk="1" fontAlgn="auto" latinLnBrk="0" hangingPunct="1">
              <a:lnSpc>
                <a:spcPts val="24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3" name="Text Placeholder 3"/>
          <p:cNvSpPr>
            <a:spLocks noGrp="1"/>
          </p:cNvSpPr>
          <p:nvPr>
            <p:ph type="body" sz="quarter" idx="10" hasCustomPrompt="1"/>
          </p:nvPr>
        </p:nvSpPr>
        <p:spPr>
          <a:xfrm>
            <a:off x="360000" y="2840385"/>
            <a:ext cx="8196702" cy="823302"/>
          </a:xfrm>
          <a:prstGeom prst="rect">
            <a:avLst/>
          </a:prstGeom>
        </p:spPr>
        <p:txBody>
          <a:bodyPr wrap="square" lIns="0" anchor="b" anchorCtr="0">
            <a:spAutoFit/>
          </a:bodyPr>
          <a:lstStyle>
            <a:lvl1pPr marL="0" indent="0">
              <a:lnSpc>
                <a:spcPts val="5700"/>
              </a:lnSpc>
              <a:spcAft>
                <a:spcPts val="0"/>
              </a:spcAft>
              <a:buNone/>
              <a:defRPr sz="5500" b="1">
                <a:solidFill>
                  <a:schemeClr val="tx1"/>
                </a:solidFill>
              </a:defRPr>
            </a:lvl1pPr>
            <a:lvl2pPr marL="271463" indent="0">
              <a:buNone/>
              <a:defRPr sz="2600" b="1">
                <a:solidFill>
                  <a:schemeClr val="bg1"/>
                </a:solidFill>
              </a:defRPr>
            </a:lvl2pPr>
            <a:lvl3pPr marL="533400" indent="0">
              <a:buNone/>
              <a:defRPr sz="2600" b="1">
                <a:solidFill>
                  <a:schemeClr val="bg1"/>
                </a:solidFill>
              </a:defRPr>
            </a:lvl3pPr>
            <a:lvl4pPr marL="815975" indent="0">
              <a:buNone/>
              <a:defRPr sz="2600" b="1">
                <a:solidFill>
                  <a:schemeClr val="bg1"/>
                </a:solidFill>
              </a:defRPr>
            </a:lvl4pPr>
            <a:lvl5pPr marL="1104900" indent="0">
              <a:buNone/>
              <a:defRPr sz="2600" b="1">
                <a:solidFill>
                  <a:schemeClr val="bg1"/>
                </a:solidFill>
              </a:defRPr>
            </a:lvl5pPr>
          </a:lstStyle>
          <a:p>
            <a:pPr lvl="0"/>
            <a:r>
              <a:rPr lang="en-US"/>
              <a:t>Section Heading title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5101612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INNOVATION White">
    <p:spTree>
      <p:nvGrpSpPr>
        <p:cNvPr id="1" name=""/>
        <p:cNvGrpSpPr/>
        <p:nvPr/>
      </p:nvGrpSpPr>
      <p:grpSpPr>
        <a:xfrm>
          <a:off x="0" y="0"/>
          <a:ext cx="0" cy="0"/>
          <a:chOff x="0" y="0"/>
          <a:chExt cx="0" cy="0"/>
        </a:xfrm>
      </p:grpSpPr>
      <p:sp>
        <p:nvSpPr>
          <p:cNvPr id="6" name="TextBox 5"/>
          <p:cNvSpPr txBox="1"/>
          <p:nvPr userDrawn="1"/>
        </p:nvSpPr>
        <p:spPr>
          <a:xfrm>
            <a:off x="356840" y="2753758"/>
            <a:ext cx="7872760" cy="923330"/>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a:solidFill>
                  <a:schemeClr val="accent5"/>
                </a:solidFill>
              </a:rPr>
              <a:t>Innovation</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18130975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ERFORMANCE White">
    <p:spTree>
      <p:nvGrpSpPr>
        <p:cNvPr id="1" name=""/>
        <p:cNvGrpSpPr/>
        <p:nvPr/>
      </p:nvGrpSpPr>
      <p:grpSpPr>
        <a:xfrm>
          <a:off x="0" y="0"/>
          <a:ext cx="0" cy="0"/>
          <a:chOff x="0" y="0"/>
          <a:chExt cx="0" cy="0"/>
        </a:xfrm>
      </p:grpSpPr>
      <p:sp>
        <p:nvSpPr>
          <p:cNvPr id="8" name="TextBox 7"/>
          <p:cNvSpPr txBox="1"/>
          <p:nvPr userDrawn="1"/>
        </p:nvSpPr>
        <p:spPr>
          <a:xfrm>
            <a:off x="356840" y="2753758"/>
            <a:ext cx="7872760" cy="923330"/>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marL="0" marR="0" lvl="0" indent="0" algn="l" defTabSz="914400" rtl="0" eaLnBrk="1" fontAlgn="auto" latinLnBrk="0" hangingPunct="1">
              <a:lnSpc>
                <a:spcPts val="7200"/>
              </a:lnSpc>
              <a:spcBef>
                <a:spcPts val="0"/>
              </a:spcBef>
              <a:spcAft>
                <a:spcPts val="0"/>
              </a:spcAft>
              <a:buClr>
                <a:schemeClr val="tx1"/>
              </a:buClr>
              <a:buSzTx/>
              <a:buFont typeface="Arial" pitchFamily="34" charset="0"/>
              <a:buNone/>
              <a:tabLst/>
              <a:defRPr/>
            </a:pPr>
            <a:r>
              <a:rPr lang="en-US">
                <a:solidFill>
                  <a:schemeClr val="accent4"/>
                </a:solidFill>
              </a:rPr>
              <a:t>Pe</a:t>
            </a:r>
            <a:r>
              <a:rPr lang="en-US" spc="500" baseline="0">
                <a:solidFill>
                  <a:schemeClr val="accent4"/>
                </a:solidFill>
              </a:rPr>
              <a:t>r</a:t>
            </a:r>
            <a:r>
              <a:rPr lang="en-US">
                <a:solidFill>
                  <a:schemeClr val="accent4"/>
                </a:solidFill>
              </a:rPr>
              <a:t>formance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251056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TRUST White">
    <p:spTree>
      <p:nvGrpSpPr>
        <p:cNvPr id="1" name=""/>
        <p:cNvGrpSpPr/>
        <p:nvPr/>
      </p:nvGrpSpPr>
      <p:grpSpPr>
        <a:xfrm>
          <a:off x="0" y="0"/>
          <a:ext cx="0" cy="0"/>
          <a:chOff x="0" y="0"/>
          <a:chExt cx="0" cy="0"/>
        </a:xfrm>
      </p:grpSpPr>
      <p:sp>
        <p:nvSpPr>
          <p:cNvPr id="6" name="TextBox 5"/>
          <p:cNvSpPr txBox="1"/>
          <p:nvPr userDrawn="1"/>
        </p:nvSpPr>
        <p:spPr>
          <a:xfrm>
            <a:off x="356840" y="2753758"/>
            <a:ext cx="7872760" cy="923330"/>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a:solidFill>
                  <a:schemeClr val="accent3"/>
                </a:solidFill>
              </a:rPr>
              <a:t>Trust</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1477977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359152" y="1192387"/>
            <a:ext cx="8423275" cy="3257559"/>
          </a:xfrm>
          <a:prstGeom prst="rect">
            <a:avLst/>
          </a:prstGeom>
        </p:spPr>
        <p:txBody>
          <a:bodyPr l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p:cNvSpPr>
            <a:spLocks noGrp="1"/>
          </p:cNvSpPr>
          <p:nvPr>
            <p:ph type="body" sz="quarter" idx="14" hasCustomPrompt="1"/>
          </p:nvPr>
        </p:nvSpPr>
        <p:spPr>
          <a:xfrm>
            <a:off x="359152" y="693553"/>
            <a:ext cx="7578000" cy="276999"/>
          </a:xfrm>
          <a:prstGeom prst="rect">
            <a:avLst/>
          </a:prstGeom>
        </p:spPr>
        <p:txBody>
          <a:bodyPr lIns="0" anchor="t" anchorCtr="0">
            <a:noAutofit/>
          </a:bodyPr>
          <a:lstStyle>
            <a:lvl1pPr marL="0" marR="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sz="1600" i="0">
                <a:latin typeface="+mn-lt"/>
              </a:defRPr>
            </a:lvl1pPr>
            <a:lvl2pPr marL="271463" indent="0">
              <a:buNone/>
              <a:defRPr/>
            </a:lvl2pPr>
            <a:lvl3pPr marL="533400" indent="0">
              <a:buNone/>
              <a:defRPr/>
            </a:lvl3pPr>
            <a:lvl4pPr marL="815975" indent="0">
              <a:buNone/>
              <a:defRPr/>
            </a:lvl4pPr>
            <a:lvl5pPr marL="1104900" indent="0">
              <a:buNone/>
              <a:defRPr/>
            </a:lvl5pPr>
          </a:lstStyle>
          <a:p>
            <a:pPr marL="0" marR="0" lvl="0" indent="0" algn="l" defTabSz="91440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4" name="Title 3"/>
          <p:cNvSpPr>
            <a:spLocks noGrp="1"/>
          </p:cNvSpPr>
          <p:nvPr>
            <p:ph type="title" hasCustomPrompt="1"/>
          </p:nvPr>
        </p:nvSpPr>
        <p:spPr>
          <a:xfrm>
            <a:off x="359152" y="288639"/>
            <a:ext cx="7577139" cy="338554"/>
          </a:xfrm>
        </p:spPr>
        <p:txBody>
          <a:bodyPr/>
          <a:lstStyle/>
          <a:p>
            <a:r>
              <a:rPr lang="en-US"/>
              <a:t>Click to edit Master heading style</a:t>
            </a:r>
            <a:endParaRPr lang="en-GB"/>
          </a:p>
        </p:txBody>
      </p:sp>
      <p:sp>
        <p:nvSpPr>
          <p:cNvPr id="10" name="Slide Number Placeholder 9"/>
          <p:cNvSpPr>
            <a:spLocks noGrp="1"/>
          </p:cNvSpPr>
          <p:nvPr>
            <p:ph type="sldNum" sz="quarter" idx="2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552729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59152" y="4704001"/>
            <a:ext cx="2565024" cy="273844"/>
          </a:xfrm>
          <a:prstGeom prst="rect">
            <a:avLst/>
          </a:prstGeom>
        </p:spPr>
        <p:txBody>
          <a:bodyPr vert="horz" lIns="0" tIns="0" rIns="0" bIns="0" rtlCol="0" anchor="t" anchorCtr="0"/>
          <a:lstStyle>
            <a:lvl1pPr algn="l">
              <a:defRPr sz="800">
                <a:solidFill>
                  <a:schemeClr val="tx1"/>
                </a:solidFill>
              </a:defRPr>
            </a:lvl1pPr>
          </a:lstStyle>
          <a:p>
            <a:r>
              <a:rPr lang="en-GB"/>
              <a:t>16x9 core template</a:t>
            </a:r>
          </a:p>
        </p:txBody>
      </p:sp>
      <p:sp>
        <p:nvSpPr>
          <p:cNvPr id="6" name="Slide Number Placeholder 5"/>
          <p:cNvSpPr>
            <a:spLocks noGrp="1"/>
          </p:cNvSpPr>
          <p:nvPr>
            <p:ph type="sldNum" sz="quarter" idx="4"/>
          </p:nvPr>
        </p:nvSpPr>
        <p:spPr>
          <a:xfrm>
            <a:off x="7953029" y="4704001"/>
            <a:ext cx="830123" cy="273844"/>
          </a:xfrm>
          <a:prstGeom prst="rect">
            <a:avLst/>
          </a:prstGeom>
        </p:spPr>
        <p:txBody>
          <a:bodyPr vert="horz" lIns="72000" tIns="0" rIns="0" bIns="0" rtlCol="0" anchor="t" anchorCtr="0"/>
          <a:lstStyle>
            <a:lvl1pPr algn="r">
              <a:defRPr sz="800">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359152" y="288639"/>
            <a:ext cx="7577139" cy="338554"/>
          </a:xfrm>
          <a:prstGeom prst="rect">
            <a:avLst/>
          </a:prstGeom>
        </p:spPr>
        <p:txBody>
          <a:bodyPr vert="horz" lIns="0" tIns="0" rIns="0" bIns="0" rtlCol="0" anchor="t" anchorCtr="0">
            <a:spAutoFit/>
          </a:bodyPr>
          <a:lstStyle/>
          <a:p>
            <a:r>
              <a:rPr lang="en-US"/>
              <a:t>Click to edit Master heading style</a:t>
            </a:r>
            <a:endParaRPr lang="en-GB"/>
          </a:p>
        </p:txBody>
      </p:sp>
      <p:sp>
        <p:nvSpPr>
          <p:cNvPr id="7" name="Date Placeholder 6"/>
          <p:cNvSpPr>
            <a:spLocks noGrp="1"/>
          </p:cNvSpPr>
          <p:nvPr>
            <p:ph type="dt" sz="half" idx="2"/>
          </p:nvPr>
        </p:nvSpPr>
        <p:spPr>
          <a:xfrm>
            <a:off x="2985247" y="4704001"/>
            <a:ext cx="3164730" cy="273844"/>
          </a:xfrm>
          <a:prstGeom prst="rect">
            <a:avLst/>
          </a:prstGeom>
        </p:spPr>
        <p:txBody>
          <a:bodyPr vert="horz" lIns="72000" tIns="0" rIns="72000" bIns="0" rtlCol="0" anchor="t" anchorCtr="1"/>
          <a:lstStyle>
            <a:lvl1pPr algn="l">
              <a:defRPr sz="800">
                <a:solidFill>
                  <a:schemeClr val="tx1"/>
                </a:solidFill>
              </a:defRPr>
            </a:lvl1pPr>
          </a:lstStyle>
          <a:p>
            <a:pPr algn="ctr"/>
            <a:r>
              <a:rPr lang="en-US"/>
              <a:t>Insert your date / confidentiality text here</a:t>
            </a:r>
            <a:endParaRPr lang="en-GB"/>
          </a:p>
        </p:txBody>
      </p:sp>
      <p:cxnSp>
        <p:nvCxnSpPr>
          <p:cNvPr id="10" name="Straight Connector 9"/>
          <p:cNvCxnSpPr/>
          <p:nvPr userDrawn="1"/>
        </p:nvCxnSpPr>
        <p:spPr>
          <a:xfrm>
            <a:off x="359152" y="4599183"/>
            <a:ext cx="842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359152" y="1078541"/>
            <a:ext cx="84240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8131783" y="237109"/>
            <a:ext cx="749683" cy="719489"/>
          </a:xfrm>
          <a:prstGeom prst="rect">
            <a:avLst/>
          </a:prstGeom>
        </p:spPr>
      </p:pic>
    </p:spTree>
    <p:extLst>
      <p:ext uri="{BB962C8B-B14F-4D97-AF65-F5344CB8AC3E}">
        <p14:creationId xmlns:p14="http://schemas.microsoft.com/office/powerpoint/2010/main" val="4260756284"/>
      </p:ext>
    </p:extLst>
  </p:cSld>
  <p:clrMap bg1="lt1" tx1="dk1" bg2="lt2" tx2="dk2" accent1="accent1" accent2="accent2" accent3="accent3" accent4="accent4" accent5="accent5" accent6="accent6" hlink="hlink" folHlink="folHlink"/>
  <p:sldLayoutIdLst>
    <p:sldLayoutId id="2147483742" r:id="rId1"/>
    <p:sldLayoutId id="2147483741" r:id="rId2"/>
    <p:sldLayoutId id="2147483759" r:id="rId3"/>
    <p:sldLayoutId id="2147483663" r:id="rId4"/>
    <p:sldLayoutId id="2147483665" r:id="rId5"/>
    <p:sldLayoutId id="2147483664" r:id="rId6"/>
    <p:sldLayoutId id="2147483668" r:id="rId7"/>
    <p:sldLayoutId id="2147483669" r:id="rId8"/>
    <p:sldLayoutId id="2147483670" r:id="rId9"/>
    <p:sldLayoutId id="2147483671" r:id="rId10"/>
    <p:sldLayoutId id="2147483730" r:id="rId11"/>
    <p:sldLayoutId id="2147483728" r:id="rId12"/>
    <p:sldLayoutId id="2147483673" r:id="rId13"/>
    <p:sldLayoutId id="2147483674" r:id="rId14"/>
    <p:sldLayoutId id="2147483675" r:id="rId15"/>
    <p:sldLayoutId id="2147483747" r:id="rId16"/>
    <p:sldLayoutId id="2147483760" r:id="rId17"/>
    <p:sldLayoutId id="2147483723" r:id="rId18"/>
    <p:sldLayoutId id="2147483724" r:id="rId19"/>
    <p:sldLayoutId id="2147483725" r:id="rId20"/>
    <p:sldLayoutId id="2147483761" r:id="rId21"/>
  </p:sldLayoutIdLst>
  <p:hf hdr="0"/>
  <p:txStyles>
    <p:titleStyle>
      <a:lvl1pPr algn="l" defTabSz="914400" rtl="0" eaLnBrk="1" latinLnBrk="0" hangingPunct="1">
        <a:lnSpc>
          <a:spcPct val="100000"/>
        </a:lnSpc>
        <a:spcBef>
          <a:spcPct val="0"/>
        </a:spcBef>
        <a:buNone/>
        <a:defRPr sz="2200" b="1" kern="1200">
          <a:solidFill>
            <a:schemeClr val="bg2"/>
          </a:solidFill>
          <a:latin typeface="+mj-lt"/>
          <a:ea typeface="+mj-ea"/>
          <a:cs typeface="+mj-cs"/>
        </a:defRPr>
      </a:lvl1pPr>
    </p:titleStyle>
    <p:bodyStyle>
      <a:lvl1pPr marL="270000" indent="-270000" algn="l" defTabSz="914400" rtl="0" eaLnBrk="1" latinLnBrk="0" hangingPunct="1">
        <a:spcBef>
          <a:spcPts val="0"/>
        </a:spcBef>
        <a:spcAft>
          <a:spcPts val="600"/>
        </a:spcAft>
        <a:buClr>
          <a:schemeClr val="tx1"/>
        </a:buClr>
        <a:buFont typeface="Arial" pitchFamily="34" charset="0"/>
        <a:buChar char="–"/>
        <a:defRPr sz="1600" kern="1200">
          <a:solidFill>
            <a:schemeClr val="tx1"/>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1400" kern="1200">
          <a:solidFill>
            <a:schemeClr val="tx1"/>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1200" b="0" kern="1200">
          <a:solidFill>
            <a:schemeClr val="tx1"/>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1.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1.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svg"/><Relationship Id="rId12"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svg"/><Relationship Id="rId9" Type="http://schemas.openxmlformats.org/officeDocument/2006/relationships/image" Target="../media/image15.svg"/><Relationship Id="rId14" Type="http://schemas.openxmlformats.org/officeDocument/2006/relationships/image" Target="../media/image20.svg"/></Relationships>
</file>

<file path=ppt/slides/_rels/slide8.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8.svg"/><Relationship Id="rId3" Type="http://schemas.openxmlformats.org/officeDocument/2006/relationships/image" Target="../media/image9.png"/><Relationship Id="rId7" Type="http://schemas.openxmlformats.org/officeDocument/2006/relationships/image" Target="../media/image14.png"/><Relationship Id="rId12" Type="http://schemas.openxmlformats.org/officeDocument/2006/relationships/image" Target="../media/image20.svg"/><Relationship Id="rId2" Type="http://schemas.openxmlformats.org/officeDocument/2006/relationships/notesSlide" Target="../notesSlides/notesSlide8.xml"/><Relationship Id="rId1" Type="http://schemas.openxmlformats.org/officeDocument/2006/relationships/slideLayout" Target="../slideLayouts/slideLayout21.xml"/><Relationship Id="rId6" Type="http://schemas.openxmlformats.org/officeDocument/2006/relationships/image" Target="../media/image13.svg"/><Relationship Id="rId11" Type="http://schemas.openxmlformats.org/officeDocument/2006/relationships/image" Target="../media/image19.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0.svg"/><Relationship Id="rId9" Type="http://schemas.openxmlformats.org/officeDocument/2006/relationships/image" Target="../media/image16.png"/><Relationship Id="rId14" Type="http://schemas.openxmlformats.org/officeDocument/2006/relationships/image" Target="../media/image11.svg"/></Relationships>
</file>

<file path=ppt/slides/_rels/slide9.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21.png"/><Relationship Id="rId3" Type="http://schemas.openxmlformats.org/officeDocument/2006/relationships/image" Target="../media/image14.png"/><Relationship Id="rId7" Type="http://schemas.openxmlformats.org/officeDocument/2006/relationships/image" Target="../media/image9.png"/><Relationship Id="rId12" Type="http://schemas.openxmlformats.org/officeDocument/2006/relationships/image" Target="../media/image20.svg"/><Relationship Id="rId2" Type="http://schemas.openxmlformats.org/officeDocument/2006/relationships/notesSlide" Target="../notesSlides/notesSlide9.xml"/><Relationship Id="rId16" Type="http://schemas.openxmlformats.org/officeDocument/2006/relationships/image" Target="../media/image10.svg"/><Relationship Id="rId1" Type="http://schemas.openxmlformats.org/officeDocument/2006/relationships/slideLayout" Target="../slideLayouts/slideLayout21.xml"/><Relationship Id="rId6" Type="http://schemas.openxmlformats.org/officeDocument/2006/relationships/image" Target="../media/image18.svg"/><Relationship Id="rId11" Type="http://schemas.openxmlformats.org/officeDocument/2006/relationships/image" Target="../media/image19.png"/><Relationship Id="rId5" Type="http://schemas.openxmlformats.org/officeDocument/2006/relationships/image" Target="../media/image12.png"/><Relationship Id="rId15" Type="http://schemas.openxmlformats.org/officeDocument/2006/relationships/image" Target="../media/image13.svg"/><Relationship Id="rId10" Type="http://schemas.openxmlformats.org/officeDocument/2006/relationships/image" Target="../media/image17.svg"/><Relationship Id="rId4" Type="http://schemas.openxmlformats.org/officeDocument/2006/relationships/image" Target="../media/image15.svg"/><Relationship Id="rId9" Type="http://schemas.openxmlformats.org/officeDocument/2006/relationships/image" Target="../media/image16.png"/><Relationship Id="rId1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openxmlformats.org/officeDocument/2006/relationships/image" Target="../media/image24.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kgcampus.sapjam.com/groups/gvRGn5LJEhzv7crNzYhwiP/documents/mOFw4uGAeiOfbvn3vt53IC/slide_viewer" TargetMode="External"/><Relationship Id="rId2" Type="http://schemas.openxmlformats.org/officeDocument/2006/relationships/notesSlide" Target="../notesSlides/notesSlide15.xml"/><Relationship Id="rId1" Type="http://schemas.openxmlformats.org/officeDocument/2006/relationships/slideLayout" Target="../slideLayouts/slideLayout21.xml"/><Relationship Id="rId5" Type="http://schemas.openxmlformats.org/officeDocument/2006/relationships/hyperlink" Target="https://database.ich.org/sites/default/files/E9-R1_Step4_Guideline_2019_1203.pdf" TargetMode="External"/><Relationship Id="rId4" Type="http://schemas.openxmlformats.org/officeDocument/2006/relationships/hyperlink" Target="https://myconnect.gsk.com/sites/bds/SPDSInfoHub/Shared%20Documents/Missing%20Data/White%20paper%20on%20estimands%2025%20Oct%202018.pdf"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4.sv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4.sv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endParaRPr lang="en-US"/>
          </a:p>
        </p:txBody>
      </p:sp>
      <p:sp>
        <p:nvSpPr>
          <p:cNvPr id="3" name="Text Placeholder 2"/>
          <p:cNvSpPr>
            <a:spLocks noGrp="1"/>
          </p:cNvSpPr>
          <p:nvPr>
            <p:ph type="body" sz="quarter" idx="10"/>
          </p:nvPr>
        </p:nvSpPr>
        <p:spPr>
          <a:xfrm>
            <a:off x="360000" y="2840385"/>
            <a:ext cx="8196702" cy="823302"/>
          </a:xfrm>
        </p:spPr>
        <p:txBody>
          <a:bodyPr wrap="square" lIns="0" tIns="45720" rIns="91440" bIns="45720" anchor="b" anchorCtr="0">
            <a:spAutoFit/>
          </a:bodyPr>
          <a:lstStyle/>
          <a:p>
            <a:r>
              <a:rPr lang="en-GB">
                <a:solidFill>
                  <a:schemeClr val="bg2"/>
                </a:solidFill>
              </a:rPr>
              <a:t>Missing Data</a:t>
            </a:r>
          </a:p>
        </p:txBody>
      </p:sp>
    </p:spTree>
    <p:extLst>
      <p:ext uri="{BB962C8B-B14F-4D97-AF65-F5344CB8AC3E}">
        <p14:creationId xmlns:p14="http://schemas.microsoft.com/office/powerpoint/2010/main" val="2370862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103CD5-2067-4A95-AB93-9059B374434E}"/>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D2D9E890-485F-49B1-B52C-1F206A030E76}"/>
              </a:ext>
            </a:extLst>
          </p:cNvPr>
          <p:cNvSpPr>
            <a:spLocks noGrp="1"/>
          </p:cNvSpPr>
          <p:nvPr>
            <p:ph type="title"/>
          </p:nvPr>
        </p:nvSpPr>
        <p:spPr/>
        <p:txBody>
          <a:bodyPr/>
          <a:lstStyle/>
          <a:p>
            <a:r>
              <a:rPr lang="en-GB"/>
              <a:t>What is the problem?</a:t>
            </a:r>
          </a:p>
        </p:txBody>
      </p:sp>
      <p:sp>
        <p:nvSpPr>
          <p:cNvPr id="5" name="Slide Number Placeholder 4">
            <a:extLst>
              <a:ext uri="{FF2B5EF4-FFF2-40B4-BE49-F238E27FC236}">
                <a16:creationId xmlns:a16="http://schemas.microsoft.com/office/drawing/2014/main" id="{29A7FEA6-F8BD-44DE-BC93-AE87AE35BECA}"/>
              </a:ext>
            </a:extLst>
          </p:cNvPr>
          <p:cNvSpPr>
            <a:spLocks noGrp="1"/>
          </p:cNvSpPr>
          <p:nvPr>
            <p:ph type="sldNum" sz="quarter" idx="21"/>
          </p:nvPr>
        </p:nvSpPr>
        <p:spPr/>
        <p:txBody>
          <a:bodyPr/>
          <a:lstStyle/>
          <a:p>
            <a:fld id="{9F9F533D-B52E-4A2F-BF72-0ADD2D94BD75}" type="slidenum">
              <a:rPr lang="en-GB" smtClean="0"/>
              <a:pPr/>
              <a:t>2</a:t>
            </a:fld>
            <a:endParaRPr lang="en-GB"/>
          </a:p>
        </p:txBody>
      </p:sp>
      <p:pic>
        <p:nvPicPr>
          <p:cNvPr id="7" name="Graphic 6" descr="Puzzle pieces">
            <a:extLst>
              <a:ext uri="{FF2B5EF4-FFF2-40B4-BE49-F238E27FC236}">
                <a16:creationId xmlns:a16="http://schemas.microsoft.com/office/drawing/2014/main" id="{118B75E5-63A7-4ACE-AF6B-E746391B40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00362" y="1106672"/>
            <a:ext cx="3343275" cy="3343275"/>
          </a:xfrm>
          <a:prstGeom prst="rect">
            <a:avLst/>
          </a:prstGeom>
        </p:spPr>
      </p:pic>
      <p:sp>
        <p:nvSpPr>
          <p:cNvPr id="9" name="Date Placeholder 6">
            <a:extLst>
              <a:ext uri="{FF2B5EF4-FFF2-40B4-BE49-F238E27FC236}">
                <a16:creationId xmlns:a16="http://schemas.microsoft.com/office/drawing/2014/main" id="{E44E9E7F-C8EF-4862-AF92-4A0D45A3B103}"/>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2890069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1C64ED-4283-4A17-810A-17A2C90A680C}"/>
              </a:ext>
            </a:extLst>
          </p:cNvPr>
          <p:cNvSpPr>
            <a:spLocks noGrp="1"/>
          </p:cNvSpPr>
          <p:nvPr>
            <p:ph sz="quarter" idx="12"/>
          </p:nvPr>
        </p:nvSpPr>
        <p:spPr>
          <a:xfrm>
            <a:off x="514855" y="3094619"/>
            <a:ext cx="8114289" cy="1455838"/>
          </a:xfrm>
        </p:spPr>
        <p:txBody>
          <a:bodyPr/>
          <a:lstStyle/>
          <a:p>
            <a:r>
              <a:rPr lang="en-GB"/>
              <a:t>The inferences about our medicines comes from our data</a:t>
            </a:r>
          </a:p>
          <a:p>
            <a:r>
              <a:rPr lang="en-GB"/>
              <a:t>Missing data may seriously compromise our inferences by introducing bias, especially if missing data are not handled appropriately. </a:t>
            </a:r>
          </a:p>
          <a:p>
            <a:pPr lvl="1"/>
            <a:r>
              <a:rPr lang="en-GB"/>
              <a:t>Loss of power, inefficiencies and potentially false positive findings (Type I Error). </a:t>
            </a:r>
          </a:p>
          <a:p>
            <a:pPr lvl="1"/>
            <a:r>
              <a:rPr lang="en-GB"/>
              <a:t>Inaccurate conclusions for the investigative treatment.</a:t>
            </a:r>
          </a:p>
        </p:txBody>
      </p:sp>
      <p:sp>
        <p:nvSpPr>
          <p:cNvPr id="3" name="Text Placeholder 2">
            <a:extLst>
              <a:ext uri="{FF2B5EF4-FFF2-40B4-BE49-F238E27FC236}">
                <a16:creationId xmlns:a16="http://schemas.microsoft.com/office/drawing/2014/main" id="{91103CD5-2067-4A95-AB93-9059B374434E}"/>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D2D9E890-485F-49B1-B52C-1F206A030E76}"/>
              </a:ext>
            </a:extLst>
          </p:cNvPr>
          <p:cNvSpPr>
            <a:spLocks noGrp="1"/>
          </p:cNvSpPr>
          <p:nvPr>
            <p:ph type="title"/>
          </p:nvPr>
        </p:nvSpPr>
        <p:spPr/>
        <p:txBody>
          <a:bodyPr/>
          <a:lstStyle/>
          <a:p>
            <a:r>
              <a:rPr lang="en-GB"/>
              <a:t>Why do we need to do something about it?</a:t>
            </a:r>
          </a:p>
        </p:txBody>
      </p:sp>
      <p:sp>
        <p:nvSpPr>
          <p:cNvPr id="5" name="Slide Number Placeholder 4">
            <a:extLst>
              <a:ext uri="{FF2B5EF4-FFF2-40B4-BE49-F238E27FC236}">
                <a16:creationId xmlns:a16="http://schemas.microsoft.com/office/drawing/2014/main" id="{29A7FEA6-F8BD-44DE-BC93-AE87AE35BECA}"/>
              </a:ext>
            </a:extLst>
          </p:cNvPr>
          <p:cNvSpPr>
            <a:spLocks noGrp="1"/>
          </p:cNvSpPr>
          <p:nvPr>
            <p:ph type="sldNum" sz="quarter" idx="21"/>
          </p:nvPr>
        </p:nvSpPr>
        <p:spPr/>
        <p:txBody>
          <a:bodyPr/>
          <a:lstStyle/>
          <a:p>
            <a:fld id="{9F9F533D-B52E-4A2F-BF72-0ADD2D94BD75}" type="slidenum">
              <a:rPr lang="en-GB" smtClean="0"/>
              <a:pPr/>
              <a:t>3</a:t>
            </a:fld>
            <a:endParaRPr lang="en-GB"/>
          </a:p>
        </p:txBody>
      </p:sp>
      <p:pic>
        <p:nvPicPr>
          <p:cNvPr id="11" name="Graphic 10" descr="Checklist">
            <a:extLst>
              <a:ext uri="{FF2B5EF4-FFF2-40B4-BE49-F238E27FC236}">
                <a16:creationId xmlns:a16="http://schemas.microsoft.com/office/drawing/2014/main" id="{3939563E-3CAB-4B63-BE48-39795483E9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62642" y="1379070"/>
            <a:ext cx="914400" cy="914400"/>
          </a:xfrm>
          <a:prstGeom prst="rect">
            <a:avLst/>
          </a:prstGeom>
        </p:spPr>
      </p:pic>
      <p:sp>
        <p:nvSpPr>
          <p:cNvPr id="12" name="Freeform 5">
            <a:extLst>
              <a:ext uri="{FF2B5EF4-FFF2-40B4-BE49-F238E27FC236}">
                <a16:creationId xmlns:a16="http://schemas.microsoft.com/office/drawing/2014/main" id="{23EAF5E1-9C9B-46BE-B02C-6A4440B4CD36}"/>
              </a:ext>
            </a:extLst>
          </p:cNvPr>
          <p:cNvSpPr>
            <a:spLocks noChangeAspect="1" noEditPoints="1"/>
          </p:cNvSpPr>
          <p:nvPr/>
        </p:nvSpPr>
        <p:spPr bwMode="auto">
          <a:xfrm>
            <a:off x="6903499" y="1273800"/>
            <a:ext cx="619291" cy="1124941"/>
          </a:xfrm>
          <a:custGeom>
            <a:avLst/>
            <a:gdLst>
              <a:gd name="T0" fmla="*/ 495 w 1210"/>
              <a:gd name="T1" fmla="*/ 1718 h 2200"/>
              <a:gd name="T2" fmla="*/ 962 w 1210"/>
              <a:gd name="T3" fmla="*/ 1718 h 2200"/>
              <a:gd name="T4" fmla="*/ 962 w 1210"/>
              <a:gd name="T5" fmla="*/ 1636 h 2200"/>
              <a:gd name="T6" fmla="*/ 495 w 1210"/>
              <a:gd name="T7" fmla="*/ 1636 h 2200"/>
              <a:gd name="T8" fmla="*/ 495 w 1210"/>
              <a:gd name="T9" fmla="*/ 1718 h 2200"/>
              <a:gd name="T10" fmla="*/ 151 w 1210"/>
              <a:gd name="T11" fmla="*/ 412 h 2200"/>
              <a:gd name="T12" fmla="*/ 1058 w 1210"/>
              <a:gd name="T13" fmla="*/ 412 h 2200"/>
              <a:gd name="T14" fmla="*/ 1100 w 1210"/>
              <a:gd name="T15" fmla="*/ 371 h 2200"/>
              <a:gd name="T16" fmla="*/ 1100 w 1210"/>
              <a:gd name="T17" fmla="*/ 41 h 2200"/>
              <a:gd name="T18" fmla="*/ 1058 w 1210"/>
              <a:gd name="T19" fmla="*/ 0 h 2200"/>
              <a:gd name="T20" fmla="*/ 151 w 1210"/>
              <a:gd name="T21" fmla="*/ 0 h 2200"/>
              <a:gd name="T22" fmla="*/ 110 w 1210"/>
              <a:gd name="T23" fmla="*/ 41 h 2200"/>
              <a:gd name="T24" fmla="*/ 110 w 1210"/>
              <a:gd name="T25" fmla="*/ 371 h 2200"/>
              <a:gd name="T26" fmla="*/ 151 w 1210"/>
              <a:gd name="T27" fmla="*/ 412 h 2200"/>
              <a:gd name="T28" fmla="*/ 495 w 1210"/>
              <a:gd name="T29" fmla="*/ 1553 h 2200"/>
              <a:gd name="T30" fmla="*/ 962 w 1210"/>
              <a:gd name="T31" fmla="*/ 1553 h 2200"/>
              <a:gd name="T32" fmla="*/ 962 w 1210"/>
              <a:gd name="T33" fmla="*/ 1471 h 2200"/>
              <a:gd name="T34" fmla="*/ 495 w 1210"/>
              <a:gd name="T35" fmla="*/ 1471 h 2200"/>
              <a:gd name="T36" fmla="*/ 495 w 1210"/>
              <a:gd name="T37" fmla="*/ 1553 h 2200"/>
              <a:gd name="T38" fmla="*/ 1045 w 1210"/>
              <a:gd name="T39" fmla="*/ 660 h 2200"/>
              <a:gd name="T40" fmla="*/ 962 w 1210"/>
              <a:gd name="T41" fmla="*/ 660 h 2200"/>
              <a:gd name="T42" fmla="*/ 962 w 1210"/>
              <a:gd name="T43" fmla="*/ 577 h 2200"/>
              <a:gd name="T44" fmla="*/ 990 w 1210"/>
              <a:gd name="T45" fmla="*/ 577 h 2200"/>
              <a:gd name="T46" fmla="*/ 1031 w 1210"/>
              <a:gd name="T47" fmla="*/ 536 h 2200"/>
              <a:gd name="T48" fmla="*/ 990 w 1210"/>
              <a:gd name="T49" fmla="*/ 495 h 2200"/>
              <a:gd name="T50" fmla="*/ 220 w 1210"/>
              <a:gd name="T51" fmla="*/ 495 h 2200"/>
              <a:gd name="T52" fmla="*/ 178 w 1210"/>
              <a:gd name="T53" fmla="*/ 536 h 2200"/>
              <a:gd name="T54" fmla="*/ 220 w 1210"/>
              <a:gd name="T55" fmla="*/ 577 h 2200"/>
              <a:gd name="T56" fmla="*/ 247 w 1210"/>
              <a:gd name="T57" fmla="*/ 577 h 2200"/>
              <a:gd name="T58" fmla="*/ 247 w 1210"/>
              <a:gd name="T59" fmla="*/ 660 h 2200"/>
              <a:gd name="T60" fmla="*/ 165 w 1210"/>
              <a:gd name="T61" fmla="*/ 660 h 2200"/>
              <a:gd name="T62" fmla="*/ 0 w 1210"/>
              <a:gd name="T63" fmla="*/ 825 h 2200"/>
              <a:gd name="T64" fmla="*/ 0 w 1210"/>
              <a:gd name="T65" fmla="*/ 2035 h 2200"/>
              <a:gd name="T66" fmla="*/ 165 w 1210"/>
              <a:gd name="T67" fmla="*/ 2200 h 2200"/>
              <a:gd name="T68" fmla="*/ 1045 w 1210"/>
              <a:gd name="T69" fmla="*/ 2200 h 2200"/>
              <a:gd name="T70" fmla="*/ 1210 w 1210"/>
              <a:gd name="T71" fmla="*/ 2035 h 2200"/>
              <a:gd name="T72" fmla="*/ 1210 w 1210"/>
              <a:gd name="T73" fmla="*/ 825 h 2200"/>
              <a:gd name="T74" fmla="*/ 1045 w 1210"/>
              <a:gd name="T75" fmla="*/ 660 h 2200"/>
              <a:gd name="T76" fmla="*/ 1045 w 1210"/>
              <a:gd name="T77" fmla="*/ 1883 h 2200"/>
              <a:gd name="T78" fmla="*/ 165 w 1210"/>
              <a:gd name="T79" fmla="*/ 1883 h 2200"/>
              <a:gd name="T80" fmla="*/ 165 w 1210"/>
              <a:gd name="T81" fmla="*/ 976 h 2200"/>
              <a:gd name="T82" fmla="*/ 1045 w 1210"/>
              <a:gd name="T83" fmla="*/ 976 h 2200"/>
              <a:gd name="T84" fmla="*/ 1045 w 1210"/>
              <a:gd name="T85" fmla="*/ 1883 h 2200"/>
              <a:gd name="T86" fmla="*/ 495 w 1210"/>
              <a:gd name="T87" fmla="*/ 1388 h 2200"/>
              <a:gd name="T88" fmla="*/ 962 w 1210"/>
              <a:gd name="T89" fmla="*/ 1388 h 2200"/>
              <a:gd name="T90" fmla="*/ 962 w 1210"/>
              <a:gd name="T91" fmla="*/ 1306 h 2200"/>
              <a:gd name="T92" fmla="*/ 495 w 1210"/>
              <a:gd name="T93" fmla="*/ 1306 h 2200"/>
              <a:gd name="T94" fmla="*/ 495 w 1210"/>
              <a:gd name="T95" fmla="*/ 1388 h 2200"/>
              <a:gd name="T96" fmla="*/ 962 w 1210"/>
              <a:gd name="T97" fmla="*/ 1141 h 2200"/>
              <a:gd name="T98" fmla="*/ 247 w 1210"/>
              <a:gd name="T99" fmla="*/ 1141 h 2200"/>
              <a:gd name="T100" fmla="*/ 247 w 1210"/>
              <a:gd name="T101" fmla="*/ 1223 h 2200"/>
              <a:gd name="T102" fmla="*/ 962 w 1210"/>
              <a:gd name="T103" fmla="*/ 1223 h 2200"/>
              <a:gd name="T104" fmla="*/ 962 w 1210"/>
              <a:gd name="T105" fmla="*/ 1141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10" h="2200">
                <a:moveTo>
                  <a:pt x="495" y="1718"/>
                </a:moveTo>
                <a:cubicBezTo>
                  <a:pt x="962" y="1718"/>
                  <a:pt x="962" y="1718"/>
                  <a:pt x="962" y="1718"/>
                </a:cubicBezTo>
                <a:cubicBezTo>
                  <a:pt x="962" y="1636"/>
                  <a:pt x="962" y="1636"/>
                  <a:pt x="962" y="1636"/>
                </a:cubicBezTo>
                <a:cubicBezTo>
                  <a:pt x="495" y="1636"/>
                  <a:pt x="495" y="1636"/>
                  <a:pt x="495" y="1636"/>
                </a:cubicBezTo>
                <a:lnTo>
                  <a:pt x="495" y="1718"/>
                </a:lnTo>
                <a:close/>
                <a:moveTo>
                  <a:pt x="151" y="412"/>
                </a:moveTo>
                <a:cubicBezTo>
                  <a:pt x="1058" y="412"/>
                  <a:pt x="1058" y="412"/>
                  <a:pt x="1058" y="412"/>
                </a:cubicBezTo>
                <a:cubicBezTo>
                  <a:pt x="1081" y="412"/>
                  <a:pt x="1100" y="394"/>
                  <a:pt x="1100" y="371"/>
                </a:cubicBezTo>
                <a:cubicBezTo>
                  <a:pt x="1100" y="41"/>
                  <a:pt x="1100" y="41"/>
                  <a:pt x="1100" y="41"/>
                </a:cubicBezTo>
                <a:cubicBezTo>
                  <a:pt x="1100" y="18"/>
                  <a:pt x="1081" y="0"/>
                  <a:pt x="1058" y="0"/>
                </a:cubicBezTo>
                <a:cubicBezTo>
                  <a:pt x="151" y="0"/>
                  <a:pt x="151" y="0"/>
                  <a:pt x="151" y="0"/>
                </a:cubicBezTo>
                <a:cubicBezTo>
                  <a:pt x="128" y="0"/>
                  <a:pt x="110" y="18"/>
                  <a:pt x="110" y="41"/>
                </a:cubicBezTo>
                <a:cubicBezTo>
                  <a:pt x="110" y="371"/>
                  <a:pt x="110" y="371"/>
                  <a:pt x="110" y="371"/>
                </a:cubicBezTo>
                <a:cubicBezTo>
                  <a:pt x="110" y="394"/>
                  <a:pt x="128" y="412"/>
                  <a:pt x="151" y="412"/>
                </a:cubicBezTo>
                <a:moveTo>
                  <a:pt x="495" y="1553"/>
                </a:moveTo>
                <a:cubicBezTo>
                  <a:pt x="962" y="1553"/>
                  <a:pt x="962" y="1553"/>
                  <a:pt x="962" y="1553"/>
                </a:cubicBezTo>
                <a:cubicBezTo>
                  <a:pt x="962" y="1471"/>
                  <a:pt x="962" y="1471"/>
                  <a:pt x="962" y="1471"/>
                </a:cubicBezTo>
                <a:cubicBezTo>
                  <a:pt x="495" y="1471"/>
                  <a:pt x="495" y="1471"/>
                  <a:pt x="495" y="1471"/>
                </a:cubicBezTo>
                <a:lnTo>
                  <a:pt x="495" y="1553"/>
                </a:lnTo>
                <a:close/>
                <a:moveTo>
                  <a:pt x="1045" y="660"/>
                </a:moveTo>
                <a:cubicBezTo>
                  <a:pt x="962" y="660"/>
                  <a:pt x="962" y="660"/>
                  <a:pt x="962" y="660"/>
                </a:cubicBezTo>
                <a:cubicBezTo>
                  <a:pt x="962" y="577"/>
                  <a:pt x="962" y="577"/>
                  <a:pt x="962" y="577"/>
                </a:cubicBezTo>
                <a:cubicBezTo>
                  <a:pt x="990" y="577"/>
                  <a:pt x="990" y="577"/>
                  <a:pt x="990" y="577"/>
                </a:cubicBezTo>
                <a:cubicBezTo>
                  <a:pt x="1012" y="577"/>
                  <a:pt x="1031" y="559"/>
                  <a:pt x="1031" y="536"/>
                </a:cubicBezTo>
                <a:cubicBezTo>
                  <a:pt x="1031" y="513"/>
                  <a:pt x="1012" y="495"/>
                  <a:pt x="990" y="495"/>
                </a:cubicBezTo>
                <a:cubicBezTo>
                  <a:pt x="220" y="495"/>
                  <a:pt x="220" y="495"/>
                  <a:pt x="220" y="495"/>
                </a:cubicBezTo>
                <a:cubicBezTo>
                  <a:pt x="197" y="495"/>
                  <a:pt x="178" y="513"/>
                  <a:pt x="178" y="536"/>
                </a:cubicBezTo>
                <a:cubicBezTo>
                  <a:pt x="178" y="559"/>
                  <a:pt x="197" y="577"/>
                  <a:pt x="220" y="577"/>
                </a:cubicBezTo>
                <a:cubicBezTo>
                  <a:pt x="247" y="577"/>
                  <a:pt x="247" y="577"/>
                  <a:pt x="247" y="577"/>
                </a:cubicBezTo>
                <a:cubicBezTo>
                  <a:pt x="247" y="660"/>
                  <a:pt x="247" y="660"/>
                  <a:pt x="247" y="660"/>
                </a:cubicBezTo>
                <a:cubicBezTo>
                  <a:pt x="165" y="660"/>
                  <a:pt x="165" y="660"/>
                  <a:pt x="165" y="660"/>
                </a:cubicBezTo>
                <a:cubicBezTo>
                  <a:pt x="74" y="660"/>
                  <a:pt x="0" y="734"/>
                  <a:pt x="0" y="825"/>
                </a:cubicBezTo>
                <a:cubicBezTo>
                  <a:pt x="0" y="2035"/>
                  <a:pt x="0" y="2035"/>
                  <a:pt x="0" y="2035"/>
                </a:cubicBezTo>
                <a:cubicBezTo>
                  <a:pt x="0" y="2125"/>
                  <a:pt x="74" y="2200"/>
                  <a:pt x="165" y="2200"/>
                </a:cubicBezTo>
                <a:cubicBezTo>
                  <a:pt x="1045" y="2200"/>
                  <a:pt x="1045" y="2200"/>
                  <a:pt x="1045" y="2200"/>
                </a:cubicBezTo>
                <a:cubicBezTo>
                  <a:pt x="1135" y="2200"/>
                  <a:pt x="1210" y="2125"/>
                  <a:pt x="1210" y="2035"/>
                </a:cubicBezTo>
                <a:cubicBezTo>
                  <a:pt x="1210" y="825"/>
                  <a:pt x="1210" y="825"/>
                  <a:pt x="1210" y="825"/>
                </a:cubicBezTo>
                <a:cubicBezTo>
                  <a:pt x="1210" y="734"/>
                  <a:pt x="1135" y="660"/>
                  <a:pt x="1045" y="660"/>
                </a:cubicBezTo>
                <a:moveTo>
                  <a:pt x="1045" y="1883"/>
                </a:moveTo>
                <a:cubicBezTo>
                  <a:pt x="165" y="1883"/>
                  <a:pt x="165" y="1883"/>
                  <a:pt x="165" y="1883"/>
                </a:cubicBezTo>
                <a:cubicBezTo>
                  <a:pt x="165" y="976"/>
                  <a:pt x="165" y="976"/>
                  <a:pt x="165" y="976"/>
                </a:cubicBezTo>
                <a:cubicBezTo>
                  <a:pt x="1045" y="976"/>
                  <a:pt x="1045" y="976"/>
                  <a:pt x="1045" y="976"/>
                </a:cubicBezTo>
                <a:lnTo>
                  <a:pt x="1045" y="1883"/>
                </a:lnTo>
                <a:close/>
                <a:moveTo>
                  <a:pt x="495" y="1388"/>
                </a:moveTo>
                <a:cubicBezTo>
                  <a:pt x="962" y="1388"/>
                  <a:pt x="962" y="1388"/>
                  <a:pt x="962" y="1388"/>
                </a:cubicBezTo>
                <a:cubicBezTo>
                  <a:pt x="962" y="1306"/>
                  <a:pt x="962" y="1306"/>
                  <a:pt x="962" y="1306"/>
                </a:cubicBezTo>
                <a:cubicBezTo>
                  <a:pt x="495" y="1306"/>
                  <a:pt x="495" y="1306"/>
                  <a:pt x="495" y="1306"/>
                </a:cubicBezTo>
                <a:lnTo>
                  <a:pt x="495" y="1388"/>
                </a:lnTo>
                <a:close/>
                <a:moveTo>
                  <a:pt x="962" y="1141"/>
                </a:moveTo>
                <a:cubicBezTo>
                  <a:pt x="247" y="1141"/>
                  <a:pt x="247" y="1141"/>
                  <a:pt x="247" y="1141"/>
                </a:cubicBezTo>
                <a:cubicBezTo>
                  <a:pt x="247" y="1223"/>
                  <a:pt x="247" y="1223"/>
                  <a:pt x="247" y="1223"/>
                </a:cubicBezTo>
                <a:cubicBezTo>
                  <a:pt x="962" y="1223"/>
                  <a:pt x="962" y="1223"/>
                  <a:pt x="962" y="1223"/>
                </a:cubicBezTo>
                <a:lnTo>
                  <a:pt x="962" y="1141"/>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13" name="Group 440">
            <a:extLst>
              <a:ext uri="{FF2B5EF4-FFF2-40B4-BE49-F238E27FC236}">
                <a16:creationId xmlns:a16="http://schemas.microsoft.com/office/drawing/2014/main" id="{F34D1F5B-4D67-40C9-8BAE-0B7793683211}"/>
              </a:ext>
            </a:extLst>
          </p:cNvPr>
          <p:cNvGrpSpPr>
            <a:grpSpLocks noChangeAspect="1"/>
          </p:cNvGrpSpPr>
          <p:nvPr/>
        </p:nvGrpSpPr>
        <p:grpSpPr bwMode="auto">
          <a:xfrm>
            <a:off x="6463744" y="2050036"/>
            <a:ext cx="524886" cy="525600"/>
            <a:chOff x="-1100" y="2522"/>
            <a:chExt cx="735" cy="736"/>
          </a:xfrm>
          <a:solidFill>
            <a:schemeClr val="bg1">
              <a:lumMod val="65000"/>
            </a:schemeClr>
          </a:solidFill>
        </p:grpSpPr>
        <p:sp>
          <p:nvSpPr>
            <p:cNvPr id="14" name="Freeform 441">
              <a:extLst>
                <a:ext uri="{FF2B5EF4-FFF2-40B4-BE49-F238E27FC236}">
                  <a16:creationId xmlns:a16="http://schemas.microsoft.com/office/drawing/2014/main" id="{D06A288F-BEAE-4DDB-A943-95A64B12ADEC}"/>
                </a:ext>
              </a:extLst>
            </p:cNvPr>
            <p:cNvSpPr>
              <a:spLocks noEditPoints="1"/>
            </p:cNvSpPr>
            <p:nvPr/>
          </p:nvSpPr>
          <p:spPr bwMode="auto">
            <a:xfrm>
              <a:off x="-1100" y="2522"/>
              <a:ext cx="460" cy="460"/>
            </a:xfrm>
            <a:custGeom>
              <a:avLst/>
              <a:gdLst>
                <a:gd name="T0" fmla="*/ 1372 w 1375"/>
                <a:gd name="T1" fmla="*/ 756 h 1375"/>
                <a:gd name="T2" fmla="*/ 1375 w 1375"/>
                <a:gd name="T3" fmla="*/ 688 h 1375"/>
                <a:gd name="T4" fmla="*/ 688 w 1375"/>
                <a:gd name="T5" fmla="*/ 0 h 1375"/>
                <a:gd name="T6" fmla="*/ 0 w 1375"/>
                <a:gd name="T7" fmla="*/ 688 h 1375"/>
                <a:gd name="T8" fmla="*/ 688 w 1375"/>
                <a:gd name="T9" fmla="*/ 1375 h 1375"/>
                <a:gd name="T10" fmla="*/ 756 w 1375"/>
                <a:gd name="T11" fmla="*/ 1372 h 1375"/>
                <a:gd name="T12" fmla="*/ 1372 w 1375"/>
                <a:gd name="T13" fmla="*/ 756 h 1375"/>
                <a:gd name="T14" fmla="*/ 494 w 1375"/>
                <a:gd name="T15" fmla="*/ 999 h 1375"/>
                <a:gd name="T16" fmla="*/ 435 w 1375"/>
                <a:gd name="T17" fmla="*/ 1023 h 1375"/>
                <a:gd name="T18" fmla="*/ 377 w 1375"/>
                <a:gd name="T19" fmla="*/ 999 h 1375"/>
                <a:gd name="T20" fmla="*/ 377 w 1375"/>
                <a:gd name="T21" fmla="*/ 882 h 1375"/>
                <a:gd name="T22" fmla="*/ 882 w 1375"/>
                <a:gd name="T23" fmla="*/ 377 h 1375"/>
                <a:gd name="T24" fmla="*/ 999 w 1375"/>
                <a:gd name="T25" fmla="*/ 377 h 1375"/>
                <a:gd name="T26" fmla="*/ 999 w 1375"/>
                <a:gd name="T27" fmla="*/ 493 h 1375"/>
                <a:gd name="T28" fmla="*/ 494 w 1375"/>
                <a:gd name="T29" fmla="*/ 999 h 1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75" h="1375">
                  <a:moveTo>
                    <a:pt x="1372" y="756"/>
                  </a:moveTo>
                  <a:cubicBezTo>
                    <a:pt x="1374" y="733"/>
                    <a:pt x="1375" y="711"/>
                    <a:pt x="1375" y="688"/>
                  </a:cubicBezTo>
                  <a:cubicBezTo>
                    <a:pt x="1375" y="308"/>
                    <a:pt x="1068" y="0"/>
                    <a:pt x="688" y="0"/>
                  </a:cubicBezTo>
                  <a:cubicBezTo>
                    <a:pt x="308" y="0"/>
                    <a:pt x="0" y="308"/>
                    <a:pt x="0" y="688"/>
                  </a:cubicBezTo>
                  <a:cubicBezTo>
                    <a:pt x="0" y="1067"/>
                    <a:pt x="308" y="1375"/>
                    <a:pt x="688" y="1375"/>
                  </a:cubicBezTo>
                  <a:cubicBezTo>
                    <a:pt x="711" y="1375"/>
                    <a:pt x="734" y="1374"/>
                    <a:pt x="756" y="1372"/>
                  </a:cubicBezTo>
                  <a:cubicBezTo>
                    <a:pt x="814" y="1060"/>
                    <a:pt x="1060" y="814"/>
                    <a:pt x="1372" y="756"/>
                  </a:cubicBezTo>
                  <a:close/>
                  <a:moveTo>
                    <a:pt x="494" y="999"/>
                  </a:moveTo>
                  <a:cubicBezTo>
                    <a:pt x="477" y="1015"/>
                    <a:pt x="456" y="1023"/>
                    <a:pt x="435" y="1023"/>
                  </a:cubicBezTo>
                  <a:cubicBezTo>
                    <a:pt x="414" y="1023"/>
                    <a:pt x="393" y="1015"/>
                    <a:pt x="377" y="999"/>
                  </a:cubicBezTo>
                  <a:cubicBezTo>
                    <a:pt x="345" y="967"/>
                    <a:pt x="345" y="914"/>
                    <a:pt x="377" y="882"/>
                  </a:cubicBezTo>
                  <a:cubicBezTo>
                    <a:pt x="882" y="377"/>
                    <a:pt x="882" y="377"/>
                    <a:pt x="882" y="377"/>
                  </a:cubicBezTo>
                  <a:cubicBezTo>
                    <a:pt x="915" y="344"/>
                    <a:pt x="967" y="344"/>
                    <a:pt x="999" y="377"/>
                  </a:cubicBezTo>
                  <a:cubicBezTo>
                    <a:pt x="1031" y="409"/>
                    <a:pt x="1031" y="461"/>
                    <a:pt x="999" y="493"/>
                  </a:cubicBezTo>
                  <a:lnTo>
                    <a:pt x="494" y="9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442">
              <a:extLst>
                <a:ext uri="{FF2B5EF4-FFF2-40B4-BE49-F238E27FC236}">
                  <a16:creationId xmlns:a16="http://schemas.microsoft.com/office/drawing/2014/main" id="{06E24E54-454E-401C-8795-3F2D7BBC0FE5}"/>
                </a:ext>
              </a:extLst>
            </p:cNvPr>
            <p:cNvSpPr>
              <a:spLocks noEditPoints="1"/>
            </p:cNvSpPr>
            <p:nvPr/>
          </p:nvSpPr>
          <p:spPr bwMode="auto">
            <a:xfrm>
              <a:off x="-824" y="2798"/>
              <a:ext cx="459" cy="460"/>
            </a:xfrm>
            <a:custGeom>
              <a:avLst/>
              <a:gdLst>
                <a:gd name="T0" fmla="*/ 688 w 1375"/>
                <a:gd name="T1" fmla="*/ 0 h 1375"/>
                <a:gd name="T2" fmla="*/ 0 w 1375"/>
                <a:gd name="T3" fmla="*/ 688 h 1375"/>
                <a:gd name="T4" fmla="*/ 688 w 1375"/>
                <a:gd name="T5" fmla="*/ 1375 h 1375"/>
                <a:gd name="T6" fmla="*/ 1375 w 1375"/>
                <a:gd name="T7" fmla="*/ 688 h 1375"/>
                <a:gd name="T8" fmla="*/ 688 w 1375"/>
                <a:gd name="T9" fmla="*/ 0 h 1375"/>
                <a:gd name="T10" fmla="*/ 1045 w 1375"/>
                <a:gd name="T11" fmla="*/ 770 h 1375"/>
                <a:gd name="T12" fmla="*/ 330 w 1375"/>
                <a:gd name="T13" fmla="*/ 770 h 1375"/>
                <a:gd name="T14" fmla="*/ 248 w 1375"/>
                <a:gd name="T15" fmla="*/ 688 h 1375"/>
                <a:gd name="T16" fmla="*/ 330 w 1375"/>
                <a:gd name="T17" fmla="*/ 605 h 1375"/>
                <a:gd name="T18" fmla="*/ 1045 w 1375"/>
                <a:gd name="T19" fmla="*/ 605 h 1375"/>
                <a:gd name="T20" fmla="*/ 1128 w 1375"/>
                <a:gd name="T21" fmla="*/ 688 h 1375"/>
                <a:gd name="T22" fmla="*/ 1045 w 1375"/>
                <a:gd name="T23" fmla="*/ 770 h 1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75" h="1375">
                  <a:moveTo>
                    <a:pt x="688" y="0"/>
                  </a:moveTo>
                  <a:cubicBezTo>
                    <a:pt x="308" y="0"/>
                    <a:pt x="0" y="308"/>
                    <a:pt x="0" y="688"/>
                  </a:cubicBezTo>
                  <a:cubicBezTo>
                    <a:pt x="0" y="1067"/>
                    <a:pt x="308" y="1375"/>
                    <a:pt x="688" y="1375"/>
                  </a:cubicBezTo>
                  <a:cubicBezTo>
                    <a:pt x="1068" y="1375"/>
                    <a:pt x="1375" y="1067"/>
                    <a:pt x="1375" y="688"/>
                  </a:cubicBezTo>
                  <a:cubicBezTo>
                    <a:pt x="1375" y="308"/>
                    <a:pt x="1068" y="0"/>
                    <a:pt x="688" y="0"/>
                  </a:cubicBezTo>
                  <a:close/>
                  <a:moveTo>
                    <a:pt x="1045" y="770"/>
                  </a:moveTo>
                  <a:cubicBezTo>
                    <a:pt x="330" y="770"/>
                    <a:pt x="330" y="770"/>
                    <a:pt x="330" y="770"/>
                  </a:cubicBezTo>
                  <a:cubicBezTo>
                    <a:pt x="285" y="770"/>
                    <a:pt x="248" y="733"/>
                    <a:pt x="248" y="688"/>
                  </a:cubicBezTo>
                  <a:cubicBezTo>
                    <a:pt x="248" y="642"/>
                    <a:pt x="285" y="605"/>
                    <a:pt x="330" y="605"/>
                  </a:cubicBezTo>
                  <a:cubicBezTo>
                    <a:pt x="1045" y="605"/>
                    <a:pt x="1045" y="605"/>
                    <a:pt x="1045" y="605"/>
                  </a:cubicBezTo>
                  <a:cubicBezTo>
                    <a:pt x="1091" y="605"/>
                    <a:pt x="1128" y="642"/>
                    <a:pt x="1128" y="688"/>
                  </a:cubicBezTo>
                  <a:cubicBezTo>
                    <a:pt x="1128" y="733"/>
                    <a:pt x="1091" y="770"/>
                    <a:pt x="1045" y="7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Freeform 219">
            <a:extLst>
              <a:ext uri="{FF2B5EF4-FFF2-40B4-BE49-F238E27FC236}">
                <a16:creationId xmlns:a16="http://schemas.microsoft.com/office/drawing/2014/main" id="{D61A4069-05E9-45C7-A9F5-694CA8215340}"/>
              </a:ext>
            </a:extLst>
          </p:cNvPr>
          <p:cNvSpPr>
            <a:spLocks noChangeAspect="1" noEditPoints="1"/>
          </p:cNvSpPr>
          <p:nvPr/>
        </p:nvSpPr>
        <p:spPr bwMode="auto">
          <a:xfrm>
            <a:off x="1722837" y="1803621"/>
            <a:ext cx="173423" cy="525600"/>
          </a:xfrm>
          <a:custGeom>
            <a:avLst/>
            <a:gdLst>
              <a:gd name="T0" fmla="*/ 137 w 726"/>
              <a:gd name="T1" fmla="*/ 317 h 2200"/>
              <a:gd name="T2" fmla="*/ 152 w 726"/>
              <a:gd name="T3" fmla="*/ 359 h 2200"/>
              <a:gd name="T4" fmla="*/ 179 w 726"/>
              <a:gd name="T5" fmla="*/ 394 h 2200"/>
              <a:gd name="T6" fmla="*/ 547 w 726"/>
              <a:gd name="T7" fmla="*/ 396 h 2200"/>
              <a:gd name="T8" fmla="*/ 561 w 726"/>
              <a:gd name="T9" fmla="*/ 365 h 2200"/>
              <a:gd name="T10" fmla="*/ 586 w 726"/>
              <a:gd name="T11" fmla="*/ 300 h 2200"/>
              <a:gd name="T12" fmla="*/ 584 w 726"/>
              <a:gd name="T13" fmla="*/ 221 h 2200"/>
              <a:gd name="T14" fmla="*/ 545 w 726"/>
              <a:gd name="T15" fmla="*/ 98 h 2200"/>
              <a:gd name="T16" fmla="*/ 475 w 726"/>
              <a:gd name="T17" fmla="*/ 59 h 2200"/>
              <a:gd name="T18" fmla="*/ 393 w 726"/>
              <a:gd name="T19" fmla="*/ 0 h 2200"/>
              <a:gd name="T20" fmla="*/ 271 w 726"/>
              <a:gd name="T21" fmla="*/ 17 h 2200"/>
              <a:gd name="T22" fmla="*/ 196 w 726"/>
              <a:gd name="T23" fmla="*/ 98 h 2200"/>
              <a:gd name="T24" fmla="*/ 143 w 726"/>
              <a:gd name="T25" fmla="*/ 191 h 2200"/>
              <a:gd name="T26" fmla="*/ 143 w 726"/>
              <a:gd name="T27" fmla="*/ 286 h 2200"/>
              <a:gd name="T28" fmla="*/ 225 w 726"/>
              <a:gd name="T29" fmla="*/ 278 h 2200"/>
              <a:gd name="T30" fmla="*/ 272 w 726"/>
              <a:gd name="T31" fmla="*/ 211 h 2200"/>
              <a:gd name="T32" fmla="*/ 348 w 726"/>
              <a:gd name="T33" fmla="*/ 165 h 2200"/>
              <a:gd name="T34" fmla="*/ 407 w 726"/>
              <a:gd name="T35" fmla="*/ 180 h 2200"/>
              <a:gd name="T36" fmla="*/ 472 w 726"/>
              <a:gd name="T37" fmla="*/ 221 h 2200"/>
              <a:gd name="T38" fmla="*/ 507 w 726"/>
              <a:gd name="T39" fmla="*/ 288 h 2200"/>
              <a:gd name="T40" fmla="*/ 363 w 726"/>
              <a:gd name="T41" fmla="*/ 537 h 2200"/>
              <a:gd name="T42" fmla="*/ 220 w 726"/>
              <a:gd name="T43" fmla="*/ 304 h 2200"/>
              <a:gd name="T44" fmla="*/ 661 w 726"/>
              <a:gd name="T45" fmla="*/ 665 h 2200"/>
              <a:gd name="T46" fmla="*/ 618 w 726"/>
              <a:gd name="T47" fmla="*/ 606 h 2200"/>
              <a:gd name="T48" fmla="*/ 363 w 726"/>
              <a:gd name="T49" fmla="*/ 642 h 2200"/>
              <a:gd name="T50" fmla="*/ 108 w 726"/>
              <a:gd name="T51" fmla="*/ 606 h 2200"/>
              <a:gd name="T52" fmla="*/ 66 w 726"/>
              <a:gd name="T53" fmla="*/ 665 h 2200"/>
              <a:gd name="T54" fmla="*/ 90 w 726"/>
              <a:gd name="T55" fmla="*/ 1370 h 2200"/>
              <a:gd name="T56" fmla="*/ 55 w 726"/>
              <a:gd name="T57" fmla="*/ 1897 h 2200"/>
              <a:gd name="T58" fmla="*/ 87 w 726"/>
              <a:gd name="T59" fmla="*/ 1936 h 2200"/>
              <a:gd name="T60" fmla="*/ 226 w 726"/>
              <a:gd name="T61" fmla="*/ 1936 h 2200"/>
              <a:gd name="T62" fmla="*/ 302 w 726"/>
              <a:gd name="T63" fmla="*/ 2200 h 2200"/>
              <a:gd name="T64" fmla="*/ 471 w 726"/>
              <a:gd name="T65" fmla="*/ 2159 h 2200"/>
              <a:gd name="T66" fmla="*/ 554 w 726"/>
              <a:gd name="T67" fmla="*/ 1936 h 2200"/>
              <a:gd name="T68" fmla="*/ 488 w 726"/>
              <a:gd name="T69" fmla="*/ 1186 h 2200"/>
              <a:gd name="T70" fmla="*/ 403 w 726"/>
              <a:gd name="T71" fmla="*/ 1271 h 2200"/>
              <a:gd name="T72" fmla="*/ 488 w 726"/>
              <a:gd name="T73" fmla="*/ 1148 h 2200"/>
              <a:gd name="T74" fmla="*/ 592 w 726"/>
              <a:gd name="T75" fmla="*/ 1936 h 2200"/>
              <a:gd name="T76" fmla="*/ 639 w 726"/>
              <a:gd name="T77" fmla="*/ 1936 h 2200"/>
              <a:gd name="T78" fmla="*/ 672 w 726"/>
              <a:gd name="T79" fmla="*/ 1897 h 2200"/>
              <a:gd name="T80" fmla="*/ 636 w 726"/>
              <a:gd name="T81" fmla="*/ 1370 h 2200"/>
              <a:gd name="T82" fmla="*/ 99 w 726"/>
              <a:gd name="T83" fmla="*/ 1327 h 2200"/>
              <a:gd name="T84" fmla="*/ 46 w 726"/>
              <a:gd name="T85" fmla="*/ 1242 h 2200"/>
              <a:gd name="T86" fmla="*/ 124 w 726"/>
              <a:gd name="T87" fmla="*/ 1156 h 2200"/>
              <a:gd name="T88" fmla="*/ 343 w 726"/>
              <a:gd name="T89" fmla="*/ 2159 h 2200"/>
              <a:gd name="T90" fmla="*/ 296 w 726"/>
              <a:gd name="T91" fmla="*/ 2154 h 2200"/>
              <a:gd name="T92" fmla="*/ 343 w 726"/>
              <a:gd name="T93" fmla="*/ 1936 h 2200"/>
              <a:gd name="T94" fmla="*/ 459 w 726"/>
              <a:gd name="T95" fmla="*/ 1936 h 2200"/>
              <a:gd name="T96" fmla="*/ 424 w 726"/>
              <a:gd name="T97" fmla="*/ 2159 h 2200"/>
              <a:gd name="T98" fmla="*/ 384 w 726"/>
              <a:gd name="T99" fmla="*/ 1936 h 2200"/>
              <a:gd name="T100" fmla="*/ 592 w 726"/>
              <a:gd name="T101" fmla="*/ 2200 h 2200"/>
              <a:gd name="T102" fmla="*/ 554 w 726"/>
              <a:gd name="T103" fmla="*/ 1936 h 2200"/>
              <a:gd name="T104" fmla="*/ 592 w 726"/>
              <a:gd name="T105" fmla="*/ 2200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26" h="2200">
                <a:moveTo>
                  <a:pt x="143" y="286"/>
                </a:moveTo>
                <a:cubicBezTo>
                  <a:pt x="137" y="294"/>
                  <a:pt x="134" y="305"/>
                  <a:pt x="137" y="317"/>
                </a:cubicBezTo>
                <a:cubicBezTo>
                  <a:pt x="139" y="327"/>
                  <a:pt x="145" y="337"/>
                  <a:pt x="153" y="344"/>
                </a:cubicBezTo>
                <a:cubicBezTo>
                  <a:pt x="151" y="348"/>
                  <a:pt x="151" y="353"/>
                  <a:pt x="152" y="359"/>
                </a:cubicBezTo>
                <a:cubicBezTo>
                  <a:pt x="155" y="373"/>
                  <a:pt x="166" y="384"/>
                  <a:pt x="179" y="387"/>
                </a:cubicBezTo>
                <a:cubicBezTo>
                  <a:pt x="179" y="394"/>
                  <a:pt x="179" y="394"/>
                  <a:pt x="179" y="394"/>
                </a:cubicBezTo>
                <a:cubicBezTo>
                  <a:pt x="179" y="496"/>
                  <a:pt x="261" y="578"/>
                  <a:pt x="363" y="578"/>
                </a:cubicBezTo>
                <a:cubicBezTo>
                  <a:pt x="464" y="578"/>
                  <a:pt x="546" y="497"/>
                  <a:pt x="547" y="396"/>
                </a:cubicBezTo>
                <a:cubicBezTo>
                  <a:pt x="555" y="392"/>
                  <a:pt x="561" y="382"/>
                  <a:pt x="561" y="369"/>
                </a:cubicBezTo>
                <a:cubicBezTo>
                  <a:pt x="561" y="368"/>
                  <a:pt x="561" y="366"/>
                  <a:pt x="561" y="365"/>
                </a:cubicBezTo>
                <a:cubicBezTo>
                  <a:pt x="577" y="362"/>
                  <a:pt x="592" y="348"/>
                  <a:pt x="595" y="331"/>
                </a:cubicBezTo>
                <a:cubicBezTo>
                  <a:pt x="598" y="318"/>
                  <a:pt x="594" y="307"/>
                  <a:pt x="586" y="300"/>
                </a:cubicBezTo>
                <a:cubicBezTo>
                  <a:pt x="590" y="292"/>
                  <a:pt x="594" y="284"/>
                  <a:pt x="596" y="275"/>
                </a:cubicBezTo>
                <a:cubicBezTo>
                  <a:pt x="600" y="254"/>
                  <a:pt x="595" y="235"/>
                  <a:pt x="584" y="221"/>
                </a:cubicBezTo>
                <a:cubicBezTo>
                  <a:pt x="592" y="210"/>
                  <a:pt x="597" y="198"/>
                  <a:pt x="600" y="183"/>
                </a:cubicBezTo>
                <a:cubicBezTo>
                  <a:pt x="609" y="138"/>
                  <a:pt x="585" y="98"/>
                  <a:pt x="545" y="98"/>
                </a:cubicBezTo>
                <a:cubicBezTo>
                  <a:pt x="540" y="98"/>
                  <a:pt x="535" y="99"/>
                  <a:pt x="530" y="100"/>
                </a:cubicBezTo>
                <a:cubicBezTo>
                  <a:pt x="521" y="76"/>
                  <a:pt x="501" y="59"/>
                  <a:pt x="475" y="59"/>
                </a:cubicBezTo>
                <a:cubicBezTo>
                  <a:pt x="470" y="59"/>
                  <a:pt x="465" y="60"/>
                  <a:pt x="460" y="61"/>
                </a:cubicBezTo>
                <a:cubicBezTo>
                  <a:pt x="451" y="26"/>
                  <a:pt x="425" y="0"/>
                  <a:pt x="393" y="0"/>
                </a:cubicBezTo>
                <a:cubicBezTo>
                  <a:pt x="366" y="0"/>
                  <a:pt x="342" y="20"/>
                  <a:pt x="330" y="48"/>
                </a:cubicBezTo>
                <a:cubicBezTo>
                  <a:pt x="315" y="29"/>
                  <a:pt x="294" y="17"/>
                  <a:pt x="271" y="17"/>
                </a:cubicBezTo>
                <a:cubicBezTo>
                  <a:pt x="232" y="17"/>
                  <a:pt x="204" y="53"/>
                  <a:pt x="201" y="99"/>
                </a:cubicBezTo>
                <a:cubicBezTo>
                  <a:pt x="199" y="99"/>
                  <a:pt x="198" y="98"/>
                  <a:pt x="196" y="98"/>
                </a:cubicBezTo>
                <a:cubicBezTo>
                  <a:pt x="157" y="98"/>
                  <a:pt x="132" y="138"/>
                  <a:pt x="141" y="183"/>
                </a:cubicBezTo>
                <a:cubicBezTo>
                  <a:pt x="141" y="186"/>
                  <a:pt x="142" y="189"/>
                  <a:pt x="143" y="191"/>
                </a:cubicBezTo>
                <a:cubicBezTo>
                  <a:pt x="124" y="199"/>
                  <a:pt x="114" y="221"/>
                  <a:pt x="119" y="246"/>
                </a:cubicBezTo>
                <a:cubicBezTo>
                  <a:pt x="122" y="262"/>
                  <a:pt x="132" y="276"/>
                  <a:pt x="143" y="286"/>
                </a:cubicBezTo>
                <a:moveTo>
                  <a:pt x="220" y="304"/>
                </a:moveTo>
                <a:cubicBezTo>
                  <a:pt x="220" y="295"/>
                  <a:pt x="222" y="286"/>
                  <a:pt x="225" y="278"/>
                </a:cubicBezTo>
                <a:cubicBezTo>
                  <a:pt x="226" y="271"/>
                  <a:pt x="227" y="264"/>
                  <a:pt x="229" y="257"/>
                </a:cubicBezTo>
                <a:cubicBezTo>
                  <a:pt x="250" y="252"/>
                  <a:pt x="266" y="235"/>
                  <a:pt x="272" y="211"/>
                </a:cubicBezTo>
                <a:cubicBezTo>
                  <a:pt x="276" y="212"/>
                  <a:pt x="280" y="213"/>
                  <a:pt x="285" y="213"/>
                </a:cubicBezTo>
                <a:cubicBezTo>
                  <a:pt x="313" y="213"/>
                  <a:pt x="336" y="194"/>
                  <a:pt x="348" y="165"/>
                </a:cubicBezTo>
                <a:cubicBezTo>
                  <a:pt x="360" y="176"/>
                  <a:pt x="374" y="183"/>
                  <a:pt x="390" y="183"/>
                </a:cubicBezTo>
                <a:cubicBezTo>
                  <a:pt x="396" y="183"/>
                  <a:pt x="401" y="182"/>
                  <a:pt x="407" y="180"/>
                </a:cubicBezTo>
                <a:cubicBezTo>
                  <a:pt x="417" y="206"/>
                  <a:pt x="437" y="223"/>
                  <a:pt x="462" y="223"/>
                </a:cubicBezTo>
                <a:cubicBezTo>
                  <a:pt x="466" y="223"/>
                  <a:pt x="469" y="222"/>
                  <a:pt x="472" y="221"/>
                </a:cubicBezTo>
                <a:cubicBezTo>
                  <a:pt x="478" y="236"/>
                  <a:pt x="489" y="248"/>
                  <a:pt x="502" y="254"/>
                </a:cubicBezTo>
                <a:cubicBezTo>
                  <a:pt x="505" y="265"/>
                  <a:pt x="507" y="276"/>
                  <a:pt x="507" y="288"/>
                </a:cubicBezTo>
                <a:cubicBezTo>
                  <a:pt x="507" y="394"/>
                  <a:pt x="507" y="394"/>
                  <a:pt x="507" y="394"/>
                </a:cubicBezTo>
                <a:cubicBezTo>
                  <a:pt x="507" y="473"/>
                  <a:pt x="442" y="537"/>
                  <a:pt x="363" y="537"/>
                </a:cubicBezTo>
                <a:cubicBezTo>
                  <a:pt x="284" y="537"/>
                  <a:pt x="220" y="473"/>
                  <a:pt x="220" y="394"/>
                </a:cubicBezTo>
                <a:lnTo>
                  <a:pt x="220" y="304"/>
                </a:lnTo>
                <a:close/>
                <a:moveTo>
                  <a:pt x="721" y="1238"/>
                </a:moveTo>
                <a:cubicBezTo>
                  <a:pt x="661" y="665"/>
                  <a:pt x="661" y="665"/>
                  <a:pt x="661" y="665"/>
                </a:cubicBezTo>
                <a:cubicBezTo>
                  <a:pt x="660" y="662"/>
                  <a:pt x="660" y="660"/>
                  <a:pt x="659" y="658"/>
                </a:cubicBezTo>
                <a:cubicBezTo>
                  <a:pt x="654" y="629"/>
                  <a:pt x="639" y="617"/>
                  <a:pt x="618" y="606"/>
                </a:cubicBezTo>
                <a:cubicBezTo>
                  <a:pt x="542" y="565"/>
                  <a:pt x="542" y="565"/>
                  <a:pt x="542" y="565"/>
                </a:cubicBezTo>
                <a:cubicBezTo>
                  <a:pt x="363" y="642"/>
                  <a:pt x="363" y="642"/>
                  <a:pt x="363" y="642"/>
                </a:cubicBezTo>
                <a:cubicBezTo>
                  <a:pt x="184" y="565"/>
                  <a:pt x="184" y="565"/>
                  <a:pt x="184" y="565"/>
                </a:cubicBezTo>
                <a:cubicBezTo>
                  <a:pt x="108" y="606"/>
                  <a:pt x="108" y="606"/>
                  <a:pt x="108" y="606"/>
                </a:cubicBezTo>
                <a:cubicBezTo>
                  <a:pt x="87" y="617"/>
                  <a:pt x="73" y="629"/>
                  <a:pt x="67" y="658"/>
                </a:cubicBezTo>
                <a:cubicBezTo>
                  <a:pt x="66" y="660"/>
                  <a:pt x="66" y="662"/>
                  <a:pt x="66" y="665"/>
                </a:cubicBezTo>
                <a:cubicBezTo>
                  <a:pt x="5" y="1238"/>
                  <a:pt x="5" y="1238"/>
                  <a:pt x="5" y="1238"/>
                </a:cubicBezTo>
                <a:cubicBezTo>
                  <a:pt x="0" y="1294"/>
                  <a:pt x="44" y="1342"/>
                  <a:pt x="90" y="1370"/>
                </a:cubicBezTo>
                <a:cubicBezTo>
                  <a:pt x="56" y="1876"/>
                  <a:pt x="56" y="1876"/>
                  <a:pt x="56" y="1876"/>
                </a:cubicBezTo>
                <a:cubicBezTo>
                  <a:pt x="55" y="1897"/>
                  <a:pt x="55" y="1897"/>
                  <a:pt x="55" y="1897"/>
                </a:cubicBezTo>
                <a:cubicBezTo>
                  <a:pt x="52" y="1919"/>
                  <a:pt x="64" y="1936"/>
                  <a:pt x="87" y="1936"/>
                </a:cubicBezTo>
                <a:cubicBezTo>
                  <a:pt x="87" y="1936"/>
                  <a:pt x="87" y="1936"/>
                  <a:pt x="87" y="1936"/>
                </a:cubicBezTo>
                <a:cubicBezTo>
                  <a:pt x="87" y="1936"/>
                  <a:pt x="87" y="1936"/>
                  <a:pt x="87" y="1936"/>
                </a:cubicBezTo>
                <a:cubicBezTo>
                  <a:pt x="226" y="1936"/>
                  <a:pt x="226" y="1936"/>
                  <a:pt x="226" y="1936"/>
                </a:cubicBezTo>
                <a:cubicBezTo>
                  <a:pt x="256" y="2159"/>
                  <a:pt x="256" y="2159"/>
                  <a:pt x="256" y="2159"/>
                </a:cubicBezTo>
                <a:cubicBezTo>
                  <a:pt x="259" y="2182"/>
                  <a:pt x="280" y="2200"/>
                  <a:pt x="302" y="2200"/>
                </a:cubicBezTo>
                <a:cubicBezTo>
                  <a:pt x="424" y="2200"/>
                  <a:pt x="424" y="2200"/>
                  <a:pt x="424" y="2200"/>
                </a:cubicBezTo>
                <a:cubicBezTo>
                  <a:pt x="447" y="2200"/>
                  <a:pt x="468" y="2182"/>
                  <a:pt x="471" y="2159"/>
                </a:cubicBezTo>
                <a:cubicBezTo>
                  <a:pt x="500" y="1936"/>
                  <a:pt x="500" y="1936"/>
                  <a:pt x="500" y="1936"/>
                </a:cubicBezTo>
                <a:cubicBezTo>
                  <a:pt x="554" y="1936"/>
                  <a:pt x="554" y="1936"/>
                  <a:pt x="554" y="1936"/>
                </a:cubicBezTo>
                <a:cubicBezTo>
                  <a:pt x="554" y="1252"/>
                  <a:pt x="554" y="1252"/>
                  <a:pt x="554" y="1252"/>
                </a:cubicBezTo>
                <a:cubicBezTo>
                  <a:pt x="554" y="1216"/>
                  <a:pt x="525" y="1186"/>
                  <a:pt x="488" y="1186"/>
                </a:cubicBezTo>
                <a:cubicBezTo>
                  <a:pt x="452" y="1186"/>
                  <a:pt x="422" y="1216"/>
                  <a:pt x="422" y="1252"/>
                </a:cubicBezTo>
                <a:cubicBezTo>
                  <a:pt x="422" y="1263"/>
                  <a:pt x="413" y="1271"/>
                  <a:pt x="403" y="1271"/>
                </a:cubicBezTo>
                <a:cubicBezTo>
                  <a:pt x="392" y="1271"/>
                  <a:pt x="384" y="1263"/>
                  <a:pt x="384" y="1252"/>
                </a:cubicBezTo>
                <a:cubicBezTo>
                  <a:pt x="384" y="1195"/>
                  <a:pt x="431" y="1148"/>
                  <a:pt x="488" y="1148"/>
                </a:cubicBezTo>
                <a:cubicBezTo>
                  <a:pt x="546" y="1148"/>
                  <a:pt x="592" y="1195"/>
                  <a:pt x="592" y="1252"/>
                </a:cubicBezTo>
                <a:cubicBezTo>
                  <a:pt x="592" y="1936"/>
                  <a:pt x="592" y="1936"/>
                  <a:pt x="592" y="1936"/>
                </a:cubicBezTo>
                <a:cubicBezTo>
                  <a:pt x="639" y="1936"/>
                  <a:pt x="639" y="1936"/>
                  <a:pt x="639" y="1936"/>
                </a:cubicBezTo>
                <a:cubicBezTo>
                  <a:pt x="639" y="1936"/>
                  <a:pt x="639" y="1936"/>
                  <a:pt x="639" y="1936"/>
                </a:cubicBezTo>
                <a:cubicBezTo>
                  <a:pt x="640" y="1936"/>
                  <a:pt x="640" y="1936"/>
                  <a:pt x="640" y="1936"/>
                </a:cubicBezTo>
                <a:cubicBezTo>
                  <a:pt x="662" y="1936"/>
                  <a:pt x="674" y="1919"/>
                  <a:pt x="672" y="1897"/>
                </a:cubicBezTo>
                <a:cubicBezTo>
                  <a:pt x="670" y="1876"/>
                  <a:pt x="670" y="1876"/>
                  <a:pt x="670" y="1876"/>
                </a:cubicBezTo>
                <a:cubicBezTo>
                  <a:pt x="636" y="1370"/>
                  <a:pt x="636" y="1370"/>
                  <a:pt x="636" y="1370"/>
                </a:cubicBezTo>
                <a:cubicBezTo>
                  <a:pt x="683" y="1342"/>
                  <a:pt x="726" y="1294"/>
                  <a:pt x="721" y="1238"/>
                </a:cubicBezTo>
                <a:moveTo>
                  <a:pt x="99" y="1327"/>
                </a:moveTo>
                <a:cubicBezTo>
                  <a:pt x="94" y="1323"/>
                  <a:pt x="89" y="1319"/>
                  <a:pt x="85" y="1314"/>
                </a:cubicBezTo>
                <a:cubicBezTo>
                  <a:pt x="72" y="1299"/>
                  <a:pt x="43" y="1275"/>
                  <a:pt x="46" y="1242"/>
                </a:cubicBezTo>
                <a:cubicBezTo>
                  <a:pt x="55" y="1156"/>
                  <a:pt x="55" y="1156"/>
                  <a:pt x="55" y="1156"/>
                </a:cubicBezTo>
                <a:cubicBezTo>
                  <a:pt x="124" y="1156"/>
                  <a:pt x="124" y="1156"/>
                  <a:pt x="124" y="1156"/>
                </a:cubicBezTo>
                <a:lnTo>
                  <a:pt x="99" y="1327"/>
                </a:lnTo>
                <a:close/>
                <a:moveTo>
                  <a:pt x="343" y="2159"/>
                </a:moveTo>
                <a:cubicBezTo>
                  <a:pt x="302" y="2159"/>
                  <a:pt x="302" y="2159"/>
                  <a:pt x="302" y="2159"/>
                </a:cubicBezTo>
                <a:cubicBezTo>
                  <a:pt x="300" y="2159"/>
                  <a:pt x="296" y="2156"/>
                  <a:pt x="296" y="2154"/>
                </a:cubicBezTo>
                <a:cubicBezTo>
                  <a:pt x="268" y="1936"/>
                  <a:pt x="268" y="1936"/>
                  <a:pt x="268" y="1936"/>
                </a:cubicBezTo>
                <a:cubicBezTo>
                  <a:pt x="343" y="1936"/>
                  <a:pt x="343" y="1936"/>
                  <a:pt x="343" y="1936"/>
                </a:cubicBezTo>
                <a:lnTo>
                  <a:pt x="343" y="2159"/>
                </a:lnTo>
                <a:close/>
                <a:moveTo>
                  <a:pt x="459" y="1936"/>
                </a:moveTo>
                <a:cubicBezTo>
                  <a:pt x="430" y="2154"/>
                  <a:pt x="430" y="2154"/>
                  <a:pt x="430" y="2154"/>
                </a:cubicBezTo>
                <a:cubicBezTo>
                  <a:pt x="430" y="2156"/>
                  <a:pt x="426" y="2159"/>
                  <a:pt x="424" y="2159"/>
                </a:cubicBezTo>
                <a:cubicBezTo>
                  <a:pt x="384" y="2159"/>
                  <a:pt x="384" y="2159"/>
                  <a:pt x="384" y="2159"/>
                </a:cubicBezTo>
                <a:cubicBezTo>
                  <a:pt x="384" y="1936"/>
                  <a:pt x="384" y="1936"/>
                  <a:pt x="384" y="1936"/>
                </a:cubicBezTo>
                <a:lnTo>
                  <a:pt x="459" y="1936"/>
                </a:lnTo>
                <a:close/>
                <a:moveTo>
                  <a:pt x="592" y="2200"/>
                </a:moveTo>
                <a:cubicBezTo>
                  <a:pt x="554" y="2200"/>
                  <a:pt x="554" y="2200"/>
                  <a:pt x="554" y="2200"/>
                </a:cubicBezTo>
                <a:cubicBezTo>
                  <a:pt x="554" y="1936"/>
                  <a:pt x="554" y="1936"/>
                  <a:pt x="554" y="1936"/>
                </a:cubicBezTo>
                <a:cubicBezTo>
                  <a:pt x="592" y="1936"/>
                  <a:pt x="592" y="1936"/>
                  <a:pt x="592" y="1936"/>
                </a:cubicBezTo>
                <a:lnTo>
                  <a:pt x="592" y="220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17" name="Group 241">
            <a:extLst>
              <a:ext uri="{FF2B5EF4-FFF2-40B4-BE49-F238E27FC236}">
                <a16:creationId xmlns:a16="http://schemas.microsoft.com/office/drawing/2014/main" id="{A9CC4905-739B-4535-92DA-C0B063F523D8}"/>
              </a:ext>
            </a:extLst>
          </p:cNvPr>
          <p:cNvGrpSpPr>
            <a:grpSpLocks noChangeAspect="1"/>
          </p:cNvGrpSpPr>
          <p:nvPr/>
        </p:nvGrpSpPr>
        <p:grpSpPr bwMode="auto">
          <a:xfrm>
            <a:off x="869855" y="1716349"/>
            <a:ext cx="159952" cy="525600"/>
            <a:chOff x="3869" y="2015"/>
            <a:chExt cx="1014" cy="3332"/>
          </a:xfrm>
          <a:solidFill>
            <a:schemeClr val="bg2"/>
          </a:solidFill>
        </p:grpSpPr>
        <p:sp>
          <p:nvSpPr>
            <p:cNvPr id="18" name="Freeform 244">
              <a:extLst>
                <a:ext uri="{FF2B5EF4-FFF2-40B4-BE49-F238E27FC236}">
                  <a16:creationId xmlns:a16="http://schemas.microsoft.com/office/drawing/2014/main" id="{8CE39B58-CB25-4248-9917-025C93E5D3EB}"/>
                </a:ext>
              </a:extLst>
            </p:cNvPr>
            <p:cNvSpPr>
              <a:spLocks noEditPoints="1"/>
            </p:cNvSpPr>
            <p:nvPr/>
          </p:nvSpPr>
          <p:spPr bwMode="auto">
            <a:xfrm>
              <a:off x="3997" y="2015"/>
              <a:ext cx="750" cy="876"/>
            </a:xfrm>
            <a:custGeom>
              <a:avLst/>
              <a:gdLst>
                <a:gd name="T0" fmla="*/ 30 w 495"/>
                <a:gd name="T1" fmla="*/ 286 h 578"/>
                <a:gd name="T2" fmla="*/ 23 w 495"/>
                <a:gd name="T3" fmla="*/ 316 h 578"/>
                <a:gd name="T4" fmla="*/ 39 w 495"/>
                <a:gd name="T5" fmla="*/ 343 h 578"/>
                <a:gd name="T6" fmla="*/ 38 w 495"/>
                <a:gd name="T7" fmla="*/ 359 h 578"/>
                <a:gd name="T8" fmla="*/ 65 w 495"/>
                <a:gd name="T9" fmla="*/ 387 h 578"/>
                <a:gd name="T10" fmla="*/ 65 w 495"/>
                <a:gd name="T11" fmla="*/ 393 h 578"/>
                <a:gd name="T12" fmla="*/ 250 w 495"/>
                <a:gd name="T13" fmla="*/ 578 h 578"/>
                <a:gd name="T14" fmla="*/ 434 w 495"/>
                <a:gd name="T15" fmla="*/ 396 h 578"/>
                <a:gd name="T16" fmla="*/ 447 w 495"/>
                <a:gd name="T17" fmla="*/ 369 h 578"/>
                <a:gd name="T18" fmla="*/ 447 w 495"/>
                <a:gd name="T19" fmla="*/ 364 h 578"/>
                <a:gd name="T20" fmla="*/ 482 w 495"/>
                <a:gd name="T21" fmla="*/ 330 h 578"/>
                <a:gd name="T22" fmla="*/ 473 w 495"/>
                <a:gd name="T23" fmla="*/ 300 h 578"/>
                <a:gd name="T24" fmla="*/ 482 w 495"/>
                <a:gd name="T25" fmla="*/ 275 h 578"/>
                <a:gd name="T26" fmla="*/ 471 w 495"/>
                <a:gd name="T27" fmla="*/ 221 h 578"/>
                <a:gd name="T28" fmla="*/ 487 w 495"/>
                <a:gd name="T29" fmla="*/ 183 h 578"/>
                <a:gd name="T30" fmla="*/ 432 w 495"/>
                <a:gd name="T31" fmla="*/ 98 h 578"/>
                <a:gd name="T32" fmla="*/ 417 w 495"/>
                <a:gd name="T33" fmla="*/ 100 h 578"/>
                <a:gd name="T34" fmla="*/ 362 w 495"/>
                <a:gd name="T35" fmla="*/ 59 h 578"/>
                <a:gd name="T36" fmla="*/ 346 w 495"/>
                <a:gd name="T37" fmla="*/ 61 h 578"/>
                <a:gd name="T38" fmla="*/ 280 w 495"/>
                <a:gd name="T39" fmla="*/ 0 h 578"/>
                <a:gd name="T40" fmla="*/ 216 w 495"/>
                <a:gd name="T41" fmla="*/ 48 h 578"/>
                <a:gd name="T42" fmla="*/ 158 w 495"/>
                <a:gd name="T43" fmla="*/ 17 h 578"/>
                <a:gd name="T44" fmla="*/ 87 w 495"/>
                <a:gd name="T45" fmla="*/ 98 h 578"/>
                <a:gd name="T46" fmla="*/ 83 w 495"/>
                <a:gd name="T47" fmla="*/ 98 h 578"/>
                <a:gd name="T48" fmla="*/ 27 w 495"/>
                <a:gd name="T49" fmla="*/ 183 h 578"/>
                <a:gd name="T50" fmla="*/ 29 w 495"/>
                <a:gd name="T51" fmla="*/ 191 h 578"/>
                <a:gd name="T52" fmla="*/ 6 w 495"/>
                <a:gd name="T53" fmla="*/ 246 h 578"/>
                <a:gd name="T54" fmla="*/ 30 w 495"/>
                <a:gd name="T55" fmla="*/ 286 h 578"/>
                <a:gd name="T56" fmla="*/ 106 w 495"/>
                <a:gd name="T57" fmla="*/ 304 h 578"/>
                <a:gd name="T58" fmla="*/ 112 w 495"/>
                <a:gd name="T59" fmla="*/ 278 h 578"/>
                <a:gd name="T60" fmla="*/ 115 w 495"/>
                <a:gd name="T61" fmla="*/ 257 h 578"/>
                <a:gd name="T62" fmla="*/ 158 w 495"/>
                <a:gd name="T63" fmla="*/ 211 h 578"/>
                <a:gd name="T64" fmla="*/ 171 w 495"/>
                <a:gd name="T65" fmla="*/ 212 h 578"/>
                <a:gd name="T66" fmla="*/ 234 w 495"/>
                <a:gd name="T67" fmla="*/ 165 h 578"/>
                <a:gd name="T68" fmla="*/ 276 w 495"/>
                <a:gd name="T69" fmla="*/ 183 h 578"/>
                <a:gd name="T70" fmla="*/ 293 w 495"/>
                <a:gd name="T71" fmla="*/ 180 h 578"/>
                <a:gd name="T72" fmla="*/ 349 w 495"/>
                <a:gd name="T73" fmla="*/ 222 h 578"/>
                <a:gd name="T74" fmla="*/ 359 w 495"/>
                <a:gd name="T75" fmla="*/ 221 h 578"/>
                <a:gd name="T76" fmla="*/ 389 w 495"/>
                <a:gd name="T77" fmla="*/ 253 h 578"/>
                <a:gd name="T78" fmla="*/ 393 w 495"/>
                <a:gd name="T79" fmla="*/ 288 h 578"/>
                <a:gd name="T80" fmla="*/ 393 w 495"/>
                <a:gd name="T81" fmla="*/ 393 h 578"/>
                <a:gd name="T82" fmla="*/ 250 w 495"/>
                <a:gd name="T83" fmla="*/ 537 h 578"/>
                <a:gd name="T84" fmla="*/ 106 w 495"/>
                <a:gd name="T85" fmla="*/ 393 h 578"/>
                <a:gd name="T86" fmla="*/ 106 w 495"/>
                <a:gd name="T87" fmla="*/ 304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95" h="578">
                  <a:moveTo>
                    <a:pt x="30" y="286"/>
                  </a:moveTo>
                  <a:cubicBezTo>
                    <a:pt x="23" y="293"/>
                    <a:pt x="20" y="304"/>
                    <a:pt x="23" y="316"/>
                  </a:cubicBezTo>
                  <a:cubicBezTo>
                    <a:pt x="25" y="327"/>
                    <a:pt x="31" y="336"/>
                    <a:pt x="39" y="343"/>
                  </a:cubicBezTo>
                  <a:cubicBezTo>
                    <a:pt x="38" y="348"/>
                    <a:pt x="37" y="353"/>
                    <a:pt x="38" y="359"/>
                  </a:cubicBezTo>
                  <a:cubicBezTo>
                    <a:pt x="41" y="372"/>
                    <a:pt x="52" y="383"/>
                    <a:pt x="65" y="387"/>
                  </a:cubicBezTo>
                  <a:cubicBezTo>
                    <a:pt x="65" y="393"/>
                    <a:pt x="65" y="393"/>
                    <a:pt x="65" y="393"/>
                  </a:cubicBezTo>
                  <a:cubicBezTo>
                    <a:pt x="65" y="495"/>
                    <a:pt x="148" y="578"/>
                    <a:pt x="250" y="578"/>
                  </a:cubicBezTo>
                  <a:cubicBezTo>
                    <a:pt x="351" y="578"/>
                    <a:pt x="433" y="497"/>
                    <a:pt x="434" y="396"/>
                  </a:cubicBezTo>
                  <a:cubicBezTo>
                    <a:pt x="442" y="392"/>
                    <a:pt x="447" y="381"/>
                    <a:pt x="447" y="369"/>
                  </a:cubicBezTo>
                  <a:cubicBezTo>
                    <a:pt x="447" y="367"/>
                    <a:pt x="447" y="366"/>
                    <a:pt x="447" y="364"/>
                  </a:cubicBezTo>
                  <a:cubicBezTo>
                    <a:pt x="463" y="362"/>
                    <a:pt x="478" y="348"/>
                    <a:pt x="482" y="330"/>
                  </a:cubicBezTo>
                  <a:cubicBezTo>
                    <a:pt x="485" y="318"/>
                    <a:pt x="481" y="306"/>
                    <a:pt x="473" y="300"/>
                  </a:cubicBezTo>
                  <a:cubicBezTo>
                    <a:pt x="477" y="292"/>
                    <a:pt x="480" y="284"/>
                    <a:pt x="482" y="275"/>
                  </a:cubicBezTo>
                  <a:cubicBezTo>
                    <a:pt x="487" y="254"/>
                    <a:pt x="482" y="234"/>
                    <a:pt x="471" y="221"/>
                  </a:cubicBezTo>
                  <a:cubicBezTo>
                    <a:pt x="478" y="210"/>
                    <a:pt x="484" y="197"/>
                    <a:pt x="487" y="183"/>
                  </a:cubicBezTo>
                  <a:cubicBezTo>
                    <a:pt x="495" y="137"/>
                    <a:pt x="471" y="98"/>
                    <a:pt x="432" y="98"/>
                  </a:cubicBezTo>
                  <a:cubicBezTo>
                    <a:pt x="427" y="98"/>
                    <a:pt x="422" y="98"/>
                    <a:pt x="417" y="100"/>
                  </a:cubicBezTo>
                  <a:cubicBezTo>
                    <a:pt x="407" y="76"/>
                    <a:pt x="387" y="59"/>
                    <a:pt x="362" y="59"/>
                  </a:cubicBezTo>
                  <a:cubicBezTo>
                    <a:pt x="357" y="59"/>
                    <a:pt x="351" y="60"/>
                    <a:pt x="346" y="61"/>
                  </a:cubicBezTo>
                  <a:cubicBezTo>
                    <a:pt x="337" y="26"/>
                    <a:pt x="312" y="0"/>
                    <a:pt x="280" y="0"/>
                  </a:cubicBezTo>
                  <a:cubicBezTo>
                    <a:pt x="252" y="0"/>
                    <a:pt x="229" y="19"/>
                    <a:pt x="216" y="48"/>
                  </a:cubicBezTo>
                  <a:cubicBezTo>
                    <a:pt x="201" y="29"/>
                    <a:pt x="181" y="17"/>
                    <a:pt x="158" y="17"/>
                  </a:cubicBezTo>
                  <a:cubicBezTo>
                    <a:pt x="118" y="17"/>
                    <a:pt x="90" y="53"/>
                    <a:pt x="87" y="98"/>
                  </a:cubicBezTo>
                  <a:cubicBezTo>
                    <a:pt x="86" y="98"/>
                    <a:pt x="84" y="98"/>
                    <a:pt x="83" y="98"/>
                  </a:cubicBezTo>
                  <a:cubicBezTo>
                    <a:pt x="43" y="98"/>
                    <a:pt x="19" y="137"/>
                    <a:pt x="27" y="183"/>
                  </a:cubicBezTo>
                  <a:cubicBezTo>
                    <a:pt x="28" y="186"/>
                    <a:pt x="29" y="188"/>
                    <a:pt x="29" y="191"/>
                  </a:cubicBezTo>
                  <a:cubicBezTo>
                    <a:pt x="10" y="199"/>
                    <a:pt x="0" y="221"/>
                    <a:pt x="6" y="246"/>
                  </a:cubicBezTo>
                  <a:cubicBezTo>
                    <a:pt x="9" y="262"/>
                    <a:pt x="18" y="276"/>
                    <a:pt x="30" y="286"/>
                  </a:cubicBezTo>
                  <a:moveTo>
                    <a:pt x="106" y="304"/>
                  </a:moveTo>
                  <a:cubicBezTo>
                    <a:pt x="106" y="295"/>
                    <a:pt x="108" y="286"/>
                    <a:pt x="112" y="278"/>
                  </a:cubicBezTo>
                  <a:cubicBezTo>
                    <a:pt x="112" y="271"/>
                    <a:pt x="114" y="264"/>
                    <a:pt x="115" y="257"/>
                  </a:cubicBezTo>
                  <a:cubicBezTo>
                    <a:pt x="136" y="252"/>
                    <a:pt x="152" y="234"/>
                    <a:pt x="158" y="211"/>
                  </a:cubicBezTo>
                  <a:cubicBezTo>
                    <a:pt x="163" y="212"/>
                    <a:pt x="167" y="212"/>
                    <a:pt x="171" y="212"/>
                  </a:cubicBezTo>
                  <a:cubicBezTo>
                    <a:pt x="199" y="212"/>
                    <a:pt x="223" y="193"/>
                    <a:pt x="234" y="165"/>
                  </a:cubicBezTo>
                  <a:cubicBezTo>
                    <a:pt x="246" y="176"/>
                    <a:pt x="261" y="183"/>
                    <a:pt x="276" y="183"/>
                  </a:cubicBezTo>
                  <a:cubicBezTo>
                    <a:pt x="282" y="183"/>
                    <a:pt x="288" y="182"/>
                    <a:pt x="293" y="180"/>
                  </a:cubicBezTo>
                  <a:cubicBezTo>
                    <a:pt x="303" y="205"/>
                    <a:pt x="324" y="222"/>
                    <a:pt x="349" y="222"/>
                  </a:cubicBezTo>
                  <a:cubicBezTo>
                    <a:pt x="352" y="222"/>
                    <a:pt x="355" y="222"/>
                    <a:pt x="359" y="221"/>
                  </a:cubicBezTo>
                  <a:cubicBezTo>
                    <a:pt x="365" y="236"/>
                    <a:pt x="375" y="247"/>
                    <a:pt x="389" y="253"/>
                  </a:cubicBezTo>
                  <a:cubicBezTo>
                    <a:pt x="392" y="264"/>
                    <a:pt x="393" y="276"/>
                    <a:pt x="393" y="288"/>
                  </a:cubicBezTo>
                  <a:cubicBezTo>
                    <a:pt x="393" y="393"/>
                    <a:pt x="393" y="393"/>
                    <a:pt x="393" y="393"/>
                  </a:cubicBezTo>
                  <a:cubicBezTo>
                    <a:pt x="393" y="473"/>
                    <a:pt x="329" y="537"/>
                    <a:pt x="250" y="537"/>
                  </a:cubicBezTo>
                  <a:cubicBezTo>
                    <a:pt x="171" y="537"/>
                    <a:pt x="106" y="473"/>
                    <a:pt x="106" y="393"/>
                  </a:cubicBezTo>
                  <a:lnTo>
                    <a:pt x="106" y="3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245">
              <a:extLst>
                <a:ext uri="{FF2B5EF4-FFF2-40B4-BE49-F238E27FC236}">
                  <a16:creationId xmlns:a16="http://schemas.microsoft.com/office/drawing/2014/main" id="{78C90AE8-7C93-4BB8-825D-8FE005F70CE8}"/>
                </a:ext>
              </a:extLst>
            </p:cNvPr>
            <p:cNvSpPr>
              <a:spLocks noEditPoints="1"/>
            </p:cNvSpPr>
            <p:nvPr/>
          </p:nvSpPr>
          <p:spPr bwMode="auto">
            <a:xfrm>
              <a:off x="3869" y="2869"/>
              <a:ext cx="1014" cy="2478"/>
            </a:xfrm>
            <a:custGeom>
              <a:avLst/>
              <a:gdLst>
                <a:gd name="T0" fmla="*/ 632 w 670"/>
                <a:gd name="T1" fmla="*/ 100 h 1636"/>
                <a:gd name="T2" fmla="*/ 513 w 670"/>
                <a:gd name="T3" fmla="*/ 0 h 1636"/>
                <a:gd name="T4" fmla="*/ 156 w 670"/>
                <a:gd name="T5" fmla="*/ 0 h 1636"/>
                <a:gd name="T6" fmla="*/ 37 w 670"/>
                <a:gd name="T7" fmla="*/ 100 h 1636"/>
                <a:gd name="T8" fmla="*/ 82 w 670"/>
                <a:gd name="T9" fmla="*/ 537 h 1636"/>
                <a:gd name="T10" fmla="*/ 61 w 670"/>
                <a:gd name="T11" fmla="*/ 806 h 1636"/>
                <a:gd name="T12" fmla="*/ 26 w 670"/>
                <a:gd name="T13" fmla="*/ 1332 h 1636"/>
                <a:gd name="T14" fmla="*/ 198 w 670"/>
                <a:gd name="T15" fmla="*/ 1372 h 1636"/>
                <a:gd name="T16" fmla="*/ 274 w 670"/>
                <a:gd name="T17" fmla="*/ 1636 h 1636"/>
                <a:gd name="T18" fmla="*/ 442 w 670"/>
                <a:gd name="T19" fmla="*/ 1595 h 1636"/>
                <a:gd name="T20" fmla="*/ 611 w 670"/>
                <a:gd name="T21" fmla="*/ 1372 h 1636"/>
                <a:gd name="T22" fmla="*/ 642 w 670"/>
                <a:gd name="T23" fmla="*/ 1311 h 1636"/>
                <a:gd name="T24" fmla="*/ 567 w 670"/>
                <a:gd name="T25" fmla="*/ 537 h 1636"/>
                <a:gd name="T26" fmla="*/ 670 w 670"/>
                <a:gd name="T27" fmla="*/ 455 h 1636"/>
                <a:gd name="T28" fmla="*/ 274 w 670"/>
                <a:gd name="T29" fmla="*/ 1595 h 1636"/>
                <a:gd name="T30" fmla="*/ 239 w 670"/>
                <a:gd name="T31" fmla="*/ 1372 h 1636"/>
                <a:gd name="T32" fmla="*/ 314 w 670"/>
                <a:gd name="T33" fmla="*/ 1595 h 1636"/>
                <a:gd name="T34" fmla="*/ 396 w 670"/>
                <a:gd name="T35" fmla="*/ 1595 h 1636"/>
                <a:gd name="T36" fmla="*/ 355 w 670"/>
                <a:gd name="T37" fmla="*/ 1372 h 1636"/>
                <a:gd name="T38" fmla="*/ 402 w 670"/>
                <a:gd name="T39" fmla="*/ 1589 h 1636"/>
                <a:gd name="T40" fmla="*/ 134 w 670"/>
                <a:gd name="T41" fmla="*/ 364 h 1636"/>
                <a:gd name="T42" fmla="*/ 325 w 670"/>
                <a:gd name="T43" fmla="*/ 227 h 1636"/>
                <a:gd name="T44" fmla="*/ 462 w 670"/>
                <a:gd name="T45" fmla="*/ 367 h 1636"/>
                <a:gd name="T46" fmla="*/ 555 w 670"/>
                <a:gd name="T47" fmla="*/ 279 h 1636"/>
                <a:gd name="T48" fmla="*/ 466 w 670"/>
                <a:gd name="T49" fmla="*/ 326 h 1636"/>
                <a:gd name="T50" fmla="*/ 366 w 670"/>
                <a:gd name="T51" fmla="*/ 225 h 1636"/>
                <a:gd name="T52" fmla="*/ 413 w 670"/>
                <a:gd name="T53" fmla="*/ 137 h 1636"/>
                <a:gd name="T54" fmla="*/ 524 w 670"/>
                <a:gd name="T55" fmla="*/ 116 h 1636"/>
                <a:gd name="T56" fmla="*/ 514 w 670"/>
                <a:gd name="T57" fmla="*/ 206 h 1636"/>
                <a:gd name="T58" fmla="*/ 543 w 670"/>
                <a:gd name="T59" fmla="*/ 206 h 1636"/>
                <a:gd name="T60" fmla="*/ 543 w 670"/>
                <a:gd name="T61" fmla="*/ 153 h 1636"/>
                <a:gd name="T62" fmla="*/ 568 w 670"/>
                <a:gd name="T63" fmla="*/ 153 h 1636"/>
                <a:gd name="T64" fmla="*/ 584 w 670"/>
                <a:gd name="T65" fmla="*/ 208 h 1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0" h="1636">
                  <a:moveTo>
                    <a:pt x="670" y="455"/>
                  </a:moveTo>
                  <a:cubicBezTo>
                    <a:pt x="670" y="452"/>
                    <a:pt x="632" y="100"/>
                    <a:pt x="632" y="100"/>
                  </a:cubicBezTo>
                  <a:cubicBezTo>
                    <a:pt x="628" y="67"/>
                    <a:pt x="611" y="52"/>
                    <a:pt x="591" y="42"/>
                  </a:cubicBezTo>
                  <a:cubicBezTo>
                    <a:pt x="513" y="0"/>
                    <a:pt x="513" y="0"/>
                    <a:pt x="513" y="0"/>
                  </a:cubicBezTo>
                  <a:cubicBezTo>
                    <a:pt x="335" y="77"/>
                    <a:pt x="335" y="77"/>
                    <a:pt x="335" y="77"/>
                  </a:cubicBezTo>
                  <a:cubicBezTo>
                    <a:pt x="156" y="0"/>
                    <a:pt x="156" y="0"/>
                    <a:pt x="156" y="0"/>
                  </a:cubicBezTo>
                  <a:cubicBezTo>
                    <a:pt x="79" y="42"/>
                    <a:pt x="79" y="42"/>
                    <a:pt x="79" y="42"/>
                  </a:cubicBezTo>
                  <a:cubicBezTo>
                    <a:pt x="58" y="52"/>
                    <a:pt x="41" y="67"/>
                    <a:pt x="37" y="100"/>
                  </a:cubicBezTo>
                  <a:cubicBezTo>
                    <a:pt x="37" y="100"/>
                    <a:pt x="0" y="452"/>
                    <a:pt x="0" y="455"/>
                  </a:cubicBezTo>
                  <a:cubicBezTo>
                    <a:pt x="0" y="500"/>
                    <a:pt x="36" y="537"/>
                    <a:pt x="82" y="537"/>
                  </a:cubicBezTo>
                  <a:cubicBezTo>
                    <a:pt x="102" y="537"/>
                    <a:pt x="102" y="537"/>
                    <a:pt x="102" y="537"/>
                  </a:cubicBezTo>
                  <a:cubicBezTo>
                    <a:pt x="92" y="598"/>
                    <a:pt x="70" y="692"/>
                    <a:pt x="61" y="806"/>
                  </a:cubicBezTo>
                  <a:cubicBezTo>
                    <a:pt x="28" y="1311"/>
                    <a:pt x="28" y="1311"/>
                    <a:pt x="28" y="1311"/>
                  </a:cubicBezTo>
                  <a:cubicBezTo>
                    <a:pt x="26" y="1332"/>
                    <a:pt x="26" y="1332"/>
                    <a:pt x="26" y="1332"/>
                  </a:cubicBezTo>
                  <a:cubicBezTo>
                    <a:pt x="24" y="1354"/>
                    <a:pt x="36" y="1372"/>
                    <a:pt x="58" y="1372"/>
                  </a:cubicBezTo>
                  <a:cubicBezTo>
                    <a:pt x="198" y="1372"/>
                    <a:pt x="198" y="1372"/>
                    <a:pt x="198" y="1372"/>
                  </a:cubicBezTo>
                  <a:cubicBezTo>
                    <a:pt x="227" y="1595"/>
                    <a:pt x="227" y="1595"/>
                    <a:pt x="227" y="1595"/>
                  </a:cubicBezTo>
                  <a:cubicBezTo>
                    <a:pt x="230" y="1617"/>
                    <a:pt x="251" y="1636"/>
                    <a:pt x="274" y="1636"/>
                  </a:cubicBezTo>
                  <a:cubicBezTo>
                    <a:pt x="396" y="1636"/>
                    <a:pt x="396" y="1636"/>
                    <a:pt x="396" y="1636"/>
                  </a:cubicBezTo>
                  <a:cubicBezTo>
                    <a:pt x="418" y="1636"/>
                    <a:pt x="439" y="1617"/>
                    <a:pt x="442" y="1595"/>
                  </a:cubicBezTo>
                  <a:cubicBezTo>
                    <a:pt x="472" y="1372"/>
                    <a:pt x="472" y="1372"/>
                    <a:pt x="472" y="1372"/>
                  </a:cubicBezTo>
                  <a:cubicBezTo>
                    <a:pt x="611" y="1372"/>
                    <a:pt x="611" y="1372"/>
                    <a:pt x="611" y="1372"/>
                  </a:cubicBezTo>
                  <a:cubicBezTo>
                    <a:pt x="634" y="1372"/>
                    <a:pt x="645" y="1354"/>
                    <a:pt x="643" y="1332"/>
                  </a:cubicBezTo>
                  <a:cubicBezTo>
                    <a:pt x="642" y="1311"/>
                    <a:pt x="642" y="1311"/>
                    <a:pt x="642" y="1311"/>
                  </a:cubicBezTo>
                  <a:cubicBezTo>
                    <a:pt x="608" y="806"/>
                    <a:pt x="608" y="806"/>
                    <a:pt x="608" y="806"/>
                  </a:cubicBezTo>
                  <a:cubicBezTo>
                    <a:pt x="599" y="692"/>
                    <a:pt x="578" y="598"/>
                    <a:pt x="567" y="537"/>
                  </a:cubicBezTo>
                  <a:cubicBezTo>
                    <a:pt x="588" y="537"/>
                    <a:pt x="588" y="537"/>
                    <a:pt x="588" y="537"/>
                  </a:cubicBezTo>
                  <a:cubicBezTo>
                    <a:pt x="633" y="537"/>
                    <a:pt x="670" y="500"/>
                    <a:pt x="670" y="455"/>
                  </a:cubicBezTo>
                  <a:moveTo>
                    <a:pt x="314" y="1595"/>
                  </a:moveTo>
                  <a:cubicBezTo>
                    <a:pt x="274" y="1595"/>
                    <a:pt x="274" y="1595"/>
                    <a:pt x="274" y="1595"/>
                  </a:cubicBezTo>
                  <a:cubicBezTo>
                    <a:pt x="272" y="1595"/>
                    <a:pt x="268" y="1593"/>
                    <a:pt x="268" y="1590"/>
                  </a:cubicBezTo>
                  <a:cubicBezTo>
                    <a:pt x="239" y="1372"/>
                    <a:pt x="239" y="1372"/>
                    <a:pt x="239" y="1372"/>
                  </a:cubicBezTo>
                  <a:cubicBezTo>
                    <a:pt x="314" y="1372"/>
                    <a:pt x="314" y="1372"/>
                    <a:pt x="314" y="1372"/>
                  </a:cubicBezTo>
                  <a:lnTo>
                    <a:pt x="314" y="1595"/>
                  </a:lnTo>
                  <a:close/>
                  <a:moveTo>
                    <a:pt x="402" y="1589"/>
                  </a:moveTo>
                  <a:cubicBezTo>
                    <a:pt x="401" y="1593"/>
                    <a:pt x="398" y="1595"/>
                    <a:pt x="396" y="1595"/>
                  </a:cubicBezTo>
                  <a:cubicBezTo>
                    <a:pt x="355" y="1595"/>
                    <a:pt x="355" y="1595"/>
                    <a:pt x="355" y="1595"/>
                  </a:cubicBezTo>
                  <a:cubicBezTo>
                    <a:pt x="355" y="1372"/>
                    <a:pt x="355" y="1372"/>
                    <a:pt x="355" y="1372"/>
                  </a:cubicBezTo>
                  <a:cubicBezTo>
                    <a:pt x="430" y="1372"/>
                    <a:pt x="430" y="1372"/>
                    <a:pt x="430" y="1372"/>
                  </a:cubicBezTo>
                  <a:lnTo>
                    <a:pt x="402" y="1589"/>
                  </a:lnTo>
                  <a:close/>
                  <a:moveTo>
                    <a:pt x="109" y="398"/>
                  </a:moveTo>
                  <a:cubicBezTo>
                    <a:pt x="115" y="386"/>
                    <a:pt x="124" y="374"/>
                    <a:pt x="134" y="364"/>
                  </a:cubicBezTo>
                  <a:cubicBezTo>
                    <a:pt x="230" y="267"/>
                    <a:pt x="230" y="267"/>
                    <a:pt x="230" y="267"/>
                  </a:cubicBezTo>
                  <a:cubicBezTo>
                    <a:pt x="257" y="241"/>
                    <a:pt x="291" y="228"/>
                    <a:pt x="325" y="227"/>
                  </a:cubicBezTo>
                  <a:cubicBezTo>
                    <a:pt x="325" y="264"/>
                    <a:pt x="340" y="299"/>
                    <a:pt x="366" y="325"/>
                  </a:cubicBezTo>
                  <a:cubicBezTo>
                    <a:pt x="392" y="351"/>
                    <a:pt x="426" y="365"/>
                    <a:pt x="462" y="367"/>
                  </a:cubicBezTo>
                  <a:cubicBezTo>
                    <a:pt x="378" y="491"/>
                    <a:pt x="109" y="398"/>
                    <a:pt x="109" y="398"/>
                  </a:cubicBezTo>
                  <a:moveTo>
                    <a:pt x="555" y="279"/>
                  </a:moveTo>
                  <a:cubicBezTo>
                    <a:pt x="538" y="296"/>
                    <a:pt x="538" y="296"/>
                    <a:pt x="538" y="296"/>
                  </a:cubicBezTo>
                  <a:cubicBezTo>
                    <a:pt x="519" y="315"/>
                    <a:pt x="493" y="326"/>
                    <a:pt x="466" y="326"/>
                  </a:cubicBezTo>
                  <a:cubicBezTo>
                    <a:pt x="440" y="326"/>
                    <a:pt x="414" y="315"/>
                    <a:pt x="395" y="296"/>
                  </a:cubicBezTo>
                  <a:cubicBezTo>
                    <a:pt x="376" y="277"/>
                    <a:pt x="366" y="252"/>
                    <a:pt x="366" y="225"/>
                  </a:cubicBezTo>
                  <a:cubicBezTo>
                    <a:pt x="366" y="198"/>
                    <a:pt x="376" y="173"/>
                    <a:pt x="395" y="154"/>
                  </a:cubicBezTo>
                  <a:cubicBezTo>
                    <a:pt x="413" y="137"/>
                    <a:pt x="413" y="137"/>
                    <a:pt x="413" y="137"/>
                  </a:cubicBezTo>
                  <a:cubicBezTo>
                    <a:pt x="432" y="118"/>
                    <a:pt x="457" y="107"/>
                    <a:pt x="484" y="107"/>
                  </a:cubicBezTo>
                  <a:cubicBezTo>
                    <a:pt x="498" y="107"/>
                    <a:pt x="511" y="110"/>
                    <a:pt x="524" y="116"/>
                  </a:cubicBezTo>
                  <a:cubicBezTo>
                    <a:pt x="520" y="118"/>
                    <a:pt x="517" y="121"/>
                    <a:pt x="514" y="124"/>
                  </a:cubicBezTo>
                  <a:cubicBezTo>
                    <a:pt x="491" y="147"/>
                    <a:pt x="491" y="184"/>
                    <a:pt x="514" y="206"/>
                  </a:cubicBezTo>
                  <a:cubicBezTo>
                    <a:pt x="518" y="210"/>
                    <a:pt x="523" y="212"/>
                    <a:pt x="528" y="212"/>
                  </a:cubicBezTo>
                  <a:cubicBezTo>
                    <a:pt x="533" y="212"/>
                    <a:pt x="539" y="210"/>
                    <a:pt x="543" y="206"/>
                  </a:cubicBezTo>
                  <a:cubicBezTo>
                    <a:pt x="551" y="198"/>
                    <a:pt x="551" y="185"/>
                    <a:pt x="543" y="177"/>
                  </a:cubicBezTo>
                  <a:cubicBezTo>
                    <a:pt x="536" y="171"/>
                    <a:pt x="536" y="160"/>
                    <a:pt x="543" y="153"/>
                  </a:cubicBezTo>
                  <a:cubicBezTo>
                    <a:pt x="544" y="151"/>
                    <a:pt x="546" y="150"/>
                    <a:pt x="548" y="149"/>
                  </a:cubicBezTo>
                  <a:cubicBezTo>
                    <a:pt x="555" y="146"/>
                    <a:pt x="563" y="148"/>
                    <a:pt x="568" y="153"/>
                  </a:cubicBezTo>
                  <a:cubicBezTo>
                    <a:pt x="570" y="156"/>
                    <a:pt x="575" y="160"/>
                    <a:pt x="580" y="172"/>
                  </a:cubicBezTo>
                  <a:cubicBezTo>
                    <a:pt x="584" y="184"/>
                    <a:pt x="584" y="188"/>
                    <a:pt x="584" y="208"/>
                  </a:cubicBezTo>
                  <a:cubicBezTo>
                    <a:pt x="584" y="235"/>
                    <a:pt x="574" y="260"/>
                    <a:pt x="555" y="27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20" name="Group 287">
            <a:extLst>
              <a:ext uri="{FF2B5EF4-FFF2-40B4-BE49-F238E27FC236}">
                <a16:creationId xmlns:a16="http://schemas.microsoft.com/office/drawing/2014/main" id="{FE339E09-9D91-44B5-A371-49732EFDF6FC}"/>
              </a:ext>
            </a:extLst>
          </p:cNvPr>
          <p:cNvGrpSpPr>
            <a:grpSpLocks noChangeAspect="1"/>
          </p:cNvGrpSpPr>
          <p:nvPr/>
        </p:nvGrpSpPr>
        <p:grpSpPr bwMode="auto">
          <a:xfrm>
            <a:off x="1404147" y="1557201"/>
            <a:ext cx="172543" cy="525600"/>
            <a:chOff x="1738" y="919"/>
            <a:chExt cx="1104" cy="3363"/>
          </a:xfrm>
          <a:solidFill>
            <a:schemeClr val="bg2"/>
          </a:solidFill>
        </p:grpSpPr>
        <p:sp>
          <p:nvSpPr>
            <p:cNvPr id="21" name="Freeform 290">
              <a:extLst>
                <a:ext uri="{FF2B5EF4-FFF2-40B4-BE49-F238E27FC236}">
                  <a16:creationId xmlns:a16="http://schemas.microsoft.com/office/drawing/2014/main" id="{EBFF8043-BED8-4593-BC77-7934847A3581}"/>
                </a:ext>
              </a:extLst>
            </p:cNvPr>
            <p:cNvSpPr>
              <a:spLocks noEditPoints="1"/>
            </p:cNvSpPr>
            <p:nvPr/>
          </p:nvSpPr>
          <p:spPr bwMode="auto">
            <a:xfrm>
              <a:off x="1903" y="919"/>
              <a:ext cx="755" cy="879"/>
            </a:xfrm>
            <a:custGeom>
              <a:avLst/>
              <a:gdLst>
                <a:gd name="T0" fmla="*/ 30 w 494"/>
                <a:gd name="T1" fmla="*/ 284 h 575"/>
                <a:gd name="T2" fmla="*/ 23 w 494"/>
                <a:gd name="T3" fmla="*/ 315 h 575"/>
                <a:gd name="T4" fmla="*/ 39 w 494"/>
                <a:gd name="T5" fmla="*/ 342 h 575"/>
                <a:gd name="T6" fmla="*/ 38 w 494"/>
                <a:gd name="T7" fmla="*/ 357 h 575"/>
                <a:gd name="T8" fmla="*/ 65 w 494"/>
                <a:gd name="T9" fmla="*/ 385 h 575"/>
                <a:gd name="T10" fmla="*/ 65 w 494"/>
                <a:gd name="T11" fmla="*/ 392 h 575"/>
                <a:gd name="T12" fmla="*/ 249 w 494"/>
                <a:gd name="T13" fmla="*/ 575 h 575"/>
                <a:gd name="T14" fmla="*/ 432 w 494"/>
                <a:gd name="T15" fmla="*/ 394 h 575"/>
                <a:gd name="T16" fmla="*/ 446 w 494"/>
                <a:gd name="T17" fmla="*/ 367 h 575"/>
                <a:gd name="T18" fmla="*/ 445 w 494"/>
                <a:gd name="T19" fmla="*/ 363 h 575"/>
                <a:gd name="T20" fmla="*/ 480 w 494"/>
                <a:gd name="T21" fmla="*/ 329 h 575"/>
                <a:gd name="T22" fmla="*/ 471 w 494"/>
                <a:gd name="T23" fmla="*/ 298 h 575"/>
                <a:gd name="T24" fmla="*/ 480 w 494"/>
                <a:gd name="T25" fmla="*/ 274 h 575"/>
                <a:gd name="T26" fmla="*/ 469 w 494"/>
                <a:gd name="T27" fmla="*/ 220 h 575"/>
                <a:gd name="T28" fmla="*/ 485 w 494"/>
                <a:gd name="T29" fmla="*/ 182 h 575"/>
                <a:gd name="T30" fmla="*/ 430 w 494"/>
                <a:gd name="T31" fmla="*/ 97 h 575"/>
                <a:gd name="T32" fmla="*/ 415 w 494"/>
                <a:gd name="T33" fmla="*/ 99 h 575"/>
                <a:gd name="T34" fmla="*/ 361 w 494"/>
                <a:gd name="T35" fmla="*/ 59 h 575"/>
                <a:gd name="T36" fmla="*/ 345 w 494"/>
                <a:gd name="T37" fmla="*/ 61 h 575"/>
                <a:gd name="T38" fmla="*/ 279 w 494"/>
                <a:gd name="T39" fmla="*/ 0 h 575"/>
                <a:gd name="T40" fmla="*/ 216 w 494"/>
                <a:gd name="T41" fmla="*/ 47 h 575"/>
                <a:gd name="T42" fmla="*/ 157 w 494"/>
                <a:gd name="T43" fmla="*/ 17 h 575"/>
                <a:gd name="T44" fmla="*/ 87 w 494"/>
                <a:gd name="T45" fmla="*/ 98 h 575"/>
                <a:gd name="T46" fmla="*/ 82 w 494"/>
                <a:gd name="T47" fmla="*/ 97 h 575"/>
                <a:gd name="T48" fmla="*/ 27 w 494"/>
                <a:gd name="T49" fmla="*/ 182 h 575"/>
                <a:gd name="T50" fmla="*/ 29 w 494"/>
                <a:gd name="T51" fmla="*/ 190 h 575"/>
                <a:gd name="T52" fmla="*/ 6 w 494"/>
                <a:gd name="T53" fmla="*/ 245 h 575"/>
                <a:gd name="T54" fmla="*/ 30 w 494"/>
                <a:gd name="T55" fmla="*/ 284 h 575"/>
                <a:gd name="T56" fmla="*/ 106 w 494"/>
                <a:gd name="T57" fmla="*/ 303 h 575"/>
                <a:gd name="T58" fmla="*/ 111 w 494"/>
                <a:gd name="T59" fmla="*/ 277 h 575"/>
                <a:gd name="T60" fmla="*/ 115 w 494"/>
                <a:gd name="T61" fmla="*/ 256 h 575"/>
                <a:gd name="T62" fmla="*/ 158 w 494"/>
                <a:gd name="T63" fmla="*/ 210 h 575"/>
                <a:gd name="T64" fmla="*/ 171 w 494"/>
                <a:gd name="T65" fmla="*/ 211 h 575"/>
                <a:gd name="T66" fmla="*/ 233 w 494"/>
                <a:gd name="T67" fmla="*/ 164 h 575"/>
                <a:gd name="T68" fmla="*/ 275 w 494"/>
                <a:gd name="T69" fmla="*/ 182 h 575"/>
                <a:gd name="T70" fmla="*/ 292 w 494"/>
                <a:gd name="T71" fmla="*/ 179 h 575"/>
                <a:gd name="T72" fmla="*/ 347 w 494"/>
                <a:gd name="T73" fmla="*/ 222 h 575"/>
                <a:gd name="T74" fmla="*/ 358 w 494"/>
                <a:gd name="T75" fmla="*/ 220 h 575"/>
                <a:gd name="T76" fmla="*/ 387 w 494"/>
                <a:gd name="T77" fmla="*/ 252 h 575"/>
                <a:gd name="T78" fmla="*/ 392 w 494"/>
                <a:gd name="T79" fmla="*/ 287 h 575"/>
                <a:gd name="T80" fmla="*/ 392 w 494"/>
                <a:gd name="T81" fmla="*/ 392 h 575"/>
                <a:gd name="T82" fmla="*/ 249 w 494"/>
                <a:gd name="T83" fmla="*/ 535 h 575"/>
                <a:gd name="T84" fmla="*/ 106 w 494"/>
                <a:gd name="T85" fmla="*/ 392 h 575"/>
                <a:gd name="T86" fmla="*/ 106 w 494"/>
                <a:gd name="T87" fmla="*/ 303 h 5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94" h="575">
                  <a:moveTo>
                    <a:pt x="30" y="284"/>
                  </a:moveTo>
                  <a:cubicBezTo>
                    <a:pt x="23" y="292"/>
                    <a:pt x="21" y="303"/>
                    <a:pt x="23" y="315"/>
                  </a:cubicBezTo>
                  <a:cubicBezTo>
                    <a:pt x="25" y="326"/>
                    <a:pt x="31" y="335"/>
                    <a:pt x="39" y="342"/>
                  </a:cubicBezTo>
                  <a:cubicBezTo>
                    <a:pt x="38" y="346"/>
                    <a:pt x="37" y="352"/>
                    <a:pt x="38" y="357"/>
                  </a:cubicBezTo>
                  <a:cubicBezTo>
                    <a:pt x="41" y="371"/>
                    <a:pt x="52" y="382"/>
                    <a:pt x="65" y="385"/>
                  </a:cubicBezTo>
                  <a:cubicBezTo>
                    <a:pt x="65" y="392"/>
                    <a:pt x="65" y="392"/>
                    <a:pt x="65" y="392"/>
                  </a:cubicBezTo>
                  <a:cubicBezTo>
                    <a:pt x="65" y="493"/>
                    <a:pt x="147" y="575"/>
                    <a:pt x="249" y="575"/>
                  </a:cubicBezTo>
                  <a:cubicBezTo>
                    <a:pt x="349" y="575"/>
                    <a:pt x="431" y="495"/>
                    <a:pt x="432" y="394"/>
                  </a:cubicBezTo>
                  <a:cubicBezTo>
                    <a:pt x="440" y="390"/>
                    <a:pt x="446" y="380"/>
                    <a:pt x="446" y="367"/>
                  </a:cubicBezTo>
                  <a:cubicBezTo>
                    <a:pt x="446" y="366"/>
                    <a:pt x="446" y="364"/>
                    <a:pt x="445" y="363"/>
                  </a:cubicBezTo>
                  <a:cubicBezTo>
                    <a:pt x="461" y="360"/>
                    <a:pt x="476" y="346"/>
                    <a:pt x="480" y="329"/>
                  </a:cubicBezTo>
                  <a:cubicBezTo>
                    <a:pt x="483" y="316"/>
                    <a:pt x="479" y="305"/>
                    <a:pt x="471" y="298"/>
                  </a:cubicBezTo>
                  <a:cubicBezTo>
                    <a:pt x="475" y="291"/>
                    <a:pt x="478" y="283"/>
                    <a:pt x="480" y="274"/>
                  </a:cubicBezTo>
                  <a:cubicBezTo>
                    <a:pt x="485" y="253"/>
                    <a:pt x="480" y="234"/>
                    <a:pt x="469" y="220"/>
                  </a:cubicBezTo>
                  <a:cubicBezTo>
                    <a:pt x="476" y="209"/>
                    <a:pt x="482" y="196"/>
                    <a:pt x="485" y="182"/>
                  </a:cubicBezTo>
                  <a:cubicBezTo>
                    <a:pt x="494" y="137"/>
                    <a:pt x="469" y="97"/>
                    <a:pt x="430" y="97"/>
                  </a:cubicBezTo>
                  <a:cubicBezTo>
                    <a:pt x="425" y="97"/>
                    <a:pt x="420" y="98"/>
                    <a:pt x="415" y="99"/>
                  </a:cubicBezTo>
                  <a:cubicBezTo>
                    <a:pt x="406" y="75"/>
                    <a:pt x="386" y="59"/>
                    <a:pt x="361" y="59"/>
                  </a:cubicBezTo>
                  <a:cubicBezTo>
                    <a:pt x="355" y="59"/>
                    <a:pt x="350" y="60"/>
                    <a:pt x="345" y="61"/>
                  </a:cubicBezTo>
                  <a:cubicBezTo>
                    <a:pt x="336" y="26"/>
                    <a:pt x="311" y="0"/>
                    <a:pt x="279" y="0"/>
                  </a:cubicBezTo>
                  <a:cubicBezTo>
                    <a:pt x="251" y="0"/>
                    <a:pt x="228" y="19"/>
                    <a:pt x="216" y="47"/>
                  </a:cubicBezTo>
                  <a:cubicBezTo>
                    <a:pt x="201" y="29"/>
                    <a:pt x="180" y="17"/>
                    <a:pt x="157" y="17"/>
                  </a:cubicBezTo>
                  <a:cubicBezTo>
                    <a:pt x="118" y="17"/>
                    <a:pt x="90" y="53"/>
                    <a:pt x="87" y="98"/>
                  </a:cubicBezTo>
                  <a:cubicBezTo>
                    <a:pt x="86" y="98"/>
                    <a:pt x="84" y="97"/>
                    <a:pt x="82" y="97"/>
                  </a:cubicBezTo>
                  <a:cubicBezTo>
                    <a:pt x="43" y="97"/>
                    <a:pt x="19" y="137"/>
                    <a:pt x="27" y="182"/>
                  </a:cubicBezTo>
                  <a:cubicBezTo>
                    <a:pt x="28" y="185"/>
                    <a:pt x="29" y="187"/>
                    <a:pt x="29" y="190"/>
                  </a:cubicBezTo>
                  <a:cubicBezTo>
                    <a:pt x="10" y="198"/>
                    <a:pt x="0" y="220"/>
                    <a:pt x="6" y="245"/>
                  </a:cubicBezTo>
                  <a:cubicBezTo>
                    <a:pt x="9" y="261"/>
                    <a:pt x="18" y="275"/>
                    <a:pt x="30" y="284"/>
                  </a:cubicBezTo>
                  <a:moveTo>
                    <a:pt x="106" y="303"/>
                  </a:moveTo>
                  <a:cubicBezTo>
                    <a:pt x="106" y="294"/>
                    <a:pt x="108" y="285"/>
                    <a:pt x="111" y="277"/>
                  </a:cubicBezTo>
                  <a:cubicBezTo>
                    <a:pt x="112" y="270"/>
                    <a:pt x="113" y="263"/>
                    <a:pt x="115" y="256"/>
                  </a:cubicBezTo>
                  <a:cubicBezTo>
                    <a:pt x="136" y="251"/>
                    <a:pt x="152" y="234"/>
                    <a:pt x="158" y="210"/>
                  </a:cubicBezTo>
                  <a:cubicBezTo>
                    <a:pt x="162" y="211"/>
                    <a:pt x="166" y="211"/>
                    <a:pt x="171" y="211"/>
                  </a:cubicBezTo>
                  <a:cubicBezTo>
                    <a:pt x="198" y="211"/>
                    <a:pt x="222" y="193"/>
                    <a:pt x="233" y="164"/>
                  </a:cubicBezTo>
                  <a:cubicBezTo>
                    <a:pt x="245" y="175"/>
                    <a:pt x="260" y="182"/>
                    <a:pt x="275" y="182"/>
                  </a:cubicBezTo>
                  <a:cubicBezTo>
                    <a:pt x="281" y="182"/>
                    <a:pt x="287" y="181"/>
                    <a:pt x="292" y="179"/>
                  </a:cubicBezTo>
                  <a:cubicBezTo>
                    <a:pt x="302" y="205"/>
                    <a:pt x="323" y="222"/>
                    <a:pt x="347" y="222"/>
                  </a:cubicBezTo>
                  <a:cubicBezTo>
                    <a:pt x="351" y="222"/>
                    <a:pt x="354" y="221"/>
                    <a:pt x="358" y="220"/>
                  </a:cubicBezTo>
                  <a:cubicBezTo>
                    <a:pt x="364" y="235"/>
                    <a:pt x="374" y="246"/>
                    <a:pt x="387" y="252"/>
                  </a:cubicBezTo>
                  <a:cubicBezTo>
                    <a:pt x="390" y="263"/>
                    <a:pt x="392" y="275"/>
                    <a:pt x="392" y="287"/>
                  </a:cubicBezTo>
                  <a:cubicBezTo>
                    <a:pt x="392" y="392"/>
                    <a:pt x="392" y="392"/>
                    <a:pt x="392" y="392"/>
                  </a:cubicBezTo>
                  <a:cubicBezTo>
                    <a:pt x="392" y="471"/>
                    <a:pt x="328" y="535"/>
                    <a:pt x="249" y="535"/>
                  </a:cubicBezTo>
                  <a:cubicBezTo>
                    <a:pt x="170" y="535"/>
                    <a:pt x="106" y="471"/>
                    <a:pt x="106" y="392"/>
                  </a:cubicBezTo>
                  <a:lnTo>
                    <a:pt x="106"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291">
              <a:extLst>
                <a:ext uri="{FF2B5EF4-FFF2-40B4-BE49-F238E27FC236}">
                  <a16:creationId xmlns:a16="http://schemas.microsoft.com/office/drawing/2014/main" id="{C9AE448F-5BD0-4620-A833-F7E470AB7B3A}"/>
                </a:ext>
              </a:extLst>
            </p:cNvPr>
            <p:cNvSpPr>
              <a:spLocks noEditPoints="1"/>
            </p:cNvSpPr>
            <p:nvPr/>
          </p:nvSpPr>
          <p:spPr bwMode="auto">
            <a:xfrm>
              <a:off x="1738" y="1772"/>
              <a:ext cx="1104" cy="2510"/>
            </a:xfrm>
            <a:custGeom>
              <a:avLst/>
              <a:gdLst>
                <a:gd name="T0" fmla="*/ 717 w 722"/>
                <a:gd name="T1" fmla="*/ 683 h 1642"/>
                <a:gd name="T2" fmla="*/ 657 w 722"/>
                <a:gd name="T3" fmla="*/ 113 h 1642"/>
                <a:gd name="T4" fmla="*/ 616 w 722"/>
                <a:gd name="T5" fmla="*/ 56 h 1642"/>
                <a:gd name="T6" fmla="*/ 499 w 722"/>
                <a:gd name="T7" fmla="*/ 1 h 1642"/>
                <a:gd name="T8" fmla="*/ 499 w 722"/>
                <a:gd name="T9" fmla="*/ 83 h 1642"/>
                <a:gd name="T10" fmla="*/ 490 w 722"/>
                <a:gd name="T11" fmla="*/ 100 h 1642"/>
                <a:gd name="T12" fmla="*/ 478 w 722"/>
                <a:gd name="T13" fmla="*/ 103 h 1642"/>
                <a:gd name="T14" fmla="*/ 471 w 722"/>
                <a:gd name="T15" fmla="*/ 102 h 1642"/>
                <a:gd name="T16" fmla="*/ 421 w 722"/>
                <a:gd name="T17" fmla="*/ 83 h 1642"/>
                <a:gd name="T18" fmla="*/ 383 w 722"/>
                <a:gd name="T19" fmla="*/ 212 h 1642"/>
                <a:gd name="T20" fmla="*/ 364 w 722"/>
                <a:gd name="T21" fmla="*/ 226 h 1642"/>
                <a:gd name="T22" fmla="*/ 364 w 722"/>
                <a:gd name="T23" fmla="*/ 226 h 1642"/>
                <a:gd name="T24" fmla="*/ 344 w 722"/>
                <a:gd name="T25" fmla="*/ 212 h 1642"/>
                <a:gd name="T26" fmla="*/ 304 w 722"/>
                <a:gd name="T27" fmla="*/ 82 h 1642"/>
                <a:gd name="T28" fmla="*/ 251 w 722"/>
                <a:gd name="T29" fmla="*/ 102 h 1642"/>
                <a:gd name="T30" fmla="*/ 244 w 722"/>
                <a:gd name="T31" fmla="*/ 103 h 1642"/>
                <a:gd name="T32" fmla="*/ 233 w 722"/>
                <a:gd name="T33" fmla="*/ 100 h 1642"/>
                <a:gd name="T34" fmla="*/ 224 w 722"/>
                <a:gd name="T35" fmla="*/ 83 h 1642"/>
                <a:gd name="T36" fmla="*/ 224 w 722"/>
                <a:gd name="T37" fmla="*/ 0 h 1642"/>
                <a:gd name="T38" fmla="*/ 224 w 722"/>
                <a:gd name="T39" fmla="*/ 0 h 1642"/>
                <a:gd name="T40" fmla="*/ 106 w 722"/>
                <a:gd name="T41" fmla="*/ 56 h 1642"/>
                <a:gd name="T42" fmla="*/ 65 w 722"/>
                <a:gd name="T43" fmla="*/ 113 h 1642"/>
                <a:gd name="T44" fmla="*/ 5 w 722"/>
                <a:gd name="T45" fmla="*/ 683 h 1642"/>
                <a:gd name="T46" fmla="*/ 76 w 722"/>
                <a:gd name="T47" fmla="*/ 815 h 1642"/>
                <a:gd name="T48" fmla="*/ 122 w 722"/>
                <a:gd name="T49" fmla="*/ 833 h 1642"/>
                <a:gd name="T50" fmla="*/ 221 w 722"/>
                <a:gd name="T51" fmla="*/ 1601 h 1642"/>
                <a:gd name="T52" fmla="*/ 268 w 722"/>
                <a:gd name="T53" fmla="*/ 1642 h 1642"/>
                <a:gd name="T54" fmla="*/ 341 w 722"/>
                <a:gd name="T55" fmla="*/ 1642 h 1642"/>
                <a:gd name="T56" fmla="*/ 341 w 722"/>
                <a:gd name="T57" fmla="*/ 856 h 1642"/>
                <a:gd name="T58" fmla="*/ 361 w 722"/>
                <a:gd name="T59" fmla="*/ 856 h 1642"/>
                <a:gd name="T60" fmla="*/ 361 w 722"/>
                <a:gd name="T61" fmla="*/ 856 h 1642"/>
                <a:gd name="T62" fmla="*/ 382 w 722"/>
                <a:gd name="T63" fmla="*/ 856 h 1642"/>
                <a:gd name="T64" fmla="*/ 382 w 722"/>
                <a:gd name="T65" fmla="*/ 1642 h 1642"/>
                <a:gd name="T66" fmla="*/ 455 w 722"/>
                <a:gd name="T67" fmla="*/ 1642 h 1642"/>
                <a:gd name="T68" fmla="*/ 501 w 722"/>
                <a:gd name="T69" fmla="*/ 1601 h 1642"/>
                <a:gd name="T70" fmla="*/ 600 w 722"/>
                <a:gd name="T71" fmla="*/ 833 h 1642"/>
                <a:gd name="T72" fmla="*/ 647 w 722"/>
                <a:gd name="T73" fmla="*/ 815 h 1642"/>
                <a:gd name="T74" fmla="*/ 717 w 722"/>
                <a:gd name="T75" fmla="*/ 683 h 1642"/>
                <a:gd name="T76" fmla="*/ 161 w 722"/>
                <a:gd name="T77" fmla="*/ 400 h 1642"/>
                <a:gd name="T78" fmla="*/ 561 w 722"/>
                <a:gd name="T79" fmla="*/ 400 h 1642"/>
                <a:gd name="T80" fmla="*/ 561 w 722"/>
                <a:gd name="T81" fmla="*/ 522 h 1642"/>
                <a:gd name="T82" fmla="*/ 161 w 722"/>
                <a:gd name="T83" fmla="*/ 522 h 1642"/>
                <a:gd name="T84" fmla="*/ 161 w 722"/>
                <a:gd name="T85" fmla="*/ 400 h 1642"/>
                <a:gd name="T86" fmla="*/ 122 w 722"/>
                <a:gd name="T87" fmla="*/ 790 h 1642"/>
                <a:gd name="T88" fmla="*/ 71 w 722"/>
                <a:gd name="T89" fmla="*/ 759 h 1642"/>
                <a:gd name="T90" fmla="*/ 46 w 722"/>
                <a:gd name="T91" fmla="*/ 688 h 1642"/>
                <a:gd name="T92" fmla="*/ 55 w 722"/>
                <a:gd name="T93" fmla="*/ 602 h 1642"/>
                <a:gd name="T94" fmla="*/ 123 w 722"/>
                <a:gd name="T95" fmla="*/ 602 h 1642"/>
                <a:gd name="T96" fmla="*/ 122 w 722"/>
                <a:gd name="T97" fmla="*/ 790 h 1642"/>
                <a:gd name="T98" fmla="*/ 652 w 722"/>
                <a:gd name="T99" fmla="*/ 759 h 1642"/>
                <a:gd name="T100" fmla="*/ 600 w 722"/>
                <a:gd name="T101" fmla="*/ 790 h 1642"/>
                <a:gd name="T102" fmla="*/ 600 w 722"/>
                <a:gd name="T103" fmla="*/ 602 h 1642"/>
                <a:gd name="T104" fmla="*/ 668 w 722"/>
                <a:gd name="T105" fmla="*/ 602 h 1642"/>
                <a:gd name="T106" fmla="*/ 677 w 722"/>
                <a:gd name="T107" fmla="*/ 688 h 1642"/>
                <a:gd name="T108" fmla="*/ 652 w 722"/>
                <a:gd name="T109" fmla="*/ 759 h 1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2" h="1642">
                  <a:moveTo>
                    <a:pt x="717" y="683"/>
                  </a:moveTo>
                  <a:cubicBezTo>
                    <a:pt x="657" y="113"/>
                    <a:pt x="657" y="113"/>
                    <a:pt x="657" y="113"/>
                  </a:cubicBezTo>
                  <a:cubicBezTo>
                    <a:pt x="653" y="79"/>
                    <a:pt x="636" y="65"/>
                    <a:pt x="616" y="56"/>
                  </a:cubicBezTo>
                  <a:cubicBezTo>
                    <a:pt x="499" y="1"/>
                    <a:pt x="499" y="1"/>
                    <a:pt x="499" y="1"/>
                  </a:cubicBezTo>
                  <a:cubicBezTo>
                    <a:pt x="499" y="83"/>
                    <a:pt x="499" y="83"/>
                    <a:pt x="499" y="83"/>
                  </a:cubicBezTo>
                  <a:cubicBezTo>
                    <a:pt x="499" y="90"/>
                    <a:pt x="495" y="96"/>
                    <a:pt x="490" y="100"/>
                  </a:cubicBezTo>
                  <a:cubicBezTo>
                    <a:pt x="487" y="102"/>
                    <a:pt x="482" y="103"/>
                    <a:pt x="478" y="103"/>
                  </a:cubicBezTo>
                  <a:cubicBezTo>
                    <a:pt x="476" y="103"/>
                    <a:pt x="474" y="103"/>
                    <a:pt x="471" y="102"/>
                  </a:cubicBezTo>
                  <a:cubicBezTo>
                    <a:pt x="421" y="83"/>
                    <a:pt x="421" y="83"/>
                    <a:pt x="421" y="83"/>
                  </a:cubicBezTo>
                  <a:cubicBezTo>
                    <a:pt x="383" y="212"/>
                    <a:pt x="383" y="212"/>
                    <a:pt x="383" y="212"/>
                  </a:cubicBezTo>
                  <a:cubicBezTo>
                    <a:pt x="381" y="220"/>
                    <a:pt x="373" y="226"/>
                    <a:pt x="364" y="226"/>
                  </a:cubicBezTo>
                  <a:cubicBezTo>
                    <a:pt x="364" y="226"/>
                    <a:pt x="364" y="226"/>
                    <a:pt x="364" y="226"/>
                  </a:cubicBezTo>
                  <a:cubicBezTo>
                    <a:pt x="355" y="226"/>
                    <a:pt x="347" y="220"/>
                    <a:pt x="344" y="212"/>
                  </a:cubicBezTo>
                  <a:cubicBezTo>
                    <a:pt x="304" y="82"/>
                    <a:pt x="304" y="82"/>
                    <a:pt x="304" y="82"/>
                  </a:cubicBezTo>
                  <a:cubicBezTo>
                    <a:pt x="251" y="102"/>
                    <a:pt x="251" y="102"/>
                    <a:pt x="251" y="102"/>
                  </a:cubicBezTo>
                  <a:cubicBezTo>
                    <a:pt x="249" y="103"/>
                    <a:pt x="247" y="103"/>
                    <a:pt x="244" y="103"/>
                  </a:cubicBezTo>
                  <a:cubicBezTo>
                    <a:pt x="240" y="103"/>
                    <a:pt x="236" y="102"/>
                    <a:pt x="233" y="100"/>
                  </a:cubicBezTo>
                  <a:cubicBezTo>
                    <a:pt x="227" y="96"/>
                    <a:pt x="224" y="90"/>
                    <a:pt x="224" y="83"/>
                  </a:cubicBezTo>
                  <a:cubicBezTo>
                    <a:pt x="224" y="0"/>
                    <a:pt x="224" y="0"/>
                    <a:pt x="224" y="0"/>
                  </a:cubicBezTo>
                  <a:cubicBezTo>
                    <a:pt x="224" y="0"/>
                    <a:pt x="224" y="0"/>
                    <a:pt x="224" y="0"/>
                  </a:cubicBezTo>
                  <a:cubicBezTo>
                    <a:pt x="106" y="56"/>
                    <a:pt x="106" y="56"/>
                    <a:pt x="106" y="56"/>
                  </a:cubicBezTo>
                  <a:cubicBezTo>
                    <a:pt x="86" y="65"/>
                    <a:pt x="68" y="81"/>
                    <a:pt x="65" y="113"/>
                  </a:cubicBezTo>
                  <a:cubicBezTo>
                    <a:pt x="5" y="683"/>
                    <a:pt x="5" y="683"/>
                    <a:pt x="5" y="683"/>
                  </a:cubicBezTo>
                  <a:cubicBezTo>
                    <a:pt x="0" y="739"/>
                    <a:pt x="34" y="790"/>
                    <a:pt x="76" y="815"/>
                  </a:cubicBezTo>
                  <a:cubicBezTo>
                    <a:pt x="97" y="827"/>
                    <a:pt x="122" y="833"/>
                    <a:pt x="122" y="833"/>
                  </a:cubicBezTo>
                  <a:cubicBezTo>
                    <a:pt x="221" y="1601"/>
                    <a:pt x="221" y="1601"/>
                    <a:pt x="221" y="1601"/>
                  </a:cubicBezTo>
                  <a:cubicBezTo>
                    <a:pt x="224" y="1623"/>
                    <a:pt x="245" y="1642"/>
                    <a:pt x="268" y="1642"/>
                  </a:cubicBezTo>
                  <a:cubicBezTo>
                    <a:pt x="341" y="1642"/>
                    <a:pt x="341" y="1642"/>
                    <a:pt x="341" y="1642"/>
                  </a:cubicBezTo>
                  <a:cubicBezTo>
                    <a:pt x="341" y="856"/>
                    <a:pt x="341" y="856"/>
                    <a:pt x="341" y="856"/>
                  </a:cubicBezTo>
                  <a:cubicBezTo>
                    <a:pt x="361" y="856"/>
                    <a:pt x="361" y="856"/>
                    <a:pt x="361" y="856"/>
                  </a:cubicBezTo>
                  <a:cubicBezTo>
                    <a:pt x="361" y="856"/>
                    <a:pt x="361" y="856"/>
                    <a:pt x="361" y="856"/>
                  </a:cubicBezTo>
                  <a:cubicBezTo>
                    <a:pt x="382" y="856"/>
                    <a:pt x="382" y="856"/>
                    <a:pt x="382" y="856"/>
                  </a:cubicBezTo>
                  <a:cubicBezTo>
                    <a:pt x="382" y="1642"/>
                    <a:pt x="382" y="1642"/>
                    <a:pt x="382" y="1642"/>
                  </a:cubicBezTo>
                  <a:cubicBezTo>
                    <a:pt x="455" y="1642"/>
                    <a:pt x="455" y="1642"/>
                    <a:pt x="455" y="1642"/>
                  </a:cubicBezTo>
                  <a:cubicBezTo>
                    <a:pt x="477" y="1642"/>
                    <a:pt x="498" y="1623"/>
                    <a:pt x="501" y="1601"/>
                  </a:cubicBezTo>
                  <a:cubicBezTo>
                    <a:pt x="600" y="833"/>
                    <a:pt x="600" y="833"/>
                    <a:pt x="600" y="833"/>
                  </a:cubicBezTo>
                  <a:cubicBezTo>
                    <a:pt x="600" y="833"/>
                    <a:pt x="625" y="827"/>
                    <a:pt x="647" y="815"/>
                  </a:cubicBezTo>
                  <a:cubicBezTo>
                    <a:pt x="689" y="790"/>
                    <a:pt x="722" y="739"/>
                    <a:pt x="717" y="683"/>
                  </a:cubicBezTo>
                  <a:moveTo>
                    <a:pt x="161" y="400"/>
                  </a:moveTo>
                  <a:cubicBezTo>
                    <a:pt x="561" y="400"/>
                    <a:pt x="561" y="400"/>
                    <a:pt x="561" y="400"/>
                  </a:cubicBezTo>
                  <a:cubicBezTo>
                    <a:pt x="561" y="522"/>
                    <a:pt x="561" y="522"/>
                    <a:pt x="561" y="522"/>
                  </a:cubicBezTo>
                  <a:cubicBezTo>
                    <a:pt x="161" y="522"/>
                    <a:pt x="161" y="522"/>
                    <a:pt x="161" y="522"/>
                  </a:cubicBezTo>
                  <a:lnTo>
                    <a:pt x="161" y="400"/>
                  </a:lnTo>
                  <a:close/>
                  <a:moveTo>
                    <a:pt x="122" y="790"/>
                  </a:moveTo>
                  <a:cubicBezTo>
                    <a:pt x="93" y="780"/>
                    <a:pt x="77" y="765"/>
                    <a:pt x="71" y="759"/>
                  </a:cubicBezTo>
                  <a:cubicBezTo>
                    <a:pt x="57" y="746"/>
                    <a:pt x="43" y="721"/>
                    <a:pt x="46" y="688"/>
                  </a:cubicBezTo>
                  <a:cubicBezTo>
                    <a:pt x="55" y="602"/>
                    <a:pt x="55" y="602"/>
                    <a:pt x="55" y="602"/>
                  </a:cubicBezTo>
                  <a:cubicBezTo>
                    <a:pt x="123" y="602"/>
                    <a:pt x="123" y="602"/>
                    <a:pt x="123" y="602"/>
                  </a:cubicBezTo>
                  <a:lnTo>
                    <a:pt x="122" y="790"/>
                  </a:lnTo>
                  <a:close/>
                  <a:moveTo>
                    <a:pt x="652" y="759"/>
                  </a:moveTo>
                  <a:cubicBezTo>
                    <a:pt x="646" y="765"/>
                    <a:pt x="629" y="780"/>
                    <a:pt x="600" y="790"/>
                  </a:cubicBezTo>
                  <a:cubicBezTo>
                    <a:pt x="600" y="602"/>
                    <a:pt x="600" y="602"/>
                    <a:pt x="600" y="602"/>
                  </a:cubicBezTo>
                  <a:cubicBezTo>
                    <a:pt x="668" y="602"/>
                    <a:pt x="668" y="602"/>
                    <a:pt x="668" y="602"/>
                  </a:cubicBezTo>
                  <a:cubicBezTo>
                    <a:pt x="677" y="688"/>
                    <a:pt x="677" y="688"/>
                    <a:pt x="677" y="688"/>
                  </a:cubicBezTo>
                  <a:cubicBezTo>
                    <a:pt x="680" y="721"/>
                    <a:pt x="665" y="746"/>
                    <a:pt x="652" y="75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3" name="Freeform 297">
            <a:extLst>
              <a:ext uri="{FF2B5EF4-FFF2-40B4-BE49-F238E27FC236}">
                <a16:creationId xmlns:a16="http://schemas.microsoft.com/office/drawing/2014/main" id="{A76086E9-2D1C-4F0C-903B-DFFBD1AE9206}"/>
              </a:ext>
            </a:extLst>
          </p:cNvPr>
          <p:cNvSpPr>
            <a:spLocks noChangeAspect="1" noEditPoints="1"/>
          </p:cNvSpPr>
          <p:nvPr/>
        </p:nvSpPr>
        <p:spPr bwMode="auto">
          <a:xfrm>
            <a:off x="2089224" y="1604484"/>
            <a:ext cx="172783" cy="525600"/>
          </a:xfrm>
          <a:custGeom>
            <a:avLst/>
            <a:gdLst>
              <a:gd name="T0" fmla="*/ 709 w 723"/>
              <a:gd name="T1" fmla="*/ 1161 h 2200"/>
              <a:gd name="T2" fmla="*/ 617 w 723"/>
              <a:gd name="T3" fmla="*/ 615 h 2200"/>
              <a:gd name="T4" fmla="*/ 463 w 723"/>
              <a:gd name="T5" fmla="*/ 545 h 2200"/>
              <a:gd name="T6" fmla="*/ 559 w 723"/>
              <a:gd name="T7" fmla="*/ 367 h 2200"/>
              <a:gd name="T8" fmla="*/ 593 w 723"/>
              <a:gd name="T9" fmla="*/ 329 h 2200"/>
              <a:gd name="T10" fmla="*/ 593 w 723"/>
              <a:gd name="T11" fmla="*/ 274 h 2200"/>
              <a:gd name="T12" fmla="*/ 598 w 723"/>
              <a:gd name="T13" fmla="*/ 182 h 2200"/>
              <a:gd name="T14" fmla="*/ 528 w 723"/>
              <a:gd name="T15" fmla="*/ 99 h 2200"/>
              <a:gd name="T16" fmla="*/ 458 w 723"/>
              <a:gd name="T17" fmla="*/ 61 h 2200"/>
              <a:gd name="T18" fmla="*/ 328 w 723"/>
              <a:gd name="T19" fmla="*/ 47 h 2200"/>
              <a:gd name="T20" fmla="*/ 200 w 723"/>
              <a:gd name="T21" fmla="*/ 98 h 2200"/>
              <a:gd name="T22" fmla="*/ 140 w 723"/>
              <a:gd name="T23" fmla="*/ 182 h 2200"/>
              <a:gd name="T24" fmla="*/ 118 w 723"/>
              <a:gd name="T25" fmla="*/ 245 h 2200"/>
              <a:gd name="T26" fmla="*/ 135 w 723"/>
              <a:gd name="T27" fmla="*/ 315 h 2200"/>
              <a:gd name="T28" fmla="*/ 151 w 723"/>
              <a:gd name="T29" fmla="*/ 357 h 2200"/>
              <a:gd name="T30" fmla="*/ 178 w 723"/>
              <a:gd name="T31" fmla="*/ 392 h 2200"/>
              <a:gd name="T32" fmla="*/ 249 w 723"/>
              <a:gd name="T33" fmla="*/ 548 h 2200"/>
              <a:gd name="T34" fmla="*/ 65 w 723"/>
              <a:gd name="T35" fmla="*/ 673 h 2200"/>
              <a:gd name="T36" fmla="*/ 13 w 723"/>
              <a:gd name="T37" fmla="*/ 1160 h 2200"/>
              <a:gd name="T38" fmla="*/ 75 w 723"/>
              <a:gd name="T39" fmla="*/ 1373 h 2200"/>
              <a:gd name="T40" fmla="*/ 221 w 723"/>
              <a:gd name="T41" fmla="*/ 2159 h 2200"/>
              <a:gd name="T42" fmla="*/ 341 w 723"/>
              <a:gd name="T43" fmla="*/ 2200 h 2200"/>
              <a:gd name="T44" fmla="*/ 361 w 723"/>
              <a:gd name="T45" fmla="*/ 1414 h 2200"/>
              <a:gd name="T46" fmla="*/ 382 w 723"/>
              <a:gd name="T47" fmla="*/ 2200 h 2200"/>
              <a:gd name="T48" fmla="*/ 502 w 723"/>
              <a:gd name="T49" fmla="*/ 2159 h 2200"/>
              <a:gd name="T50" fmla="*/ 647 w 723"/>
              <a:gd name="T51" fmla="*/ 1373 h 2200"/>
              <a:gd name="T52" fmla="*/ 218 w 723"/>
              <a:gd name="T53" fmla="*/ 392 h 2200"/>
              <a:gd name="T54" fmla="*/ 224 w 723"/>
              <a:gd name="T55" fmla="*/ 277 h 2200"/>
              <a:gd name="T56" fmla="*/ 270 w 723"/>
              <a:gd name="T57" fmla="*/ 210 h 2200"/>
              <a:gd name="T58" fmla="*/ 346 w 723"/>
              <a:gd name="T59" fmla="*/ 164 h 2200"/>
              <a:gd name="T60" fmla="*/ 405 w 723"/>
              <a:gd name="T61" fmla="*/ 179 h 2200"/>
              <a:gd name="T62" fmla="*/ 470 w 723"/>
              <a:gd name="T63" fmla="*/ 220 h 2200"/>
              <a:gd name="T64" fmla="*/ 505 w 723"/>
              <a:gd name="T65" fmla="*/ 287 h 2200"/>
              <a:gd name="T66" fmla="*/ 361 w 723"/>
              <a:gd name="T67" fmla="*/ 535 h 2200"/>
              <a:gd name="T68" fmla="*/ 122 w 723"/>
              <a:gd name="T69" fmla="*/ 1348 h 2200"/>
              <a:gd name="T70" fmla="*/ 45 w 723"/>
              <a:gd name="T71" fmla="*/ 1246 h 2200"/>
              <a:gd name="T72" fmla="*/ 54 w 723"/>
              <a:gd name="T73" fmla="*/ 1160 h 2200"/>
              <a:gd name="T74" fmla="*/ 111 w 723"/>
              <a:gd name="T75" fmla="*/ 1160 h 2200"/>
              <a:gd name="T76" fmla="*/ 123 w 723"/>
              <a:gd name="T77" fmla="*/ 1161 h 2200"/>
              <a:gd name="T78" fmla="*/ 166 w 723"/>
              <a:gd name="T79" fmla="*/ 1160 h 2200"/>
              <a:gd name="T80" fmla="*/ 148 w 723"/>
              <a:gd name="T81" fmla="*/ 795 h 2200"/>
              <a:gd name="T82" fmla="*/ 127 w 723"/>
              <a:gd name="T83" fmla="*/ 815 h 2200"/>
              <a:gd name="T84" fmla="*/ 59 w 723"/>
              <a:gd name="T85" fmla="*/ 1119 h 2200"/>
              <a:gd name="T86" fmla="*/ 116 w 723"/>
              <a:gd name="T87" fmla="*/ 657 h 2200"/>
              <a:gd name="T88" fmla="*/ 259 w 723"/>
              <a:gd name="T89" fmla="*/ 588 h 2200"/>
              <a:gd name="T90" fmla="*/ 341 w 723"/>
              <a:gd name="T91" fmla="*/ 750 h 2200"/>
              <a:gd name="T92" fmla="*/ 166 w 723"/>
              <a:gd name="T93" fmla="*/ 1160 h 2200"/>
              <a:gd name="T94" fmla="*/ 382 w 723"/>
              <a:gd name="T95" fmla="*/ 750 h 2200"/>
              <a:gd name="T96" fmla="*/ 464 w 723"/>
              <a:gd name="T97" fmla="*/ 588 h 2200"/>
              <a:gd name="T98" fmla="*/ 607 w 723"/>
              <a:gd name="T99" fmla="*/ 657 h 2200"/>
              <a:gd name="T100" fmla="*/ 664 w 723"/>
              <a:gd name="T101" fmla="*/ 1119 h 2200"/>
              <a:gd name="T102" fmla="*/ 595 w 723"/>
              <a:gd name="T103" fmla="*/ 815 h 2200"/>
              <a:gd name="T104" fmla="*/ 575 w 723"/>
              <a:gd name="T105" fmla="*/ 795 h 2200"/>
              <a:gd name="T106" fmla="*/ 557 w 723"/>
              <a:gd name="T107" fmla="*/ 1160 h 2200"/>
              <a:gd name="T108" fmla="*/ 652 w 723"/>
              <a:gd name="T109" fmla="*/ 1317 h 2200"/>
              <a:gd name="T110" fmla="*/ 600 w 723"/>
              <a:gd name="T111" fmla="*/ 1161 h 2200"/>
              <a:gd name="T112" fmla="*/ 611 w 723"/>
              <a:gd name="T113" fmla="*/ 1160 h 2200"/>
              <a:gd name="T114" fmla="*/ 668 w 723"/>
              <a:gd name="T115" fmla="*/ 1160 h 2200"/>
              <a:gd name="T116" fmla="*/ 652 w 723"/>
              <a:gd name="T117" fmla="*/ 1317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3" h="2200">
                <a:moveTo>
                  <a:pt x="718" y="1241"/>
                </a:moveTo>
                <a:cubicBezTo>
                  <a:pt x="709" y="1161"/>
                  <a:pt x="709" y="1161"/>
                  <a:pt x="709" y="1161"/>
                </a:cubicBezTo>
                <a:cubicBezTo>
                  <a:pt x="658" y="673"/>
                  <a:pt x="658" y="673"/>
                  <a:pt x="658" y="673"/>
                </a:cubicBezTo>
                <a:cubicBezTo>
                  <a:pt x="653" y="640"/>
                  <a:pt x="642" y="627"/>
                  <a:pt x="617" y="615"/>
                </a:cubicBezTo>
                <a:cubicBezTo>
                  <a:pt x="474" y="548"/>
                  <a:pt x="474" y="548"/>
                  <a:pt x="474" y="548"/>
                </a:cubicBezTo>
                <a:cubicBezTo>
                  <a:pt x="470" y="547"/>
                  <a:pt x="469" y="546"/>
                  <a:pt x="463" y="545"/>
                </a:cubicBezTo>
                <a:cubicBezTo>
                  <a:pt x="512" y="512"/>
                  <a:pt x="544" y="457"/>
                  <a:pt x="545" y="394"/>
                </a:cubicBezTo>
                <a:cubicBezTo>
                  <a:pt x="553" y="390"/>
                  <a:pt x="559" y="380"/>
                  <a:pt x="559" y="367"/>
                </a:cubicBezTo>
                <a:cubicBezTo>
                  <a:pt x="559" y="366"/>
                  <a:pt x="558" y="364"/>
                  <a:pt x="558" y="363"/>
                </a:cubicBezTo>
                <a:cubicBezTo>
                  <a:pt x="574" y="360"/>
                  <a:pt x="589" y="346"/>
                  <a:pt x="593" y="329"/>
                </a:cubicBezTo>
                <a:cubicBezTo>
                  <a:pt x="596" y="316"/>
                  <a:pt x="592" y="305"/>
                  <a:pt x="584" y="298"/>
                </a:cubicBezTo>
                <a:cubicBezTo>
                  <a:pt x="588" y="291"/>
                  <a:pt x="591" y="283"/>
                  <a:pt x="593" y="274"/>
                </a:cubicBezTo>
                <a:cubicBezTo>
                  <a:pt x="598" y="253"/>
                  <a:pt x="593" y="234"/>
                  <a:pt x="582" y="220"/>
                </a:cubicBezTo>
                <a:cubicBezTo>
                  <a:pt x="589" y="209"/>
                  <a:pt x="595" y="196"/>
                  <a:pt x="598" y="182"/>
                </a:cubicBezTo>
                <a:cubicBezTo>
                  <a:pt x="607" y="137"/>
                  <a:pt x="582" y="97"/>
                  <a:pt x="543" y="97"/>
                </a:cubicBezTo>
                <a:cubicBezTo>
                  <a:pt x="538" y="97"/>
                  <a:pt x="533" y="98"/>
                  <a:pt x="528" y="99"/>
                </a:cubicBezTo>
                <a:cubicBezTo>
                  <a:pt x="519" y="75"/>
                  <a:pt x="499" y="59"/>
                  <a:pt x="473" y="59"/>
                </a:cubicBezTo>
                <a:cubicBezTo>
                  <a:pt x="468" y="59"/>
                  <a:pt x="463" y="60"/>
                  <a:pt x="458" y="61"/>
                </a:cubicBezTo>
                <a:cubicBezTo>
                  <a:pt x="449" y="26"/>
                  <a:pt x="424" y="0"/>
                  <a:pt x="392" y="0"/>
                </a:cubicBezTo>
                <a:cubicBezTo>
                  <a:pt x="364" y="0"/>
                  <a:pt x="341" y="19"/>
                  <a:pt x="328" y="47"/>
                </a:cubicBezTo>
                <a:cubicBezTo>
                  <a:pt x="313" y="29"/>
                  <a:pt x="293" y="17"/>
                  <a:pt x="270" y="17"/>
                </a:cubicBezTo>
                <a:cubicBezTo>
                  <a:pt x="231" y="17"/>
                  <a:pt x="202" y="53"/>
                  <a:pt x="200" y="98"/>
                </a:cubicBezTo>
                <a:cubicBezTo>
                  <a:pt x="198" y="98"/>
                  <a:pt x="196" y="97"/>
                  <a:pt x="195" y="97"/>
                </a:cubicBezTo>
                <a:cubicBezTo>
                  <a:pt x="156" y="97"/>
                  <a:pt x="131" y="137"/>
                  <a:pt x="140" y="182"/>
                </a:cubicBezTo>
                <a:cubicBezTo>
                  <a:pt x="140" y="185"/>
                  <a:pt x="141" y="187"/>
                  <a:pt x="142" y="190"/>
                </a:cubicBezTo>
                <a:cubicBezTo>
                  <a:pt x="123" y="198"/>
                  <a:pt x="113" y="220"/>
                  <a:pt x="118" y="245"/>
                </a:cubicBezTo>
                <a:cubicBezTo>
                  <a:pt x="121" y="261"/>
                  <a:pt x="130" y="275"/>
                  <a:pt x="142" y="284"/>
                </a:cubicBezTo>
                <a:cubicBezTo>
                  <a:pt x="136" y="292"/>
                  <a:pt x="133" y="303"/>
                  <a:pt x="135" y="315"/>
                </a:cubicBezTo>
                <a:cubicBezTo>
                  <a:pt x="138" y="326"/>
                  <a:pt x="144" y="335"/>
                  <a:pt x="151" y="342"/>
                </a:cubicBezTo>
                <a:cubicBezTo>
                  <a:pt x="150" y="346"/>
                  <a:pt x="149" y="352"/>
                  <a:pt x="151" y="357"/>
                </a:cubicBezTo>
                <a:cubicBezTo>
                  <a:pt x="153" y="371"/>
                  <a:pt x="165" y="382"/>
                  <a:pt x="178" y="385"/>
                </a:cubicBezTo>
                <a:cubicBezTo>
                  <a:pt x="178" y="392"/>
                  <a:pt x="178" y="392"/>
                  <a:pt x="178" y="392"/>
                </a:cubicBezTo>
                <a:cubicBezTo>
                  <a:pt x="178" y="455"/>
                  <a:pt x="210" y="511"/>
                  <a:pt x="259" y="544"/>
                </a:cubicBezTo>
                <a:cubicBezTo>
                  <a:pt x="255" y="545"/>
                  <a:pt x="253" y="546"/>
                  <a:pt x="249" y="548"/>
                </a:cubicBezTo>
                <a:cubicBezTo>
                  <a:pt x="106" y="615"/>
                  <a:pt x="106" y="615"/>
                  <a:pt x="106" y="615"/>
                </a:cubicBezTo>
                <a:cubicBezTo>
                  <a:pt x="81" y="627"/>
                  <a:pt x="69" y="640"/>
                  <a:pt x="65" y="673"/>
                </a:cubicBezTo>
                <a:cubicBezTo>
                  <a:pt x="13" y="1160"/>
                  <a:pt x="13" y="1160"/>
                  <a:pt x="13" y="1160"/>
                </a:cubicBezTo>
                <a:cubicBezTo>
                  <a:pt x="13" y="1160"/>
                  <a:pt x="13" y="1160"/>
                  <a:pt x="13" y="1160"/>
                </a:cubicBezTo>
                <a:cubicBezTo>
                  <a:pt x="5" y="1241"/>
                  <a:pt x="5" y="1241"/>
                  <a:pt x="5" y="1241"/>
                </a:cubicBezTo>
                <a:cubicBezTo>
                  <a:pt x="0" y="1297"/>
                  <a:pt x="33" y="1348"/>
                  <a:pt x="75" y="1373"/>
                </a:cubicBezTo>
                <a:cubicBezTo>
                  <a:pt x="97" y="1385"/>
                  <a:pt x="122" y="1391"/>
                  <a:pt x="122" y="1391"/>
                </a:cubicBezTo>
                <a:cubicBezTo>
                  <a:pt x="221" y="2159"/>
                  <a:pt x="221" y="2159"/>
                  <a:pt x="221" y="2159"/>
                </a:cubicBezTo>
                <a:cubicBezTo>
                  <a:pt x="224" y="2182"/>
                  <a:pt x="245" y="2200"/>
                  <a:pt x="268" y="2200"/>
                </a:cubicBezTo>
                <a:cubicBezTo>
                  <a:pt x="341" y="2200"/>
                  <a:pt x="341" y="2200"/>
                  <a:pt x="341" y="2200"/>
                </a:cubicBezTo>
                <a:cubicBezTo>
                  <a:pt x="341" y="1414"/>
                  <a:pt x="341" y="1414"/>
                  <a:pt x="341" y="1414"/>
                </a:cubicBezTo>
                <a:cubicBezTo>
                  <a:pt x="361" y="1414"/>
                  <a:pt x="361" y="1414"/>
                  <a:pt x="361" y="1414"/>
                </a:cubicBezTo>
                <a:cubicBezTo>
                  <a:pt x="382" y="1414"/>
                  <a:pt x="382" y="1414"/>
                  <a:pt x="382" y="1414"/>
                </a:cubicBezTo>
                <a:cubicBezTo>
                  <a:pt x="382" y="2200"/>
                  <a:pt x="382" y="2200"/>
                  <a:pt x="382" y="2200"/>
                </a:cubicBezTo>
                <a:cubicBezTo>
                  <a:pt x="455" y="2200"/>
                  <a:pt x="455" y="2200"/>
                  <a:pt x="455" y="2200"/>
                </a:cubicBezTo>
                <a:cubicBezTo>
                  <a:pt x="478" y="2200"/>
                  <a:pt x="499" y="2182"/>
                  <a:pt x="502" y="2159"/>
                </a:cubicBezTo>
                <a:cubicBezTo>
                  <a:pt x="601" y="1391"/>
                  <a:pt x="601" y="1391"/>
                  <a:pt x="601" y="1391"/>
                </a:cubicBezTo>
                <a:cubicBezTo>
                  <a:pt x="601" y="1391"/>
                  <a:pt x="626" y="1385"/>
                  <a:pt x="647" y="1373"/>
                </a:cubicBezTo>
                <a:cubicBezTo>
                  <a:pt x="689" y="1348"/>
                  <a:pt x="723" y="1297"/>
                  <a:pt x="718" y="1241"/>
                </a:cubicBezTo>
                <a:moveTo>
                  <a:pt x="218" y="392"/>
                </a:moveTo>
                <a:cubicBezTo>
                  <a:pt x="218" y="303"/>
                  <a:pt x="218" y="303"/>
                  <a:pt x="218" y="303"/>
                </a:cubicBezTo>
                <a:cubicBezTo>
                  <a:pt x="218" y="294"/>
                  <a:pt x="220" y="285"/>
                  <a:pt x="224" y="277"/>
                </a:cubicBezTo>
                <a:cubicBezTo>
                  <a:pt x="224" y="270"/>
                  <a:pt x="226" y="263"/>
                  <a:pt x="228" y="255"/>
                </a:cubicBezTo>
                <a:cubicBezTo>
                  <a:pt x="248" y="251"/>
                  <a:pt x="264" y="234"/>
                  <a:pt x="270" y="210"/>
                </a:cubicBezTo>
                <a:cubicBezTo>
                  <a:pt x="275" y="211"/>
                  <a:pt x="279" y="211"/>
                  <a:pt x="283" y="211"/>
                </a:cubicBezTo>
                <a:cubicBezTo>
                  <a:pt x="311" y="211"/>
                  <a:pt x="334" y="193"/>
                  <a:pt x="346" y="164"/>
                </a:cubicBezTo>
                <a:cubicBezTo>
                  <a:pt x="358" y="175"/>
                  <a:pt x="372" y="182"/>
                  <a:pt x="388" y="182"/>
                </a:cubicBezTo>
                <a:cubicBezTo>
                  <a:pt x="394" y="182"/>
                  <a:pt x="400" y="181"/>
                  <a:pt x="405" y="179"/>
                </a:cubicBezTo>
                <a:cubicBezTo>
                  <a:pt x="415" y="205"/>
                  <a:pt x="435" y="221"/>
                  <a:pt x="460" y="221"/>
                </a:cubicBezTo>
                <a:cubicBezTo>
                  <a:pt x="464" y="221"/>
                  <a:pt x="467" y="221"/>
                  <a:pt x="470" y="220"/>
                </a:cubicBezTo>
                <a:cubicBezTo>
                  <a:pt x="476" y="235"/>
                  <a:pt x="487" y="246"/>
                  <a:pt x="500" y="252"/>
                </a:cubicBezTo>
                <a:cubicBezTo>
                  <a:pt x="503" y="263"/>
                  <a:pt x="505" y="275"/>
                  <a:pt x="505" y="287"/>
                </a:cubicBezTo>
                <a:cubicBezTo>
                  <a:pt x="505" y="392"/>
                  <a:pt x="505" y="392"/>
                  <a:pt x="505" y="392"/>
                </a:cubicBezTo>
                <a:cubicBezTo>
                  <a:pt x="505" y="471"/>
                  <a:pt x="440" y="535"/>
                  <a:pt x="361" y="535"/>
                </a:cubicBezTo>
                <a:cubicBezTo>
                  <a:pt x="283" y="535"/>
                  <a:pt x="218" y="471"/>
                  <a:pt x="218" y="392"/>
                </a:cubicBezTo>
                <a:moveTo>
                  <a:pt x="122" y="1348"/>
                </a:moveTo>
                <a:cubicBezTo>
                  <a:pt x="93" y="1338"/>
                  <a:pt x="76" y="1323"/>
                  <a:pt x="71" y="1317"/>
                </a:cubicBezTo>
                <a:cubicBezTo>
                  <a:pt x="57" y="1304"/>
                  <a:pt x="42" y="1279"/>
                  <a:pt x="45" y="1246"/>
                </a:cubicBezTo>
                <a:cubicBezTo>
                  <a:pt x="54" y="1160"/>
                  <a:pt x="54" y="1160"/>
                  <a:pt x="54" y="1160"/>
                </a:cubicBezTo>
                <a:cubicBezTo>
                  <a:pt x="54" y="1160"/>
                  <a:pt x="54" y="1160"/>
                  <a:pt x="54" y="1160"/>
                </a:cubicBezTo>
                <a:cubicBezTo>
                  <a:pt x="54" y="1160"/>
                  <a:pt x="54" y="1160"/>
                  <a:pt x="54" y="1160"/>
                </a:cubicBezTo>
                <a:cubicBezTo>
                  <a:pt x="111" y="1160"/>
                  <a:pt x="111" y="1160"/>
                  <a:pt x="111" y="1160"/>
                </a:cubicBezTo>
                <a:cubicBezTo>
                  <a:pt x="111" y="1161"/>
                  <a:pt x="111" y="1161"/>
                  <a:pt x="111" y="1161"/>
                </a:cubicBezTo>
                <a:cubicBezTo>
                  <a:pt x="123" y="1161"/>
                  <a:pt x="123" y="1161"/>
                  <a:pt x="123" y="1161"/>
                </a:cubicBezTo>
                <a:lnTo>
                  <a:pt x="122" y="1348"/>
                </a:lnTo>
                <a:close/>
                <a:moveTo>
                  <a:pt x="166" y="1160"/>
                </a:moveTo>
                <a:cubicBezTo>
                  <a:pt x="168" y="815"/>
                  <a:pt x="168" y="815"/>
                  <a:pt x="168" y="815"/>
                </a:cubicBezTo>
                <a:cubicBezTo>
                  <a:pt x="168" y="804"/>
                  <a:pt x="159" y="795"/>
                  <a:pt x="148" y="795"/>
                </a:cubicBezTo>
                <a:cubicBezTo>
                  <a:pt x="148" y="795"/>
                  <a:pt x="148" y="795"/>
                  <a:pt x="148" y="795"/>
                </a:cubicBezTo>
                <a:cubicBezTo>
                  <a:pt x="137" y="795"/>
                  <a:pt x="127" y="804"/>
                  <a:pt x="127" y="815"/>
                </a:cubicBezTo>
                <a:cubicBezTo>
                  <a:pt x="126" y="1119"/>
                  <a:pt x="126" y="1119"/>
                  <a:pt x="126" y="1119"/>
                </a:cubicBezTo>
                <a:cubicBezTo>
                  <a:pt x="59" y="1119"/>
                  <a:pt x="59" y="1119"/>
                  <a:pt x="59" y="1119"/>
                </a:cubicBezTo>
                <a:cubicBezTo>
                  <a:pt x="106" y="677"/>
                  <a:pt x="106" y="677"/>
                  <a:pt x="106" y="677"/>
                </a:cubicBezTo>
                <a:cubicBezTo>
                  <a:pt x="106" y="671"/>
                  <a:pt x="109" y="663"/>
                  <a:pt x="116" y="657"/>
                </a:cubicBezTo>
                <a:cubicBezTo>
                  <a:pt x="118" y="655"/>
                  <a:pt x="121" y="653"/>
                  <a:pt x="124" y="652"/>
                </a:cubicBezTo>
                <a:cubicBezTo>
                  <a:pt x="259" y="588"/>
                  <a:pt x="259" y="588"/>
                  <a:pt x="259" y="588"/>
                </a:cubicBezTo>
                <a:cubicBezTo>
                  <a:pt x="341" y="750"/>
                  <a:pt x="341" y="750"/>
                  <a:pt x="341" y="750"/>
                </a:cubicBezTo>
                <a:cubicBezTo>
                  <a:pt x="341" y="750"/>
                  <a:pt x="341" y="750"/>
                  <a:pt x="341" y="750"/>
                </a:cubicBezTo>
                <a:cubicBezTo>
                  <a:pt x="341" y="1160"/>
                  <a:pt x="341" y="1160"/>
                  <a:pt x="341" y="1160"/>
                </a:cubicBezTo>
                <a:lnTo>
                  <a:pt x="166" y="1160"/>
                </a:lnTo>
                <a:close/>
                <a:moveTo>
                  <a:pt x="382" y="1160"/>
                </a:moveTo>
                <a:cubicBezTo>
                  <a:pt x="382" y="750"/>
                  <a:pt x="382" y="750"/>
                  <a:pt x="382" y="750"/>
                </a:cubicBezTo>
                <a:cubicBezTo>
                  <a:pt x="382" y="750"/>
                  <a:pt x="382" y="750"/>
                  <a:pt x="382" y="750"/>
                </a:cubicBezTo>
                <a:cubicBezTo>
                  <a:pt x="464" y="588"/>
                  <a:pt x="464" y="588"/>
                  <a:pt x="464" y="588"/>
                </a:cubicBezTo>
                <a:cubicBezTo>
                  <a:pt x="599" y="652"/>
                  <a:pt x="599" y="652"/>
                  <a:pt x="599" y="652"/>
                </a:cubicBezTo>
                <a:cubicBezTo>
                  <a:pt x="602" y="653"/>
                  <a:pt x="605" y="655"/>
                  <a:pt x="607" y="657"/>
                </a:cubicBezTo>
                <a:cubicBezTo>
                  <a:pt x="614" y="663"/>
                  <a:pt x="617" y="671"/>
                  <a:pt x="617" y="677"/>
                </a:cubicBezTo>
                <a:cubicBezTo>
                  <a:pt x="664" y="1119"/>
                  <a:pt x="664" y="1119"/>
                  <a:pt x="664" y="1119"/>
                </a:cubicBezTo>
                <a:cubicBezTo>
                  <a:pt x="599" y="1119"/>
                  <a:pt x="599" y="1119"/>
                  <a:pt x="599" y="1119"/>
                </a:cubicBezTo>
                <a:cubicBezTo>
                  <a:pt x="595" y="815"/>
                  <a:pt x="595" y="815"/>
                  <a:pt x="595" y="815"/>
                </a:cubicBezTo>
                <a:cubicBezTo>
                  <a:pt x="595" y="804"/>
                  <a:pt x="586" y="795"/>
                  <a:pt x="575" y="795"/>
                </a:cubicBezTo>
                <a:cubicBezTo>
                  <a:pt x="575" y="795"/>
                  <a:pt x="575" y="795"/>
                  <a:pt x="575" y="795"/>
                </a:cubicBezTo>
                <a:cubicBezTo>
                  <a:pt x="564" y="795"/>
                  <a:pt x="554" y="804"/>
                  <a:pt x="554" y="815"/>
                </a:cubicBezTo>
                <a:cubicBezTo>
                  <a:pt x="557" y="1160"/>
                  <a:pt x="557" y="1160"/>
                  <a:pt x="557" y="1160"/>
                </a:cubicBezTo>
                <a:lnTo>
                  <a:pt x="382" y="1160"/>
                </a:lnTo>
                <a:close/>
                <a:moveTo>
                  <a:pt x="652" y="1317"/>
                </a:moveTo>
                <a:cubicBezTo>
                  <a:pt x="646" y="1323"/>
                  <a:pt x="630" y="1338"/>
                  <a:pt x="601" y="1348"/>
                </a:cubicBezTo>
                <a:cubicBezTo>
                  <a:pt x="600" y="1161"/>
                  <a:pt x="600" y="1161"/>
                  <a:pt x="600" y="1161"/>
                </a:cubicBezTo>
                <a:cubicBezTo>
                  <a:pt x="611" y="1161"/>
                  <a:pt x="611" y="1161"/>
                  <a:pt x="611" y="1161"/>
                </a:cubicBezTo>
                <a:cubicBezTo>
                  <a:pt x="611" y="1160"/>
                  <a:pt x="611" y="1160"/>
                  <a:pt x="611" y="1160"/>
                </a:cubicBezTo>
                <a:cubicBezTo>
                  <a:pt x="668" y="1160"/>
                  <a:pt x="668" y="1160"/>
                  <a:pt x="668" y="1160"/>
                </a:cubicBezTo>
                <a:cubicBezTo>
                  <a:pt x="668" y="1160"/>
                  <a:pt x="668" y="1160"/>
                  <a:pt x="668" y="1160"/>
                </a:cubicBezTo>
                <a:cubicBezTo>
                  <a:pt x="677" y="1246"/>
                  <a:pt x="677" y="1246"/>
                  <a:pt x="677" y="1246"/>
                </a:cubicBezTo>
                <a:cubicBezTo>
                  <a:pt x="680" y="1279"/>
                  <a:pt x="666" y="1304"/>
                  <a:pt x="652" y="1317"/>
                </a:cubicBezTo>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4" name="Group 300">
            <a:extLst>
              <a:ext uri="{FF2B5EF4-FFF2-40B4-BE49-F238E27FC236}">
                <a16:creationId xmlns:a16="http://schemas.microsoft.com/office/drawing/2014/main" id="{60AB3632-8895-43D5-87F0-44B9C734560F}"/>
              </a:ext>
            </a:extLst>
          </p:cNvPr>
          <p:cNvGrpSpPr>
            <a:grpSpLocks noChangeAspect="1"/>
          </p:cNvGrpSpPr>
          <p:nvPr/>
        </p:nvGrpSpPr>
        <p:grpSpPr bwMode="auto">
          <a:xfrm>
            <a:off x="2365187" y="1705053"/>
            <a:ext cx="173440" cy="525600"/>
            <a:chOff x="1339" y="902"/>
            <a:chExt cx="1117" cy="3385"/>
          </a:xfrm>
          <a:solidFill>
            <a:schemeClr val="accent5"/>
          </a:solidFill>
        </p:grpSpPr>
        <p:sp>
          <p:nvSpPr>
            <p:cNvPr id="25" name="Freeform 303">
              <a:extLst>
                <a:ext uri="{FF2B5EF4-FFF2-40B4-BE49-F238E27FC236}">
                  <a16:creationId xmlns:a16="http://schemas.microsoft.com/office/drawing/2014/main" id="{A8CF1B68-60FC-4B27-B36A-73E7CF04F533}"/>
                </a:ext>
              </a:extLst>
            </p:cNvPr>
            <p:cNvSpPr>
              <a:spLocks noEditPoints="1"/>
            </p:cNvSpPr>
            <p:nvPr/>
          </p:nvSpPr>
          <p:spPr bwMode="auto">
            <a:xfrm>
              <a:off x="1339" y="1771"/>
              <a:ext cx="1117" cy="2516"/>
            </a:xfrm>
            <a:custGeom>
              <a:avLst/>
              <a:gdLst>
                <a:gd name="T0" fmla="*/ 721 w 726"/>
                <a:gd name="T1" fmla="*/ 672 h 1635"/>
                <a:gd name="T2" fmla="*/ 661 w 726"/>
                <a:gd name="T3" fmla="*/ 99 h 1635"/>
                <a:gd name="T4" fmla="*/ 659 w 726"/>
                <a:gd name="T5" fmla="*/ 93 h 1635"/>
                <a:gd name="T6" fmla="*/ 618 w 726"/>
                <a:gd name="T7" fmla="*/ 41 h 1635"/>
                <a:gd name="T8" fmla="*/ 542 w 726"/>
                <a:gd name="T9" fmla="*/ 0 h 1635"/>
                <a:gd name="T10" fmla="*/ 363 w 726"/>
                <a:gd name="T11" fmla="*/ 76 h 1635"/>
                <a:gd name="T12" fmla="*/ 184 w 726"/>
                <a:gd name="T13" fmla="*/ 0 h 1635"/>
                <a:gd name="T14" fmla="*/ 108 w 726"/>
                <a:gd name="T15" fmla="*/ 41 h 1635"/>
                <a:gd name="T16" fmla="*/ 67 w 726"/>
                <a:gd name="T17" fmla="*/ 93 h 1635"/>
                <a:gd name="T18" fmla="*/ 66 w 726"/>
                <a:gd name="T19" fmla="*/ 99 h 1635"/>
                <a:gd name="T20" fmla="*/ 5 w 726"/>
                <a:gd name="T21" fmla="*/ 672 h 1635"/>
                <a:gd name="T22" fmla="*/ 90 w 726"/>
                <a:gd name="T23" fmla="*/ 805 h 1635"/>
                <a:gd name="T24" fmla="*/ 56 w 726"/>
                <a:gd name="T25" fmla="*/ 1310 h 1635"/>
                <a:gd name="T26" fmla="*/ 54 w 726"/>
                <a:gd name="T27" fmla="*/ 1331 h 1635"/>
                <a:gd name="T28" fmla="*/ 87 w 726"/>
                <a:gd name="T29" fmla="*/ 1371 h 1635"/>
                <a:gd name="T30" fmla="*/ 87 w 726"/>
                <a:gd name="T31" fmla="*/ 1371 h 1635"/>
                <a:gd name="T32" fmla="*/ 87 w 726"/>
                <a:gd name="T33" fmla="*/ 1371 h 1635"/>
                <a:gd name="T34" fmla="*/ 226 w 726"/>
                <a:gd name="T35" fmla="*/ 1371 h 1635"/>
                <a:gd name="T36" fmla="*/ 256 w 726"/>
                <a:gd name="T37" fmla="*/ 1594 h 1635"/>
                <a:gd name="T38" fmla="*/ 302 w 726"/>
                <a:gd name="T39" fmla="*/ 1635 h 1635"/>
                <a:gd name="T40" fmla="*/ 424 w 726"/>
                <a:gd name="T41" fmla="*/ 1635 h 1635"/>
                <a:gd name="T42" fmla="*/ 471 w 726"/>
                <a:gd name="T43" fmla="*/ 1594 h 1635"/>
                <a:gd name="T44" fmla="*/ 500 w 726"/>
                <a:gd name="T45" fmla="*/ 1371 h 1635"/>
                <a:gd name="T46" fmla="*/ 639 w 726"/>
                <a:gd name="T47" fmla="*/ 1371 h 1635"/>
                <a:gd name="T48" fmla="*/ 639 w 726"/>
                <a:gd name="T49" fmla="*/ 1371 h 1635"/>
                <a:gd name="T50" fmla="*/ 640 w 726"/>
                <a:gd name="T51" fmla="*/ 1371 h 1635"/>
                <a:gd name="T52" fmla="*/ 672 w 726"/>
                <a:gd name="T53" fmla="*/ 1331 h 1635"/>
                <a:gd name="T54" fmla="*/ 670 w 726"/>
                <a:gd name="T55" fmla="*/ 1310 h 1635"/>
                <a:gd name="T56" fmla="*/ 636 w 726"/>
                <a:gd name="T57" fmla="*/ 805 h 1635"/>
                <a:gd name="T58" fmla="*/ 721 w 726"/>
                <a:gd name="T59" fmla="*/ 672 h 1635"/>
                <a:gd name="T60" fmla="*/ 99 w 726"/>
                <a:gd name="T61" fmla="*/ 762 h 1635"/>
                <a:gd name="T62" fmla="*/ 85 w 726"/>
                <a:gd name="T63" fmla="*/ 749 h 1635"/>
                <a:gd name="T64" fmla="*/ 46 w 726"/>
                <a:gd name="T65" fmla="*/ 677 h 1635"/>
                <a:gd name="T66" fmla="*/ 55 w 726"/>
                <a:gd name="T67" fmla="*/ 591 h 1635"/>
                <a:gd name="T68" fmla="*/ 124 w 726"/>
                <a:gd name="T69" fmla="*/ 591 h 1635"/>
                <a:gd name="T70" fmla="*/ 99 w 726"/>
                <a:gd name="T71" fmla="*/ 762 h 1635"/>
                <a:gd name="T72" fmla="*/ 343 w 726"/>
                <a:gd name="T73" fmla="*/ 1594 h 1635"/>
                <a:gd name="T74" fmla="*/ 302 w 726"/>
                <a:gd name="T75" fmla="*/ 1594 h 1635"/>
                <a:gd name="T76" fmla="*/ 296 w 726"/>
                <a:gd name="T77" fmla="*/ 1589 h 1635"/>
                <a:gd name="T78" fmla="*/ 268 w 726"/>
                <a:gd name="T79" fmla="*/ 1371 h 1635"/>
                <a:gd name="T80" fmla="*/ 343 w 726"/>
                <a:gd name="T81" fmla="*/ 1371 h 1635"/>
                <a:gd name="T82" fmla="*/ 343 w 726"/>
                <a:gd name="T83" fmla="*/ 1594 h 1635"/>
                <a:gd name="T84" fmla="*/ 430 w 726"/>
                <a:gd name="T85" fmla="*/ 1588 h 1635"/>
                <a:gd name="T86" fmla="*/ 424 w 726"/>
                <a:gd name="T87" fmla="*/ 1594 h 1635"/>
                <a:gd name="T88" fmla="*/ 384 w 726"/>
                <a:gd name="T89" fmla="*/ 1594 h 1635"/>
                <a:gd name="T90" fmla="*/ 384 w 726"/>
                <a:gd name="T91" fmla="*/ 1371 h 1635"/>
                <a:gd name="T92" fmla="*/ 459 w 726"/>
                <a:gd name="T93" fmla="*/ 1371 h 1635"/>
                <a:gd name="T94" fmla="*/ 430 w 726"/>
                <a:gd name="T95" fmla="*/ 1588 h 1635"/>
                <a:gd name="T96" fmla="*/ 627 w 726"/>
                <a:gd name="T97" fmla="*/ 762 h 1635"/>
                <a:gd name="T98" fmla="*/ 603 w 726"/>
                <a:gd name="T99" fmla="*/ 591 h 1635"/>
                <a:gd name="T100" fmla="*/ 671 w 726"/>
                <a:gd name="T101" fmla="*/ 591 h 1635"/>
                <a:gd name="T102" fmla="*/ 680 w 726"/>
                <a:gd name="T103" fmla="*/ 677 h 1635"/>
                <a:gd name="T104" fmla="*/ 641 w 726"/>
                <a:gd name="T105" fmla="*/ 749 h 1635"/>
                <a:gd name="T106" fmla="*/ 627 w 726"/>
                <a:gd name="T107" fmla="*/ 762 h 1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26" h="1635">
                  <a:moveTo>
                    <a:pt x="721" y="672"/>
                  </a:moveTo>
                  <a:cubicBezTo>
                    <a:pt x="661" y="99"/>
                    <a:pt x="661" y="99"/>
                    <a:pt x="661" y="99"/>
                  </a:cubicBezTo>
                  <a:cubicBezTo>
                    <a:pt x="660" y="97"/>
                    <a:pt x="660" y="95"/>
                    <a:pt x="659" y="93"/>
                  </a:cubicBezTo>
                  <a:cubicBezTo>
                    <a:pt x="653" y="64"/>
                    <a:pt x="639" y="52"/>
                    <a:pt x="618" y="41"/>
                  </a:cubicBezTo>
                  <a:cubicBezTo>
                    <a:pt x="542" y="0"/>
                    <a:pt x="542" y="0"/>
                    <a:pt x="542" y="0"/>
                  </a:cubicBezTo>
                  <a:cubicBezTo>
                    <a:pt x="363" y="76"/>
                    <a:pt x="363" y="76"/>
                    <a:pt x="363" y="76"/>
                  </a:cubicBezTo>
                  <a:cubicBezTo>
                    <a:pt x="184" y="0"/>
                    <a:pt x="184" y="0"/>
                    <a:pt x="184" y="0"/>
                  </a:cubicBezTo>
                  <a:cubicBezTo>
                    <a:pt x="108" y="41"/>
                    <a:pt x="108" y="41"/>
                    <a:pt x="108" y="41"/>
                  </a:cubicBezTo>
                  <a:cubicBezTo>
                    <a:pt x="87" y="52"/>
                    <a:pt x="73" y="64"/>
                    <a:pt x="67" y="93"/>
                  </a:cubicBezTo>
                  <a:cubicBezTo>
                    <a:pt x="66" y="95"/>
                    <a:pt x="66" y="97"/>
                    <a:pt x="66" y="99"/>
                  </a:cubicBezTo>
                  <a:cubicBezTo>
                    <a:pt x="5" y="672"/>
                    <a:pt x="5" y="672"/>
                    <a:pt x="5" y="672"/>
                  </a:cubicBezTo>
                  <a:cubicBezTo>
                    <a:pt x="0" y="728"/>
                    <a:pt x="44" y="777"/>
                    <a:pt x="90" y="805"/>
                  </a:cubicBezTo>
                  <a:cubicBezTo>
                    <a:pt x="56" y="1310"/>
                    <a:pt x="56" y="1310"/>
                    <a:pt x="56" y="1310"/>
                  </a:cubicBezTo>
                  <a:cubicBezTo>
                    <a:pt x="54" y="1331"/>
                    <a:pt x="54" y="1331"/>
                    <a:pt x="54" y="1331"/>
                  </a:cubicBezTo>
                  <a:cubicBezTo>
                    <a:pt x="52" y="1353"/>
                    <a:pt x="64" y="1371"/>
                    <a:pt x="87" y="1371"/>
                  </a:cubicBezTo>
                  <a:cubicBezTo>
                    <a:pt x="87" y="1371"/>
                    <a:pt x="87" y="1371"/>
                    <a:pt x="87" y="1371"/>
                  </a:cubicBezTo>
                  <a:cubicBezTo>
                    <a:pt x="87" y="1371"/>
                    <a:pt x="87" y="1371"/>
                    <a:pt x="87" y="1371"/>
                  </a:cubicBezTo>
                  <a:cubicBezTo>
                    <a:pt x="226" y="1371"/>
                    <a:pt x="226" y="1371"/>
                    <a:pt x="226" y="1371"/>
                  </a:cubicBezTo>
                  <a:cubicBezTo>
                    <a:pt x="256" y="1594"/>
                    <a:pt x="256" y="1594"/>
                    <a:pt x="256" y="1594"/>
                  </a:cubicBezTo>
                  <a:cubicBezTo>
                    <a:pt x="259" y="1616"/>
                    <a:pt x="280" y="1635"/>
                    <a:pt x="302" y="1635"/>
                  </a:cubicBezTo>
                  <a:cubicBezTo>
                    <a:pt x="424" y="1635"/>
                    <a:pt x="424" y="1635"/>
                    <a:pt x="424" y="1635"/>
                  </a:cubicBezTo>
                  <a:cubicBezTo>
                    <a:pt x="447" y="1635"/>
                    <a:pt x="468" y="1616"/>
                    <a:pt x="471" y="1594"/>
                  </a:cubicBezTo>
                  <a:cubicBezTo>
                    <a:pt x="500" y="1371"/>
                    <a:pt x="500" y="1371"/>
                    <a:pt x="500" y="1371"/>
                  </a:cubicBezTo>
                  <a:cubicBezTo>
                    <a:pt x="639" y="1371"/>
                    <a:pt x="639" y="1371"/>
                    <a:pt x="639" y="1371"/>
                  </a:cubicBezTo>
                  <a:cubicBezTo>
                    <a:pt x="639" y="1371"/>
                    <a:pt x="639" y="1371"/>
                    <a:pt x="639" y="1371"/>
                  </a:cubicBezTo>
                  <a:cubicBezTo>
                    <a:pt x="640" y="1371"/>
                    <a:pt x="640" y="1371"/>
                    <a:pt x="640" y="1371"/>
                  </a:cubicBezTo>
                  <a:cubicBezTo>
                    <a:pt x="662" y="1371"/>
                    <a:pt x="674" y="1353"/>
                    <a:pt x="672" y="1331"/>
                  </a:cubicBezTo>
                  <a:cubicBezTo>
                    <a:pt x="670" y="1310"/>
                    <a:pt x="670" y="1310"/>
                    <a:pt x="670" y="1310"/>
                  </a:cubicBezTo>
                  <a:cubicBezTo>
                    <a:pt x="636" y="805"/>
                    <a:pt x="636" y="805"/>
                    <a:pt x="636" y="805"/>
                  </a:cubicBezTo>
                  <a:cubicBezTo>
                    <a:pt x="683" y="777"/>
                    <a:pt x="726" y="728"/>
                    <a:pt x="721" y="672"/>
                  </a:cubicBezTo>
                  <a:moveTo>
                    <a:pt x="99" y="762"/>
                  </a:moveTo>
                  <a:cubicBezTo>
                    <a:pt x="94" y="758"/>
                    <a:pt x="89" y="753"/>
                    <a:pt x="85" y="749"/>
                  </a:cubicBezTo>
                  <a:cubicBezTo>
                    <a:pt x="72" y="734"/>
                    <a:pt x="43" y="710"/>
                    <a:pt x="46" y="677"/>
                  </a:cubicBezTo>
                  <a:cubicBezTo>
                    <a:pt x="55" y="591"/>
                    <a:pt x="55" y="591"/>
                    <a:pt x="55" y="591"/>
                  </a:cubicBezTo>
                  <a:cubicBezTo>
                    <a:pt x="124" y="591"/>
                    <a:pt x="124" y="591"/>
                    <a:pt x="124" y="591"/>
                  </a:cubicBezTo>
                  <a:lnTo>
                    <a:pt x="99" y="762"/>
                  </a:lnTo>
                  <a:close/>
                  <a:moveTo>
                    <a:pt x="343" y="1594"/>
                  </a:moveTo>
                  <a:cubicBezTo>
                    <a:pt x="302" y="1594"/>
                    <a:pt x="302" y="1594"/>
                    <a:pt x="302" y="1594"/>
                  </a:cubicBezTo>
                  <a:cubicBezTo>
                    <a:pt x="300" y="1594"/>
                    <a:pt x="296" y="1591"/>
                    <a:pt x="296" y="1589"/>
                  </a:cubicBezTo>
                  <a:cubicBezTo>
                    <a:pt x="268" y="1371"/>
                    <a:pt x="268" y="1371"/>
                    <a:pt x="268" y="1371"/>
                  </a:cubicBezTo>
                  <a:cubicBezTo>
                    <a:pt x="343" y="1371"/>
                    <a:pt x="343" y="1371"/>
                    <a:pt x="343" y="1371"/>
                  </a:cubicBezTo>
                  <a:lnTo>
                    <a:pt x="343" y="1594"/>
                  </a:lnTo>
                  <a:close/>
                  <a:moveTo>
                    <a:pt x="430" y="1588"/>
                  </a:moveTo>
                  <a:cubicBezTo>
                    <a:pt x="430" y="1591"/>
                    <a:pt x="426" y="1594"/>
                    <a:pt x="424" y="1594"/>
                  </a:cubicBezTo>
                  <a:cubicBezTo>
                    <a:pt x="384" y="1594"/>
                    <a:pt x="384" y="1594"/>
                    <a:pt x="384" y="1594"/>
                  </a:cubicBezTo>
                  <a:cubicBezTo>
                    <a:pt x="384" y="1371"/>
                    <a:pt x="384" y="1371"/>
                    <a:pt x="384" y="1371"/>
                  </a:cubicBezTo>
                  <a:cubicBezTo>
                    <a:pt x="459" y="1371"/>
                    <a:pt x="459" y="1371"/>
                    <a:pt x="459" y="1371"/>
                  </a:cubicBezTo>
                  <a:lnTo>
                    <a:pt x="430" y="1588"/>
                  </a:lnTo>
                  <a:close/>
                  <a:moveTo>
                    <a:pt x="627" y="762"/>
                  </a:moveTo>
                  <a:cubicBezTo>
                    <a:pt x="603" y="591"/>
                    <a:pt x="603" y="591"/>
                    <a:pt x="603" y="591"/>
                  </a:cubicBezTo>
                  <a:cubicBezTo>
                    <a:pt x="671" y="591"/>
                    <a:pt x="671" y="591"/>
                    <a:pt x="671" y="591"/>
                  </a:cubicBezTo>
                  <a:cubicBezTo>
                    <a:pt x="680" y="677"/>
                    <a:pt x="680" y="677"/>
                    <a:pt x="680" y="677"/>
                  </a:cubicBezTo>
                  <a:cubicBezTo>
                    <a:pt x="683" y="710"/>
                    <a:pt x="654" y="734"/>
                    <a:pt x="641" y="749"/>
                  </a:cubicBezTo>
                  <a:cubicBezTo>
                    <a:pt x="637" y="753"/>
                    <a:pt x="632" y="758"/>
                    <a:pt x="627" y="76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304">
              <a:extLst>
                <a:ext uri="{FF2B5EF4-FFF2-40B4-BE49-F238E27FC236}">
                  <a16:creationId xmlns:a16="http://schemas.microsoft.com/office/drawing/2014/main" id="{3F525D7B-F78C-4989-999E-7AA10486E42C}"/>
                </a:ext>
              </a:extLst>
            </p:cNvPr>
            <p:cNvSpPr>
              <a:spLocks noEditPoints="1"/>
            </p:cNvSpPr>
            <p:nvPr/>
          </p:nvSpPr>
          <p:spPr bwMode="auto">
            <a:xfrm>
              <a:off x="1515" y="902"/>
              <a:ext cx="761" cy="889"/>
            </a:xfrm>
            <a:custGeom>
              <a:avLst/>
              <a:gdLst>
                <a:gd name="T0" fmla="*/ 29 w 495"/>
                <a:gd name="T1" fmla="*/ 286 h 578"/>
                <a:gd name="T2" fmla="*/ 22 w 495"/>
                <a:gd name="T3" fmla="*/ 316 h 578"/>
                <a:gd name="T4" fmla="*/ 39 w 495"/>
                <a:gd name="T5" fmla="*/ 343 h 578"/>
                <a:gd name="T6" fmla="*/ 38 w 495"/>
                <a:gd name="T7" fmla="*/ 359 h 578"/>
                <a:gd name="T8" fmla="*/ 65 w 495"/>
                <a:gd name="T9" fmla="*/ 387 h 578"/>
                <a:gd name="T10" fmla="*/ 65 w 495"/>
                <a:gd name="T11" fmla="*/ 394 h 578"/>
                <a:gd name="T12" fmla="*/ 249 w 495"/>
                <a:gd name="T13" fmla="*/ 578 h 578"/>
                <a:gd name="T14" fmla="*/ 433 w 495"/>
                <a:gd name="T15" fmla="*/ 396 h 578"/>
                <a:gd name="T16" fmla="*/ 447 w 495"/>
                <a:gd name="T17" fmla="*/ 369 h 578"/>
                <a:gd name="T18" fmla="*/ 447 w 495"/>
                <a:gd name="T19" fmla="*/ 364 h 578"/>
                <a:gd name="T20" fmla="*/ 481 w 495"/>
                <a:gd name="T21" fmla="*/ 330 h 578"/>
                <a:gd name="T22" fmla="*/ 472 w 495"/>
                <a:gd name="T23" fmla="*/ 300 h 578"/>
                <a:gd name="T24" fmla="*/ 482 w 495"/>
                <a:gd name="T25" fmla="*/ 275 h 578"/>
                <a:gd name="T26" fmla="*/ 470 w 495"/>
                <a:gd name="T27" fmla="*/ 221 h 578"/>
                <a:gd name="T28" fmla="*/ 486 w 495"/>
                <a:gd name="T29" fmla="*/ 183 h 578"/>
                <a:gd name="T30" fmla="*/ 431 w 495"/>
                <a:gd name="T31" fmla="*/ 98 h 578"/>
                <a:gd name="T32" fmla="*/ 416 w 495"/>
                <a:gd name="T33" fmla="*/ 100 h 578"/>
                <a:gd name="T34" fmla="*/ 361 w 495"/>
                <a:gd name="T35" fmla="*/ 59 h 578"/>
                <a:gd name="T36" fmla="*/ 346 w 495"/>
                <a:gd name="T37" fmla="*/ 61 h 578"/>
                <a:gd name="T38" fmla="*/ 279 w 495"/>
                <a:gd name="T39" fmla="*/ 0 h 578"/>
                <a:gd name="T40" fmla="*/ 216 w 495"/>
                <a:gd name="T41" fmla="*/ 48 h 578"/>
                <a:gd name="T42" fmla="*/ 157 w 495"/>
                <a:gd name="T43" fmla="*/ 17 h 578"/>
                <a:gd name="T44" fmla="*/ 87 w 495"/>
                <a:gd name="T45" fmla="*/ 98 h 578"/>
                <a:gd name="T46" fmla="*/ 82 w 495"/>
                <a:gd name="T47" fmla="*/ 98 h 578"/>
                <a:gd name="T48" fmla="*/ 27 w 495"/>
                <a:gd name="T49" fmla="*/ 183 h 578"/>
                <a:gd name="T50" fmla="*/ 29 w 495"/>
                <a:gd name="T51" fmla="*/ 191 h 578"/>
                <a:gd name="T52" fmla="*/ 5 w 495"/>
                <a:gd name="T53" fmla="*/ 246 h 578"/>
                <a:gd name="T54" fmla="*/ 29 w 495"/>
                <a:gd name="T55" fmla="*/ 286 h 578"/>
                <a:gd name="T56" fmla="*/ 106 w 495"/>
                <a:gd name="T57" fmla="*/ 304 h 578"/>
                <a:gd name="T58" fmla="*/ 111 w 495"/>
                <a:gd name="T59" fmla="*/ 278 h 578"/>
                <a:gd name="T60" fmla="*/ 115 w 495"/>
                <a:gd name="T61" fmla="*/ 257 h 578"/>
                <a:gd name="T62" fmla="*/ 158 w 495"/>
                <a:gd name="T63" fmla="*/ 211 h 578"/>
                <a:gd name="T64" fmla="*/ 171 w 495"/>
                <a:gd name="T65" fmla="*/ 212 h 578"/>
                <a:gd name="T66" fmla="*/ 234 w 495"/>
                <a:gd name="T67" fmla="*/ 165 h 578"/>
                <a:gd name="T68" fmla="*/ 276 w 495"/>
                <a:gd name="T69" fmla="*/ 183 h 578"/>
                <a:gd name="T70" fmla="*/ 293 w 495"/>
                <a:gd name="T71" fmla="*/ 180 h 578"/>
                <a:gd name="T72" fmla="*/ 348 w 495"/>
                <a:gd name="T73" fmla="*/ 222 h 578"/>
                <a:gd name="T74" fmla="*/ 358 w 495"/>
                <a:gd name="T75" fmla="*/ 221 h 578"/>
                <a:gd name="T76" fmla="*/ 388 w 495"/>
                <a:gd name="T77" fmla="*/ 253 h 578"/>
                <a:gd name="T78" fmla="*/ 393 w 495"/>
                <a:gd name="T79" fmla="*/ 288 h 578"/>
                <a:gd name="T80" fmla="*/ 393 w 495"/>
                <a:gd name="T81" fmla="*/ 394 h 578"/>
                <a:gd name="T82" fmla="*/ 249 w 495"/>
                <a:gd name="T83" fmla="*/ 537 h 578"/>
                <a:gd name="T84" fmla="*/ 106 w 495"/>
                <a:gd name="T85" fmla="*/ 394 h 578"/>
                <a:gd name="T86" fmla="*/ 106 w 495"/>
                <a:gd name="T87" fmla="*/ 304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95" h="578">
                  <a:moveTo>
                    <a:pt x="29" y="286"/>
                  </a:moveTo>
                  <a:cubicBezTo>
                    <a:pt x="23" y="293"/>
                    <a:pt x="20" y="304"/>
                    <a:pt x="22" y="316"/>
                  </a:cubicBezTo>
                  <a:cubicBezTo>
                    <a:pt x="25" y="327"/>
                    <a:pt x="31" y="337"/>
                    <a:pt x="39" y="343"/>
                  </a:cubicBezTo>
                  <a:cubicBezTo>
                    <a:pt x="37" y="348"/>
                    <a:pt x="36" y="353"/>
                    <a:pt x="38" y="359"/>
                  </a:cubicBezTo>
                  <a:cubicBezTo>
                    <a:pt x="40" y="372"/>
                    <a:pt x="52" y="384"/>
                    <a:pt x="65" y="387"/>
                  </a:cubicBezTo>
                  <a:cubicBezTo>
                    <a:pt x="65" y="394"/>
                    <a:pt x="65" y="394"/>
                    <a:pt x="65" y="394"/>
                  </a:cubicBezTo>
                  <a:cubicBezTo>
                    <a:pt x="65" y="495"/>
                    <a:pt x="147" y="578"/>
                    <a:pt x="249" y="578"/>
                  </a:cubicBezTo>
                  <a:cubicBezTo>
                    <a:pt x="350" y="578"/>
                    <a:pt x="432" y="497"/>
                    <a:pt x="433" y="396"/>
                  </a:cubicBezTo>
                  <a:cubicBezTo>
                    <a:pt x="441" y="392"/>
                    <a:pt x="447" y="381"/>
                    <a:pt x="447" y="369"/>
                  </a:cubicBezTo>
                  <a:cubicBezTo>
                    <a:pt x="447" y="367"/>
                    <a:pt x="447" y="366"/>
                    <a:pt x="447" y="364"/>
                  </a:cubicBezTo>
                  <a:cubicBezTo>
                    <a:pt x="463" y="362"/>
                    <a:pt x="478" y="348"/>
                    <a:pt x="481" y="330"/>
                  </a:cubicBezTo>
                  <a:cubicBezTo>
                    <a:pt x="484" y="318"/>
                    <a:pt x="480" y="306"/>
                    <a:pt x="472" y="300"/>
                  </a:cubicBezTo>
                  <a:cubicBezTo>
                    <a:pt x="476" y="292"/>
                    <a:pt x="480" y="284"/>
                    <a:pt x="482" y="275"/>
                  </a:cubicBezTo>
                  <a:cubicBezTo>
                    <a:pt x="486" y="254"/>
                    <a:pt x="481" y="235"/>
                    <a:pt x="470" y="221"/>
                  </a:cubicBezTo>
                  <a:cubicBezTo>
                    <a:pt x="478" y="210"/>
                    <a:pt x="483" y="197"/>
                    <a:pt x="486" y="183"/>
                  </a:cubicBezTo>
                  <a:cubicBezTo>
                    <a:pt x="495" y="138"/>
                    <a:pt x="471" y="98"/>
                    <a:pt x="431" y="98"/>
                  </a:cubicBezTo>
                  <a:cubicBezTo>
                    <a:pt x="426" y="98"/>
                    <a:pt x="421" y="99"/>
                    <a:pt x="416" y="100"/>
                  </a:cubicBezTo>
                  <a:cubicBezTo>
                    <a:pt x="407" y="76"/>
                    <a:pt x="387" y="59"/>
                    <a:pt x="361" y="59"/>
                  </a:cubicBezTo>
                  <a:cubicBezTo>
                    <a:pt x="356" y="59"/>
                    <a:pt x="351" y="60"/>
                    <a:pt x="346" y="61"/>
                  </a:cubicBezTo>
                  <a:cubicBezTo>
                    <a:pt x="337" y="26"/>
                    <a:pt x="311" y="0"/>
                    <a:pt x="279" y="0"/>
                  </a:cubicBezTo>
                  <a:cubicBezTo>
                    <a:pt x="252" y="0"/>
                    <a:pt x="228" y="19"/>
                    <a:pt x="216" y="48"/>
                  </a:cubicBezTo>
                  <a:cubicBezTo>
                    <a:pt x="201" y="29"/>
                    <a:pt x="180" y="17"/>
                    <a:pt x="157" y="17"/>
                  </a:cubicBezTo>
                  <a:cubicBezTo>
                    <a:pt x="118" y="17"/>
                    <a:pt x="90" y="53"/>
                    <a:pt x="87" y="98"/>
                  </a:cubicBezTo>
                  <a:cubicBezTo>
                    <a:pt x="85" y="98"/>
                    <a:pt x="84" y="98"/>
                    <a:pt x="82" y="98"/>
                  </a:cubicBezTo>
                  <a:cubicBezTo>
                    <a:pt x="43" y="98"/>
                    <a:pt x="18" y="138"/>
                    <a:pt x="27" y="183"/>
                  </a:cubicBezTo>
                  <a:cubicBezTo>
                    <a:pt x="27" y="186"/>
                    <a:pt x="28" y="188"/>
                    <a:pt x="29" y="191"/>
                  </a:cubicBezTo>
                  <a:cubicBezTo>
                    <a:pt x="10" y="199"/>
                    <a:pt x="0" y="221"/>
                    <a:pt x="5" y="246"/>
                  </a:cubicBezTo>
                  <a:cubicBezTo>
                    <a:pt x="8" y="262"/>
                    <a:pt x="18" y="276"/>
                    <a:pt x="29" y="286"/>
                  </a:cubicBezTo>
                  <a:moveTo>
                    <a:pt x="106" y="304"/>
                  </a:moveTo>
                  <a:cubicBezTo>
                    <a:pt x="106" y="295"/>
                    <a:pt x="108" y="286"/>
                    <a:pt x="111" y="278"/>
                  </a:cubicBezTo>
                  <a:cubicBezTo>
                    <a:pt x="112" y="271"/>
                    <a:pt x="113" y="264"/>
                    <a:pt x="115" y="257"/>
                  </a:cubicBezTo>
                  <a:cubicBezTo>
                    <a:pt x="136" y="252"/>
                    <a:pt x="152" y="235"/>
                    <a:pt x="158" y="211"/>
                  </a:cubicBezTo>
                  <a:cubicBezTo>
                    <a:pt x="162" y="212"/>
                    <a:pt x="166" y="212"/>
                    <a:pt x="171" y="212"/>
                  </a:cubicBezTo>
                  <a:cubicBezTo>
                    <a:pt x="198" y="212"/>
                    <a:pt x="222" y="193"/>
                    <a:pt x="234" y="165"/>
                  </a:cubicBezTo>
                  <a:cubicBezTo>
                    <a:pt x="246" y="176"/>
                    <a:pt x="260" y="183"/>
                    <a:pt x="276" y="183"/>
                  </a:cubicBezTo>
                  <a:cubicBezTo>
                    <a:pt x="282" y="183"/>
                    <a:pt x="287" y="182"/>
                    <a:pt x="293" y="180"/>
                  </a:cubicBezTo>
                  <a:cubicBezTo>
                    <a:pt x="302" y="206"/>
                    <a:pt x="323" y="222"/>
                    <a:pt x="348" y="222"/>
                  </a:cubicBezTo>
                  <a:cubicBezTo>
                    <a:pt x="351" y="222"/>
                    <a:pt x="355" y="222"/>
                    <a:pt x="358" y="221"/>
                  </a:cubicBezTo>
                  <a:cubicBezTo>
                    <a:pt x="364" y="236"/>
                    <a:pt x="375" y="248"/>
                    <a:pt x="388" y="253"/>
                  </a:cubicBezTo>
                  <a:cubicBezTo>
                    <a:pt x="391" y="265"/>
                    <a:pt x="393" y="276"/>
                    <a:pt x="393" y="288"/>
                  </a:cubicBezTo>
                  <a:cubicBezTo>
                    <a:pt x="393" y="394"/>
                    <a:pt x="393" y="394"/>
                    <a:pt x="393" y="394"/>
                  </a:cubicBezTo>
                  <a:cubicBezTo>
                    <a:pt x="393" y="473"/>
                    <a:pt x="328" y="537"/>
                    <a:pt x="249" y="537"/>
                  </a:cubicBezTo>
                  <a:cubicBezTo>
                    <a:pt x="170" y="537"/>
                    <a:pt x="106" y="473"/>
                    <a:pt x="106" y="394"/>
                  </a:cubicBezTo>
                  <a:lnTo>
                    <a:pt x="106" y="3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27" name="Group 26">
            <a:extLst>
              <a:ext uri="{FF2B5EF4-FFF2-40B4-BE49-F238E27FC236}">
                <a16:creationId xmlns:a16="http://schemas.microsoft.com/office/drawing/2014/main" id="{887CD60C-0CF6-4FB4-81C9-82A2591B4548}"/>
              </a:ext>
            </a:extLst>
          </p:cNvPr>
          <p:cNvGrpSpPr/>
          <p:nvPr/>
        </p:nvGrpSpPr>
        <p:grpSpPr>
          <a:xfrm>
            <a:off x="1151134" y="1277712"/>
            <a:ext cx="187325" cy="525462"/>
            <a:chOff x="4781550" y="1316038"/>
            <a:chExt cx="187325" cy="525462"/>
          </a:xfrm>
          <a:solidFill>
            <a:schemeClr val="accent5"/>
          </a:solidFill>
        </p:grpSpPr>
        <p:sp>
          <p:nvSpPr>
            <p:cNvPr id="28" name="Freeform 71">
              <a:extLst>
                <a:ext uri="{FF2B5EF4-FFF2-40B4-BE49-F238E27FC236}">
                  <a16:creationId xmlns:a16="http://schemas.microsoft.com/office/drawing/2014/main" id="{AD6A0271-1890-406F-A4FB-70BD48245C6E}"/>
                </a:ext>
              </a:extLst>
            </p:cNvPr>
            <p:cNvSpPr>
              <a:spLocks noEditPoints="1"/>
            </p:cNvSpPr>
            <p:nvPr/>
          </p:nvSpPr>
          <p:spPr bwMode="auto">
            <a:xfrm>
              <a:off x="4829175" y="1316038"/>
              <a:ext cx="92075" cy="120650"/>
            </a:xfrm>
            <a:custGeom>
              <a:avLst/>
              <a:gdLst>
                <a:gd name="T0" fmla="*/ 192 w 384"/>
                <a:gd name="T1" fmla="*/ 507 h 507"/>
                <a:gd name="T2" fmla="*/ 192 w 384"/>
                <a:gd name="T3" fmla="*/ 507 h 507"/>
                <a:gd name="T4" fmla="*/ 384 w 384"/>
                <a:gd name="T5" fmla="*/ 315 h 507"/>
                <a:gd name="T6" fmla="*/ 384 w 384"/>
                <a:gd name="T7" fmla="*/ 129 h 507"/>
                <a:gd name="T8" fmla="*/ 192 w 384"/>
                <a:gd name="T9" fmla="*/ 0 h 507"/>
                <a:gd name="T10" fmla="*/ 0 w 384"/>
                <a:gd name="T11" fmla="*/ 129 h 507"/>
                <a:gd name="T12" fmla="*/ 0 w 384"/>
                <a:gd name="T13" fmla="*/ 315 h 507"/>
                <a:gd name="T14" fmla="*/ 192 w 384"/>
                <a:gd name="T15" fmla="*/ 507 h 507"/>
                <a:gd name="T16" fmla="*/ 43 w 384"/>
                <a:gd name="T17" fmla="*/ 205 h 507"/>
                <a:gd name="T18" fmla="*/ 48 w 384"/>
                <a:gd name="T19" fmla="*/ 168 h 507"/>
                <a:gd name="T20" fmla="*/ 189 w 384"/>
                <a:gd name="T21" fmla="*/ 148 h 507"/>
                <a:gd name="T22" fmla="*/ 196 w 384"/>
                <a:gd name="T23" fmla="*/ 148 h 507"/>
                <a:gd name="T24" fmla="*/ 337 w 384"/>
                <a:gd name="T25" fmla="*/ 168 h 507"/>
                <a:gd name="T26" fmla="*/ 342 w 384"/>
                <a:gd name="T27" fmla="*/ 205 h 507"/>
                <a:gd name="T28" fmla="*/ 342 w 384"/>
                <a:gd name="T29" fmla="*/ 315 h 507"/>
                <a:gd name="T30" fmla="*/ 342 w 384"/>
                <a:gd name="T31" fmla="*/ 315 h 507"/>
                <a:gd name="T32" fmla="*/ 192 w 384"/>
                <a:gd name="T33" fmla="*/ 464 h 507"/>
                <a:gd name="T34" fmla="*/ 43 w 384"/>
                <a:gd name="T35" fmla="*/ 315 h 507"/>
                <a:gd name="T36" fmla="*/ 43 w 384"/>
                <a:gd name="T37" fmla="*/ 205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4" h="507">
                  <a:moveTo>
                    <a:pt x="192" y="507"/>
                  </a:moveTo>
                  <a:cubicBezTo>
                    <a:pt x="192" y="507"/>
                    <a:pt x="192" y="507"/>
                    <a:pt x="192" y="507"/>
                  </a:cubicBezTo>
                  <a:cubicBezTo>
                    <a:pt x="298" y="507"/>
                    <a:pt x="384" y="421"/>
                    <a:pt x="384" y="315"/>
                  </a:cubicBezTo>
                  <a:cubicBezTo>
                    <a:pt x="384" y="129"/>
                    <a:pt x="384" y="129"/>
                    <a:pt x="384" y="129"/>
                  </a:cubicBezTo>
                  <a:cubicBezTo>
                    <a:pt x="384" y="23"/>
                    <a:pt x="298" y="0"/>
                    <a:pt x="192" y="0"/>
                  </a:cubicBezTo>
                  <a:cubicBezTo>
                    <a:pt x="86" y="0"/>
                    <a:pt x="0" y="23"/>
                    <a:pt x="0" y="129"/>
                  </a:cubicBezTo>
                  <a:cubicBezTo>
                    <a:pt x="0" y="315"/>
                    <a:pt x="0" y="315"/>
                    <a:pt x="0" y="315"/>
                  </a:cubicBezTo>
                  <a:cubicBezTo>
                    <a:pt x="0" y="421"/>
                    <a:pt x="86" y="507"/>
                    <a:pt x="192" y="507"/>
                  </a:cubicBezTo>
                  <a:moveTo>
                    <a:pt x="43" y="205"/>
                  </a:moveTo>
                  <a:cubicBezTo>
                    <a:pt x="43" y="193"/>
                    <a:pt x="45" y="180"/>
                    <a:pt x="48" y="168"/>
                  </a:cubicBezTo>
                  <a:cubicBezTo>
                    <a:pt x="88" y="150"/>
                    <a:pt x="137" y="148"/>
                    <a:pt x="189" y="148"/>
                  </a:cubicBezTo>
                  <a:cubicBezTo>
                    <a:pt x="196" y="148"/>
                    <a:pt x="196" y="148"/>
                    <a:pt x="196" y="148"/>
                  </a:cubicBezTo>
                  <a:cubicBezTo>
                    <a:pt x="248" y="148"/>
                    <a:pt x="296" y="150"/>
                    <a:pt x="337" y="168"/>
                  </a:cubicBezTo>
                  <a:cubicBezTo>
                    <a:pt x="340" y="180"/>
                    <a:pt x="342" y="193"/>
                    <a:pt x="342" y="205"/>
                  </a:cubicBezTo>
                  <a:cubicBezTo>
                    <a:pt x="342" y="315"/>
                    <a:pt x="342" y="315"/>
                    <a:pt x="342" y="315"/>
                  </a:cubicBezTo>
                  <a:cubicBezTo>
                    <a:pt x="342" y="315"/>
                    <a:pt x="342" y="315"/>
                    <a:pt x="342" y="315"/>
                  </a:cubicBezTo>
                  <a:cubicBezTo>
                    <a:pt x="342" y="397"/>
                    <a:pt x="275" y="464"/>
                    <a:pt x="192" y="464"/>
                  </a:cubicBezTo>
                  <a:cubicBezTo>
                    <a:pt x="110" y="464"/>
                    <a:pt x="43" y="397"/>
                    <a:pt x="43" y="315"/>
                  </a:cubicBezTo>
                  <a:lnTo>
                    <a:pt x="43" y="2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72">
              <a:extLst>
                <a:ext uri="{FF2B5EF4-FFF2-40B4-BE49-F238E27FC236}">
                  <a16:creationId xmlns:a16="http://schemas.microsoft.com/office/drawing/2014/main" id="{227E51F3-390E-408E-AC61-BC4B45145BB6}"/>
                </a:ext>
              </a:extLst>
            </p:cNvPr>
            <p:cNvSpPr>
              <a:spLocks noEditPoints="1"/>
            </p:cNvSpPr>
            <p:nvPr/>
          </p:nvSpPr>
          <p:spPr bwMode="auto">
            <a:xfrm>
              <a:off x="4781550" y="1436688"/>
              <a:ext cx="187325" cy="404812"/>
            </a:xfrm>
            <a:custGeom>
              <a:avLst/>
              <a:gdLst>
                <a:gd name="T0" fmla="*/ 785 w 786"/>
                <a:gd name="T1" fmla="*/ 378 h 1697"/>
                <a:gd name="T2" fmla="*/ 726 w 786"/>
                <a:gd name="T3" fmla="*/ 81 h 1697"/>
                <a:gd name="T4" fmla="*/ 691 w 786"/>
                <a:gd name="T5" fmla="*/ 43 h 1697"/>
                <a:gd name="T6" fmla="*/ 605 w 786"/>
                <a:gd name="T7" fmla="*/ 0 h 1697"/>
                <a:gd name="T8" fmla="*/ 544 w 786"/>
                <a:gd name="T9" fmla="*/ 80 h 1697"/>
                <a:gd name="T10" fmla="*/ 477 w 786"/>
                <a:gd name="T11" fmla="*/ 106 h 1697"/>
                <a:gd name="T12" fmla="*/ 448 w 786"/>
                <a:gd name="T13" fmla="*/ 402 h 1697"/>
                <a:gd name="T14" fmla="*/ 400 w 786"/>
                <a:gd name="T15" fmla="*/ 439 h 1697"/>
                <a:gd name="T16" fmla="*/ 386 w 786"/>
                <a:gd name="T17" fmla="*/ 439 h 1697"/>
                <a:gd name="T18" fmla="*/ 339 w 786"/>
                <a:gd name="T19" fmla="*/ 402 h 1697"/>
                <a:gd name="T20" fmla="*/ 310 w 786"/>
                <a:gd name="T21" fmla="*/ 106 h 1697"/>
                <a:gd name="T22" fmla="*/ 243 w 786"/>
                <a:gd name="T23" fmla="*/ 80 h 1697"/>
                <a:gd name="T24" fmla="*/ 181 w 786"/>
                <a:gd name="T25" fmla="*/ 0 h 1697"/>
                <a:gd name="T26" fmla="*/ 95 w 786"/>
                <a:gd name="T27" fmla="*/ 43 h 1697"/>
                <a:gd name="T28" fmla="*/ 60 w 786"/>
                <a:gd name="T29" fmla="*/ 81 h 1697"/>
                <a:gd name="T30" fmla="*/ 2 w 786"/>
                <a:gd name="T31" fmla="*/ 378 h 1697"/>
                <a:gd name="T32" fmla="*/ 22 w 786"/>
                <a:gd name="T33" fmla="*/ 403 h 1697"/>
                <a:gd name="T34" fmla="*/ 18 w 786"/>
                <a:gd name="T35" fmla="*/ 731 h 1697"/>
                <a:gd name="T36" fmla="*/ 105 w 786"/>
                <a:gd name="T37" fmla="*/ 1031 h 1697"/>
                <a:gd name="T38" fmla="*/ 126 w 786"/>
                <a:gd name="T39" fmla="*/ 1052 h 1697"/>
                <a:gd name="T40" fmla="*/ 154 w 786"/>
                <a:gd name="T41" fmla="*/ 1697 h 1697"/>
                <a:gd name="T42" fmla="*/ 298 w 786"/>
                <a:gd name="T43" fmla="*/ 1656 h 1697"/>
                <a:gd name="T44" fmla="*/ 417 w 786"/>
                <a:gd name="T45" fmla="*/ 1052 h 1697"/>
                <a:gd name="T46" fmla="*/ 534 w 786"/>
                <a:gd name="T47" fmla="*/ 1697 h 1697"/>
                <a:gd name="T48" fmla="*/ 633 w 786"/>
                <a:gd name="T49" fmla="*/ 1052 h 1697"/>
                <a:gd name="T50" fmla="*/ 676 w 786"/>
                <a:gd name="T51" fmla="*/ 1046 h 1697"/>
                <a:gd name="T52" fmla="*/ 672 w 786"/>
                <a:gd name="T53" fmla="*/ 877 h 1697"/>
                <a:gd name="T54" fmla="*/ 749 w 786"/>
                <a:gd name="T55" fmla="*/ 403 h 1697"/>
                <a:gd name="T56" fmla="*/ 781 w 786"/>
                <a:gd name="T57" fmla="*/ 395 h 1697"/>
                <a:gd name="T58" fmla="*/ 59 w 786"/>
                <a:gd name="T59" fmla="*/ 733 h 1697"/>
                <a:gd name="T60" fmla="*/ 143 w 786"/>
                <a:gd name="T61" fmla="*/ 403 h 1697"/>
                <a:gd name="T62" fmla="*/ 669 w 786"/>
                <a:gd name="T63" fmla="*/ 833 h 1697"/>
                <a:gd name="T64" fmla="*/ 706 w 786"/>
                <a:gd name="T65" fmla="*/ 403 h 1697"/>
                <a:gd name="T66" fmla="*/ 669 w 786"/>
                <a:gd name="T67" fmla="*/ 833 h 1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86" h="1697">
                  <a:moveTo>
                    <a:pt x="781" y="395"/>
                  </a:moveTo>
                  <a:cubicBezTo>
                    <a:pt x="785" y="390"/>
                    <a:pt x="786" y="384"/>
                    <a:pt x="785" y="378"/>
                  </a:cubicBezTo>
                  <a:cubicBezTo>
                    <a:pt x="733" y="109"/>
                    <a:pt x="733" y="109"/>
                    <a:pt x="733" y="109"/>
                  </a:cubicBezTo>
                  <a:cubicBezTo>
                    <a:pt x="731" y="100"/>
                    <a:pt x="728" y="86"/>
                    <a:pt x="726" y="81"/>
                  </a:cubicBezTo>
                  <a:cubicBezTo>
                    <a:pt x="725" y="78"/>
                    <a:pt x="725" y="78"/>
                    <a:pt x="725" y="78"/>
                  </a:cubicBezTo>
                  <a:cubicBezTo>
                    <a:pt x="719" y="62"/>
                    <a:pt x="707" y="51"/>
                    <a:pt x="691" y="43"/>
                  </a:cubicBezTo>
                  <a:cubicBezTo>
                    <a:pt x="605" y="0"/>
                    <a:pt x="605" y="0"/>
                    <a:pt x="605" y="0"/>
                  </a:cubicBezTo>
                  <a:cubicBezTo>
                    <a:pt x="605" y="0"/>
                    <a:pt x="605" y="0"/>
                    <a:pt x="605" y="0"/>
                  </a:cubicBezTo>
                  <a:cubicBezTo>
                    <a:pt x="605" y="0"/>
                    <a:pt x="605" y="0"/>
                    <a:pt x="605" y="0"/>
                  </a:cubicBezTo>
                  <a:cubicBezTo>
                    <a:pt x="600" y="28"/>
                    <a:pt x="573" y="62"/>
                    <a:pt x="544" y="80"/>
                  </a:cubicBezTo>
                  <a:cubicBezTo>
                    <a:pt x="541" y="82"/>
                    <a:pt x="538" y="84"/>
                    <a:pt x="535" y="85"/>
                  </a:cubicBezTo>
                  <a:cubicBezTo>
                    <a:pt x="519" y="94"/>
                    <a:pt x="500" y="101"/>
                    <a:pt x="477" y="106"/>
                  </a:cubicBezTo>
                  <a:cubicBezTo>
                    <a:pt x="453" y="394"/>
                    <a:pt x="453" y="394"/>
                    <a:pt x="453" y="394"/>
                  </a:cubicBezTo>
                  <a:cubicBezTo>
                    <a:pt x="452" y="397"/>
                    <a:pt x="451" y="400"/>
                    <a:pt x="448" y="402"/>
                  </a:cubicBezTo>
                  <a:cubicBezTo>
                    <a:pt x="436" y="411"/>
                    <a:pt x="436" y="411"/>
                    <a:pt x="436" y="411"/>
                  </a:cubicBezTo>
                  <a:cubicBezTo>
                    <a:pt x="400" y="439"/>
                    <a:pt x="400" y="439"/>
                    <a:pt x="400" y="439"/>
                  </a:cubicBezTo>
                  <a:cubicBezTo>
                    <a:pt x="398" y="441"/>
                    <a:pt x="396" y="441"/>
                    <a:pt x="393" y="441"/>
                  </a:cubicBezTo>
                  <a:cubicBezTo>
                    <a:pt x="391" y="441"/>
                    <a:pt x="388" y="441"/>
                    <a:pt x="386" y="439"/>
                  </a:cubicBezTo>
                  <a:cubicBezTo>
                    <a:pt x="350" y="411"/>
                    <a:pt x="350" y="411"/>
                    <a:pt x="350" y="411"/>
                  </a:cubicBezTo>
                  <a:cubicBezTo>
                    <a:pt x="339" y="402"/>
                    <a:pt x="339" y="402"/>
                    <a:pt x="339" y="402"/>
                  </a:cubicBezTo>
                  <a:cubicBezTo>
                    <a:pt x="336" y="400"/>
                    <a:pt x="334" y="397"/>
                    <a:pt x="334" y="394"/>
                  </a:cubicBezTo>
                  <a:cubicBezTo>
                    <a:pt x="310" y="106"/>
                    <a:pt x="310" y="106"/>
                    <a:pt x="310" y="106"/>
                  </a:cubicBezTo>
                  <a:cubicBezTo>
                    <a:pt x="287" y="101"/>
                    <a:pt x="268" y="94"/>
                    <a:pt x="252" y="85"/>
                  </a:cubicBezTo>
                  <a:cubicBezTo>
                    <a:pt x="249" y="84"/>
                    <a:pt x="245" y="82"/>
                    <a:pt x="243" y="80"/>
                  </a:cubicBezTo>
                  <a:cubicBezTo>
                    <a:pt x="213" y="62"/>
                    <a:pt x="186" y="28"/>
                    <a:pt x="181" y="0"/>
                  </a:cubicBezTo>
                  <a:cubicBezTo>
                    <a:pt x="181" y="0"/>
                    <a:pt x="181" y="0"/>
                    <a:pt x="181" y="0"/>
                  </a:cubicBezTo>
                  <a:cubicBezTo>
                    <a:pt x="181" y="0"/>
                    <a:pt x="181" y="0"/>
                    <a:pt x="181" y="0"/>
                  </a:cubicBezTo>
                  <a:cubicBezTo>
                    <a:pt x="95" y="43"/>
                    <a:pt x="95" y="43"/>
                    <a:pt x="95" y="43"/>
                  </a:cubicBezTo>
                  <a:cubicBezTo>
                    <a:pt x="79" y="51"/>
                    <a:pt x="68" y="62"/>
                    <a:pt x="61" y="78"/>
                  </a:cubicBezTo>
                  <a:cubicBezTo>
                    <a:pt x="60" y="81"/>
                    <a:pt x="60" y="81"/>
                    <a:pt x="60" y="81"/>
                  </a:cubicBezTo>
                  <a:cubicBezTo>
                    <a:pt x="59" y="86"/>
                    <a:pt x="55" y="100"/>
                    <a:pt x="53" y="109"/>
                  </a:cubicBezTo>
                  <a:cubicBezTo>
                    <a:pt x="2" y="378"/>
                    <a:pt x="2" y="378"/>
                    <a:pt x="2" y="378"/>
                  </a:cubicBezTo>
                  <a:cubicBezTo>
                    <a:pt x="0" y="384"/>
                    <a:pt x="2" y="390"/>
                    <a:pt x="6" y="395"/>
                  </a:cubicBezTo>
                  <a:cubicBezTo>
                    <a:pt x="10" y="400"/>
                    <a:pt x="16" y="403"/>
                    <a:pt x="22" y="403"/>
                  </a:cubicBezTo>
                  <a:cubicBezTo>
                    <a:pt x="38" y="403"/>
                    <a:pt x="38" y="403"/>
                    <a:pt x="38" y="403"/>
                  </a:cubicBezTo>
                  <a:cubicBezTo>
                    <a:pt x="18" y="731"/>
                    <a:pt x="18" y="731"/>
                    <a:pt x="18" y="731"/>
                  </a:cubicBezTo>
                  <a:cubicBezTo>
                    <a:pt x="18" y="797"/>
                    <a:pt x="58" y="853"/>
                    <a:pt x="114" y="877"/>
                  </a:cubicBezTo>
                  <a:cubicBezTo>
                    <a:pt x="105" y="1031"/>
                    <a:pt x="105" y="1031"/>
                    <a:pt x="105" y="1031"/>
                  </a:cubicBezTo>
                  <a:cubicBezTo>
                    <a:pt x="105" y="1036"/>
                    <a:pt x="107" y="1042"/>
                    <a:pt x="111" y="1046"/>
                  </a:cubicBezTo>
                  <a:cubicBezTo>
                    <a:pt x="115" y="1050"/>
                    <a:pt x="120" y="1052"/>
                    <a:pt x="126" y="1052"/>
                  </a:cubicBezTo>
                  <a:cubicBezTo>
                    <a:pt x="154" y="1052"/>
                    <a:pt x="154" y="1052"/>
                    <a:pt x="154" y="1052"/>
                  </a:cubicBezTo>
                  <a:cubicBezTo>
                    <a:pt x="154" y="1697"/>
                    <a:pt x="154" y="1697"/>
                    <a:pt x="154" y="1697"/>
                  </a:cubicBezTo>
                  <a:cubicBezTo>
                    <a:pt x="253" y="1697"/>
                    <a:pt x="253" y="1697"/>
                    <a:pt x="253" y="1697"/>
                  </a:cubicBezTo>
                  <a:cubicBezTo>
                    <a:pt x="275" y="1697"/>
                    <a:pt x="296" y="1678"/>
                    <a:pt x="298" y="1656"/>
                  </a:cubicBezTo>
                  <a:cubicBezTo>
                    <a:pt x="370" y="1052"/>
                    <a:pt x="370" y="1052"/>
                    <a:pt x="370" y="1052"/>
                  </a:cubicBezTo>
                  <a:cubicBezTo>
                    <a:pt x="417" y="1052"/>
                    <a:pt x="417" y="1052"/>
                    <a:pt x="417" y="1052"/>
                  </a:cubicBezTo>
                  <a:cubicBezTo>
                    <a:pt x="488" y="1656"/>
                    <a:pt x="488" y="1656"/>
                    <a:pt x="488" y="1656"/>
                  </a:cubicBezTo>
                  <a:cubicBezTo>
                    <a:pt x="491" y="1678"/>
                    <a:pt x="511" y="1697"/>
                    <a:pt x="534" y="1697"/>
                  </a:cubicBezTo>
                  <a:cubicBezTo>
                    <a:pt x="633" y="1697"/>
                    <a:pt x="633" y="1697"/>
                    <a:pt x="633" y="1697"/>
                  </a:cubicBezTo>
                  <a:cubicBezTo>
                    <a:pt x="633" y="1052"/>
                    <a:pt x="633" y="1052"/>
                    <a:pt x="633" y="1052"/>
                  </a:cubicBezTo>
                  <a:cubicBezTo>
                    <a:pt x="661" y="1052"/>
                    <a:pt x="661" y="1052"/>
                    <a:pt x="661" y="1052"/>
                  </a:cubicBezTo>
                  <a:cubicBezTo>
                    <a:pt x="667" y="1052"/>
                    <a:pt x="672" y="1050"/>
                    <a:pt x="676" y="1046"/>
                  </a:cubicBezTo>
                  <a:cubicBezTo>
                    <a:pt x="680" y="1042"/>
                    <a:pt x="682" y="1036"/>
                    <a:pt x="681" y="1031"/>
                  </a:cubicBezTo>
                  <a:cubicBezTo>
                    <a:pt x="672" y="877"/>
                    <a:pt x="672" y="877"/>
                    <a:pt x="672" y="877"/>
                  </a:cubicBezTo>
                  <a:cubicBezTo>
                    <a:pt x="729" y="853"/>
                    <a:pt x="769" y="797"/>
                    <a:pt x="769" y="731"/>
                  </a:cubicBezTo>
                  <a:cubicBezTo>
                    <a:pt x="749" y="403"/>
                    <a:pt x="749" y="403"/>
                    <a:pt x="749" y="403"/>
                  </a:cubicBezTo>
                  <a:cubicBezTo>
                    <a:pt x="765" y="403"/>
                    <a:pt x="765" y="403"/>
                    <a:pt x="765" y="403"/>
                  </a:cubicBezTo>
                  <a:cubicBezTo>
                    <a:pt x="771" y="403"/>
                    <a:pt x="777" y="400"/>
                    <a:pt x="781" y="395"/>
                  </a:cubicBezTo>
                  <a:moveTo>
                    <a:pt x="117" y="833"/>
                  </a:moveTo>
                  <a:cubicBezTo>
                    <a:pt x="83" y="813"/>
                    <a:pt x="59" y="775"/>
                    <a:pt x="59" y="733"/>
                  </a:cubicBezTo>
                  <a:cubicBezTo>
                    <a:pt x="80" y="403"/>
                    <a:pt x="80" y="403"/>
                    <a:pt x="80" y="403"/>
                  </a:cubicBezTo>
                  <a:cubicBezTo>
                    <a:pt x="143" y="403"/>
                    <a:pt x="143" y="403"/>
                    <a:pt x="143" y="403"/>
                  </a:cubicBezTo>
                  <a:lnTo>
                    <a:pt x="117" y="833"/>
                  </a:lnTo>
                  <a:close/>
                  <a:moveTo>
                    <a:pt x="669" y="833"/>
                  </a:moveTo>
                  <a:cubicBezTo>
                    <a:pt x="643" y="403"/>
                    <a:pt x="643" y="403"/>
                    <a:pt x="643" y="403"/>
                  </a:cubicBezTo>
                  <a:cubicBezTo>
                    <a:pt x="706" y="403"/>
                    <a:pt x="706" y="403"/>
                    <a:pt x="706" y="403"/>
                  </a:cubicBezTo>
                  <a:cubicBezTo>
                    <a:pt x="728" y="733"/>
                    <a:pt x="728" y="733"/>
                    <a:pt x="728" y="733"/>
                  </a:cubicBezTo>
                  <a:cubicBezTo>
                    <a:pt x="727" y="775"/>
                    <a:pt x="704" y="813"/>
                    <a:pt x="669" y="8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73">
              <a:extLst>
                <a:ext uri="{FF2B5EF4-FFF2-40B4-BE49-F238E27FC236}">
                  <a16:creationId xmlns:a16="http://schemas.microsoft.com/office/drawing/2014/main" id="{5CF22C3C-8F84-4E6F-B0CF-A624E1D42F7E}"/>
                </a:ext>
              </a:extLst>
            </p:cNvPr>
            <p:cNvSpPr>
              <a:spLocks/>
            </p:cNvSpPr>
            <p:nvPr/>
          </p:nvSpPr>
          <p:spPr bwMode="auto">
            <a:xfrm>
              <a:off x="4829175" y="1430338"/>
              <a:ext cx="92075" cy="104775"/>
            </a:xfrm>
            <a:custGeom>
              <a:avLst/>
              <a:gdLst>
                <a:gd name="T0" fmla="*/ 227 w 380"/>
                <a:gd name="T1" fmla="*/ 414 h 442"/>
                <a:gd name="T2" fmla="*/ 251 w 380"/>
                <a:gd name="T3" fmla="*/ 122 h 442"/>
                <a:gd name="T4" fmla="*/ 261 w 380"/>
                <a:gd name="T5" fmla="*/ 111 h 442"/>
                <a:gd name="T6" fmla="*/ 380 w 380"/>
                <a:gd name="T7" fmla="*/ 16 h 442"/>
                <a:gd name="T8" fmla="*/ 348 w 380"/>
                <a:gd name="T9" fmla="*/ 0 h 442"/>
                <a:gd name="T10" fmla="*/ 335 w 380"/>
                <a:gd name="T11" fmla="*/ 6 h 442"/>
                <a:gd name="T12" fmla="*/ 206 w 380"/>
                <a:gd name="T13" fmla="*/ 85 h 442"/>
                <a:gd name="T14" fmla="*/ 190 w 380"/>
                <a:gd name="T15" fmla="*/ 373 h 442"/>
                <a:gd name="T16" fmla="*/ 175 w 380"/>
                <a:gd name="T17" fmla="*/ 85 h 442"/>
                <a:gd name="T18" fmla="*/ 46 w 380"/>
                <a:gd name="T19" fmla="*/ 6 h 442"/>
                <a:gd name="T20" fmla="*/ 32 w 380"/>
                <a:gd name="T21" fmla="*/ 0 h 442"/>
                <a:gd name="T22" fmla="*/ 0 w 380"/>
                <a:gd name="T23" fmla="*/ 16 h 442"/>
                <a:gd name="T24" fmla="*/ 120 w 380"/>
                <a:gd name="T25" fmla="*/ 111 h 442"/>
                <a:gd name="T26" fmla="*/ 130 w 380"/>
                <a:gd name="T27" fmla="*/ 122 h 442"/>
                <a:gd name="T28" fmla="*/ 154 w 380"/>
                <a:gd name="T29" fmla="*/ 414 h 442"/>
                <a:gd name="T30" fmla="*/ 190 w 380"/>
                <a:gd name="T31" fmla="*/ 442 h 442"/>
                <a:gd name="T32" fmla="*/ 227 w 380"/>
                <a:gd name="T33" fmla="*/ 414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80" h="442">
                  <a:moveTo>
                    <a:pt x="227" y="414"/>
                  </a:moveTo>
                  <a:cubicBezTo>
                    <a:pt x="251" y="122"/>
                    <a:pt x="251" y="122"/>
                    <a:pt x="251" y="122"/>
                  </a:cubicBezTo>
                  <a:cubicBezTo>
                    <a:pt x="251" y="117"/>
                    <a:pt x="255" y="112"/>
                    <a:pt x="261" y="111"/>
                  </a:cubicBezTo>
                  <a:cubicBezTo>
                    <a:pt x="333" y="99"/>
                    <a:pt x="379" y="55"/>
                    <a:pt x="380" y="16"/>
                  </a:cubicBezTo>
                  <a:cubicBezTo>
                    <a:pt x="348" y="0"/>
                    <a:pt x="348" y="0"/>
                    <a:pt x="348" y="0"/>
                  </a:cubicBezTo>
                  <a:cubicBezTo>
                    <a:pt x="348" y="0"/>
                    <a:pt x="335" y="4"/>
                    <a:pt x="335" y="6"/>
                  </a:cubicBezTo>
                  <a:cubicBezTo>
                    <a:pt x="335" y="41"/>
                    <a:pt x="264" y="78"/>
                    <a:pt x="206" y="85"/>
                  </a:cubicBezTo>
                  <a:cubicBezTo>
                    <a:pt x="190" y="373"/>
                    <a:pt x="190" y="373"/>
                    <a:pt x="190" y="373"/>
                  </a:cubicBezTo>
                  <a:cubicBezTo>
                    <a:pt x="175" y="85"/>
                    <a:pt x="175" y="85"/>
                    <a:pt x="175" y="85"/>
                  </a:cubicBezTo>
                  <a:cubicBezTo>
                    <a:pt x="116" y="78"/>
                    <a:pt x="46" y="41"/>
                    <a:pt x="46" y="6"/>
                  </a:cubicBezTo>
                  <a:cubicBezTo>
                    <a:pt x="46" y="4"/>
                    <a:pt x="32" y="0"/>
                    <a:pt x="32" y="0"/>
                  </a:cubicBezTo>
                  <a:cubicBezTo>
                    <a:pt x="0" y="16"/>
                    <a:pt x="0" y="16"/>
                    <a:pt x="0" y="16"/>
                  </a:cubicBezTo>
                  <a:cubicBezTo>
                    <a:pt x="1" y="55"/>
                    <a:pt x="48" y="99"/>
                    <a:pt x="120" y="111"/>
                  </a:cubicBezTo>
                  <a:cubicBezTo>
                    <a:pt x="125" y="112"/>
                    <a:pt x="129" y="117"/>
                    <a:pt x="130" y="122"/>
                  </a:cubicBezTo>
                  <a:cubicBezTo>
                    <a:pt x="154" y="414"/>
                    <a:pt x="154" y="414"/>
                    <a:pt x="154" y="414"/>
                  </a:cubicBezTo>
                  <a:cubicBezTo>
                    <a:pt x="190" y="442"/>
                    <a:pt x="190" y="442"/>
                    <a:pt x="190" y="442"/>
                  </a:cubicBezTo>
                  <a:lnTo>
                    <a:pt x="227" y="4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1" name="Freeform 347">
            <a:extLst>
              <a:ext uri="{FF2B5EF4-FFF2-40B4-BE49-F238E27FC236}">
                <a16:creationId xmlns:a16="http://schemas.microsoft.com/office/drawing/2014/main" id="{AF351902-482F-48AE-9763-2050BDBADB6A}"/>
              </a:ext>
            </a:extLst>
          </p:cNvPr>
          <p:cNvSpPr>
            <a:spLocks noEditPoints="1"/>
          </p:cNvSpPr>
          <p:nvPr/>
        </p:nvSpPr>
        <p:spPr bwMode="auto">
          <a:xfrm>
            <a:off x="2782476" y="1258873"/>
            <a:ext cx="185737" cy="525462"/>
          </a:xfrm>
          <a:custGeom>
            <a:avLst/>
            <a:gdLst>
              <a:gd name="T0" fmla="*/ 391 w 784"/>
              <a:gd name="T1" fmla="*/ 507 h 2200"/>
              <a:gd name="T2" fmla="*/ 583 w 784"/>
              <a:gd name="T3" fmla="*/ 129 h 2200"/>
              <a:gd name="T4" fmla="*/ 199 w 784"/>
              <a:gd name="T5" fmla="*/ 129 h 2200"/>
              <a:gd name="T6" fmla="*/ 391 w 784"/>
              <a:gd name="T7" fmla="*/ 507 h 2200"/>
              <a:gd name="T8" fmla="*/ 247 w 784"/>
              <a:gd name="T9" fmla="*/ 168 h 2200"/>
              <a:gd name="T10" fmla="*/ 395 w 784"/>
              <a:gd name="T11" fmla="*/ 148 h 2200"/>
              <a:gd name="T12" fmla="*/ 541 w 784"/>
              <a:gd name="T13" fmla="*/ 205 h 2200"/>
              <a:gd name="T14" fmla="*/ 541 w 784"/>
              <a:gd name="T15" fmla="*/ 315 h 2200"/>
              <a:gd name="T16" fmla="*/ 242 w 784"/>
              <a:gd name="T17" fmla="*/ 315 h 2200"/>
              <a:gd name="T18" fmla="*/ 258 w 784"/>
              <a:gd name="T19" fmla="*/ 592 h 2200"/>
              <a:gd name="T20" fmla="*/ 318 w 784"/>
              <a:gd name="T21" fmla="*/ 732 h 2200"/>
              <a:gd name="T22" fmla="*/ 779 w 784"/>
              <a:gd name="T23" fmla="*/ 898 h 2200"/>
              <a:gd name="T24" fmla="*/ 731 w 784"/>
              <a:gd name="T25" fmla="*/ 612 h 2200"/>
              <a:gd name="T26" fmla="*/ 723 w 784"/>
              <a:gd name="T27" fmla="*/ 581 h 2200"/>
              <a:gd name="T28" fmla="*/ 603 w 784"/>
              <a:gd name="T29" fmla="*/ 503 h 2200"/>
              <a:gd name="T30" fmla="*/ 603 w 784"/>
              <a:gd name="T31" fmla="*/ 503 h 2200"/>
              <a:gd name="T32" fmla="*/ 533 w 784"/>
              <a:gd name="T33" fmla="*/ 588 h 2200"/>
              <a:gd name="T34" fmla="*/ 461 w 784"/>
              <a:gd name="T35" fmla="*/ 774 h 2200"/>
              <a:gd name="T36" fmla="*/ 564 w 784"/>
              <a:gd name="T37" fmla="*/ 853 h 2200"/>
              <a:gd name="T38" fmla="*/ 410 w 784"/>
              <a:gd name="T39" fmla="*/ 943 h 2200"/>
              <a:gd name="T40" fmla="*/ 391 w 784"/>
              <a:gd name="T41" fmla="*/ 944 h 2200"/>
              <a:gd name="T42" fmla="*/ 142 w 784"/>
              <a:gd name="T43" fmla="*/ 943 h 2200"/>
              <a:gd name="T44" fmla="*/ 103 w 784"/>
              <a:gd name="T45" fmla="*/ 1533 h 2200"/>
              <a:gd name="T46" fmla="*/ 124 w 784"/>
              <a:gd name="T47" fmla="*/ 1555 h 2200"/>
              <a:gd name="T48" fmla="*/ 152 w 784"/>
              <a:gd name="T49" fmla="*/ 2200 h 2200"/>
              <a:gd name="T50" fmla="*/ 296 w 784"/>
              <a:gd name="T51" fmla="*/ 2159 h 2200"/>
              <a:gd name="T52" fmla="*/ 415 w 784"/>
              <a:gd name="T53" fmla="*/ 1555 h 2200"/>
              <a:gd name="T54" fmla="*/ 532 w 784"/>
              <a:gd name="T55" fmla="*/ 2200 h 2200"/>
              <a:gd name="T56" fmla="*/ 631 w 784"/>
              <a:gd name="T57" fmla="*/ 1555 h 2200"/>
              <a:gd name="T58" fmla="*/ 674 w 784"/>
              <a:gd name="T59" fmla="*/ 1549 h 2200"/>
              <a:gd name="T60" fmla="*/ 670 w 784"/>
              <a:gd name="T61" fmla="*/ 1380 h 2200"/>
              <a:gd name="T62" fmla="*/ 747 w 784"/>
              <a:gd name="T63" fmla="*/ 906 h 2200"/>
              <a:gd name="T64" fmla="*/ 779 w 784"/>
              <a:gd name="T65" fmla="*/ 898 h 2200"/>
              <a:gd name="T66" fmla="*/ 641 w 784"/>
              <a:gd name="T67" fmla="*/ 906 h 2200"/>
              <a:gd name="T68" fmla="*/ 726 w 784"/>
              <a:gd name="T69" fmla="*/ 1235 h 2200"/>
              <a:gd name="T70" fmla="*/ 395 w 784"/>
              <a:gd name="T71" fmla="*/ 774 h 2200"/>
              <a:gd name="T72" fmla="*/ 536 w 784"/>
              <a:gd name="T73" fmla="*/ 482 h 2200"/>
              <a:gd name="T74" fmla="*/ 581 w 784"/>
              <a:gd name="T75" fmla="*/ 492 h 2200"/>
              <a:gd name="T76" fmla="*/ 452 w 784"/>
              <a:gd name="T77" fmla="*/ 598 h 2200"/>
              <a:gd name="T78" fmla="*/ 395 w 784"/>
              <a:gd name="T79" fmla="*/ 774 h 2200"/>
              <a:gd name="T80" fmla="*/ 233 w 784"/>
              <a:gd name="T81" fmla="*/ 476 h 2200"/>
              <a:gd name="T82" fmla="*/ 376 w 784"/>
              <a:gd name="T83" fmla="*/ 561 h 2200"/>
              <a:gd name="T84" fmla="*/ 345 w 784"/>
              <a:gd name="T85" fmla="*/ 774 h 2200"/>
              <a:gd name="T86" fmla="*/ 321 w 784"/>
              <a:gd name="T87" fmla="*/ 587 h 2200"/>
              <a:gd name="T88" fmla="*/ 212 w 784"/>
              <a:gd name="T89" fmla="*/ 487 h 2200"/>
              <a:gd name="T90" fmla="*/ 102 w 784"/>
              <a:gd name="T91" fmla="*/ 943 h 2200"/>
              <a:gd name="T92" fmla="*/ 2 w 784"/>
              <a:gd name="T93" fmla="*/ 871 h 2200"/>
              <a:gd name="T94" fmla="*/ 60 w 784"/>
              <a:gd name="T95" fmla="*/ 560 h 2200"/>
              <a:gd name="T96" fmla="*/ 131 w 784"/>
              <a:gd name="T97" fmla="*/ 943 h 2200"/>
              <a:gd name="T98" fmla="*/ 473 w 784"/>
              <a:gd name="T99" fmla="*/ 908 h 2200"/>
              <a:gd name="T100" fmla="*/ 352 w 784"/>
              <a:gd name="T101" fmla="*/ 809 h 2200"/>
              <a:gd name="T102" fmla="*/ 528 w 784"/>
              <a:gd name="T103" fmla="*/ 853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84" h="2200">
                <a:moveTo>
                  <a:pt x="391" y="507"/>
                </a:moveTo>
                <a:cubicBezTo>
                  <a:pt x="391" y="507"/>
                  <a:pt x="391" y="507"/>
                  <a:pt x="391" y="507"/>
                </a:cubicBezTo>
                <a:cubicBezTo>
                  <a:pt x="497" y="507"/>
                  <a:pt x="583" y="421"/>
                  <a:pt x="583" y="315"/>
                </a:cubicBezTo>
                <a:cubicBezTo>
                  <a:pt x="583" y="129"/>
                  <a:pt x="583" y="129"/>
                  <a:pt x="583" y="129"/>
                </a:cubicBezTo>
                <a:cubicBezTo>
                  <a:pt x="583" y="23"/>
                  <a:pt x="497" y="0"/>
                  <a:pt x="391" y="0"/>
                </a:cubicBezTo>
                <a:cubicBezTo>
                  <a:pt x="285" y="0"/>
                  <a:pt x="199" y="23"/>
                  <a:pt x="199" y="129"/>
                </a:cubicBezTo>
                <a:cubicBezTo>
                  <a:pt x="199" y="315"/>
                  <a:pt x="199" y="315"/>
                  <a:pt x="199" y="315"/>
                </a:cubicBezTo>
                <a:cubicBezTo>
                  <a:pt x="199" y="421"/>
                  <a:pt x="285" y="507"/>
                  <a:pt x="391" y="507"/>
                </a:cubicBezTo>
                <a:moveTo>
                  <a:pt x="242" y="205"/>
                </a:moveTo>
                <a:cubicBezTo>
                  <a:pt x="242" y="192"/>
                  <a:pt x="244" y="180"/>
                  <a:pt x="247" y="168"/>
                </a:cubicBezTo>
                <a:cubicBezTo>
                  <a:pt x="287" y="149"/>
                  <a:pt x="336" y="148"/>
                  <a:pt x="388" y="148"/>
                </a:cubicBezTo>
                <a:cubicBezTo>
                  <a:pt x="395" y="148"/>
                  <a:pt x="395" y="148"/>
                  <a:pt x="395" y="148"/>
                </a:cubicBezTo>
                <a:cubicBezTo>
                  <a:pt x="447" y="148"/>
                  <a:pt x="495" y="149"/>
                  <a:pt x="536" y="168"/>
                </a:cubicBezTo>
                <a:cubicBezTo>
                  <a:pt x="539" y="180"/>
                  <a:pt x="541" y="192"/>
                  <a:pt x="541" y="205"/>
                </a:cubicBezTo>
                <a:cubicBezTo>
                  <a:pt x="541" y="314"/>
                  <a:pt x="541" y="314"/>
                  <a:pt x="541" y="314"/>
                </a:cubicBezTo>
                <a:cubicBezTo>
                  <a:pt x="541" y="315"/>
                  <a:pt x="541" y="315"/>
                  <a:pt x="541" y="315"/>
                </a:cubicBezTo>
                <a:cubicBezTo>
                  <a:pt x="541" y="397"/>
                  <a:pt x="474" y="464"/>
                  <a:pt x="391" y="464"/>
                </a:cubicBezTo>
                <a:cubicBezTo>
                  <a:pt x="309" y="464"/>
                  <a:pt x="242" y="397"/>
                  <a:pt x="242" y="315"/>
                </a:cubicBezTo>
                <a:lnTo>
                  <a:pt x="242" y="205"/>
                </a:lnTo>
                <a:close/>
                <a:moveTo>
                  <a:pt x="258" y="592"/>
                </a:moveTo>
                <a:cubicBezTo>
                  <a:pt x="272" y="599"/>
                  <a:pt x="288" y="604"/>
                  <a:pt x="308" y="608"/>
                </a:cubicBezTo>
                <a:cubicBezTo>
                  <a:pt x="318" y="732"/>
                  <a:pt x="318" y="732"/>
                  <a:pt x="318" y="732"/>
                </a:cubicBezTo>
                <a:lnTo>
                  <a:pt x="258" y="592"/>
                </a:lnTo>
                <a:close/>
                <a:moveTo>
                  <a:pt x="779" y="898"/>
                </a:moveTo>
                <a:cubicBezTo>
                  <a:pt x="783" y="893"/>
                  <a:pt x="784" y="887"/>
                  <a:pt x="783" y="881"/>
                </a:cubicBezTo>
                <a:cubicBezTo>
                  <a:pt x="731" y="612"/>
                  <a:pt x="731" y="612"/>
                  <a:pt x="731" y="612"/>
                </a:cubicBezTo>
                <a:cubicBezTo>
                  <a:pt x="729" y="602"/>
                  <a:pt x="726" y="588"/>
                  <a:pt x="724" y="583"/>
                </a:cubicBezTo>
                <a:cubicBezTo>
                  <a:pt x="723" y="581"/>
                  <a:pt x="723" y="581"/>
                  <a:pt x="723" y="581"/>
                </a:cubicBezTo>
                <a:cubicBezTo>
                  <a:pt x="717" y="565"/>
                  <a:pt x="705" y="553"/>
                  <a:pt x="689" y="546"/>
                </a:cubicBezTo>
                <a:cubicBezTo>
                  <a:pt x="603" y="503"/>
                  <a:pt x="603" y="503"/>
                  <a:pt x="603" y="503"/>
                </a:cubicBezTo>
                <a:cubicBezTo>
                  <a:pt x="603" y="503"/>
                  <a:pt x="603" y="503"/>
                  <a:pt x="603" y="503"/>
                </a:cubicBezTo>
                <a:cubicBezTo>
                  <a:pt x="603" y="503"/>
                  <a:pt x="603" y="503"/>
                  <a:pt x="603" y="503"/>
                </a:cubicBezTo>
                <a:cubicBezTo>
                  <a:pt x="598" y="531"/>
                  <a:pt x="571" y="564"/>
                  <a:pt x="542" y="583"/>
                </a:cubicBezTo>
                <a:cubicBezTo>
                  <a:pt x="539" y="585"/>
                  <a:pt x="536" y="587"/>
                  <a:pt x="533" y="588"/>
                </a:cubicBezTo>
                <a:cubicBezTo>
                  <a:pt x="517" y="597"/>
                  <a:pt x="498" y="604"/>
                  <a:pt x="475" y="608"/>
                </a:cubicBezTo>
                <a:cubicBezTo>
                  <a:pt x="461" y="774"/>
                  <a:pt x="461" y="774"/>
                  <a:pt x="461" y="774"/>
                </a:cubicBezTo>
                <a:cubicBezTo>
                  <a:pt x="564" y="774"/>
                  <a:pt x="564" y="774"/>
                  <a:pt x="564" y="774"/>
                </a:cubicBezTo>
                <a:cubicBezTo>
                  <a:pt x="564" y="853"/>
                  <a:pt x="564" y="853"/>
                  <a:pt x="564" y="853"/>
                </a:cubicBezTo>
                <a:cubicBezTo>
                  <a:pt x="564" y="903"/>
                  <a:pt x="523" y="943"/>
                  <a:pt x="473" y="943"/>
                </a:cubicBezTo>
                <a:cubicBezTo>
                  <a:pt x="410" y="943"/>
                  <a:pt x="410" y="943"/>
                  <a:pt x="410" y="943"/>
                </a:cubicBezTo>
                <a:cubicBezTo>
                  <a:pt x="394" y="943"/>
                  <a:pt x="394" y="943"/>
                  <a:pt x="394" y="943"/>
                </a:cubicBezTo>
                <a:cubicBezTo>
                  <a:pt x="393" y="943"/>
                  <a:pt x="392" y="944"/>
                  <a:pt x="391" y="944"/>
                </a:cubicBezTo>
                <a:cubicBezTo>
                  <a:pt x="390" y="944"/>
                  <a:pt x="389" y="943"/>
                  <a:pt x="388" y="943"/>
                </a:cubicBezTo>
                <a:cubicBezTo>
                  <a:pt x="142" y="943"/>
                  <a:pt x="142" y="943"/>
                  <a:pt x="142" y="943"/>
                </a:cubicBezTo>
                <a:cubicBezTo>
                  <a:pt x="131" y="943"/>
                  <a:pt x="131" y="943"/>
                  <a:pt x="131" y="943"/>
                </a:cubicBezTo>
                <a:cubicBezTo>
                  <a:pt x="103" y="1533"/>
                  <a:pt x="103" y="1533"/>
                  <a:pt x="103" y="1533"/>
                </a:cubicBezTo>
                <a:cubicBezTo>
                  <a:pt x="103" y="1539"/>
                  <a:pt x="105" y="1544"/>
                  <a:pt x="109" y="1549"/>
                </a:cubicBezTo>
                <a:cubicBezTo>
                  <a:pt x="113" y="1553"/>
                  <a:pt x="118" y="1555"/>
                  <a:pt x="124" y="1555"/>
                </a:cubicBezTo>
                <a:cubicBezTo>
                  <a:pt x="152" y="1555"/>
                  <a:pt x="152" y="1555"/>
                  <a:pt x="152" y="1555"/>
                </a:cubicBezTo>
                <a:cubicBezTo>
                  <a:pt x="152" y="2200"/>
                  <a:pt x="152" y="2200"/>
                  <a:pt x="152" y="2200"/>
                </a:cubicBezTo>
                <a:cubicBezTo>
                  <a:pt x="251" y="2200"/>
                  <a:pt x="251" y="2200"/>
                  <a:pt x="251" y="2200"/>
                </a:cubicBezTo>
                <a:cubicBezTo>
                  <a:pt x="273" y="2200"/>
                  <a:pt x="294" y="2181"/>
                  <a:pt x="296" y="2159"/>
                </a:cubicBezTo>
                <a:cubicBezTo>
                  <a:pt x="368" y="1555"/>
                  <a:pt x="368" y="1555"/>
                  <a:pt x="368" y="1555"/>
                </a:cubicBezTo>
                <a:cubicBezTo>
                  <a:pt x="415" y="1555"/>
                  <a:pt x="415" y="1555"/>
                  <a:pt x="415" y="1555"/>
                </a:cubicBezTo>
                <a:cubicBezTo>
                  <a:pt x="486" y="2159"/>
                  <a:pt x="486" y="2159"/>
                  <a:pt x="486" y="2159"/>
                </a:cubicBezTo>
                <a:cubicBezTo>
                  <a:pt x="489" y="2181"/>
                  <a:pt x="509" y="2200"/>
                  <a:pt x="532" y="2200"/>
                </a:cubicBezTo>
                <a:cubicBezTo>
                  <a:pt x="631" y="2200"/>
                  <a:pt x="631" y="2200"/>
                  <a:pt x="631" y="2200"/>
                </a:cubicBezTo>
                <a:cubicBezTo>
                  <a:pt x="631" y="1555"/>
                  <a:pt x="631" y="1555"/>
                  <a:pt x="631" y="1555"/>
                </a:cubicBezTo>
                <a:cubicBezTo>
                  <a:pt x="659" y="1555"/>
                  <a:pt x="659" y="1555"/>
                  <a:pt x="659" y="1555"/>
                </a:cubicBezTo>
                <a:cubicBezTo>
                  <a:pt x="665" y="1555"/>
                  <a:pt x="670" y="1553"/>
                  <a:pt x="674" y="1549"/>
                </a:cubicBezTo>
                <a:cubicBezTo>
                  <a:pt x="678" y="1544"/>
                  <a:pt x="680" y="1539"/>
                  <a:pt x="679" y="1533"/>
                </a:cubicBezTo>
                <a:cubicBezTo>
                  <a:pt x="670" y="1380"/>
                  <a:pt x="670" y="1380"/>
                  <a:pt x="670" y="1380"/>
                </a:cubicBezTo>
                <a:cubicBezTo>
                  <a:pt x="727" y="1356"/>
                  <a:pt x="767" y="1300"/>
                  <a:pt x="767" y="1234"/>
                </a:cubicBezTo>
                <a:cubicBezTo>
                  <a:pt x="747" y="906"/>
                  <a:pt x="747" y="906"/>
                  <a:pt x="747" y="906"/>
                </a:cubicBezTo>
                <a:cubicBezTo>
                  <a:pt x="763" y="906"/>
                  <a:pt x="763" y="906"/>
                  <a:pt x="763" y="906"/>
                </a:cubicBezTo>
                <a:cubicBezTo>
                  <a:pt x="769" y="906"/>
                  <a:pt x="775" y="903"/>
                  <a:pt x="779" y="898"/>
                </a:cubicBezTo>
                <a:moveTo>
                  <a:pt x="667" y="1336"/>
                </a:moveTo>
                <a:cubicBezTo>
                  <a:pt x="641" y="906"/>
                  <a:pt x="641" y="906"/>
                  <a:pt x="641" y="906"/>
                </a:cubicBezTo>
                <a:cubicBezTo>
                  <a:pt x="704" y="906"/>
                  <a:pt x="704" y="906"/>
                  <a:pt x="704" y="906"/>
                </a:cubicBezTo>
                <a:cubicBezTo>
                  <a:pt x="726" y="1235"/>
                  <a:pt x="726" y="1235"/>
                  <a:pt x="726" y="1235"/>
                </a:cubicBezTo>
                <a:cubicBezTo>
                  <a:pt x="725" y="1278"/>
                  <a:pt x="702" y="1315"/>
                  <a:pt x="667" y="1336"/>
                </a:cubicBezTo>
                <a:moveTo>
                  <a:pt x="395" y="774"/>
                </a:moveTo>
                <a:cubicBezTo>
                  <a:pt x="407" y="561"/>
                  <a:pt x="407" y="561"/>
                  <a:pt x="407" y="561"/>
                </a:cubicBezTo>
                <a:cubicBezTo>
                  <a:pt x="465" y="553"/>
                  <a:pt x="536" y="516"/>
                  <a:pt x="536" y="482"/>
                </a:cubicBezTo>
                <a:cubicBezTo>
                  <a:pt x="536" y="480"/>
                  <a:pt x="549" y="476"/>
                  <a:pt x="549" y="476"/>
                </a:cubicBezTo>
                <a:cubicBezTo>
                  <a:pt x="581" y="492"/>
                  <a:pt x="581" y="492"/>
                  <a:pt x="581" y="492"/>
                </a:cubicBezTo>
                <a:cubicBezTo>
                  <a:pt x="580" y="531"/>
                  <a:pt x="534" y="575"/>
                  <a:pt x="462" y="587"/>
                </a:cubicBezTo>
                <a:cubicBezTo>
                  <a:pt x="456" y="588"/>
                  <a:pt x="452" y="592"/>
                  <a:pt x="452" y="598"/>
                </a:cubicBezTo>
                <a:cubicBezTo>
                  <a:pt x="437" y="774"/>
                  <a:pt x="437" y="774"/>
                  <a:pt x="437" y="774"/>
                </a:cubicBezTo>
                <a:lnTo>
                  <a:pt x="395" y="774"/>
                </a:lnTo>
                <a:close/>
                <a:moveTo>
                  <a:pt x="212" y="487"/>
                </a:moveTo>
                <a:cubicBezTo>
                  <a:pt x="233" y="476"/>
                  <a:pt x="233" y="476"/>
                  <a:pt x="233" y="476"/>
                </a:cubicBezTo>
                <a:cubicBezTo>
                  <a:pt x="233" y="476"/>
                  <a:pt x="247" y="480"/>
                  <a:pt x="247" y="482"/>
                </a:cubicBezTo>
                <a:cubicBezTo>
                  <a:pt x="247" y="516"/>
                  <a:pt x="317" y="553"/>
                  <a:pt x="376" y="561"/>
                </a:cubicBezTo>
                <a:cubicBezTo>
                  <a:pt x="387" y="774"/>
                  <a:pt x="387" y="774"/>
                  <a:pt x="387" y="774"/>
                </a:cubicBezTo>
                <a:cubicBezTo>
                  <a:pt x="345" y="774"/>
                  <a:pt x="345" y="774"/>
                  <a:pt x="345" y="774"/>
                </a:cubicBezTo>
                <a:cubicBezTo>
                  <a:pt x="331" y="598"/>
                  <a:pt x="331" y="598"/>
                  <a:pt x="331" y="598"/>
                </a:cubicBezTo>
                <a:cubicBezTo>
                  <a:pt x="330" y="592"/>
                  <a:pt x="326" y="588"/>
                  <a:pt x="321" y="587"/>
                </a:cubicBezTo>
                <a:cubicBezTo>
                  <a:pt x="289" y="582"/>
                  <a:pt x="262" y="569"/>
                  <a:pt x="242" y="555"/>
                </a:cubicBezTo>
                <a:lnTo>
                  <a:pt x="212" y="487"/>
                </a:lnTo>
                <a:close/>
                <a:moveTo>
                  <a:pt x="131" y="943"/>
                </a:moveTo>
                <a:cubicBezTo>
                  <a:pt x="102" y="943"/>
                  <a:pt x="102" y="943"/>
                  <a:pt x="102" y="943"/>
                </a:cubicBezTo>
                <a:cubicBezTo>
                  <a:pt x="72" y="943"/>
                  <a:pt x="72" y="943"/>
                  <a:pt x="72" y="943"/>
                </a:cubicBezTo>
                <a:cubicBezTo>
                  <a:pt x="32" y="944"/>
                  <a:pt x="0" y="911"/>
                  <a:pt x="2" y="871"/>
                </a:cubicBezTo>
                <a:cubicBezTo>
                  <a:pt x="23" y="616"/>
                  <a:pt x="23" y="616"/>
                  <a:pt x="23" y="616"/>
                </a:cubicBezTo>
                <a:cubicBezTo>
                  <a:pt x="25" y="589"/>
                  <a:pt x="38" y="571"/>
                  <a:pt x="60" y="560"/>
                </a:cubicBezTo>
                <a:cubicBezTo>
                  <a:pt x="175" y="507"/>
                  <a:pt x="175" y="507"/>
                  <a:pt x="175" y="507"/>
                </a:cubicBezTo>
                <a:lnTo>
                  <a:pt x="131" y="943"/>
                </a:lnTo>
                <a:close/>
                <a:moveTo>
                  <a:pt x="528" y="853"/>
                </a:moveTo>
                <a:cubicBezTo>
                  <a:pt x="528" y="883"/>
                  <a:pt x="504" y="908"/>
                  <a:pt x="473" y="908"/>
                </a:cubicBezTo>
                <a:cubicBezTo>
                  <a:pt x="394" y="908"/>
                  <a:pt x="394" y="908"/>
                  <a:pt x="394" y="908"/>
                </a:cubicBezTo>
                <a:cubicBezTo>
                  <a:pt x="352" y="809"/>
                  <a:pt x="352" y="809"/>
                  <a:pt x="352" y="809"/>
                </a:cubicBezTo>
                <a:cubicBezTo>
                  <a:pt x="528" y="809"/>
                  <a:pt x="528" y="809"/>
                  <a:pt x="528" y="809"/>
                </a:cubicBezTo>
                <a:lnTo>
                  <a:pt x="528" y="853"/>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GB"/>
          </a:p>
        </p:txBody>
      </p:sp>
      <p:sp>
        <p:nvSpPr>
          <p:cNvPr id="32" name="Freeform 176">
            <a:extLst>
              <a:ext uri="{FF2B5EF4-FFF2-40B4-BE49-F238E27FC236}">
                <a16:creationId xmlns:a16="http://schemas.microsoft.com/office/drawing/2014/main" id="{696BB558-C395-404E-A756-F1AE8CCD47CB}"/>
              </a:ext>
            </a:extLst>
          </p:cNvPr>
          <p:cNvSpPr>
            <a:spLocks noChangeAspect="1" noEditPoints="1"/>
          </p:cNvSpPr>
          <p:nvPr/>
        </p:nvSpPr>
        <p:spPr bwMode="auto">
          <a:xfrm>
            <a:off x="2897203" y="1902189"/>
            <a:ext cx="182416" cy="525600"/>
          </a:xfrm>
          <a:custGeom>
            <a:avLst/>
            <a:gdLst>
              <a:gd name="T0" fmla="*/ 694 w 762"/>
              <a:gd name="T1" fmla="*/ 588 h 2200"/>
              <a:gd name="T2" fmla="*/ 500 w 762"/>
              <a:gd name="T3" fmla="*/ 457 h 2200"/>
              <a:gd name="T4" fmla="*/ 564 w 762"/>
              <a:gd name="T5" fmla="*/ 445 h 2200"/>
              <a:gd name="T6" fmla="*/ 585 w 762"/>
              <a:gd name="T7" fmla="*/ 413 h 2200"/>
              <a:gd name="T8" fmla="*/ 575 w 762"/>
              <a:gd name="T9" fmla="*/ 193 h 2200"/>
              <a:gd name="T10" fmla="*/ 188 w 762"/>
              <a:gd name="T11" fmla="*/ 193 h 2200"/>
              <a:gd name="T12" fmla="*/ 178 w 762"/>
              <a:gd name="T13" fmla="*/ 413 h 2200"/>
              <a:gd name="T14" fmla="*/ 199 w 762"/>
              <a:gd name="T15" fmla="*/ 445 h 2200"/>
              <a:gd name="T16" fmla="*/ 263 w 762"/>
              <a:gd name="T17" fmla="*/ 457 h 2200"/>
              <a:gd name="T18" fmla="*/ 69 w 762"/>
              <a:gd name="T19" fmla="*/ 588 h 2200"/>
              <a:gd name="T20" fmla="*/ 94 w 762"/>
              <a:gd name="T21" fmla="*/ 1329 h 2200"/>
              <a:gd name="T22" fmla="*/ 91 w 762"/>
              <a:gd name="T23" fmla="*/ 1809 h 2200"/>
              <a:gd name="T24" fmla="*/ 247 w 762"/>
              <a:gd name="T25" fmla="*/ 2157 h 2200"/>
              <a:gd name="T26" fmla="*/ 360 w 762"/>
              <a:gd name="T27" fmla="*/ 2200 h 2200"/>
              <a:gd name="T28" fmla="*/ 403 w 762"/>
              <a:gd name="T29" fmla="*/ 1809 h 2200"/>
              <a:gd name="T30" fmla="*/ 467 w 762"/>
              <a:gd name="T31" fmla="*/ 2200 h 2200"/>
              <a:gd name="T32" fmla="*/ 586 w 762"/>
              <a:gd name="T33" fmla="*/ 1809 h 2200"/>
              <a:gd name="T34" fmla="*/ 705 w 762"/>
              <a:gd name="T35" fmla="*/ 1767 h 2200"/>
              <a:gd name="T36" fmla="*/ 757 w 762"/>
              <a:gd name="T37" fmla="*/ 1190 h 2200"/>
              <a:gd name="T38" fmla="*/ 231 w 762"/>
              <a:gd name="T39" fmla="*/ 267 h 2200"/>
              <a:gd name="T40" fmla="*/ 532 w 762"/>
              <a:gd name="T41" fmla="*/ 195 h 2200"/>
              <a:gd name="T42" fmla="*/ 381 w 762"/>
              <a:gd name="T43" fmla="*/ 455 h 2200"/>
              <a:gd name="T44" fmla="*/ 196 w 762"/>
              <a:gd name="T45" fmla="*/ 640 h 2200"/>
              <a:gd name="T46" fmla="*/ 89 w 762"/>
              <a:gd name="T47" fmla="*/ 1270 h 2200"/>
              <a:gd name="T48" fmla="*/ 58 w 762"/>
              <a:gd name="T49" fmla="*/ 1104 h 2200"/>
              <a:gd name="T50" fmla="*/ 162 w 762"/>
              <a:gd name="T51" fmla="*/ 622 h 2200"/>
              <a:gd name="T52" fmla="*/ 363 w 762"/>
              <a:gd name="T53" fmla="*/ 521 h 2200"/>
              <a:gd name="T54" fmla="*/ 399 w 762"/>
              <a:gd name="T55" fmla="*/ 477 h 2200"/>
              <a:gd name="T56" fmla="*/ 383 w 762"/>
              <a:gd name="T57" fmla="*/ 555 h 2200"/>
              <a:gd name="T58" fmla="*/ 658 w 762"/>
              <a:gd name="T59" fmla="*/ 1284 h 2200"/>
              <a:gd name="T60" fmla="*/ 705 w 762"/>
              <a:gd name="T61" fmla="*/ 1104 h 2200"/>
              <a:gd name="T62" fmla="*/ 673 w 762"/>
              <a:gd name="T63" fmla="*/ 1270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62" h="2200">
                <a:moveTo>
                  <a:pt x="757" y="1190"/>
                </a:moveTo>
                <a:cubicBezTo>
                  <a:pt x="694" y="588"/>
                  <a:pt x="694" y="588"/>
                  <a:pt x="694" y="588"/>
                </a:cubicBezTo>
                <a:cubicBezTo>
                  <a:pt x="690" y="555"/>
                  <a:pt x="672" y="537"/>
                  <a:pt x="650" y="527"/>
                </a:cubicBezTo>
                <a:cubicBezTo>
                  <a:pt x="500" y="457"/>
                  <a:pt x="500" y="457"/>
                  <a:pt x="500" y="457"/>
                </a:cubicBezTo>
                <a:cubicBezTo>
                  <a:pt x="504" y="453"/>
                  <a:pt x="509" y="449"/>
                  <a:pt x="514" y="445"/>
                </a:cubicBezTo>
                <a:cubicBezTo>
                  <a:pt x="564" y="445"/>
                  <a:pt x="564" y="445"/>
                  <a:pt x="564" y="445"/>
                </a:cubicBezTo>
                <a:cubicBezTo>
                  <a:pt x="571" y="445"/>
                  <a:pt x="577" y="441"/>
                  <a:pt x="581" y="434"/>
                </a:cubicBezTo>
                <a:cubicBezTo>
                  <a:pt x="586" y="425"/>
                  <a:pt x="585" y="413"/>
                  <a:pt x="585" y="413"/>
                </a:cubicBezTo>
                <a:cubicBezTo>
                  <a:pt x="585" y="413"/>
                  <a:pt x="575" y="321"/>
                  <a:pt x="575" y="248"/>
                </a:cubicBezTo>
                <a:cubicBezTo>
                  <a:pt x="575" y="193"/>
                  <a:pt x="575" y="193"/>
                  <a:pt x="575" y="193"/>
                </a:cubicBezTo>
                <a:cubicBezTo>
                  <a:pt x="575" y="86"/>
                  <a:pt x="488" y="0"/>
                  <a:pt x="381" y="0"/>
                </a:cubicBezTo>
                <a:cubicBezTo>
                  <a:pt x="274" y="0"/>
                  <a:pt x="188" y="86"/>
                  <a:pt x="188" y="193"/>
                </a:cubicBezTo>
                <a:cubicBezTo>
                  <a:pt x="188" y="248"/>
                  <a:pt x="188" y="248"/>
                  <a:pt x="188" y="248"/>
                </a:cubicBezTo>
                <a:cubicBezTo>
                  <a:pt x="188" y="321"/>
                  <a:pt x="178" y="413"/>
                  <a:pt x="178" y="413"/>
                </a:cubicBezTo>
                <a:cubicBezTo>
                  <a:pt x="178" y="413"/>
                  <a:pt x="176" y="425"/>
                  <a:pt x="181" y="434"/>
                </a:cubicBezTo>
                <a:cubicBezTo>
                  <a:pt x="185" y="441"/>
                  <a:pt x="191" y="445"/>
                  <a:pt x="199" y="445"/>
                </a:cubicBezTo>
                <a:cubicBezTo>
                  <a:pt x="249" y="445"/>
                  <a:pt x="249" y="445"/>
                  <a:pt x="249" y="445"/>
                </a:cubicBezTo>
                <a:cubicBezTo>
                  <a:pt x="253" y="449"/>
                  <a:pt x="258" y="453"/>
                  <a:pt x="263" y="457"/>
                </a:cubicBezTo>
                <a:cubicBezTo>
                  <a:pt x="112" y="527"/>
                  <a:pt x="112" y="527"/>
                  <a:pt x="112" y="527"/>
                </a:cubicBezTo>
                <a:cubicBezTo>
                  <a:pt x="91" y="537"/>
                  <a:pt x="73" y="555"/>
                  <a:pt x="69" y="588"/>
                </a:cubicBezTo>
                <a:cubicBezTo>
                  <a:pt x="6" y="1190"/>
                  <a:pt x="6" y="1190"/>
                  <a:pt x="6" y="1190"/>
                </a:cubicBezTo>
                <a:cubicBezTo>
                  <a:pt x="0" y="1249"/>
                  <a:pt x="46" y="1299"/>
                  <a:pt x="94" y="1329"/>
                </a:cubicBezTo>
                <a:cubicBezTo>
                  <a:pt x="58" y="1767"/>
                  <a:pt x="58" y="1767"/>
                  <a:pt x="58" y="1767"/>
                </a:cubicBezTo>
                <a:cubicBezTo>
                  <a:pt x="55" y="1790"/>
                  <a:pt x="68" y="1809"/>
                  <a:pt x="91" y="1809"/>
                </a:cubicBezTo>
                <a:cubicBezTo>
                  <a:pt x="177" y="1809"/>
                  <a:pt x="177" y="1809"/>
                  <a:pt x="177" y="1809"/>
                </a:cubicBezTo>
                <a:cubicBezTo>
                  <a:pt x="247" y="2157"/>
                  <a:pt x="247" y="2157"/>
                  <a:pt x="247" y="2157"/>
                </a:cubicBezTo>
                <a:cubicBezTo>
                  <a:pt x="250" y="2181"/>
                  <a:pt x="272" y="2200"/>
                  <a:pt x="296" y="2200"/>
                </a:cubicBezTo>
                <a:cubicBezTo>
                  <a:pt x="360" y="2200"/>
                  <a:pt x="360" y="2200"/>
                  <a:pt x="360" y="2200"/>
                </a:cubicBezTo>
                <a:cubicBezTo>
                  <a:pt x="360" y="1809"/>
                  <a:pt x="360" y="1809"/>
                  <a:pt x="360" y="1809"/>
                </a:cubicBezTo>
                <a:cubicBezTo>
                  <a:pt x="403" y="1809"/>
                  <a:pt x="403" y="1809"/>
                  <a:pt x="403" y="1809"/>
                </a:cubicBezTo>
                <a:cubicBezTo>
                  <a:pt x="403" y="2200"/>
                  <a:pt x="403" y="2200"/>
                  <a:pt x="403" y="2200"/>
                </a:cubicBezTo>
                <a:cubicBezTo>
                  <a:pt x="467" y="2200"/>
                  <a:pt x="467" y="2200"/>
                  <a:pt x="467" y="2200"/>
                </a:cubicBezTo>
                <a:cubicBezTo>
                  <a:pt x="490" y="2200"/>
                  <a:pt x="513" y="2181"/>
                  <a:pt x="516" y="2157"/>
                </a:cubicBezTo>
                <a:cubicBezTo>
                  <a:pt x="586" y="1809"/>
                  <a:pt x="586" y="1809"/>
                  <a:pt x="586" y="1809"/>
                </a:cubicBezTo>
                <a:cubicBezTo>
                  <a:pt x="671" y="1809"/>
                  <a:pt x="671" y="1809"/>
                  <a:pt x="671" y="1809"/>
                </a:cubicBezTo>
                <a:cubicBezTo>
                  <a:pt x="695" y="1809"/>
                  <a:pt x="708" y="1790"/>
                  <a:pt x="705" y="1767"/>
                </a:cubicBezTo>
                <a:cubicBezTo>
                  <a:pt x="668" y="1329"/>
                  <a:pt x="668" y="1329"/>
                  <a:pt x="668" y="1329"/>
                </a:cubicBezTo>
                <a:cubicBezTo>
                  <a:pt x="717" y="1299"/>
                  <a:pt x="762" y="1249"/>
                  <a:pt x="757" y="1190"/>
                </a:cubicBezTo>
                <a:moveTo>
                  <a:pt x="231" y="304"/>
                </a:moveTo>
                <a:cubicBezTo>
                  <a:pt x="231" y="267"/>
                  <a:pt x="231" y="267"/>
                  <a:pt x="231" y="267"/>
                </a:cubicBezTo>
                <a:cubicBezTo>
                  <a:pt x="231" y="227"/>
                  <a:pt x="263" y="195"/>
                  <a:pt x="303" y="195"/>
                </a:cubicBezTo>
                <a:cubicBezTo>
                  <a:pt x="532" y="195"/>
                  <a:pt x="532" y="195"/>
                  <a:pt x="532" y="195"/>
                </a:cubicBezTo>
                <a:cubicBezTo>
                  <a:pt x="532" y="304"/>
                  <a:pt x="532" y="304"/>
                  <a:pt x="532" y="304"/>
                </a:cubicBezTo>
                <a:cubicBezTo>
                  <a:pt x="532" y="387"/>
                  <a:pt x="464" y="455"/>
                  <a:pt x="381" y="455"/>
                </a:cubicBezTo>
                <a:cubicBezTo>
                  <a:pt x="298" y="455"/>
                  <a:pt x="231" y="387"/>
                  <a:pt x="231" y="304"/>
                </a:cubicBezTo>
                <a:moveTo>
                  <a:pt x="196" y="640"/>
                </a:moveTo>
                <a:cubicBezTo>
                  <a:pt x="104" y="1284"/>
                  <a:pt x="104" y="1284"/>
                  <a:pt x="104" y="1284"/>
                </a:cubicBezTo>
                <a:cubicBezTo>
                  <a:pt x="99" y="1279"/>
                  <a:pt x="94" y="1275"/>
                  <a:pt x="89" y="1270"/>
                </a:cubicBezTo>
                <a:cubicBezTo>
                  <a:pt x="75" y="1255"/>
                  <a:pt x="45" y="1229"/>
                  <a:pt x="48" y="1194"/>
                </a:cubicBezTo>
                <a:cubicBezTo>
                  <a:pt x="58" y="1104"/>
                  <a:pt x="58" y="1104"/>
                  <a:pt x="58" y="1104"/>
                </a:cubicBezTo>
                <a:cubicBezTo>
                  <a:pt x="94" y="1104"/>
                  <a:pt x="94" y="1104"/>
                  <a:pt x="94" y="1104"/>
                </a:cubicBezTo>
                <a:cubicBezTo>
                  <a:pt x="162" y="622"/>
                  <a:pt x="162" y="622"/>
                  <a:pt x="162" y="622"/>
                </a:cubicBezTo>
                <a:cubicBezTo>
                  <a:pt x="167" y="618"/>
                  <a:pt x="167" y="618"/>
                  <a:pt x="167" y="618"/>
                </a:cubicBezTo>
                <a:cubicBezTo>
                  <a:pt x="171" y="614"/>
                  <a:pt x="257" y="538"/>
                  <a:pt x="363" y="521"/>
                </a:cubicBezTo>
                <a:cubicBezTo>
                  <a:pt x="363" y="477"/>
                  <a:pt x="363" y="477"/>
                  <a:pt x="363" y="477"/>
                </a:cubicBezTo>
                <a:cubicBezTo>
                  <a:pt x="399" y="477"/>
                  <a:pt x="399" y="477"/>
                  <a:pt x="399" y="477"/>
                </a:cubicBezTo>
                <a:cubicBezTo>
                  <a:pt x="399" y="553"/>
                  <a:pt x="399" y="553"/>
                  <a:pt x="399" y="553"/>
                </a:cubicBezTo>
                <a:cubicBezTo>
                  <a:pt x="383" y="555"/>
                  <a:pt x="383" y="555"/>
                  <a:pt x="383" y="555"/>
                </a:cubicBezTo>
                <a:cubicBezTo>
                  <a:pt x="294" y="563"/>
                  <a:pt x="215" y="624"/>
                  <a:pt x="196" y="640"/>
                </a:cubicBezTo>
                <a:moveTo>
                  <a:pt x="658" y="1284"/>
                </a:moveTo>
                <a:cubicBezTo>
                  <a:pt x="633" y="1104"/>
                  <a:pt x="633" y="1104"/>
                  <a:pt x="633" y="1104"/>
                </a:cubicBezTo>
                <a:cubicBezTo>
                  <a:pt x="705" y="1104"/>
                  <a:pt x="705" y="1104"/>
                  <a:pt x="705" y="1104"/>
                </a:cubicBezTo>
                <a:cubicBezTo>
                  <a:pt x="714" y="1194"/>
                  <a:pt x="714" y="1194"/>
                  <a:pt x="714" y="1194"/>
                </a:cubicBezTo>
                <a:cubicBezTo>
                  <a:pt x="717" y="1229"/>
                  <a:pt x="687" y="1255"/>
                  <a:pt x="673" y="1270"/>
                </a:cubicBezTo>
                <a:cubicBezTo>
                  <a:pt x="669" y="1275"/>
                  <a:pt x="664" y="1279"/>
                  <a:pt x="658" y="1284"/>
                </a:cubicBezTo>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33" name="Group 30">
            <a:extLst>
              <a:ext uri="{FF2B5EF4-FFF2-40B4-BE49-F238E27FC236}">
                <a16:creationId xmlns:a16="http://schemas.microsoft.com/office/drawing/2014/main" id="{217D3A28-8194-4C3C-8E1E-2968CA9C075E}"/>
              </a:ext>
            </a:extLst>
          </p:cNvPr>
          <p:cNvGrpSpPr>
            <a:grpSpLocks noChangeAspect="1"/>
          </p:cNvGrpSpPr>
          <p:nvPr/>
        </p:nvGrpSpPr>
        <p:grpSpPr bwMode="auto">
          <a:xfrm>
            <a:off x="2152218" y="1160443"/>
            <a:ext cx="182206" cy="525600"/>
            <a:chOff x="4344" y="446"/>
            <a:chExt cx="1049" cy="3026"/>
          </a:xfrm>
          <a:solidFill>
            <a:schemeClr val="bg2"/>
          </a:solidFill>
        </p:grpSpPr>
        <p:sp>
          <p:nvSpPr>
            <p:cNvPr id="34" name="Freeform 31">
              <a:extLst>
                <a:ext uri="{FF2B5EF4-FFF2-40B4-BE49-F238E27FC236}">
                  <a16:creationId xmlns:a16="http://schemas.microsoft.com/office/drawing/2014/main" id="{E59A03AE-854B-4FF7-943E-4781EF4F5161}"/>
                </a:ext>
              </a:extLst>
            </p:cNvPr>
            <p:cNvSpPr>
              <a:spLocks noEditPoints="1"/>
            </p:cNvSpPr>
            <p:nvPr/>
          </p:nvSpPr>
          <p:spPr bwMode="auto">
            <a:xfrm>
              <a:off x="4542" y="446"/>
              <a:ext cx="653" cy="684"/>
            </a:xfrm>
            <a:custGeom>
              <a:avLst/>
              <a:gdLst>
                <a:gd name="T0" fmla="*/ 470 w 474"/>
                <a:gd name="T1" fmla="*/ 413 h 497"/>
                <a:gd name="T2" fmla="*/ 431 w 474"/>
                <a:gd name="T3" fmla="*/ 264 h 497"/>
                <a:gd name="T4" fmla="*/ 431 w 474"/>
                <a:gd name="T5" fmla="*/ 193 h 497"/>
                <a:gd name="T6" fmla="*/ 237 w 474"/>
                <a:gd name="T7" fmla="*/ 0 h 497"/>
                <a:gd name="T8" fmla="*/ 43 w 474"/>
                <a:gd name="T9" fmla="*/ 193 h 497"/>
                <a:gd name="T10" fmla="*/ 43 w 474"/>
                <a:gd name="T11" fmla="*/ 248 h 497"/>
                <a:gd name="T12" fmla="*/ 43 w 474"/>
                <a:gd name="T13" fmla="*/ 248 h 497"/>
                <a:gd name="T14" fmla="*/ 4 w 474"/>
                <a:gd name="T15" fmla="*/ 413 h 497"/>
                <a:gd name="T16" fmla="*/ 4 w 474"/>
                <a:gd name="T17" fmla="*/ 434 h 497"/>
                <a:gd name="T18" fmla="*/ 23 w 474"/>
                <a:gd name="T19" fmla="*/ 444 h 497"/>
                <a:gd name="T20" fmla="*/ 105 w 474"/>
                <a:gd name="T21" fmla="*/ 444 h 497"/>
                <a:gd name="T22" fmla="*/ 237 w 474"/>
                <a:gd name="T23" fmla="*/ 497 h 497"/>
                <a:gd name="T24" fmla="*/ 369 w 474"/>
                <a:gd name="T25" fmla="*/ 444 h 497"/>
                <a:gd name="T26" fmla="*/ 451 w 474"/>
                <a:gd name="T27" fmla="*/ 444 h 497"/>
                <a:gd name="T28" fmla="*/ 470 w 474"/>
                <a:gd name="T29" fmla="*/ 434 h 497"/>
                <a:gd name="T30" fmla="*/ 470 w 474"/>
                <a:gd name="T31" fmla="*/ 413 h 497"/>
                <a:gd name="T32" fmla="*/ 86 w 474"/>
                <a:gd name="T33" fmla="*/ 304 h 497"/>
                <a:gd name="T34" fmla="*/ 86 w 474"/>
                <a:gd name="T35" fmla="*/ 267 h 497"/>
                <a:gd name="T36" fmla="*/ 159 w 474"/>
                <a:gd name="T37" fmla="*/ 195 h 497"/>
                <a:gd name="T38" fmla="*/ 260 w 474"/>
                <a:gd name="T39" fmla="*/ 195 h 497"/>
                <a:gd name="T40" fmla="*/ 332 w 474"/>
                <a:gd name="T41" fmla="*/ 122 h 497"/>
                <a:gd name="T42" fmla="*/ 332 w 474"/>
                <a:gd name="T43" fmla="*/ 77 h 497"/>
                <a:gd name="T44" fmla="*/ 388 w 474"/>
                <a:gd name="T45" fmla="*/ 193 h 497"/>
                <a:gd name="T46" fmla="*/ 388 w 474"/>
                <a:gd name="T47" fmla="*/ 304 h 497"/>
                <a:gd name="T48" fmla="*/ 237 w 474"/>
                <a:gd name="T49" fmla="*/ 454 h 497"/>
                <a:gd name="T50" fmla="*/ 86 w 474"/>
                <a:gd name="T51" fmla="*/ 30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4" h="497">
                  <a:moveTo>
                    <a:pt x="470" y="413"/>
                  </a:moveTo>
                  <a:cubicBezTo>
                    <a:pt x="434" y="342"/>
                    <a:pt x="431" y="324"/>
                    <a:pt x="431" y="264"/>
                  </a:cubicBezTo>
                  <a:cubicBezTo>
                    <a:pt x="431" y="193"/>
                    <a:pt x="431" y="193"/>
                    <a:pt x="431" y="193"/>
                  </a:cubicBezTo>
                  <a:cubicBezTo>
                    <a:pt x="431" y="86"/>
                    <a:pt x="344" y="0"/>
                    <a:pt x="237" y="0"/>
                  </a:cubicBezTo>
                  <a:cubicBezTo>
                    <a:pt x="130" y="0"/>
                    <a:pt x="43" y="86"/>
                    <a:pt x="43" y="193"/>
                  </a:cubicBezTo>
                  <a:cubicBezTo>
                    <a:pt x="43" y="248"/>
                    <a:pt x="43" y="248"/>
                    <a:pt x="43" y="248"/>
                  </a:cubicBezTo>
                  <a:cubicBezTo>
                    <a:pt x="43" y="248"/>
                    <a:pt x="43" y="248"/>
                    <a:pt x="43" y="248"/>
                  </a:cubicBezTo>
                  <a:cubicBezTo>
                    <a:pt x="43" y="321"/>
                    <a:pt x="43" y="336"/>
                    <a:pt x="4" y="413"/>
                  </a:cubicBezTo>
                  <a:cubicBezTo>
                    <a:pt x="0" y="420"/>
                    <a:pt x="0" y="428"/>
                    <a:pt x="4" y="434"/>
                  </a:cubicBezTo>
                  <a:cubicBezTo>
                    <a:pt x="8" y="441"/>
                    <a:pt x="15" y="444"/>
                    <a:pt x="23" y="444"/>
                  </a:cubicBezTo>
                  <a:cubicBezTo>
                    <a:pt x="105" y="444"/>
                    <a:pt x="105" y="444"/>
                    <a:pt x="105" y="444"/>
                  </a:cubicBezTo>
                  <a:cubicBezTo>
                    <a:pt x="139" y="477"/>
                    <a:pt x="186" y="497"/>
                    <a:pt x="237" y="497"/>
                  </a:cubicBezTo>
                  <a:cubicBezTo>
                    <a:pt x="288" y="497"/>
                    <a:pt x="335" y="477"/>
                    <a:pt x="369" y="444"/>
                  </a:cubicBezTo>
                  <a:cubicBezTo>
                    <a:pt x="451" y="444"/>
                    <a:pt x="451" y="444"/>
                    <a:pt x="451" y="444"/>
                  </a:cubicBezTo>
                  <a:cubicBezTo>
                    <a:pt x="459" y="444"/>
                    <a:pt x="466" y="441"/>
                    <a:pt x="470" y="434"/>
                  </a:cubicBezTo>
                  <a:cubicBezTo>
                    <a:pt x="473" y="428"/>
                    <a:pt x="474" y="420"/>
                    <a:pt x="470" y="413"/>
                  </a:cubicBezTo>
                  <a:moveTo>
                    <a:pt x="86" y="304"/>
                  </a:moveTo>
                  <a:cubicBezTo>
                    <a:pt x="86" y="267"/>
                    <a:pt x="86" y="267"/>
                    <a:pt x="86" y="267"/>
                  </a:cubicBezTo>
                  <a:cubicBezTo>
                    <a:pt x="87" y="227"/>
                    <a:pt x="119" y="195"/>
                    <a:pt x="159" y="195"/>
                  </a:cubicBezTo>
                  <a:cubicBezTo>
                    <a:pt x="260" y="195"/>
                    <a:pt x="260" y="195"/>
                    <a:pt x="260" y="195"/>
                  </a:cubicBezTo>
                  <a:cubicBezTo>
                    <a:pt x="300" y="195"/>
                    <a:pt x="332" y="162"/>
                    <a:pt x="332" y="122"/>
                  </a:cubicBezTo>
                  <a:cubicBezTo>
                    <a:pt x="332" y="77"/>
                    <a:pt x="332" y="77"/>
                    <a:pt x="332" y="77"/>
                  </a:cubicBezTo>
                  <a:cubicBezTo>
                    <a:pt x="366" y="104"/>
                    <a:pt x="388" y="146"/>
                    <a:pt x="388" y="193"/>
                  </a:cubicBezTo>
                  <a:cubicBezTo>
                    <a:pt x="388" y="304"/>
                    <a:pt x="388" y="304"/>
                    <a:pt x="388" y="304"/>
                  </a:cubicBezTo>
                  <a:cubicBezTo>
                    <a:pt x="388" y="387"/>
                    <a:pt x="320" y="454"/>
                    <a:pt x="237" y="454"/>
                  </a:cubicBezTo>
                  <a:cubicBezTo>
                    <a:pt x="154" y="454"/>
                    <a:pt x="86" y="387"/>
                    <a:pt x="86" y="30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32">
              <a:extLst>
                <a:ext uri="{FF2B5EF4-FFF2-40B4-BE49-F238E27FC236}">
                  <a16:creationId xmlns:a16="http://schemas.microsoft.com/office/drawing/2014/main" id="{565D2C21-B70D-4F80-8DDB-669E0CC866FF}"/>
                </a:ext>
              </a:extLst>
            </p:cNvPr>
            <p:cNvSpPr>
              <a:spLocks noEditPoints="1"/>
            </p:cNvSpPr>
            <p:nvPr/>
          </p:nvSpPr>
          <p:spPr bwMode="auto">
            <a:xfrm>
              <a:off x="4344" y="1091"/>
              <a:ext cx="1049" cy="2381"/>
            </a:xfrm>
            <a:custGeom>
              <a:avLst/>
              <a:gdLst>
                <a:gd name="T0" fmla="*/ 756 w 762"/>
                <a:gd name="T1" fmla="*/ 720 h 1731"/>
                <a:gd name="T2" fmla="*/ 747 w 762"/>
                <a:gd name="T3" fmla="*/ 635 h 1731"/>
                <a:gd name="T4" fmla="*/ 693 w 762"/>
                <a:gd name="T5" fmla="*/ 119 h 1731"/>
                <a:gd name="T6" fmla="*/ 649 w 762"/>
                <a:gd name="T7" fmla="*/ 59 h 1731"/>
                <a:gd name="T8" fmla="*/ 526 w 762"/>
                <a:gd name="T9" fmla="*/ 1 h 1731"/>
                <a:gd name="T10" fmla="*/ 526 w 762"/>
                <a:gd name="T11" fmla="*/ 87 h 1731"/>
                <a:gd name="T12" fmla="*/ 517 w 762"/>
                <a:gd name="T13" fmla="*/ 105 h 1731"/>
                <a:gd name="T14" fmla="*/ 504 w 762"/>
                <a:gd name="T15" fmla="*/ 109 h 1731"/>
                <a:gd name="T16" fmla="*/ 497 w 762"/>
                <a:gd name="T17" fmla="*/ 108 h 1731"/>
                <a:gd name="T18" fmla="*/ 444 w 762"/>
                <a:gd name="T19" fmla="*/ 87 h 1731"/>
                <a:gd name="T20" fmla="*/ 404 w 762"/>
                <a:gd name="T21" fmla="*/ 223 h 1731"/>
                <a:gd name="T22" fmla="*/ 384 w 762"/>
                <a:gd name="T23" fmla="*/ 239 h 1731"/>
                <a:gd name="T24" fmla="*/ 384 w 762"/>
                <a:gd name="T25" fmla="*/ 239 h 1731"/>
                <a:gd name="T26" fmla="*/ 363 w 762"/>
                <a:gd name="T27" fmla="*/ 223 h 1731"/>
                <a:gd name="T28" fmla="*/ 320 w 762"/>
                <a:gd name="T29" fmla="*/ 87 h 1731"/>
                <a:gd name="T30" fmla="*/ 265 w 762"/>
                <a:gd name="T31" fmla="*/ 108 h 1731"/>
                <a:gd name="T32" fmla="*/ 257 w 762"/>
                <a:gd name="T33" fmla="*/ 109 h 1731"/>
                <a:gd name="T34" fmla="*/ 245 w 762"/>
                <a:gd name="T35" fmla="*/ 105 h 1731"/>
                <a:gd name="T36" fmla="*/ 236 w 762"/>
                <a:gd name="T37" fmla="*/ 87 h 1731"/>
                <a:gd name="T38" fmla="*/ 236 w 762"/>
                <a:gd name="T39" fmla="*/ 1 h 1731"/>
                <a:gd name="T40" fmla="*/ 236 w 762"/>
                <a:gd name="T41" fmla="*/ 0 h 1731"/>
                <a:gd name="T42" fmla="*/ 112 w 762"/>
                <a:gd name="T43" fmla="*/ 59 h 1731"/>
                <a:gd name="T44" fmla="*/ 69 w 762"/>
                <a:gd name="T45" fmla="*/ 119 h 1731"/>
                <a:gd name="T46" fmla="*/ 15 w 762"/>
                <a:gd name="T47" fmla="*/ 635 h 1731"/>
                <a:gd name="T48" fmla="*/ 6 w 762"/>
                <a:gd name="T49" fmla="*/ 720 h 1731"/>
                <a:gd name="T50" fmla="*/ 80 w 762"/>
                <a:gd name="T51" fmla="*/ 859 h 1731"/>
                <a:gd name="T52" fmla="*/ 129 w 762"/>
                <a:gd name="T53" fmla="*/ 878 h 1731"/>
                <a:gd name="T54" fmla="*/ 233 w 762"/>
                <a:gd name="T55" fmla="*/ 1688 h 1731"/>
                <a:gd name="T56" fmla="*/ 282 w 762"/>
                <a:gd name="T57" fmla="*/ 1731 h 1731"/>
                <a:gd name="T58" fmla="*/ 359 w 762"/>
                <a:gd name="T59" fmla="*/ 1731 h 1731"/>
                <a:gd name="T60" fmla="*/ 359 w 762"/>
                <a:gd name="T61" fmla="*/ 902 h 1731"/>
                <a:gd name="T62" fmla="*/ 381 w 762"/>
                <a:gd name="T63" fmla="*/ 902 h 1731"/>
                <a:gd name="T64" fmla="*/ 381 w 762"/>
                <a:gd name="T65" fmla="*/ 902 h 1731"/>
                <a:gd name="T66" fmla="*/ 402 w 762"/>
                <a:gd name="T67" fmla="*/ 902 h 1731"/>
                <a:gd name="T68" fmla="*/ 402 w 762"/>
                <a:gd name="T69" fmla="*/ 1731 h 1731"/>
                <a:gd name="T70" fmla="*/ 480 w 762"/>
                <a:gd name="T71" fmla="*/ 1731 h 1731"/>
                <a:gd name="T72" fmla="*/ 529 w 762"/>
                <a:gd name="T73" fmla="*/ 1688 h 1731"/>
                <a:gd name="T74" fmla="*/ 633 w 762"/>
                <a:gd name="T75" fmla="*/ 878 h 1731"/>
                <a:gd name="T76" fmla="*/ 682 w 762"/>
                <a:gd name="T77" fmla="*/ 859 h 1731"/>
                <a:gd name="T78" fmla="*/ 756 w 762"/>
                <a:gd name="T79" fmla="*/ 720 h 1731"/>
                <a:gd name="T80" fmla="*/ 170 w 762"/>
                <a:gd name="T81" fmla="*/ 422 h 1731"/>
                <a:gd name="T82" fmla="*/ 592 w 762"/>
                <a:gd name="T83" fmla="*/ 422 h 1731"/>
                <a:gd name="T84" fmla="*/ 592 w 762"/>
                <a:gd name="T85" fmla="*/ 550 h 1731"/>
                <a:gd name="T86" fmla="*/ 170 w 762"/>
                <a:gd name="T87" fmla="*/ 550 h 1731"/>
                <a:gd name="T88" fmla="*/ 170 w 762"/>
                <a:gd name="T89" fmla="*/ 422 h 1731"/>
                <a:gd name="T90" fmla="*/ 129 w 762"/>
                <a:gd name="T91" fmla="*/ 832 h 1731"/>
                <a:gd name="T92" fmla="*/ 75 w 762"/>
                <a:gd name="T93" fmla="*/ 800 h 1731"/>
                <a:gd name="T94" fmla="*/ 48 w 762"/>
                <a:gd name="T95" fmla="*/ 725 h 1731"/>
                <a:gd name="T96" fmla="*/ 58 w 762"/>
                <a:gd name="T97" fmla="*/ 635 h 1731"/>
                <a:gd name="T98" fmla="*/ 130 w 762"/>
                <a:gd name="T99" fmla="*/ 635 h 1731"/>
                <a:gd name="T100" fmla="*/ 129 w 762"/>
                <a:gd name="T101" fmla="*/ 832 h 1731"/>
                <a:gd name="T102" fmla="*/ 687 w 762"/>
                <a:gd name="T103" fmla="*/ 800 h 1731"/>
                <a:gd name="T104" fmla="*/ 633 w 762"/>
                <a:gd name="T105" fmla="*/ 832 h 1731"/>
                <a:gd name="T106" fmla="*/ 632 w 762"/>
                <a:gd name="T107" fmla="*/ 635 h 1731"/>
                <a:gd name="T108" fmla="*/ 704 w 762"/>
                <a:gd name="T109" fmla="*/ 635 h 1731"/>
                <a:gd name="T110" fmla="*/ 713 w 762"/>
                <a:gd name="T111" fmla="*/ 725 h 1731"/>
                <a:gd name="T112" fmla="*/ 687 w 762"/>
                <a:gd name="T113" fmla="*/ 800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62" h="1731">
                  <a:moveTo>
                    <a:pt x="756" y="720"/>
                  </a:moveTo>
                  <a:cubicBezTo>
                    <a:pt x="747" y="635"/>
                    <a:pt x="747" y="635"/>
                    <a:pt x="747" y="635"/>
                  </a:cubicBezTo>
                  <a:cubicBezTo>
                    <a:pt x="693" y="119"/>
                    <a:pt x="693" y="119"/>
                    <a:pt x="693" y="119"/>
                  </a:cubicBezTo>
                  <a:cubicBezTo>
                    <a:pt x="689" y="83"/>
                    <a:pt x="671" y="69"/>
                    <a:pt x="649" y="59"/>
                  </a:cubicBezTo>
                  <a:cubicBezTo>
                    <a:pt x="526" y="1"/>
                    <a:pt x="526" y="1"/>
                    <a:pt x="526" y="1"/>
                  </a:cubicBezTo>
                  <a:cubicBezTo>
                    <a:pt x="526" y="87"/>
                    <a:pt x="526" y="87"/>
                    <a:pt x="526" y="87"/>
                  </a:cubicBezTo>
                  <a:cubicBezTo>
                    <a:pt x="526" y="95"/>
                    <a:pt x="522" y="101"/>
                    <a:pt x="517" y="105"/>
                  </a:cubicBezTo>
                  <a:cubicBezTo>
                    <a:pt x="513" y="108"/>
                    <a:pt x="509" y="109"/>
                    <a:pt x="504" y="109"/>
                  </a:cubicBezTo>
                  <a:cubicBezTo>
                    <a:pt x="502" y="109"/>
                    <a:pt x="499" y="108"/>
                    <a:pt x="497" y="108"/>
                  </a:cubicBezTo>
                  <a:cubicBezTo>
                    <a:pt x="444" y="87"/>
                    <a:pt x="444" y="87"/>
                    <a:pt x="444" y="87"/>
                  </a:cubicBezTo>
                  <a:cubicBezTo>
                    <a:pt x="404" y="223"/>
                    <a:pt x="404" y="223"/>
                    <a:pt x="404" y="223"/>
                  </a:cubicBezTo>
                  <a:cubicBezTo>
                    <a:pt x="401" y="232"/>
                    <a:pt x="393" y="238"/>
                    <a:pt x="384" y="239"/>
                  </a:cubicBezTo>
                  <a:cubicBezTo>
                    <a:pt x="384" y="239"/>
                    <a:pt x="384" y="239"/>
                    <a:pt x="384" y="239"/>
                  </a:cubicBezTo>
                  <a:cubicBezTo>
                    <a:pt x="374" y="239"/>
                    <a:pt x="366" y="232"/>
                    <a:pt x="363" y="223"/>
                  </a:cubicBezTo>
                  <a:cubicBezTo>
                    <a:pt x="320" y="87"/>
                    <a:pt x="320" y="87"/>
                    <a:pt x="320" y="87"/>
                  </a:cubicBezTo>
                  <a:cubicBezTo>
                    <a:pt x="265" y="108"/>
                    <a:pt x="265" y="108"/>
                    <a:pt x="265" y="108"/>
                  </a:cubicBezTo>
                  <a:cubicBezTo>
                    <a:pt x="263" y="108"/>
                    <a:pt x="260" y="109"/>
                    <a:pt x="257" y="109"/>
                  </a:cubicBezTo>
                  <a:cubicBezTo>
                    <a:pt x="253" y="109"/>
                    <a:pt x="249" y="108"/>
                    <a:pt x="245" y="105"/>
                  </a:cubicBezTo>
                  <a:cubicBezTo>
                    <a:pt x="239" y="101"/>
                    <a:pt x="236" y="95"/>
                    <a:pt x="236" y="87"/>
                  </a:cubicBezTo>
                  <a:cubicBezTo>
                    <a:pt x="236" y="1"/>
                    <a:pt x="236" y="1"/>
                    <a:pt x="236" y="1"/>
                  </a:cubicBezTo>
                  <a:cubicBezTo>
                    <a:pt x="236" y="0"/>
                    <a:pt x="236" y="0"/>
                    <a:pt x="236" y="0"/>
                  </a:cubicBezTo>
                  <a:cubicBezTo>
                    <a:pt x="112" y="59"/>
                    <a:pt x="112" y="59"/>
                    <a:pt x="112" y="59"/>
                  </a:cubicBezTo>
                  <a:cubicBezTo>
                    <a:pt x="91" y="69"/>
                    <a:pt x="72" y="85"/>
                    <a:pt x="69" y="119"/>
                  </a:cubicBezTo>
                  <a:cubicBezTo>
                    <a:pt x="15" y="635"/>
                    <a:pt x="15" y="635"/>
                    <a:pt x="15" y="635"/>
                  </a:cubicBezTo>
                  <a:cubicBezTo>
                    <a:pt x="6" y="720"/>
                    <a:pt x="6" y="720"/>
                    <a:pt x="6" y="720"/>
                  </a:cubicBezTo>
                  <a:cubicBezTo>
                    <a:pt x="0" y="779"/>
                    <a:pt x="35" y="833"/>
                    <a:pt x="80" y="859"/>
                  </a:cubicBezTo>
                  <a:cubicBezTo>
                    <a:pt x="103" y="872"/>
                    <a:pt x="129" y="878"/>
                    <a:pt x="129" y="878"/>
                  </a:cubicBezTo>
                  <a:cubicBezTo>
                    <a:pt x="233" y="1688"/>
                    <a:pt x="233" y="1688"/>
                    <a:pt x="233" y="1688"/>
                  </a:cubicBezTo>
                  <a:cubicBezTo>
                    <a:pt x="236" y="1711"/>
                    <a:pt x="258" y="1731"/>
                    <a:pt x="282" y="1731"/>
                  </a:cubicBezTo>
                  <a:cubicBezTo>
                    <a:pt x="359" y="1731"/>
                    <a:pt x="359" y="1731"/>
                    <a:pt x="359" y="1731"/>
                  </a:cubicBezTo>
                  <a:cubicBezTo>
                    <a:pt x="359" y="902"/>
                    <a:pt x="359" y="902"/>
                    <a:pt x="359" y="902"/>
                  </a:cubicBezTo>
                  <a:cubicBezTo>
                    <a:pt x="381" y="902"/>
                    <a:pt x="381" y="902"/>
                    <a:pt x="381" y="902"/>
                  </a:cubicBezTo>
                  <a:cubicBezTo>
                    <a:pt x="381" y="902"/>
                    <a:pt x="381" y="902"/>
                    <a:pt x="381" y="902"/>
                  </a:cubicBezTo>
                  <a:cubicBezTo>
                    <a:pt x="402" y="902"/>
                    <a:pt x="402" y="902"/>
                    <a:pt x="402" y="902"/>
                  </a:cubicBezTo>
                  <a:cubicBezTo>
                    <a:pt x="402" y="1731"/>
                    <a:pt x="402" y="1731"/>
                    <a:pt x="402" y="1731"/>
                  </a:cubicBezTo>
                  <a:cubicBezTo>
                    <a:pt x="480" y="1731"/>
                    <a:pt x="480" y="1731"/>
                    <a:pt x="480" y="1731"/>
                  </a:cubicBezTo>
                  <a:cubicBezTo>
                    <a:pt x="504" y="1731"/>
                    <a:pt x="526" y="1711"/>
                    <a:pt x="529" y="1688"/>
                  </a:cubicBezTo>
                  <a:cubicBezTo>
                    <a:pt x="633" y="878"/>
                    <a:pt x="633" y="878"/>
                    <a:pt x="633" y="878"/>
                  </a:cubicBezTo>
                  <a:cubicBezTo>
                    <a:pt x="633" y="878"/>
                    <a:pt x="659" y="872"/>
                    <a:pt x="682" y="859"/>
                  </a:cubicBezTo>
                  <a:cubicBezTo>
                    <a:pt x="726" y="833"/>
                    <a:pt x="762" y="779"/>
                    <a:pt x="756" y="720"/>
                  </a:cubicBezTo>
                  <a:moveTo>
                    <a:pt x="170" y="422"/>
                  </a:moveTo>
                  <a:cubicBezTo>
                    <a:pt x="592" y="422"/>
                    <a:pt x="592" y="422"/>
                    <a:pt x="592" y="422"/>
                  </a:cubicBezTo>
                  <a:cubicBezTo>
                    <a:pt x="592" y="550"/>
                    <a:pt x="592" y="550"/>
                    <a:pt x="592" y="550"/>
                  </a:cubicBezTo>
                  <a:cubicBezTo>
                    <a:pt x="170" y="550"/>
                    <a:pt x="170" y="550"/>
                    <a:pt x="170" y="550"/>
                  </a:cubicBezTo>
                  <a:lnTo>
                    <a:pt x="170" y="422"/>
                  </a:lnTo>
                  <a:close/>
                  <a:moveTo>
                    <a:pt x="129" y="832"/>
                  </a:moveTo>
                  <a:cubicBezTo>
                    <a:pt x="98" y="822"/>
                    <a:pt x="81" y="806"/>
                    <a:pt x="75" y="800"/>
                  </a:cubicBezTo>
                  <a:cubicBezTo>
                    <a:pt x="60" y="786"/>
                    <a:pt x="45" y="760"/>
                    <a:pt x="48" y="725"/>
                  </a:cubicBezTo>
                  <a:cubicBezTo>
                    <a:pt x="58" y="635"/>
                    <a:pt x="58" y="635"/>
                    <a:pt x="58" y="635"/>
                  </a:cubicBezTo>
                  <a:cubicBezTo>
                    <a:pt x="130" y="635"/>
                    <a:pt x="130" y="635"/>
                    <a:pt x="130" y="635"/>
                  </a:cubicBezTo>
                  <a:lnTo>
                    <a:pt x="129" y="832"/>
                  </a:lnTo>
                  <a:close/>
                  <a:moveTo>
                    <a:pt x="687" y="800"/>
                  </a:moveTo>
                  <a:cubicBezTo>
                    <a:pt x="681" y="806"/>
                    <a:pt x="663" y="822"/>
                    <a:pt x="633" y="832"/>
                  </a:cubicBezTo>
                  <a:cubicBezTo>
                    <a:pt x="632" y="635"/>
                    <a:pt x="632" y="635"/>
                    <a:pt x="632" y="635"/>
                  </a:cubicBezTo>
                  <a:cubicBezTo>
                    <a:pt x="704" y="635"/>
                    <a:pt x="704" y="635"/>
                    <a:pt x="704" y="635"/>
                  </a:cubicBezTo>
                  <a:cubicBezTo>
                    <a:pt x="713" y="725"/>
                    <a:pt x="713" y="725"/>
                    <a:pt x="713" y="725"/>
                  </a:cubicBezTo>
                  <a:cubicBezTo>
                    <a:pt x="717" y="760"/>
                    <a:pt x="702" y="786"/>
                    <a:pt x="687" y="80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6" name="Freeform 36">
            <a:extLst>
              <a:ext uri="{FF2B5EF4-FFF2-40B4-BE49-F238E27FC236}">
                <a16:creationId xmlns:a16="http://schemas.microsoft.com/office/drawing/2014/main" id="{B21A98DD-567B-46CE-97B3-A3FC873A6D59}"/>
              </a:ext>
            </a:extLst>
          </p:cNvPr>
          <p:cNvSpPr>
            <a:spLocks noChangeAspect="1" noEditPoints="1"/>
          </p:cNvSpPr>
          <p:nvPr/>
        </p:nvSpPr>
        <p:spPr bwMode="auto">
          <a:xfrm>
            <a:off x="1188342" y="1835296"/>
            <a:ext cx="182294" cy="525600"/>
          </a:xfrm>
          <a:custGeom>
            <a:avLst/>
            <a:gdLst>
              <a:gd name="T0" fmla="*/ 747 w 761"/>
              <a:gd name="T1" fmla="*/ 1104 h 2200"/>
              <a:gd name="T2" fmla="*/ 692 w 761"/>
              <a:gd name="T3" fmla="*/ 590 h 2200"/>
              <a:gd name="T4" fmla="*/ 499 w 761"/>
              <a:gd name="T5" fmla="*/ 458 h 2200"/>
              <a:gd name="T6" fmla="*/ 513 w 761"/>
              <a:gd name="T7" fmla="*/ 444 h 2200"/>
              <a:gd name="T8" fmla="*/ 613 w 761"/>
              <a:gd name="T9" fmla="*/ 434 h 2200"/>
              <a:gd name="T10" fmla="*/ 574 w 761"/>
              <a:gd name="T11" fmla="*/ 264 h 2200"/>
              <a:gd name="T12" fmla="*/ 380 w 761"/>
              <a:gd name="T13" fmla="*/ 0 h 2200"/>
              <a:gd name="T14" fmla="*/ 187 w 761"/>
              <a:gd name="T15" fmla="*/ 248 h 2200"/>
              <a:gd name="T16" fmla="*/ 147 w 761"/>
              <a:gd name="T17" fmla="*/ 413 h 2200"/>
              <a:gd name="T18" fmla="*/ 166 w 761"/>
              <a:gd name="T19" fmla="*/ 444 h 2200"/>
              <a:gd name="T20" fmla="*/ 264 w 761"/>
              <a:gd name="T21" fmla="*/ 458 h 2200"/>
              <a:gd name="T22" fmla="*/ 112 w 761"/>
              <a:gd name="T23" fmla="*/ 529 h 2200"/>
              <a:gd name="T24" fmla="*/ 14 w 761"/>
              <a:gd name="T25" fmla="*/ 1104 h 2200"/>
              <a:gd name="T26" fmla="*/ 79 w 761"/>
              <a:gd name="T27" fmla="*/ 1328 h 2200"/>
              <a:gd name="T28" fmla="*/ 233 w 761"/>
              <a:gd name="T29" fmla="*/ 2157 h 2200"/>
              <a:gd name="T30" fmla="*/ 359 w 761"/>
              <a:gd name="T31" fmla="*/ 2200 h 2200"/>
              <a:gd name="T32" fmla="*/ 380 w 761"/>
              <a:gd name="T33" fmla="*/ 1371 h 2200"/>
              <a:gd name="T34" fmla="*/ 402 w 761"/>
              <a:gd name="T35" fmla="*/ 1371 h 2200"/>
              <a:gd name="T36" fmla="*/ 480 w 761"/>
              <a:gd name="T37" fmla="*/ 2200 h 2200"/>
              <a:gd name="T38" fmla="*/ 632 w 761"/>
              <a:gd name="T39" fmla="*/ 1347 h 2200"/>
              <a:gd name="T40" fmla="*/ 756 w 761"/>
              <a:gd name="T41" fmla="*/ 1189 h 2200"/>
              <a:gd name="T42" fmla="*/ 230 w 761"/>
              <a:gd name="T43" fmla="*/ 267 h 2200"/>
              <a:gd name="T44" fmla="*/ 403 w 761"/>
              <a:gd name="T45" fmla="*/ 195 h 2200"/>
              <a:gd name="T46" fmla="*/ 476 w 761"/>
              <a:gd name="T47" fmla="*/ 77 h 2200"/>
              <a:gd name="T48" fmla="*/ 531 w 761"/>
              <a:gd name="T49" fmla="*/ 304 h 2200"/>
              <a:gd name="T50" fmla="*/ 230 w 761"/>
              <a:gd name="T51" fmla="*/ 304 h 2200"/>
              <a:gd name="T52" fmla="*/ 74 w 761"/>
              <a:gd name="T53" fmla="*/ 1269 h 2200"/>
              <a:gd name="T54" fmla="*/ 57 w 761"/>
              <a:gd name="T55" fmla="*/ 1104 h 2200"/>
              <a:gd name="T56" fmla="*/ 128 w 761"/>
              <a:gd name="T57" fmla="*/ 1301 h 2200"/>
              <a:gd name="T58" fmla="*/ 177 w 761"/>
              <a:gd name="T59" fmla="*/ 740 h 2200"/>
              <a:gd name="T60" fmla="*/ 155 w 761"/>
              <a:gd name="T61" fmla="*/ 718 h 2200"/>
              <a:gd name="T62" fmla="*/ 133 w 761"/>
              <a:gd name="T63" fmla="*/ 1060 h 2200"/>
              <a:gd name="T64" fmla="*/ 111 w 761"/>
              <a:gd name="T65" fmla="*/ 594 h 2200"/>
              <a:gd name="T66" fmla="*/ 130 w 761"/>
              <a:gd name="T67" fmla="*/ 568 h 2200"/>
              <a:gd name="T68" fmla="*/ 359 w 761"/>
              <a:gd name="T69" fmla="*/ 671 h 2200"/>
              <a:gd name="T70" fmla="*/ 359 w 761"/>
              <a:gd name="T71" fmla="*/ 1104 h 2200"/>
              <a:gd name="T72" fmla="*/ 402 w 761"/>
              <a:gd name="T73" fmla="*/ 1104 h 2200"/>
              <a:gd name="T74" fmla="*/ 402 w 761"/>
              <a:gd name="T75" fmla="*/ 671 h 2200"/>
              <a:gd name="T76" fmla="*/ 631 w 761"/>
              <a:gd name="T77" fmla="*/ 568 h 2200"/>
              <a:gd name="T78" fmla="*/ 650 w 761"/>
              <a:gd name="T79" fmla="*/ 594 h 2200"/>
              <a:gd name="T80" fmla="*/ 630 w 761"/>
              <a:gd name="T81" fmla="*/ 1060 h 2200"/>
              <a:gd name="T82" fmla="*/ 605 w 761"/>
              <a:gd name="T83" fmla="*/ 718 h 2200"/>
              <a:gd name="T84" fmla="*/ 586 w 761"/>
              <a:gd name="T85" fmla="*/ 1104 h 2200"/>
              <a:gd name="T86" fmla="*/ 686 w 761"/>
              <a:gd name="T87" fmla="*/ 1269 h 2200"/>
              <a:gd name="T88" fmla="*/ 632 w 761"/>
              <a:gd name="T89" fmla="*/ 1104 h 2200"/>
              <a:gd name="T90" fmla="*/ 713 w 761"/>
              <a:gd name="T91" fmla="*/ 1194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61" h="2200">
                <a:moveTo>
                  <a:pt x="756" y="1189"/>
                </a:moveTo>
                <a:cubicBezTo>
                  <a:pt x="747" y="1104"/>
                  <a:pt x="747" y="1104"/>
                  <a:pt x="747" y="1104"/>
                </a:cubicBezTo>
                <a:cubicBezTo>
                  <a:pt x="747" y="1104"/>
                  <a:pt x="747" y="1104"/>
                  <a:pt x="747" y="1104"/>
                </a:cubicBezTo>
                <a:cubicBezTo>
                  <a:pt x="692" y="590"/>
                  <a:pt x="692" y="590"/>
                  <a:pt x="692" y="590"/>
                </a:cubicBezTo>
                <a:cubicBezTo>
                  <a:pt x="688" y="556"/>
                  <a:pt x="676" y="541"/>
                  <a:pt x="649" y="529"/>
                </a:cubicBezTo>
                <a:cubicBezTo>
                  <a:pt x="499" y="458"/>
                  <a:pt x="499" y="458"/>
                  <a:pt x="499" y="458"/>
                </a:cubicBezTo>
                <a:cubicBezTo>
                  <a:pt x="498" y="458"/>
                  <a:pt x="497" y="458"/>
                  <a:pt x="497" y="458"/>
                </a:cubicBezTo>
                <a:cubicBezTo>
                  <a:pt x="502" y="454"/>
                  <a:pt x="508" y="449"/>
                  <a:pt x="513" y="444"/>
                </a:cubicBezTo>
                <a:cubicBezTo>
                  <a:pt x="595" y="444"/>
                  <a:pt x="595" y="444"/>
                  <a:pt x="595" y="444"/>
                </a:cubicBezTo>
                <a:cubicBezTo>
                  <a:pt x="602" y="444"/>
                  <a:pt x="609" y="441"/>
                  <a:pt x="613" y="434"/>
                </a:cubicBezTo>
                <a:cubicBezTo>
                  <a:pt x="617" y="428"/>
                  <a:pt x="617" y="420"/>
                  <a:pt x="614" y="413"/>
                </a:cubicBezTo>
                <a:cubicBezTo>
                  <a:pt x="577" y="342"/>
                  <a:pt x="574" y="324"/>
                  <a:pt x="574" y="264"/>
                </a:cubicBezTo>
                <a:cubicBezTo>
                  <a:pt x="574" y="193"/>
                  <a:pt x="574" y="193"/>
                  <a:pt x="574" y="193"/>
                </a:cubicBezTo>
                <a:cubicBezTo>
                  <a:pt x="574" y="86"/>
                  <a:pt x="487" y="0"/>
                  <a:pt x="380" y="0"/>
                </a:cubicBezTo>
                <a:cubicBezTo>
                  <a:pt x="273" y="0"/>
                  <a:pt x="187" y="86"/>
                  <a:pt x="187" y="193"/>
                </a:cubicBezTo>
                <a:cubicBezTo>
                  <a:pt x="187" y="248"/>
                  <a:pt x="187" y="248"/>
                  <a:pt x="187" y="248"/>
                </a:cubicBezTo>
                <a:cubicBezTo>
                  <a:pt x="187" y="248"/>
                  <a:pt x="187" y="248"/>
                  <a:pt x="187" y="248"/>
                </a:cubicBezTo>
                <a:cubicBezTo>
                  <a:pt x="187" y="321"/>
                  <a:pt x="187" y="336"/>
                  <a:pt x="147" y="413"/>
                </a:cubicBezTo>
                <a:cubicBezTo>
                  <a:pt x="144" y="420"/>
                  <a:pt x="144" y="428"/>
                  <a:pt x="148" y="434"/>
                </a:cubicBezTo>
                <a:cubicBezTo>
                  <a:pt x="152" y="441"/>
                  <a:pt x="159" y="444"/>
                  <a:pt x="166" y="444"/>
                </a:cubicBezTo>
                <a:cubicBezTo>
                  <a:pt x="248" y="444"/>
                  <a:pt x="248" y="444"/>
                  <a:pt x="248" y="444"/>
                </a:cubicBezTo>
                <a:cubicBezTo>
                  <a:pt x="253" y="449"/>
                  <a:pt x="258" y="454"/>
                  <a:pt x="264" y="458"/>
                </a:cubicBezTo>
                <a:cubicBezTo>
                  <a:pt x="263" y="458"/>
                  <a:pt x="263" y="458"/>
                  <a:pt x="262" y="458"/>
                </a:cubicBezTo>
                <a:cubicBezTo>
                  <a:pt x="112" y="529"/>
                  <a:pt x="112" y="529"/>
                  <a:pt x="112" y="529"/>
                </a:cubicBezTo>
                <a:cubicBezTo>
                  <a:pt x="85" y="541"/>
                  <a:pt x="73" y="556"/>
                  <a:pt x="68" y="590"/>
                </a:cubicBezTo>
                <a:cubicBezTo>
                  <a:pt x="14" y="1104"/>
                  <a:pt x="14" y="1104"/>
                  <a:pt x="14" y="1104"/>
                </a:cubicBezTo>
                <a:cubicBezTo>
                  <a:pt x="5" y="1189"/>
                  <a:pt x="5" y="1189"/>
                  <a:pt x="5" y="1189"/>
                </a:cubicBezTo>
                <a:cubicBezTo>
                  <a:pt x="0" y="1248"/>
                  <a:pt x="35" y="1302"/>
                  <a:pt x="79" y="1328"/>
                </a:cubicBezTo>
                <a:cubicBezTo>
                  <a:pt x="102" y="1341"/>
                  <a:pt x="128" y="1347"/>
                  <a:pt x="128" y="1347"/>
                </a:cubicBezTo>
                <a:cubicBezTo>
                  <a:pt x="233" y="2157"/>
                  <a:pt x="233" y="2157"/>
                  <a:pt x="233" y="2157"/>
                </a:cubicBezTo>
                <a:cubicBezTo>
                  <a:pt x="236" y="2180"/>
                  <a:pt x="258" y="2200"/>
                  <a:pt x="282" y="2200"/>
                </a:cubicBezTo>
                <a:cubicBezTo>
                  <a:pt x="359" y="2200"/>
                  <a:pt x="359" y="2200"/>
                  <a:pt x="359" y="2200"/>
                </a:cubicBezTo>
                <a:cubicBezTo>
                  <a:pt x="359" y="1371"/>
                  <a:pt x="359" y="1371"/>
                  <a:pt x="359" y="1371"/>
                </a:cubicBezTo>
                <a:cubicBezTo>
                  <a:pt x="380" y="1371"/>
                  <a:pt x="380" y="1371"/>
                  <a:pt x="380" y="1371"/>
                </a:cubicBezTo>
                <a:cubicBezTo>
                  <a:pt x="380" y="1371"/>
                  <a:pt x="380" y="1371"/>
                  <a:pt x="380" y="1371"/>
                </a:cubicBezTo>
                <a:cubicBezTo>
                  <a:pt x="402" y="1371"/>
                  <a:pt x="402" y="1371"/>
                  <a:pt x="402" y="1371"/>
                </a:cubicBezTo>
                <a:cubicBezTo>
                  <a:pt x="402" y="2200"/>
                  <a:pt x="402" y="2200"/>
                  <a:pt x="402" y="2200"/>
                </a:cubicBezTo>
                <a:cubicBezTo>
                  <a:pt x="480" y="2200"/>
                  <a:pt x="480" y="2200"/>
                  <a:pt x="480" y="2200"/>
                </a:cubicBezTo>
                <a:cubicBezTo>
                  <a:pt x="503" y="2200"/>
                  <a:pt x="525" y="2180"/>
                  <a:pt x="529" y="2157"/>
                </a:cubicBezTo>
                <a:cubicBezTo>
                  <a:pt x="632" y="1347"/>
                  <a:pt x="632" y="1347"/>
                  <a:pt x="632" y="1347"/>
                </a:cubicBezTo>
                <a:cubicBezTo>
                  <a:pt x="632" y="1347"/>
                  <a:pt x="658" y="1341"/>
                  <a:pt x="681" y="1328"/>
                </a:cubicBezTo>
                <a:cubicBezTo>
                  <a:pt x="726" y="1302"/>
                  <a:pt x="761" y="1248"/>
                  <a:pt x="756" y="1189"/>
                </a:cubicBezTo>
                <a:moveTo>
                  <a:pt x="230" y="304"/>
                </a:moveTo>
                <a:cubicBezTo>
                  <a:pt x="230" y="267"/>
                  <a:pt x="230" y="267"/>
                  <a:pt x="230" y="267"/>
                </a:cubicBezTo>
                <a:cubicBezTo>
                  <a:pt x="230" y="227"/>
                  <a:pt x="262" y="195"/>
                  <a:pt x="302" y="195"/>
                </a:cubicBezTo>
                <a:cubicBezTo>
                  <a:pt x="403" y="195"/>
                  <a:pt x="403" y="195"/>
                  <a:pt x="403" y="195"/>
                </a:cubicBezTo>
                <a:cubicBezTo>
                  <a:pt x="443" y="195"/>
                  <a:pt x="476" y="162"/>
                  <a:pt x="476" y="122"/>
                </a:cubicBezTo>
                <a:cubicBezTo>
                  <a:pt x="476" y="77"/>
                  <a:pt x="476" y="77"/>
                  <a:pt x="476" y="77"/>
                </a:cubicBezTo>
                <a:cubicBezTo>
                  <a:pt x="509" y="104"/>
                  <a:pt x="531" y="146"/>
                  <a:pt x="531" y="193"/>
                </a:cubicBezTo>
                <a:cubicBezTo>
                  <a:pt x="531" y="304"/>
                  <a:pt x="531" y="304"/>
                  <a:pt x="531" y="304"/>
                </a:cubicBezTo>
                <a:cubicBezTo>
                  <a:pt x="531" y="387"/>
                  <a:pt x="463" y="454"/>
                  <a:pt x="380" y="454"/>
                </a:cubicBezTo>
                <a:cubicBezTo>
                  <a:pt x="297" y="454"/>
                  <a:pt x="230" y="387"/>
                  <a:pt x="230" y="304"/>
                </a:cubicBezTo>
                <a:moveTo>
                  <a:pt x="128" y="1301"/>
                </a:moveTo>
                <a:cubicBezTo>
                  <a:pt x="98" y="1291"/>
                  <a:pt x="80" y="1275"/>
                  <a:pt x="74" y="1269"/>
                </a:cubicBezTo>
                <a:cubicBezTo>
                  <a:pt x="59" y="1255"/>
                  <a:pt x="44" y="1229"/>
                  <a:pt x="48" y="1194"/>
                </a:cubicBezTo>
                <a:cubicBezTo>
                  <a:pt x="57" y="1104"/>
                  <a:pt x="57" y="1104"/>
                  <a:pt x="57" y="1104"/>
                </a:cubicBezTo>
                <a:cubicBezTo>
                  <a:pt x="129" y="1104"/>
                  <a:pt x="129" y="1104"/>
                  <a:pt x="129" y="1104"/>
                </a:cubicBezTo>
                <a:lnTo>
                  <a:pt x="128" y="1301"/>
                </a:lnTo>
                <a:close/>
                <a:moveTo>
                  <a:pt x="175" y="1104"/>
                </a:moveTo>
                <a:cubicBezTo>
                  <a:pt x="177" y="740"/>
                  <a:pt x="177" y="740"/>
                  <a:pt x="177" y="740"/>
                </a:cubicBezTo>
                <a:cubicBezTo>
                  <a:pt x="177" y="728"/>
                  <a:pt x="167" y="718"/>
                  <a:pt x="156" y="718"/>
                </a:cubicBezTo>
                <a:cubicBezTo>
                  <a:pt x="155" y="718"/>
                  <a:pt x="155" y="718"/>
                  <a:pt x="155" y="718"/>
                </a:cubicBezTo>
                <a:cubicBezTo>
                  <a:pt x="144" y="718"/>
                  <a:pt x="134" y="728"/>
                  <a:pt x="134" y="740"/>
                </a:cubicBezTo>
                <a:cubicBezTo>
                  <a:pt x="133" y="1060"/>
                  <a:pt x="133" y="1060"/>
                  <a:pt x="133" y="1060"/>
                </a:cubicBezTo>
                <a:cubicBezTo>
                  <a:pt x="62" y="1060"/>
                  <a:pt x="62" y="1060"/>
                  <a:pt x="62" y="1060"/>
                </a:cubicBezTo>
                <a:cubicBezTo>
                  <a:pt x="111" y="594"/>
                  <a:pt x="111" y="594"/>
                  <a:pt x="111" y="594"/>
                </a:cubicBezTo>
                <a:cubicBezTo>
                  <a:pt x="112" y="588"/>
                  <a:pt x="115" y="579"/>
                  <a:pt x="122" y="573"/>
                </a:cubicBezTo>
                <a:cubicBezTo>
                  <a:pt x="124" y="571"/>
                  <a:pt x="127" y="569"/>
                  <a:pt x="130" y="568"/>
                </a:cubicBezTo>
                <a:cubicBezTo>
                  <a:pt x="273" y="501"/>
                  <a:pt x="273" y="501"/>
                  <a:pt x="273" y="501"/>
                </a:cubicBezTo>
                <a:cubicBezTo>
                  <a:pt x="359" y="671"/>
                  <a:pt x="359" y="671"/>
                  <a:pt x="359" y="671"/>
                </a:cubicBezTo>
                <a:cubicBezTo>
                  <a:pt x="359" y="671"/>
                  <a:pt x="359" y="671"/>
                  <a:pt x="359" y="671"/>
                </a:cubicBezTo>
                <a:cubicBezTo>
                  <a:pt x="359" y="1104"/>
                  <a:pt x="359" y="1104"/>
                  <a:pt x="359" y="1104"/>
                </a:cubicBezTo>
                <a:lnTo>
                  <a:pt x="175" y="1104"/>
                </a:lnTo>
                <a:close/>
                <a:moveTo>
                  <a:pt x="402" y="1104"/>
                </a:moveTo>
                <a:cubicBezTo>
                  <a:pt x="402" y="671"/>
                  <a:pt x="402" y="671"/>
                  <a:pt x="402" y="671"/>
                </a:cubicBezTo>
                <a:cubicBezTo>
                  <a:pt x="402" y="671"/>
                  <a:pt x="402" y="671"/>
                  <a:pt x="402" y="671"/>
                </a:cubicBezTo>
                <a:cubicBezTo>
                  <a:pt x="488" y="501"/>
                  <a:pt x="488" y="501"/>
                  <a:pt x="488" y="501"/>
                </a:cubicBezTo>
                <a:cubicBezTo>
                  <a:pt x="631" y="568"/>
                  <a:pt x="631" y="568"/>
                  <a:pt x="631" y="568"/>
                </a:cubicBezTo>
                <a:cubicBezTo>
                  <a:pt x="634" y="569"/>
                  <a:pt x="637" y="571"/>
                  <a:pt x="639" y="573"/>
                </a:cubicBezTo>
                <a:cubicBezTo>
                  <a:pt x="646" y="579"/>
                  <a:pt x="649" y="588"/>
                  <a:pt x="650" y="594"/>
                </a:cubicBezTo>
                <a:cubicBezTo>
                  <a:pt x="699" y="1060"/>
                  <a:pt x="699" y="1060"/>
                  <a:pt x="699" y="1060"/>
                </a:cubicBezTo>
                <a:cubicBezTo>
                  <a:pt x="630" y="1060"/>
                  <a:pt x="630" y="1060"/>
                  <a:pt x="630" y="1060"/>
                </a:cubicBezTo>
                <a:cubicBezTo>
                  <a:pt x="627" y="740"/>
                  <a:pt x="627" y="740"/>
                  <a:pt x="627" y="740"/>
                </a:cubicBezTo>
                <a:cubicBezTo>
                  <a:pt x="627" y="728"/>
                  <a:pt x="617" y="718"/>
                  <a:pt x="605" y="718"/>
                </a:cubicBezTo>
                <a:cubicBezTo>
                  <a:pt x="593" y="718"/>
                  <a:pt x="584" y="728"/>
                  <a:pt x="584" y="740"/>
                </a:cubicBezTo>
                <a:cubicBezTo>
                  <a:pt x="586" y="1104"/>
                  <a:pt x="586" y="1104"/>
                  <a:pt x="586" y="1104"/>
                </a:cubicBezTo>
                <a:lnTo>
                  <a:pt x="402" y="1104"/>
                </a:lnTo>
                <a:close/>
                <a:moveTo>
                  <a:pt x="686" y="1269"/>
                </a:moveTo>
                <a:cubicBezTo>
                  <a:pt x="680" y="1275"/>
                  <a:pt x="663" y="1291"/>
                  <a:pt x="632" y="1301"/>
                </a:cubicBezTo>
                <a:cubicBezTo>
                  <a:pt x="632" y="1104"/>
                  <a:pt x="632" y="1104"/>
                  <a:pt x="632" y="1104"/>
                </a:cubicBezTo>
                <a:cubicBezTo>
                  <a:pt x="703" y="1104"/>
                  <a:pt x="703" y="1104"/>
                  <a:pt x="703" y="1104"/>
                </a:cubicBezTo>
                <a:cubicBezTo>
                  <a:pt x="713" y="1194"/>
                  <a:pt x="713" y="1194"/>
                  <a:pt x="713" y="1194"/>
                </a:cubicBezTo>
                <a:cubicBezTo>
                  <a:pt x="716" y="1229"/>
                  <a:pt x="701" y="1255"/>
                  <a:pt x="686" y="1269"/>
                </a:cubicBezTo>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GB"/>
          </a:p>
        </p:txBody>
      </p:sp>
      <p:sp>
        <p:nvSpPr>
          <p:cNvPr id="37" name="Freeform 146">
            <a:extLst>
              <a:ext uri="{FF2B5EF4-FFF2-40B4-BE49-F238E27FC236}">
                <a16:creationId xmlns:a16="http://schemas.microsoft.com/office/drawing/2014/main" id="{D7E8169F-E62C-41A4-B079-436B505039DF}"/>
              </a:ext>
            </a:extLst>
          </p:cNvPr>
          <p:cNvSpPr>
            <a:spLocks noChangeAspect="1" noEditPoints="1"/>
          </p:cNvSpPr>
          <p:nvPr/>
        </p:nvSpPr>
        <p:spPr bwMode="auto">
          <a:xfrm>
            <a:off x="1936803" y="2000757"/>
            <a:ext cx="286425" cy="525600"/>
          </a:xfrm>
          <a:custGeom>
            <a:avLst/>
            <a:gdLst>
              <a:gd name="T0" fmla="*/ 416 w 1198"/>
              <a:gd name="T1" fmla="*/ 273 h 2200"/>
              <a:gd name="T2" fmla="*/ 781 w 1198"/>
              <a:gd name="T3" fmla="*/ 285 h 2200"/>
              <a:gd name="T4" fmla="*/ 599 w 1198"/>
              <a:gd name="T5" fmla="*/ 0 h 2200"/>
              <a:gd name="T6" fmla="*/ 599 w 1198"/>
              <a:gd name="T7" fmla="*/ 415 h 2200"/>
              <a:gd name="T8" fmla="*/ 486 w 1198"/>
              <a:gd name="T9" fmla="*/ 97 h 2200"/>
              <a:gd name="T10" fmla="*/ 582 w 1198"/>
              <a:gd name="T11" fmla="*/ 542 h 2200"/>
              <a:gd name="T12" fmla="*/ 444 w 1198"/>
              <a:gd name="T13" fmla="*/ 464 h 2200"/>
              <a:gd name="T14" fmla="*/ 566 w 1198"/>
              <a:gd name="T15" fmla="*/ 488 h 2200"/>
              <a:gd name="T16" fmla="*/ 582 w 1198"/>
              <a:gd name="T17" fmla="*/ 542 h 2200"/>
              <a:gd name="T18" fmla="*/ 632 w 1198"/>
              <a:gd name="T19" fmla="*/ 488 h 2200"/>
              <a:gd name="T20" fmla="*/ 754 w 1198"/>
              <a:gd name="T21" fmla="*/ 464 h 2200"/>
              <a:gd name="T22" fmla="*/ 616 w 1198"/>
              <a:gd name="T23" fmla="*/ 542 h 2200"/>
              <a:gd name="T24" fmla="*/ 582 w 1198"/>
              <a:gd name="T25" fmla="*/ 664 h 2200"/>
              <a:gd name="T26" fmla="*/ 427 w 1198"/>
              <a:gd name="T27" fmla="*/ 479 h 2200"/>
              <a:gd name="T28" fmla="*/ 269 w 1198"/>
              <a:gd name="T29" fmla="*/ 575 h 2200"/>
              <a:gd name="T30" fmla="*/ 81 w 1198"/>
              <a:gd name="T31" fmla="*/ 1025 h 2200"/>
              <a:gd name="T32" fmla="*/ 45 w 1198"/>
              <a:gd name="T33" fmla="*/ 1211 h 2200"/>
              <a:gd name="T34" fmla="*/ 181 w 1198"/>
              <a:gd name="T35" fmla="*/ 1190 h 2200"/>
              <a:gd name="T36" fmla="*/ 8 w 1198"/>
              <a:gd name="T37" fmla="*/ 2137 h 2200"/>
              <a:gd name="T38" fmla="*/ 49 w 1198"/>
              <a:gd name="T39" fmla="*/ 2199 h 2200"/>
              <a:gd name="T40" fmla="*/ 93 w 1198"/>
              <a:gd name="T41" fmla="*/ 2155 h 2200"/>
              <a:gd name="T42" fmla="*/ 306 w 1198"/>
              <a:gd name="T43" fmla="*/ 1058 h 2200"/>
              <a:gd name="T44" fmla="*/ 356 w 1198"/>
              <a:gd name="T45" fmla="*/ 775 h 2200"/>
              <a:gd name="T46" fmla="*/ 344 w 1198"/>
              <a:gd name="T47" fmla="*/ 1501 h 2200"/>
              <a:gd name="T48" fmla="*/ 460 w 1198"/>
              <a:gd name="T49" fmla="*/ 2157 h 2200"/>
              <a:gd name="T50" fmla="*/ 582 w 1198"/>
              <a:gd name="T51" fmla="*/ 1501 h 2200"/>
              <a:gd name="T52" fmla="*/ 558 w 1198"/>
              <a:gd name="T53" fmla="*/ 1230 h 2200"/>
              <a:gd name="T54" fmla="*/ 582 w 1198"/>
              <a:gd name="T55" fmla="*/ 1065 h 2200"/>
              <a:gd name="T56" fmla="*/ 575 w 1198"/>
              <a:gd name="T57" fmla="*/ 1030 h 2200"/>
              <a:gd name="T58" fmla="*/ 575 w 1198"/>
              <a:gd name="T59" fmla="*/ 882 h 2200"/>
              <a:gd name="T60" fmla="*/ 582 w 1198"/>
              <a:gd name="T61" fmla="*/ 847 h 2200"/>
              <a:gd name="T62" fmla="*/ 558 w 1198"/>
              <a:gd name="T63" fmla="*/ 682 h 2200"/>
              <a:gd name="T64" fmla="*/ 80 w 1198"/>
              <a:gd name="T65" fmla="*/ 1179 h 2200"/>
              <a:gd name="T66" fmla="*/ 154 w 1198"/>
              <a:gd name="T67" fmla="*/ 1155 h 2200"/>
              <a:gd name="T68" fmla="*/ 233 w 1198"/>
              <a:gd name="T69" fmla="*/ 1146 h 2200"/>
              <a:gd name="T70" fmla="*/ 251 w 1198"/>
              <a:gd name="T71" fmla="*/ 1060 h 2200"/>
              <a:gd name="T72" fmla="*/ 1167 w 1198"/>
              <a:gd name="T73" fmla="*/ 2108 h 2200"/>
              <a:gd name="T74" fmla="*/ 1049 w 1198"/>
              <a:gd name="T75" fmla="*/ 1217 h 2200"/>
              <a:gd name="T76" fmla="*/ 1171 w 1198"/>
              <a:gd name="T77" fmla="*/ 1204 h 2200"/>
              <a:gd name="T78" fmla="*/ 1097 w 1198"/>
              <a:gd name="T79" fmla="*/ 931 h 2200"/>
              <a:gd name="T80" fmla="*/ 893 w 1198"/>
              <a:gd name="T81" fmla="*/ 533 h 2200"/>
              <a:gd name="T82" fmla="*/ 623 w 1198"/>
              <a:gd name="T83" fmla="*/ 582 h 2200"/>
              <a:gd name="T84" fmla="*/ 623 w 1198"/>
              <a:gd name="T85" fmla="*/ 664 h 2200"/>
              <a:gd name="T86" fmla="*/ 616 w 1198"/>
              <a:gd name="T87" fmla="*/ 699 h 2200"/>
              <a:gd name="T88" fmla="*/ 640 w 1198"/>
              <a:gd name="T89" fmla="*/ 864 h 2200"/>
              <a:gd name="T90" fmla="*/ 616 w 1198"/>
              <a:gd name="T91" fmla="*/ 1030 h 2200"/>
              <a:gd name="T92" fmla="*/ 623 w 1198"/>
              <a:gd name="T93" fmla="*/ 1065 h 2200"/>
              <a:gd name="T94" fmla="*/ 623 w 1198"/>
              <a:gd name="T95" fmla="*/ 1212 h 2200"/>
              <a:gd name="T96" fmla="*/ 616 w 1198"/>
              <a:gd name="T97" fmla="*/ 1248 h 2200"/>
              <a:gd name="T98" fmla="*/ 693 w 1198"/>
              <a:gd name="T99" fmla="*/ 2117 h 2200"/>
              <a:gd name="T100" fmla="*/ 835 w 1198"/>
              <a:gd name="T101" fmla="*/ 1501 h 2200"/>
              <a:gd name="T102" fmla="*/ 874 w 1198"/>
              <a:gd name="T103" fmla="*/ 1480 h 2200"/>
              <a:gd name="T104" fmla="*/ 875 w 1198"/>
              <a:gd name="T105" fmla="*/ 978 h 2200"/>
              <a:gd name="T106" fmla="*/ 1114 w 1198"/>
              <a:gd name="T107" fmla="*/ 2119 h 2200"/>
              <a:gd name="T108" fmla="*/ 1142 w 1198"/>
              <a:gd name="T109" fmla="*/ 2200 h 2200"/>
              <a:gd name="T110" fmla="*/ 1194 w 1198"/>
              <a:gd name="T111" fmla="*/ 2155 h 2200"/>
              <a:gd name="T112" fmla="*/ 1027 w 1198"/>
              <a:gd name="T113" fmla="*/ 1113 h 2200"/>
              <a:gd name="T114" fmla="*/ 1066 w 1198"/>
              <a:gd name="T115" fmla="*/ 1178 h 2200"/>
              <a:gd name="T116" fmla="*/ 947 w 1198"/>
              <a:gd name="T117" fmla="*/ 1060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98" h="2200">
                <a:moveTo>
                  <a:pt x="599" y="0"/>
                </a:moveTo>
                <a:cubicBezTo>
                  <a:pt x="498" y="0"/>
                  <a:pt x="416" y="81"/>
                  <a:pt x="416" y="182"/>
                </a:cubicBezTo>
                <a:cubicBezTo>
                  <a:pt x="416" y="273"/>
                  <a:pt x="416" y="273"/>
                  <a:pt x="416" y="273"/>
                </a:cubicBezTo>
                <a:cubicBezTo>
                  <a:pt x="416" y="374"/>
                  <a:pt x="498" y="456"/>
                  <a:pt x="599" y="456"/>
                </a:cubicBezTo>
                <a:cubicBezTo>
                  <a:pt x="599" y="456"/>
                  <a:pt x="599" y="456"/>
                  <a:pt x="599" y="456"/>
                </a:cubicBezTo>
                <a:cubicBezTo>
                  <a:pt x="696" y="456"/>
                  <a:pt x="775" y="380"/>
                  <a:pt x="781" y="285"/>
                </a:cubicBezTo>
                <a:cubicBezTo>
                  <a:pt x="781" y="281"/>
                  <a:pt x="781" y="273"/>
                  <a:pt x="781" y="273"/>
                </a:cubicBezTo>
                <a:cubicBezTo>
                  <a:pt x="781" y="182"/>
                  <a:pt x="781" y="182"/>
                  <a:pt x="781" y="182"/>
                </a:cubicBezTo>
                <a:cubicBezTo>
                  <a:pt x="781" y="81"/>
                  <a:pt x="700" y="0"/>
                  <a:pt x="599" y="0"/>
                </a:cubicBezTo>
                <a:moveTo>
                  <a:pt x="741" y="182"/>
                </a:moveTo>
                <a:cubicBezTo>
                  <a:pt x="741" y="273"/>
                  <a:pt x="741" y="273"/>
                  <a:pt x="741" y="273"/>
                </a:cubicBezTo>
                <a:cubicBezTo>
                  <a:pt x="741" y="352"/>
                  <a:pt x="677" y="415"/>
                  <a:pt x="599" y="415"/>
                </a:cubicBezTo>
                <a:cubicBezTo>
                  <a:pt x="521" y="415"/>
                  <a:pt x="457" y="352"/>
                  <a:pt x="457" y="273"/>
                </a:cubicBezTo>
                <a:cubicBezTo>
                  <a:pt x="457" y="182"/>
                  <a:pt x="457" y="182"/>
                  <a:pt x="457" y="182"/>
                </a:cubicBezTo>
                <a:cubicBezTo>
                  <a:pt x="457" y="150"/>
                  <a:pt x="468" y="121"/>
                  <a:pt x="486" y="97"/>
                </a:cubicBezTo>
                <a:cubicBezTo>
                  <a:pt x="712" y="97"/>
                  <a:pt x="712" y="97"/>
                  <a:pt x="712" y="97"/>
                </a:cubicBezTo>
                <a:cubicBezTo>
                  <a:pt x="730" y="121"/>
                  <a:pt x="741" y="150"/>
                  <a:pt x="741" y="182"/>
                </a:cubicBezTo>
                <a:close/>
                <a:moveTo>
                  <a:pt x="582" y="542"/>
                </a:moveTo>
                <a:cubicBezTo>
                  <a:pt x="582" y="548"/>
                  <a:pt x="582" y="554"/>
                  <a:pt x="582" y="561"/>
                </a:cubicBezTo>
                <a:cubicBezTo>
                  <a:pt x="568" y="556"/>
                  <a:pt x="556" y="551"/>
                  <a:pt x="544" y="545"/>
                </a:cubicBezTo>
                <a:cubicBezTo>
                  <a:pt x="509" y="528"/>
                  <a:pt x="480" y="503"/>
                  <a:pt x="444" y="464"/>
                </a:cubicBezTo>
                <a:cubicBezTo>
                  <a:pt x="444" y="410"/>
                  <a:pt x="444" y="410"/>
                  <a:pt x="444" y="410"/>
                </a:cubicBezTo>
                <a:cubicBezTo>
                  <a:pt x="561" y="485"/>
                  <a:pt x="561" y="485"/>
                  <a:pt x="561" y="485"/>
                </a:cubicBezTo>
                <a:cubicBezTo>
                  <a:pt x="563" y="486"/>
                  <a:pt x="564" y="487"/>
                  <a:pt x="566" y="488"/>
                </a:cubicBezTo>
                <a:cubicBezTo>
                  <a:pt x="571" y="494"/>
                  <a:pt x="576" y="501"/>
                  <a:pt x="579" y="516"/>
                </a:cubicBezTo>
                <a:cubicBezTo>
                  <a:pt x="579" y="519"/>
                  <a:pt x="580" y="523"/>
                  <a:pt x="580" y="528"/>
                </a:cubicBezTo>
                <a:cubicBezTo>
                  <a:pt x="581" y="532"/>
                  <a:pt x="581" y="537"/>
                  <a:pt x="582" y="542"/>
                </a:cubicBezTo>
                <a:moveTo>
                  <a:pt x="617" y="528"/>
                </a:moveTo>
                <a:cubicBezTo>
                  <a:pt x="618" y="523"/>
                  <a:pt x="619" y="519"/>
                  <a:pt x="619" y="516"/>
                </a:cubicBezTo>
                <a:cubicBezTo>
                  <a:pt x="622" y="501"/>
                  <a:pt x="627" y="494"/>
                  <a:pt x="632" y="488"/>
                </a:cubicBezTo>
                <a:cubicBezTo>
                  <a:pt x="634" y="487"/>
                  <a:pt x="635" y="486"/>
                  <a:pt x="637" y="485"/>
                </a:cubicBezTo>
                <a:cubicBezTo>
                  <a:pt x="754" y="410"/>
                  <a:pt x="754" y="410"/>
                  <a:pt x="754" y="410"/>
                </a:cubicBezTo>
                <a:cubicBezTo>
                  <a:pt x="754" y="464"/>
                  <a:pt x="754" y="464"/>
                  <a:pt x="754" y="464"/>
                </a:cubicBezTo>
                <a:cubicBezTo>
                  <a:pt x="718" y="503"/>
                  <a:pt x="689" y="528"/>
                  <a:pt x="654" y="545"/>
                </a:cubicBezTo>
                <a:cubicBezTo>
                  <a:pt x="642" y="551"/>
                  <a:pt x="629" y="556"/>
                  <a:pt x="616" y="561"/>
                </a:cubicBezTo>
                <a:cubicBezTo>
                  <a:pt x="616" y="554"/>
                  <a:pt x="616" y="548"/>
                  <a:pt x="616" y="542"/>
                </a:cubicBezTo>
                <a:cubicBezTo>
                  <a:pt x="617" y="537"/>
                  <a:pt x="617" y="532"/>
                  <a:pt x="617" y="528"/>
                </a:cubicBezTo>
                <a:moveTo>
                  <a:pt x="575" y="664"/>
                </a:moveTo>
                <a:cubicBezTo>
                  <a:pt x="582" y="664"/>
                  <a:pt x="582" y="664"/>
                  <a:pt x="582" y="664"/>
                </a:cubicBezTo>
                <a:cubicBezTo>
                  <a:pt x="582" y="585"/>
                  <a:pt x="582" y="585"/>
                  <a:pt x="582" y="585"/>
                </a:cubicBezTo>
                <a:cubicBezTo>
                  <a:pt x="575" y="582"/>
                  <a:pt x="575" y="582"/>
                  <a:pt x="575" y="582"/>
                </a:cubicBezTo>
                <a:cubicBezTo>
                  <a:pt x="519" y="564"/>
                  <a:pt x="479" y="536"/>
                  <a:pt x="427" y="479"/>
                </a:cubicBezTo>
                <a:cubicBezTo>
                  <a:pt x="425" y="477"/>
                  <a:pt x="425" y="477"/>
                  <a:pt x="425" y="477"/>
                </a:cubicBezTo>
                <a:cubicBezTo>
                  <a:pt x="305" y="533"/>
                  <a:pt x="305" y="533"/>
                  <a:pt x="305" y="533"/>
                </a:cubicBezTo>
                <a:cubicBezTo>
                  <a:pt x="280" y="548"/>
                  <a:pt x="276" y="561"/>
                  <a:pt x="269" y="575"/>
                </a:cubicBezTo>
                <a:cubicBezTo>
                  <a:pt x="129" y="937"/>
                  <a:pt x="129" y="937"/>
                  <a:pt x="129" y="937"/>
                </a:cubicBezTo>
                <a:cubicBezTo>
                  <a:pt x="101" y="931"/>
                  <a:pt x="101" y="931"/>
                  <a:pt x="101" y="931"/>
                </a:cubicBezTo>
                <a:cubicBezTo>
                  <a:pt x="81" y="1025"/>
                  <a:pt x="81" y="1025"/>
                  <a:pt x="81" y="1025"/>
                </a:cubicBezTo>
                <a:cubicBezTo>
                  <a:pt x="94" y="1028"/>
                  <a:pt x="94" y="1028"/>
                  <a:pt x="94" y="1028"/>
                </a:cubicBezTo>
                <a:cubicBezTo>
                  <a:pt x="26" y="1204"/>
                  <a:pt x="26" y="1204"/>
                  <a:pt x="26" y="1204"/>
                </a:cubicBezTo>
                <a:cubicBezTo>
                  <a:pt x="45" y="1211"/>
                  <a:pt x="45" y="1211"/>
                  <a:pt x="45" y="1211"/>
                </a:cubicBezTo>
                <a:cubicBezTo>
                  <a:pt x="49" y="1213"/>
                  <a:pt x="77" y="1224"/>
                  <a:pt x="108" y="1224"/>
                </a:cubicBezTo>
                <a:cubicBezTo>
                  <a:pt x="121" y="1224"/>
                  <a:pt x="135" y="1222"/>
                  <a:pt x="148" y="1217"/>
                </a:cubicBezTo>
                <a:cubicBezTo>
                  <a:pt x="162" y="1211"/>
                  <a:pt x="173" y="1202"/>
                  <a:pt x="181" y="1190"/>
                </a:cubicBezTo>
                <a:cubicBezTo>
                  <a:pt x="222" y="1199"/>
                  <a:pt x="222" y="1199"/>
                  <a:pt x="222" y="1199"/>
                </a:cubicBezTo>
                <a:cubicBezTo>
                  <a:pt x="31" y="2108"/>
                  <a:pt x="31" y="2108"/>
                  <a:pt x="31" y="2108"/>
                </a:cubicBezTo>
                <a:cubicBezTo>
                  <a:pt x="20" y="2114"/>
                  <a:pt x="11" y="2124"/>
                  <a:pt x="8" y="2137"/>
                </a:cubicBezTo>
                <a:cubicBezTo>
                  <a:pt x="4" y="2155"/>
                  <a:pt x="4" y="2155"/>
                  <a:pt x="4" y="2155"/>
                </a:cubicBezTo>
                <a:cubicBezTo>
                  <a:pt x="0" y="2173"/>
                  <a:pt x="12" y="2191"/>
                  <a:pt x="30" y="2195"/>
                </a:cubicBezTo>
                <a:cubicBezTo>
                  <a:pt x="49" y="2199"/>
                  <a:pt x="49" y="2199"/>
                  <a:pt x="49" y="2199"/>
                </a:cubicBezTo>
                <a:cubicBezTo>
                  <a:pt x="51" y="2200"/>
                  <a:pt x="54" y="2200"/>
                  <a:pt x="56" y="2200"/>
                </a:cubicBezTo>
                <a:cubicBezTo>
                  <a:pt x="72" y="2200"/>
                  <a:pt x="86" y="2189"/>
                  <a:pt x="89" y="2173"/>
                </a:cubicBezTo>
                <a:cubicBezTo>
                  <a:pt x="93" y="2155"/>
                  <a:pt x="93" y="2155"/>
                  <a:pt x="93" y="2155"/>
                </a:cubicBezTo>
                <a:cubicBezTo>
                  <a:pt x="96" y="2142"/>
                  <a:pt x="92" y="2129"/>
                  <a:pt x="83" y="2119"/>
                </a:cubicBezTo>
                <a:cubicBezTo>
                  <a:pt x="306" y="1061"/>
                  <a:pt x="306" y="1061"/>
                  <a:pt x="306" y="1061"/>
                </a:cubicBezTo>
                <a:cubicBezTo>
                  <a:pt x="306" y="1060"/>
                  <a:pt x="306" y="1059"/>
                  <a:pt x="306" y="1058"/>
                </a:cubicBezTo>
                <a:cubicBezTo>
                  <a:pt x="322" y="978"/>
                  <a:pt x="322" y="978"/>
                  <a:pt x="322" y="978"/>
                </a:cubicBezTo>
                <a:cubicBezTo>
                  <a:pt x="276" y="968"/>
                  <a:pt x="276" y="968"/>
                  <a:pt x="276" y="968"/>
                </a:cubicBezTo>
                <a:cubicBezTo>
                  <a:pt x="356" y="775"/>
                  <a:pt x="356" y="775"/>
                  <a:pt x="356" y="775"/>
                </a:cubicBezTo>
                <a:cubicBezTo>
                  <a:pt x="324" y="1480"/>
                  <a:pt x="324" y="1480"/>
                  <a:pt x="324" y="1480"/>
                </a:cubicBezTo>
                <a:cubicBezTo>
                  <a:pt x="323" y="1485"/>
                  <a:pt x="325" y="1491"/>
                  <a:pt x="329" y="1495"/>
                </a:cubicBezTo>
                <a:cubicBezTo>
                  <a:pt x="333" y="1499"/>
                  <a:pt x="338" y="1501"/>
                  <a:pt x="344" y="1501"/>
                </a:cubicBezTo>
                <a:cubicBezTo>
                  <a:pt x="363" y="1501"/>
                  <a:pt x="363" y="1501"/>
                  <a:pt x="363" y="1501"/>
                </a:cubicBezTo>
                <a:cubicBezTo>
                  <a:pt x="363" y="2157"/>
                  <a:pt x="363" y="2157"/>
                  <a:pt x="363" y="2157"/>
                </a:cubicBezTo>
                <a:cubicBezTo>
                  <a:pt x="460" y="2157"/>
                  <a:pt x="460" y="2157"/>
                  <a:pt x="460" y="2157"/>
                </a:cubicBezTo>
                <a:cubicBezTo>
                  <a:pt x="482" y="2157"/>
                  <a:pt x="503" y="2139"/>
                  <a:pt x="505" y="2117"/>
                </a:cubicBezTo>
                <a:cubicBezTo>
                  <a:pt x="562" y="1501"/>
                  <a:pt x="562" y="1501"/>
                  <a:pt x="562" y="1501"/>
                </a:cubicBezTo>
                <a:cubicBezTo>
                  <a:pt x="582" y="1501"/>
                  <a:pt x="582" y="1501"/>
                  <a:pt x="582" y="1501"/>
                </a:cubicBezTo>
                <a:cubicBezTo>
                  <a:pt x="582" y="1248"/>
                  <a:pt x="582" y="1248"/>
                  <a:pt x="582" y="1248"/>
                </a:cubicBezTo>
                <a:cubicBezTo>
                  <a:pt x="575" y="1248"/>
                  <a:pt x="575" y="1248"/>
                  <a:pt x="575" y="1248"/>
                </a:cubicBezTo>
                <a:cubicBezTo>
                  <a:pt x="566" y="1248"/>
                  <a:pt x="558" y="1240"/>
                  <a:pt x="558" y="1230"/>
                </a:cubicBezTo>
                <a:cubicBezTo>
                  <a:pt x="558" y="1220"/>
                  <a:pt x="566" y="1212"/>
                  <a:pt x="575" y="1212"/>
                </a:cubicBezTo>
                <a:cubicBezTo>
                  <a:pt x="582" y="1212"/>
                  <a:pt x="582" y="1212"/>
                  <a:pt x="582" y="1212"/>
                </a:cubicBezTo>
                <a:cubicBezTo>
                  <a:pt x="582" y="1065"/>
                  <a:pt x="582" y="1065"/>
                  <a:pt x="582" y="1065"/>
                </a:cubicBezTo>
                <a:cubicBezTo>
                  <a:pt x="575" y="1065"/>
                  <a:pt x="575" y="1065"/>
                  <a:pt x="575" y="1065"/>
                </a:cubicBezTo>
                <a:cubicBezTo>
                  <a:pt x="566" y="1065"/>
                  <a:pt x="558" y="1057"/>
                  <a:pt x="558" y="1047"/>
                </a:cubicBezTo>
                <a:cubicBezTo>
                  <a:pt x="558" y="1038"/>
                  <a:pt x="566" y="1030"/>
                  <a:pt x="575" y="1030"/>
                </a:cubicBezTo>
                <a:cubicBezTo>
                  <a:pt x="582" y="1030"/>
                  <a:pt x="582" y="1030"/>
                  <a:pt x="582" y="1030"/>
                </a:cubicBezTo>
                <a:cubicBezTo>
                  <a:pt x="582" y="882"/>
                  <a:pt x="582" y="882"/>
                  <a:pt x="582" y="882"/>
                </a:cubicBezTo>
                <a:cubicBezTo>
                  <a:pt x="575" y="882"/>
                  <a:pt x="575" y="882"/>
                  <a:pt x="575" y="882"/>
                </a:cubicBezTo>
                <a:cubicBezTo>
                  <a:pt x="566" y="882"/>
                  <a:pt x="558" y="874"/>
                  <a:pt x="558" y="864"/>
                </a:cubicBezTo>
                <a:cubicBezTo>
                  <a:pt x="558" y="855"/>
                  <a:pt x="566" y="847"/>
                  <a:pt x="575" y="847"/>
                </a:cubicBezTo>
                <a:cubicBezTo>
                  <a:pt x="582" y="847"/>
                  <a:pt x="582" y="847"/>
                  <a:pt x="582" y="847"/>
                </a:cubicBezTo>
                <a:cubicBezTo>
                  <a:pt x="582" y="699"/>
                  <a:pt x="582" y="699"/>
                  <a:pt x="582" y="699"/>
                </a:cubicBezTo>
                <a:cubicBezTo>
                  <a:pt x="575" y="699"/>
                  <a:pt x="575" y="699"/>
                  <a:pt x="575" y="699"/>
                </a:cubicBezTo>
                <a:cubicBezTo>
                  <a:pt x="566" y="699"/>
                  <a:pt x="558" y="691"/>
                  <a:pt x="558" y="682"/>
                </a:cubicBezTo>
                <a:cubicBezTo>
                  <a:pt x="558" y="672"/>
                  <a:pt x="566" y="664"/>
                  <a:pt x="575" y="664"/>
                </a:cubicBezTo>
                <a:moveTo>
                  <a:pt x="132" y="1178"/>
                </a:moveTo>
                <a:cubicBezTo>
                  <a:pt x="117" y="1185"/>
                  <a:pt x="96" y="1183"/>
                  <a:pt x="80" y="1179"/>
                </a:cubicBezTo>
                <a:cubicBezTo>
                  <a:pt x="114" y="1090"/>
                  <a:pt x="114" y="1090"/>
                  <a:pt x="114" y="1090"/>
                </a:cubicBezTo>
                <a:cubicBezTo>
                  <a:pt x="171" y="1113"/>
                  <a:pt x="171" y="1113"/>
                  <a:pt x="171" y="1113"/>
                </a:cubicBezTo>
                <a:cubicBezTo>
                  <a:pt x="154" y="1155"/>
                  <a:pt x="154" y="1155"/>
                  <a:pt x="154" y="1155"/>
                </a:cubicBezTo>
                <a:cubicBezTo>
                  <a:pt x="150" y="1166"/>
                  <a:pt x="142" y="1174"/>
                  <a:pt x="132" y="1178"/>
                </a:cubicBezTo>
                <a:moveTo>
                  <a:pt x="251" y="1060"/>
                </a:moveTo>
                <a:cubicBezTo>
                  <a:pt x="233" y="1146"/>
                  <a:pt x="233" y="1146"/>
                  <a:pt x="233" y="1146"/>
                </a:cubicBezTo>
                <a:cubicBezTo>
                  <a:pt x="205" y="1140"/>
                  <a:pt x="205" y="1140"/>
                  <a:pt x="205" y="1140"/>
                </a:cubicBezTo>
                <a:cubicBezTo>
                  <a:pt x="239" y="1058"/>
                  <a:pt x="239" y="1058"/>
                  <a:pt x="239" y="1058"/>
                </a:cubicBezTo>
                <a:lnTo>
                  <a:pt x="251" y="1060"/>
                </a:lnTo>
                <a:close/>
                <a:moveTo>
                  <a:pt x="1194" y="2155"/>
                </a:moveTo>
                <a:cubicBezTo>
                  <a:pt x="1190" y="2137"/>
                  <a:pt x="1190" y="2137"/>
                  <a:pt x="1190" y="2137"/>
                </a:cubicBezTo>
                <a:cubicBezTo>
                  <a:pt x="1187" y="2124"/>
                  <a:pt x="1178" y="2114"/>
                  <a:pt x="1167" y="2108"/>
                </a:cubicBezTo>
                <a:cubicBezTo>
                  <a:pt x="976" y="1199"/>
                  <a:pt x="976" y="1199"/>
                  <a:pt x="976" y="1199"/>
                </a:cubicBezTo>
                <a:cubicBezTo>
                  <a:pt x="1017" y="1190"/>
                  <a:pt x="1017" y="1190"/>
                  <a:pt x="1017" y="1190"/>
                </a:cubicBezTo>
                <a:cubicBezTo>
                  <a:pt x="1025" y="1202"/>
                  <a:pt x="1036" y="1211"/>
                  <a:pt x="1049" y="1217"/>
                </a:cubicBezTo>
                <a:cubicBezTo>
                  <a:pt x="1063" y="1222"/>
                  <a:pt x="1077" y="1224"/>
                  <a:pt x="1090" y="1224"/>
                </a:cubicBezTo>
                <a:cubicBezTo>
                  <a:pt x="1121" y="1224"/>
                  <a:pt x="1149" y="1213"/>
                  <a:pt x="1153" y="1211"/>
                </a:cubicBezTo>
                <a:cubicBezTo>
                  <a:pt x="1171" y="1204"/>
                  <a:pt x="1171" y="1204"/>
                  <a:pt x="1171" y="1204"/>
                </a:cubicBezTo>
                <a:cubicBezTo>
                  <a:pt x="1103" y="1028"/>
                  <a:pt x="1103" y="1028"/>
                  <a:pt x="1103" y="1028"/>
                </a:cubicBezTo>
                <a:cubicBezTo>
                  <a:pt x="1117" y="1025"/>
                  <a:pt x="1117" y="1025"/>
                  <a:pt x="1117" y="1025"/>
                </a:cubicBezTo>
                <a:cubicBezTo>
                  <a:pt x="1097" y="931"/>
                  <a:pt x="1097" y="931"/>
                  <a:pt x="1097" y="931"/>
                </a:cubicBezTo>
                <a:cubicBezTo>
                  <a:pt x="1068" y="937"/>
                  <a:pt x="1068" y="937"/>
                  <a:pt x="1068" y="937"/>
                </a:cubicBezTo>
                <a:cubicBezTo>
                  <a:pt x="929" y="575"/>
                  <a:pt x="929" y="575"/>
                  <a:pt x="929" y="575"/>
                </a:cubicBezTo>
                <a:cubicBezTo>
                  <a:pt x="922" y="561"/>
                  <a:pt x="918" y="548"/>
                  <a:pt x="893" y="533"/>
                </a:cubicBezTo>
                <a:cubicBezTo>
                  <a:pt x="772" y="477"/>
                  <a:pt x="772" y="477"/>
                  <a:pt x="772" y="477"/>
                </a:cubicBezTo>
                <a:cubicBezTo>
                  <a:pt x="771" y="479"/>
                  <a:pt x="771" y="479"/>
                  <a:pt x="771" y="479"/>
                </a:cubicBezTo>
                <a:cubicBezTo>
                  <a:pt x="719" y="536"/>
                  <a:pt x="679" y="564"/>
                  <a:pt x="623" y="582"/>
                </a:cubicBezTo>
                <a:cubicBezTo>
                  <a:pt x="616" y="585"/>
                  <a:pt x="616" y="585"/>
                  <a:pt x="616" y="585"/>
                </a:cubicBezTo>
                <a:cubicBezTo>
                  <a:pt x="616" y="664"/>
                  <a:pt x="616" y="664"/>
                  <a:pt x="616" y="664"/>
                </a:cubicBezTo>
                <a:cubicBezTo>
                  <a:pt x="623" y="664"/>
                  <a:pt x="623" y="664"/>
                  <a:pt x="623" y="664"/>
                </a:cubicBezTo>
                <a:cubicBezTo>
                  <a:pt x="632" y="664"/>
                  <a:pt x="640" y="672"/>
                  <a:pt x="640" y="682"/>
                </a:cubicBezTo>
                <a:cubicBezTo>
                  <a:pt x="640" y="691"/>
                  <a:pt x="632" y="699"/>
                  <a:pt x="623" y="699"/>
                </a:cubicBezTo>
                <a:cubicBezTo>
                  <a:pt x="616" y="699"/>
                  <a:pt x="616" y="699"/>
                  <a:pt x="616" y="699"/>
                </a:cubicBezTo>
                <a:cubicBezTo>
                  <a:pt x="616" y="847"/>
                  <a:pt x="616" y="847"/>
                  <a:pt x="616" y="847"/>
                </a:cubicBezTo>
                <a:cubicBezTo>
                  <a:pt x="623" y="847"/>
                  <a:pt x="623" y="847"/>
                  <a:pt x="623" y="847"/>
                </a:cubicBezTo>
                <a:cubicBezTo>
                  <a:pt x="632" y="847"/>
                  <a:pt x="640" y="855"/>
                  <a:pt x="640" y="864"/>
                </a:cubicBezTo>
                <a:cubicBezTo>
                  <a:pt x="640" y="874"/>
                  <a:pt x="632" y="882"/>
                  <a:pt x="623" y="882"/>
                </a:cubicBezTo>
                <a:cubicBezTo>
                  <a:pt x="616" y="882"/>
                  <a:pt x="616" y="882"/>
                  <a:pt x="616" y="882"/>
                </a:cubicBezTo>
                <a:cubicBezTo>
                  <a:pt x="616" y="1030"/>
                  <a:pt x="616" y="1030"/>
                  <a:pt x="616" y="1030"/>
                </a:cubicBezTo>
                <a:cubicBezTo>
                  <a:pt x="623" y="1030"/>
                  <a:pt x="623" y="1030"/>
                  <a:pt x="623" y="1030"/>
                </a:cubicBezTo>
                <a:cubicBezTo>
                  <a:pt x="632" y="1030"/>
                  <a:pt x="640" y="1038"/>
                  <a:pt x="640" y="1047"/>
                </a:cubicBezTo>
                <a:cubicBezTo>
                  <a:pt x="640" y="1057"/>
                  <a:pt x="632" y="1065"/>
                  <a:pt x="623" y="1065"/>
                </a:cubicBezTo>
                <a:cubicBezTo>
                  <a:pt x="616" y="1065"/>
                  <a:pt x="616" y="1065"/>
                  <a:pt x="616" y="1065"/>
                </a:cubicBezTo>
                <a:cubicBezTo>
                  <a:pt x="616" y="1212"/>
                  <a:pt x="616" y="1212"/>
                  <a:pt x="616" y="1212"/>
                </a:cubicBezTo>
                <a:cubicBezTo>
                  <a:pt x="623" y="1212"/>
                  <a:pt x="623" y="1212"/>
                  <a:pt x="623" y="1212"/>
                </a:cubicBezTo>
                <a:cubicBezTo>
                  <a:pt x="632" y="1212"/>
                  <a:pt x="640" y="1220"/>
                  <a:pt x="640" y="1230"/>
                </a:cubicBezTo>
                <a:cubicBezTo>
                  <a:pt x="640" y="1240"/>
                  <a:pt x="632" y="1248"/>
                  <a:pt x="623" y="1248"/>
                </a:cubicBezTo>
                <a:cubicBezTo>
                  <a:pt x="616" y="1248"/>
                  <a:pt x="616" y="1248"/>
                  <a:pt x="616" y="1248"/>
                </a:cubicBezTo>
                <a:cubicBezTo>
                  <a:pt x="616" y="1501"/>
                  <a:pt x="616" y="1501"/>
                  <a:pt x="616" y="1501"/>
                </a:cubicBezTo>
                <a:cubicBezTo>
                  <a:pt x="636" y="1501"/>
                  <a:pt x="636" y="1501"/>
                  <a:pt x="636" y="1501"/>
                </a:cubicBezTo>
                <a:cubicBezTo>
                  <a:pt x="693" y="2117"/>
                  <a:pt x="693" y="2117"/>
                  <a:pt x="693" y="2117"/>
                </a:cubicBezTo>
                <a:cubicBezTo>
                  <a:pt x="695" y="2139"/>
                  <a:pt x="715" y="2157"/>
                  <a:pt x="738" y="2157"/>
                </a:cubicBezTo>
                <a:cubicBezTo>
                  <a:pt x="835" y="2157"/>
                  <a:pt x="835" y="2157"/>
                  <a:pt x="835" y="2157"/>
                </a:cubicBezTo>
                <a:cubicBezTo>
                  <a:pt x="835" y="1501"/>
                  <a:pt x="835" y="1501"/>
                  <a:pt x="835" y="1501"/>
                </a:cubicBezTo>
                <a:cubicBezTo>
                  <a:pt x="854" y="1501"/>
                  <a:pt x="854" y="1501"/>
                  <a:pt x="854" y="1501"/>
                </a:cubicBezTo>
                <a:cubicBezTo>
                  <a:pt x="860" y="1501"/>
                  <a:pt x="865" y="1499"/>
                  <a:pt x="869" y="1495"/>
                </a:cubicBezTo>
                <a:cubicBezTo>
                  <a:pt x="873" y="1491"/>
                  <a:pt x="875" y="1485"/>
                  <a:pt x="874" y="1480"/>
                </a:cubicBezTo>
                <a:cubicBezTo>
                  <a:pt x="842" y="775"/>
                  <a:pt x="842" y="775"/>
                  <a:pt x="842" y="775"/>
                </a:cubicBezTo>
                <a:cubicBezTo>
                  <a:pt x="922" y="968"/>
                  <a:pt x="922" y="968"/>
                  <a:pt x="922" y="968"/>
                </a:cubicBezTo>
                <a:cubicBezTo>
                  <a:pt x="875" y="978"/>
                  <a:pt x="875" y="978"/>
                  <a:pt x="875" y="978"/>
                </a:cubicBezTo>
                <a:cubicBezTo>
                  <a:pt x="892" y="1058"/>
                  <a:pt x="892" y="1058"/>
                  <a:pt x="892" y="1058"/>
                </a:cubicBezTo>
                <a:cubicBezTo>
                  <a:pt x="892" y="1059"/>
                  <a:pt x="892" y="1060"/>
                  <a:pt x="892" y="1061"/>
                </a:cubicBezTo>
                <a:cubicBezTo>
                  <a:pt x="1114" y="2119"/>
                  <a:pt x="1114" y="2119"/>
                  <a:pt x="1114" y="2119"/>
                </a:cubicBezTo>
                <a:cubicBezTo>
                  <a:pt x="1106" y="2129"/>
                  <a:pt x="1102" y="2142"/>
                  <a:pt x="1105" y="2155"/>
                </a:cubicBezTo>
                <a:cubicBezTo>
                  <a:pt x="1109" y="2173"/>
                  <a:pt x="1109" y="2173"/>
                  <a:pt x="1109" y="2173"/>
                </a:cubicBezTo>
                <a:cubicBezTo>
                  <a:pt x="1112" y="2189"/>
                  <a:pt x="1126" y="2200"/>
                  <a:pt x="1142" y="2200"/>
                </a:cubicBezTo>
                <a:cubicBezTo>
                  <a:pt x="1144" y="2200"/>
                  <a:pt x="1147" y="2200"/>
                  <a:pt x="1149" y="2199"/>
                </a:cubicBezTo>
                <a:cubicBezTo>
                  <a:pt x="1168" y="2195"/>
                  <a:pt x="1168" y="2195"/>
                  <a:pt x="1168" y="2195"/>
                </a:cubicBezTo>
                <a:cubicBezTo>
                  <a:pt x="1186" y="2191"/>
                  <a:pt x="1198" y="2173"/>
                  <a:pt x="1194" y="2155"/>
                </a:cubicBezTo>
                <a:moveTo>
                  <a:pt x="1066" y="1178"/>
                </a:moveTo>
                <a:cubicBezTo>
                  <a:pt x="1055" y="1174"/>
                  <a:pt x="1048" y="1166"/>
                  <a:pt x="1044" y="1155"/>
                </a:cubicBezTo>
                <a:cubicBezTo>
                  <a:pt x="1027" y="1113"/>
                  <a:pt x="1027" y="1113"/>
                  <a:pt x="1027" y="1113"/>
                </a:cubicBezTo>
                <a:cubicBezTo>
                  <a:pt x="1084" y="1090"/>
                  <a:pt x="1084" y="1090"/>
                  <a:pt x="1084" y="1090"/>
                </a:cubicBezTo>
                <a:cubicBezTo>
                  <a:pt x="1117" y="1179"/>
                  <a:pt x="1117" y="1179"/>
                  <a:pt x="1117" y="1179"/>
                </a:cubicBezTo>
                <a:cubicBezTo>
                  <a:pt x="1102" y="1183"/>
                  <a:pt x="1081" y="1185"/>
                  <a:pt x="1066" y="1178"/>
                </a:cubicBezTo>
                <a:moveTo>
                  <a:pt x="993" y="1140"/>
                </a:moveTo>
                <a:cubicBezTo>
                  <a:pt x="965" y="1146"/>
                  <a:pt x="965" y="1146"/>
                  <a:pt x="965" y="1146"/>
                </a:cubicBezTo>
                <a:cubicBezTo>
                  <a:pt x="947" y="1060"/>
                  <a:pt x="947" y="1060"/>
                  <a:pt x="947" y="1060"/>
                </a:cubicBezTo>
                <a:cubicBezTo>
                  <a:pt x="959" y="1058"/>
                  <a:pt x="959" y="1058"/>
                  <a:pt x="959" y="1058"/>
                </a:cubicBezTo>
                <a:lnTo>
                  <a:pt x="993" y="114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38" name="Group 51">
            <a:extLst>
              <a:ext uri="{FF2B5EF4-FFF2-40B4-BE49-F238E27FC236}">
                <a16:creationId xmlns:a16="http://schemas.microsoft.com/office/drawing/2014/main" id="{A9A1D680-E940-4C14-956E-2B6A6E9E6B1D}"/>
              </a:ext>
            </a:extLst>
          </p:cNvPr>
          <p:cNvGrpSpPr>
            <a:grpSpLocks noChangeAspect="1"/>
          </p:cNvGrpSpPr>
          <p:nvPr/>
        </p:nvGrpSpPr>
        <p:grpSpPr bwMode="auto">
          <a:xfrm>
            <a:off x="1825250" y="1358753"/>
            <a:ext cx="182563" cy="527050"/>
            <a:chOff x="5269" y="2490"/>
            <a:chExt cx="115" cy="332"/>
          </a:xfrm>
          <a:solidFill>
            <a:schemeClr val="accent5"/>
          </a:solidFill>
        </p:grpSpPr>
        <p:sp>
          <p:nvSpPr>
            <p:cNvPr id="39" name="Freeform 52">
              <a:extLst>
                <a:ext uri="{FF2B5EF4-FFF2-40B4-BE49-F238E27FC236}">
                  <a16:creationId xmlns:a16="http://schemas.microsoft.com/office/drawing/2014/main" id="{55CDEF6A-2EB1-44A4-A890-76BDB45A6D37}"/>
                </a:ext>
              </a:extLst>
            </p:cNvPr>
            <p:cNvSpPr>
              <a:spLocks noEditPoints="1"/>
            </p:cNvSpPr>
            <p:nvPr/>
          </p:nvSpPr>
          <p:spPr bwMode="auto">
            <a:xfrm>
              <a:off x="5269" y="2561"/>
              <a:ext cx="115" cy="261"/>
            </a:xfrm>
            <a:custGeom>
              <a:avLst/>
              <a:gdLst>
                <a:gd name="T0" fmla="*/ 682 w 762"/>
                <a:gd name="T1" fmla="*/ 860 h 1731"/>
                <a:gd name="T2" fmla="*/ 757 w 762"/>
                <a:gd name="T3" fmla="*/ 721 h 1731"/>
                <a:gd name="T4" fmla="*/ 693 w 762"/>
                <a:gd name="T5" fmla="*/ 119 h 1731"/>
                <a:gd name="T6" fmla="*/ 650 w 762"/>
                <a:gd name="T7" fmla="*/ 58 h 1731"/>
                <a:gd name="T8" fmla="*/ 526 w 762"/>
                <a:gd name="T9" fmla="*/ 0 h 1731"/>
                <a:gd name="T10" fmla="*/ 526 w 762"/>
                <a:gd name="T11" fmla="*/ 87 h 1731"/>
                <a:gd name="T12" fmla="*/ 517 w 762"/>
                <a:gd name="T13" fmla="*/ 105 h 1731"/>
                <a:gd name="T14" fmla="*/ 505 w 762"/>
                <a:gd name="T15" fmla="*/ 108 h 1731"/>
                <a:gd name="T16" fmla="*/ 497 w 762"/>
                <a:gd name="T17" fmla="*/ 107 h 1731"/>
                <a:gd name="T18" fmla="*/ 381 w 762"/>
                <a:gd name="T19" fmla="*/ 63 h 1731"/>
                <a:gd name="T20" fmla="*/ 265 w 762"/>
                <a:gd name="T21" fmla="*/ 107 h 1731"/>
                <a:gd name="T22" fmla="*/ 258 w 762"/>
                <a:gd name="T23" fmla="*/ 108 h 1731"/>
                <a:gd name="T24" fmla="*/ 245 w 762"/>
                <a:gd name="T25" fmla="*/ 105 h 1731"/>
                <a:gd name="T26" fmla="*/ 236 w 762"/>
                <a:gd name="T27" fmla="*/ 87 h 1731"/>
                <a:gd name="T28" fmla="*/ 236 w 762"/>
                <a:gd name="T29" fmla="*/ 0 h 1731"/>
                <a:gd name="T30" fmla="*/ 112 w 762"/>
                <a:gd name="T31" fmla="*/ 58 h 1731"/>
                <a:gd name="T32" fmla="*/ 69 w 762"/>
                <a:gd name="T33" fmla="*/ 119 h 1731"/>
                <a:gd name="T34" fmla="*/ 6 w 762"/>
                <a:gd name="T35" fmla="*/ 721 h 1731"/>
                <a:gd name="T36" fmla="*/ 80 w 762"/>
                <a:gd name="T37" fmla="*/ 860 h 1731"/>
                <a:gd name="T38" fmla="*/ 15 w 762"/>
                <a:gd name="T39" fmla="*/ 1155 h 1731"/>
                <a:gd name="T40" fmla="*/ 48 w 762"/>
                <a:gd name="T41" fmla="*/ 1196 h 1731"/>
                <a:gd name="T42" fmla="*/ 177 w 762"/>
                <a:gd name="T43" fmla="*/ 1196 h 1731"/>
                <a:gd name="T44" fmla="*/ 247 w 762"/>
                <a:gd name="T45" fmla="*/ 1688 h 1731"/>
                <a:gd name="T46" fmla="*/ 296 w 762"/>
                <a:gd name="T47" fmla="*/ 1731 h 1731"/>
                <a:gd name="T48" fmla="*/ 360 w 762"/>
                <a:gd name="T49" fmla="*/ 1731 h 1731"/>
                <a:gd name="T50" fmla="*/ 360 w 762"/>
                <a:gd name="T51" fmla="*/ 1196 h 1731"/>
                <a:gd name="T52" fmla="*/ 403 w 762"/>
                <a:gd name="T53" fmla="*/ 1196 h 1731"/>
                <a:gd name="T54" fmla="*/ 403 w 762"/>
                <a:gd name="T55" fmla="*/ 1731 h 1731"/>
                <a:gd name="T56" fmla="*/ 467 w 762"/>
                <a:gd name="T57" fmla="*/ 1731 h 1731"/>
                <a:gd name="T58" fmla="*/ 516 w 762"/>
                <a:gd name="T59" fmla="*/ 1688 h 1731"/>
                <a:gd name="T60" fmla="*/ 586 w 762"/>
                <a:gd name="T61" fmla="*/ 1196 h 1731"/>
                <a:gd name="T62" fmla="*/ 714 w 762"/>
                <a:gd name="T63" fmla="*/ 1196 h 1731"/>
                <a:gd name="T64" fmla="*/ 748 w 762"/>
                <a:gd name="T65" fmla="*/ 1155 h 1731"/>
                <a:gd name="T66" fmla="*/ 682 w 762"/>
                <a:gd name="T67" fmla="*/ 860 h 1731"/>
                <a:gd name="T68" fmla="*/ 705 w 762"/>
                <a:gd name="T69" fmla="*/ 635 h 1731"/>
                <a:gd name="T70" fmla="*/ 714 w 762"/>
                <a:gd name="T71" fmla="*/ 724 h 1731"/>
                <a:gd name="T72" fmla="*/ 688 w 762"/>
                <a:gd name="T73" fmla="*/ 801 h 1731"/>
                <a:gd name="T74" fmla="*/ 672 w 762"/>
                <a:gd name="T75" fmla="*/ 815 h 1731"/>
                <a:gd name="T76" fmla="*/ 632 w 762"/>
                <a:gd name="T77" fmla="*/ 635 h 1731"/>
                <a:gd name="T78" fmla="*/ 705 w 762"/>
                <a:gd name="T79" fmla="*/ 635 h 1731"/>
                <a:gd name="T80" fmla="*/ 75 w 762"/>
                <a:gd name="T81" fmla="*/ 801 h 1731"/>
                <a:gd name="T82" fmla="*/ 48 w 762"/>
                <a:gd name="T83" fmla="*/ 725 h 1731"/>
                <a:gd name="T84" fmla="*/ 58 w 762"/>
                <a:gd name="T85" fmla="*/ 635 h 1731"/>
                <a:gd name="T86" fmla="*/ 130 w 762"/>
                <a:gd name="T87" fmla="*/ 635 h 1731"/>
                <a:gd name="T88" fmla="*/ 90 w 762"/>
                <a:gd name="T89" fmla="*/ 814 h 1731"/>
                <a:gd name="T90" fmla="*/ 75 w 762"/>
                <a:gd name="T91" fmla="*/ 801 h 1731"/>
                <a:gd name="T92" fmla="*/ 59 w 762"/>
                <a:gd name="T93" fmla="*/ 1154 h 1731"/>
                <a:gd name="T94" fmla="*/ 181 w 762"/>
                <a:gd name="T95" fmla="*/ 601 h 1731"/>
                <a:gd name="T96" fmla="*/ 191 w 762"/>
                <a:gd name="T97" fmla="*/ 593 h 1731"/>
                <a:gd name="T98" fmla="*/ 571 w 762"/>
                <a:gd name="T99" fmla="*/ 593 h 1731"/>
                <a:gd name="T100" fmla="*/ 581 w 762"/>
                <a:gd name="T101" fmla="*/ 601 h 1731"/>
                <a:gd name="T102" fmla="*/ 703 w 762"/>
                <a:gd name="T103" fmla="*/ 1154 h 1731"/>
                <a:gd name="T104" fmla="*/ 59 w 762"/>
                <a:gd name="T105" fmla="*/ 1154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62" h="1731">
                  <a:moveTo>
                    <a:pt x="682" y="860"/>
                  </a:moveTo>
                  <a:cubicBezTo>
                    <a:pt x="731" y="830"/>
                    <a:pt x="762" y="779"/>
                    <a:pt x="757" y="721"/>
                  </a:cubicBezTo>
                  <a:cubicBezTo>
                    <a:pt x="693" y="119"/>
                    <a:pt x="693" y="119"/>
                    <a:pt x="693" y="119"/>
                  </a:cubicBezTo>
                  <a:cubicBezTo>
                    <a:pt x="689" y="82"/>
                    <a:pt x="671" y="68"/>
                    <a:pt x="650" y="58"/>
                  </a:cubicBezTo>
                  <a:cubicBezTo>
                    <a:pt x="526" y="0"/>
                    <a:pt x="526" y="0"/>
                    <a:pt x="526" y="0"/>
                  </a:cubicBezTo>
                  <a:cubicBezTo>
                    <a:pt x="526" y="87"/>
                    <a:pt x="526" y="87"/>
                    <a:pt x="526" y="87"/>
                  </a:cubicBezTo>
                  <a:cubicBezTo>
                    <a:pt x="526" y="94"/>
                    <a:pt x="523" y="101"/>
                    <a:pt x="517" y="105"/>
                  </a:cubicBezTo>
                  <a:cubicBezTo>
                    <a:pt x="513" y="107"/>
                    <a:pt x="509" y="108"/>
                    <a:pt x="505" y="108"/>
                  </a:cubicBezTo>
                  <a:cubicBezTo>
                    <a:pt x="502" y="108"/>
                    <a:pt x="500" y="108"/>
                    <a:pt x="497" y="107"/>
                  </a:cubicBezTo>
                  <a:cubicBezTo>
                    <a:pt x="381" y="63"/>
                    <a:pt x="381" y="63"/>
                    <a:pt x="381" y="63"/>
                  </a:cubicBezTo>
                  <a:cubicBezTo>
                    <a:pt x="265" y="107"/>
                    <a:pt x="265" y="107"/>
                    <a:pt x="265" y="107"/>
                  </a:cubicBezTo>
                  <a:cubicBezTo>
                    <a:pt x="263" y="108"/>
                    <a:pt x="260" y="108"/>
                    <a:pt x="258" y="108"/>
                  </a:cubicBezTo>
                  <a:cubicBezTo>
                    <a:pt x="253" y="108"/>
                    <a:pt x="249" y="107"/>
                    <a:pt x="245" y="105"/>
                  </a:cubicBezTo>
                  <a:cubicBezTo>
                    <a:pt x="240" y="101"/>
                    <a:pt x="236" y="94"/>
                    <a:pt x="236" y="87"/>
                  </a:cubicBezTo>
                  <a:cubicBezTo>
                    <a:pt x="236" y="0"/>
                    <a:pt x="236" y="0"/>
                    <a:pt x="236" y="0"/>
                  </a:cubicBezTo>
                  <a:cubicBezTo>
                    <a:pt x="112" y="58"/>
                    <a:pt x="112" y="58"/>
                    <a:pt x="112" y="58"/>
                  </a:cubicBezTo>
                  <a:cubicBezTo>
                    <a:pt x="91" y="68"/>
                    <a:pt x="74" y="81"/>
                    <a:pt x="69" y="119"/>
                  </a:cubicBezTo>
                  <a:cubicBezTo>
                    <a:pt x="6" y="721"/>
                    <a:pt x="6" y="721"/>
                    <a:pt x="6" y="721"/>
                  </a:cubicBezTo>
                  <a:cubicBezTo>
                    <a:pt x="0" y="779"/>
                    <a:pt x="32" y="830"/>
                    <a:pt x="80" y="860"/>
                  </a:cubicBezTo>
                  <a:cubicBezTo>
                    <a:pt x="15" y="1155"/>
                    <a:pt x="15" y="1155"/>
                    <a:pt x="15" y="1155"/>
                  </a:cubicBezTo>
                  <a:cubicBezTo>
                    <a:pt x="10" y="1178"/>
                    <a:pt x="25" y="1196"/>
                    <a:pt x="48" y="1196"/>
                  </a:cubicBezTo>
                  <a:cubicBezTo>
                    <a:pt x="177" y="1196"/>
                    <a:pt x="177" y="1196"/>
                    <a:pt x="177" y="1196"/>
                  </a:cubicBezTo>
                  <a:cubicBezTo>
                    <a:pt x="247" y="1688"/>
                    <a:pt x="247" y="1688"/>
                    <a:pt x="247" y="1688"/>
                  </a:cubicBezTo>
                  <a:cubicBezTo>
                    <a:pt x="250" y="1711"/>
                    <a:pt x="272" y="1731"/>
                    <a:pt x="296" y="1731"/>
                  </a:cubicBezTo>
                  <a:cubicBezTo>
                    <a:pt x="360" y="1731"/>
                    <a:pt x="360" y="1731"/>
                    <a:pt x="360" y="1731"/>
                  </a:cubicBezTo>
                  <a:cubicBezTo>
                    <a:pt x="360" y="1196"/>
                    <a:pt x="360" y="1196"/>
                    <a:pt x="360" y="1196"/>
                  </a:cubicBezTo>
                  <a:cubicBezTo>
                    <a:pt x="403" y="1196"/>
                    <a:pt x="403" y="1196"/>
                    <a:pt x="403" y="1196"/>
                  </a:cubicBezTo>
                  <a:cubicBezTo>
                    <a:pt x="403" y="1731"/>
                    <a:pt x="403" y="1731"/>
                    <a:pt x="403" y="1731"/>
                  </a:cubicBezTo>
                  <a:cubicBezTo>
                    <a:pt x="467" y="1731"/>
                    <a:pt x="467" y="1731"/>
                    <a:pt x="467" y="1731"/>
                  </a:cubicBezTo>
                  <a:cubicBezTo>
                    <a:pt x="490" y="1731"/>
                    <a:pt x="512" y="1711"/>
                    <a:pt x="516" y="1688"/>
                  </a:cubicBezTo>
                  <a:cubicBezTo>
                    <a:pt x="586" y="1196"/>
                    <a:pt x="586" y="1196"/>
                    <a:pt x="586" y="1196"/>
                  </a:cubicBezTo>
                  <a:cubicBezTo>
                    <a:pt x="714" y="1196"/>
                    <a:pt x="714" y="1196"/>
                    <a:pt x="714" y="1196"/>
                  </a:cubicBezTo>
                  <a:cubicBezTo>
                    <a:pt x="737" y="1196"/>
                    <a:pt x="753" y="1178"/>
                    <a:pt x="748" y="1155"/>
                  </a:cubicBezTo>
                  <a:lnTo>
                    <a:pt x="682" y="860"/>
                  </a:lnTo>
                  <a:close/>
                  <a:moveTo>
                    <a:pt x="705" y="635"/>
                  </a:moveTo>
                  <a:cubicBezTo>
                    <a:pt x="714" y="724"/>
                    <a:pt x="714" y="724"/>
                    <a:pt x="714" y="724"/>
                  </a:cubicBezTo>
                  <a:cubicBezTo>
                    <a:pt x="717" y="760"/>
                    <a:pt x="702" y="785"/>
                    <a:pt x="688" y="801"/>
                  </a:cubicBezTo>
                  <a:cubicBezTo>
                    <a:pt x="683" y="806"/>
                    <a:pt x="678" y="810"/>
                    <a:pt x="672" y="815"/>
                  </a:cubicBezTo>
                  <a:cubicBezTo>
                    <a:pt x="632" y="635"/>
                    <a:pt x="632" y="635"/>
                    <a:pt x="632" y="635"/>
                  </a:cubicBezTo>
                  <a:lnTo>
                    <a:pt x="705" y="635"/>
                  </a:lnTo>
                  <a:close/>
                  <a:moveTo>
                    <a:pt x="75" y="801"/>
                  </a:moveTo>
                  <a:cubicBezTo>
                    <a:pt x="61" y="785"/>
                    <a:pt x="45" y="760"/>
                    <a:pt x="48" y="725"/>
                  </a:cubicBezTo>
                  <a:cubicBezTo>
                    <a:pt x="58" y="635"/>
                    <a:pt x="58" y="635"/>
                    <a:pt x="58" y="635"/>
                  </a:cubicBezTo>
                  <a:cubicBezTo>
                    <a:pt x="130" y="635"/>
                    <a:pt x="130" y="635"/>
                    <a:pt x="130" y="635"/>
                  </a:cubicBezTo>
                  <a:cubicBezTo>
                    <a:pt x="90" y="814"/>
                    <a:pt x="90" y="814"/>
                    <a:pt x="90" y="814"/>
                  </a:cubicBezTo>
                  <a:cubicBezTo>
                    <a:pt x="85" y="810"/>
                    <a:pt x="79" y="806"/>
                    <a:pt x="75" y="801"/>
                  </a:cubicBezTo>
                  <a:moveTo>
                    <a:pt x="59" y="1154"/>
                  </a:moveTo>
                  <a:cubicBezTo>
                    <a:pt x="181" y="601"/>
                    <a:pt x="181" y="601"/>
                    <a:pt x="181" y="601"/>
                  </a:cubicBezTo>
                  <a:cubicBezTo>
                    <a:pt x="182" y="598"/>
                    <a:pt x="188" y="593"/>
                    <a:pt x="191" y="593"/>
                  </a:cubicBezTo>
                  <a:cubicBezTo>
                    <a:pt x="571" y="593"/>
                    <a:pt x="571" y="593"/>
                    <a:pt x="571" y="593"/>
                  </a:cubicBezTo>
                  <a:cubicBezTo>
                    <a:pt x="574" y="593"/>
                    <a:pt x="580" y="598"/>
                    <a:pt x="581" y="601"/>
                  </a:cubicBezTo>
                  <a:cubicBezTo>
                    <a:pt x="703" y="1154"/>
                    <a:pt x="703" y="1154"/>
                    <a:pt x="703" y="1154"/>
                  </a:cubicBezTo>
                  <a:lnTo>
                    <a:pt x="59" y="1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53">
              <a:extLst>
                <a:ext uri="{FF2B5EF4-FFF2-40B4-BE49-F238E27FC236}">
                  <a16:creationId xmlns:a16="http://schemas.microsoft.com/office/drawing/2014/main" id="{BB2CEAD4-3FBC-4DC5-B86D-837B9AF74BDC}"/>
                </a:ext>
              </a:extLst>
            </p:cNvPr>
            <p:cNvSpPr>
              <a:spLocks noEditPoints="1"/>
            </p:cNvSpPr>
            <p:nvPr/>
          </p:nvSpPr>
          <p:spPr bwMode="auto">
            <a:xfrm>
              <a:off x="5291" y="2490"/>
              <a:ext cx="71" cy="75"/>
            </a:xfrm>
            <a:custGeom>
              <a:avLst/>
              <a:gdLst>
                <a:gd name="T0" fmla="*/ 470 w 474"/>
                <a:gd name="T1" fmla="*/ 413 h 497"/>
                <a:gd name="T2" fmla="*/ 431 w 474"/>
                <a:gd name="T3" fmla="*/ 264 h 497"/>
                <a:gd name="T4" fmla="*/ 431 w 474"/>
                <a:gd name="T5" fmla="*/ 193 h 497"/>
                <a:gd name="T6" fmla="*/ 237 w 474"/>
                <a:gd name="T7" fmla="*/ 0 h 497"/>
                <a:gd name="T8" fmla="*/ 44 w 474"/>
                <a:gd name="T9" fmla="*/ 193 h 497"/>
                <a:gd name="T10" fmla="*/ 44 w 474"/>
                <a:gd name="T11" fmla="*/ 248 h 497"/>
                <a:gd name="T12" fmla="*/ 44 w 474"/>
                <a:gd name="T13" fmla="*/ 248 h 497"/>
                <a:gd name="T14" fmla="*/ 4 w 474"/>
                <a:gd name="T15" fmla="*/ 413 h 497"/>
                <a:gd name="T16" fmla="*/ 5 w 474"/>
                <a:gd name="T17" fmla="*/ 434 h 497"/>
                <a:gd name="T18" fmla="*/ 23 w 474"/>
                <a:gd name="T19" fmla="*/ 444 h 497"/>
                <a:gd name="T20" fmla="*/ 105 w 474"/>
                <a:gd name="T21" fmla="*/ 444 h 497"/>
                <a:gd name="T22" fmla="*/ 237 w 474"/>
                <a:gd name="T23" fmla="*/ 497 h 497"/>
                <a:gd name="T24" fmla="*/ 369 w 474"/>
                <a:gd name="T25" fmla="*/ 444 h 497"/>
                <a:gd name="T26" fmla="*/ 451 w 474"/>
                <a:gd name="T27" fmla="*/ 444 h 497"/>
                <a:gd name="T28" fmla="*/ 470 w 474"/>
                <a:gd name="T29" fmla="*/ 434 h 497"/>
                <a:gd name="T30" fmla="*/ 470 w 474"/>
                <a:gd name="T31" fmla="*/ 413 h 497"/>
                <a:gd name="T32" fmla="*/ 87 w 474"/>
                <a:gd name="T33" fmla="*/ 304 h 497"/>
                <a:gd name="T34" fmla="*/ 87 w 474"/>
                <a:gd name="T35" fmla="*/ 267 h 497"/>
                <a:gd name="T36" fmla="*/ 159 w 474"/>
                <a:gd name="T37" fmla="*/ 195 h 497"/>
                <a:gd name="T38" fmla="*/ 260 w 474"/>
                <a:gd name="T39" fmla="*/ 195 h 497"/>
                <a:gd name="T40" fmla="*/ 333 w 474"/>
                <a:gd name="T41" fmla="*/ 122 h 497"/>
                <a:gd name="T42" fmla="*/ 333 w 474"/>
                <a:gd name="T43" fmla="*/ 77 h 497"/>
                <a:gd name="T44" fmla="*/ 388 w 474"/>
                <a:gd name="T45" fmla="*/ 193 h 497"/>
                <a:gd name="T46" fmla="*/ 388 w 474"/>
                <a:gd name="T47" fmla="*/ 304 h 497"/>
                <a:gd name="T48" fmla="*/ 237 w 474"/>
                <a:gd name="T49" fmla="*/ 454 h 497"/>
                <a:gd name="T50" fmla="*/ 87 w 474"/>
                <a:gd name="T51" fmla="*/ 30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4" h="497">
                  <a:moveTo>
                    <a:pt x="470" y="413"/>
                  </a:moveTo>
                  <a:cubicBezTo>
                    <a:pt x="434" y="342"/>
                    <a:pt x="431" y="324"/>
                    <a:pt x="431" y="264"/>
                  </a:cubicBezTo>
                  <a:cubicBezTo>
                    <a:pt x="431" y="193"/>
                    <a:pt x="431" y="193"/>
                    <a:pt x="431" y="193"/>
                  </a:cubicBezTo>
                  <a:cubicBezTo>
                    <a:pt x="431" y="86"/>
                    <a:pt x="344" y="0"/>
                    <a:pt x="237" y="0"/>
                  </a:cubicBezTo>
                  <a:cubicBezTo>
                    <a:pt x="130" y="0"/>
                    <a:pt x="44" y="86"/>
                    <a:pt x="44" y="193"/>
                  </a:cubicBezTo>
                  <a:cubicBezTo>
                    <a:pt x="44" y="248"/>
                    <a:pt x="44" y="248"/>
                    <a:pt x="44" y="248"/>
                  </a:cubicBezTo>
                  <a:cubicBezTo>
                    <a:pt x="44" y="248"/>
                    <a:pt x="44" y="248"/>
                    <a:pt x="44" y="248"/>
                  </a:cubicBezTo>
                  <a:cubicBezTo>
                    <a:pt x="44" y="321"/>
                    <a:pt x="44" y="336"/>
                    <a:pt x="4" y="413"/>
                  </a:cubicBezTo>
                  <a:cubicBezTo>
                    <a:pt x="0" y="420"/>
                    <a:pt x="1" y="428"/>
                    <a:pt x="5" y="434"/>
                  </a:cubicBezTo>
                  <a:cubicBezTo>
                    <a:pt x="8" y="441"/>
                    <a:pt x="15" y="444"/>
                    <a:pt x="23" y="444"/>
                  </a:cubicBezTo>
                  <a:cubicBezTo>
                    <a:pt x="105" y="444"/>
                    <a:pt x="105" y="444"/>
                    <a:pt x="105" y="444"/>
                  </a:cubicBezTo>
                  <a:cubicBezTo>
                    <a:pt x="139" y="477"/>
                    <a:pt x="186" y="497"/>
                    <a:pt x="237" y="497"/>
                  </a:cubicBezTo>
                  <a:cubicBezTo>
                    <a:pt x="288" y="497"/>
                    <a:pt x="335" y="477"/>
                    <a:pt x="369" y="444"/>
                  </a:cubicBezTo>
                  <a:cubicBezTo>
                    <a:pt x="451" y="444"/>
                    <a:pt x="451" y="444"/>
                    <a:pt x="451" y="444"/>
                  </a:cubicBezTo>
                  <a:cubicBezTo>
                    <a:pt x="459" y="444"/>
                    <a:pt x="466" y="441"/>
                    <a:pt x="470" y="434"/>
                  </a:cubicBezTo>
                  <a:cubicBezTo>
                    <a:pt x="474" y="428"/>
                    <a:pt x="474" y="420"/>
                    <a:pt x="470" y="413"/>
                  </a:cubicBezTo>
                  <a:moveTo>
                    <a:pt x="87" y="304"/>
                  </a:moveTo>
                  <a:cubicBezTo>
                    <a:pt x="87" y="267"/>
                    <a:pt x="87" y="267"/>
                    <a:pt x="87" y="267"/>
                  </a:cubicBezTo>
                  <a:cubicBezTo>
                    <a:pt x="87" y="227"/>
                    <a:pt x="119" y="195"/>
                    <a:pt x="159" y="195"/>
                  </a:cubicBezTo>
                  <a:cubicBezTo>
                    <a:pt x="260" y="195"/>
                    <a:pt x="260" y="195"/>
                    <a:pt x="260" y="195"/>
                  </a:cubicBezTo>
                  <a:cubicBezTo>
                    <a:pt x="300" y="195"/>
                    <a:pt x="333" y="162"/>
                    <a:pt x="333" y="122"/>
                  </a:cubicBezTo>
                  <a:cubicBezTo>
                    <a:pt x="333" y="77"/>
                    <a:pt x="333" y="77"/>
                    <a:pt x="333" y="77"/>
                  </a:cubicBezTo>
                  <a:cubicBezTo>
                    <a:pt x="366" y="104"/>
                    <a:pt x="388" y="146"/>
                    <a:pt x="388" y="193"/>
                  </a:cubicBezTo>
                  <a:cubicBezTo>
                    <a:pt x="388" y="304"/>
                    <a:pt x="388" y="304"/>
                    <a:pt x="388" y="304"/>
                  </a:cubicBezTo>
                  <a:cubicBezTo>
                    <a:pt x="388" y="387"/>
                    <a:pt x="320" y="454"/>
                    <a:pt x="237" y="454"/>
                  </a:cubicBezTo>
                  <a:cubicBezTo>
                    <a:pt x="154" y="454"/>
                    <a:pt x="87" y="387"/>
                    <a:pt x="87" y="30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47" name="Freeform 219">
            <a:extLst>
              <a:ext uri="{FF2B5EF4-FFF2-40B4-BE49-F238E27FC236}">
                <a16:creationId xmlns:a16="http://schemas.microsoft.com/office/drawing/2014/main" id="{5407347F-4EE7-4C4D-BEF0-5AEED5CAB30B}"/>
              </a:ext>
            </a:extLst>
          </p:cNvPr>
          <p:cNvSpPr>
            <a:spLocks noChangeAspect="1" noEditPoints="1"/>
          </p:cNvSpPr>
          <p:nvPr/>
        </p:nvSpPr>
        <p:spPr bwMode="auto">
          <a:xfrm>
            <a:off x="3206719" y="1655838"/>
            <a:ext cx="173423" cy="525600"/>
          </a:xfrm>
          <a:custGeom>
            <a:avLst/>
            <a:gdLst>
              <a:gd name="T0" fmla="*/ 137 w 726"/>
              <a:gd name="T1" fmla="*/ 317 h 2200"/>
              <a:gd name="T2" fmla="*/ 152 w 726"/>
              <a:gd name="T3" fmla="*/ 359 h 2200"/>
              <a:gd name="T4" fmla="*/ 179 w 726"/>
              <a:gd name="T5" fmla="*/ 394 h 2200"/>
              <a:gd name="T6" fmla="*/ 547 w 726"/>
              <a:gd name="T7" fmla="*/ 396 h 2200"/>
              <a:gd name="T8" fmla="*/ 561 w 726"/>
              <a:gd name="T9" fmla="*/ 365 h 2200"/>
              <a:gd name="T10" fmla="*/ 586 w 726"/>
              <a:gd name="T11" fmla="*/ 300 h 2200"/>
              <a:gd name="T12" fmla="*/ 584 w 726"/>
              <a:gd name="T13" fmla="*/ 221 h 2200"/>
              <a:gd name="T14" fmla="*/ 545 w 726"/>
              <a:gd name="T15" fmla="*/ 98 h 2200"/>
              <a:gd name="T16" fmla="*/ 475 w 726"/>
              <a:gd name="T17" fmla="*/ 59 h 2200"/>
              <a:gd name="T18" fmla="*/ 393 w 726"/>
              <a:gd name="T19" fmla="*/ 0 h 2200"/>
              <a:gd name="T20" fmla="*/ 271 w 726"/>
              <a:gd name="T21" fmla="*/ 17 h 2200"/>
              <a:gd name="T22" fmla="*/ 196 w 726"/>
              <a:gd name="T23" fmla="*/ 98 h 2200"/>
              <a:gd name="T24" fmla="*/ 143 w 726"/>
              <a:gd name="T25" fmla="*/ 191 h 2200"/>
              <a:gd name="T26" fmla="*/ 143 w 726"/>
              <a:gd name="T27" fmla="*/ 286 h 2200"/>
              <a:gd name="T28" fmla="*/ 225 w 726"/>
              <a:gd name="T29" fmla="*/ 278 h 2200"/>
              <a:gd name="T30" fmla="*/ 272 w 726"/>
              <a:gd name="T31" fmla="*/ 211 h 2200"/>
              <a:gd name="T32" fmla="*/ 348 w 726"/>
              <a:gd name="T33" fmla="*/ 165 h 2200"/>
              <a:gd name="T34" fmla="*/ 407 w 726"/>
              <a:gd name="T35" fmla="*/ 180 h 2200"/>
              <a:gd name="T36" fmla="*/ 472 w 726"/>
              <a:gd name="T37" fmla="*/ 221 h 2200"/>
              <a:gd name="T38" fmla="*/ 507 w 726"/>
              <a:gd name="T39" fmla="*/ 288 h 2200"/>
              <a:gd name="T40" fmla="*/ 363 w 726"/>
              <a:gd name="T41" fmla="*/ 537 h 2200"/>
              <a:gd name="T42" fmla="*/ 220 w 726"/>
              <a:gd name="T43" fmla="*/ 304 h 2200"/>
              <a:gd name="T44" fmla="*/ 661 w 726"/>
              <a:gd name="T45" fmla="*/ 665 h 2200"/>
              <a:gd name="T46" fmla="*/ 618 w 726"/>
              <a:gd name="T47" fmla="*/ 606 h 2200"/>
              <a:gd name="T48" fmla="*/ 363 w 726"/>
              <a:gd name="T49" fmla="*/ 642 h 2200"/>
              <a:gd name="T50" fmla="*/ 108 w 726"/>
              <a:gd name="T51" fmla="*/ 606 h 2200"/>
              <a:gd name="T52" fmla="*/ 66 w 726"/>
              <a:gd name="T53" fmla="*/ 665 h 2200"/>
              <a:gd name="T54" fmla="*/ 90 w 726"/>
              <a:gd name="T55" fmla="*/ 1370 h 2200"/>
              <a:gd name="T56" fmla="*/ 55 w 726"/>
              <a:gd name="T57" fmla="*/ 1897 h 2200"/>
              <a:gd name="T58" fmla="*/ 87 w 726"/>
              <a:gd name="T59" fmla="*/ 1936 h 2200"/>
              <a:gd name="T60" fmla="*/ 226 w 726"/>
              <a:gd name="T61" fmla="*/ 1936 h 2200"/>
              <a:gd name="T62" fmla="*/ 302 w 726"/>
              <a:gd name="T63" fmla="*/ 2200 h 2200"/>
              <a:gd name="T64" fmla="*/ 471 w 726"/>
              <a:gd name="T65" fmla="*/ 2159 h 2200"/>
              <a:gd name="T66" fmla="*/ 554 w 726"/>
              <a:gd name="T67" fmla="*/ 1936 h 2200"/>
              <a:gd name="T68" fmla="*/ 488 w 726"/>
              <a:gd name="T69" fmla="*/ 1186 h 2200"/>
              <a:gd name="T70" fmla="*/ 403 w 726"/>
              <a:gd name="T71" fmla="*/ 1271 h 2200"/>
              <a:gd name="T72" fmla="*/ 488 w 726"/>
              <a:gd name="T73" fmla="*/ 1148 h 2200"/>
              <a:gd name="T74" fmla="*/ 592 w 726"/>
              <a:gd name="T75" fmla="*/ 1936 h 2200"/>
              <a:gd name="T76" fmla="*/ 639 w 726"/>
              <a:gd name="T77" fmla="*/ 1936 h 2200"/>
              <a:gd name="T78" fmla="*/ 672 w 726"/>
              <a:gd name="T79" fmla="*/ 1897 h 2200"/>
              <a:gd name="T80" fmla="*/ 636 w 726"/>
              <a:gd name="T81" fmla="*/ 1370 h 2200"/>
              <a:gd name="T82" fmla="*/ 99 w 726"/>
              <a:gd name="T83" fmla="*/ 1327 h 2200"/>
              <a:gd name="T84" fmla="*/ 46 w 726"/>
              <a:gd name="T85" fmla="*/ 1242 h 2200"/>
              <a:gd name="T86" fmla="*/ 124 w 726"/>
              <a:gd name="T87" fmla="*/ 1156 h 2200"/>
              <a:gd name="T88" fmla="*/ 343 w 726"/>
              <a:gd name="T89" fmla="*/ 2159 h 2200"/>
              <a:gd name="T90" fmla="*/ 296 w 726"/>
              <a:gd name="T91" fmla="*/ 2154 h 2200"/>
              <a:gd name="T92" fmla="*/ 343 w 726"/>
              <a:gd name="T93" fmla="*/ 1936 h 2200"/>
              <a:gd name="T94" fmla="*/ 459 w 726"/>
              <a:gd name="T95" fmla="*/ 1936 h 2200"/>
              <a:gd name="T96" fmla="*/ 424 w 726"/>
              <a:gd name="T97" fmla="*/ 2159 h 2200"/>
              <a:gd name="T98" fmla="*/ 384 w 726"/>
              <a:gd name="T99" fmla="*/ 1936 h 2200"/>
              <a:gd name="T100" fmla="*/ 592 w 726"/>
              <a:gd name="T101" fmla="*/ 2200 h 2200"/>
              <a:gd name="T102" fmla="*/ 554 w 726"/>
              <a:gd name="T103" fmla="*/ 1936 h 2200"/>
              <a:gd name="T104" fmla="*/ 592 w 726"/>
              <a:gd name="T105" fmla="*/ 2200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26" h="2200">
                <a:moveTo>
                  <a:pt x="143" y="286"/>
                </a:moveTo>
                <a:cubicBezTo>
                  <a:pt x="137" y="294"/>
                  <a:pt x="134" y="305"/>
                  <a:pt x="137" y="317"/>
                </a:cubicBezTo>
                <a:cubicBezTo>
                  <a:pt x="139" y="327"/>
                  <a:pt x="145" y="337"/>
                  <a:pt x="153" y="344"/>
                </a:cubicBezTo>
                <a:cubicBezTo>
                  <a:pt x="151" y="348"/>
                  <a:pt x="151" y="353"/>
                  <a:pt x="152" y="359"/>
                </a:cubicBezTo>
                <a:cubicBezTo>
                  <a:pt x="155" y="373"/>
                  <a:pt x="166" y="384"/>
                  <a:pt x="179" y="387"/>
                </a:cubicBezTo>
                <a:cubicBezTo>
                  <a:pt x="179" y="394"/>
                  <a:pt x="179" y="394"/>
                  <a:pt x="179" y="394"/>
                </a:cubicBezTo>
                <a:cubicBezTo>
                  <a:pt x="179" y="496"/>
                  <a:pt x="261" y="578"/>
                  <a:pt x="363" y="578"/>
                </a:cubicBezTo>
                <a:cubicBezTo>
                  <a:pt x="464" y="578"/>
                  <a:pt x="546" y="497"/>
                  <a:pt x="547" y="396"/>
                </a:cubicBezTo>
                <a:cubicBezTo>
                  <a:pt x="555" y="392"/>
                  <a:pt x="561" y="382"/>
                  <a:pt x="561" y="369"/>
                </a:cubicBezTo>
                <a:cubicBezTo>
                  <a:pt x="561" y="368"/>
                  <a:pt x="561" y="366"/>
                  <a:pt x="561" y="365"/>
                </a:cubicBezTo>
                <a:cubicBezTo>
                  <a:pt x="577" y="362"/>
                  <a:pt x="592" y="348"/>
                  <a:pt x="595" y="331"/>
                </a:cubicBezTo>
                <a:cubicBezTo>
                  <a:pt x="598" y="318"/>
                  <a:pt x="594" y="307"/>
                  <a:pt x="586" y="300"/>
                </a:cubicBezTo>
                <a:cubicBezTo>
                  <a:pt x="590" y="292"/>
                  <a:pt x="594" y="284"/>
                  <a:pt x="596" y="275"/>
                </a:cubicBezTo>
                <a:cubicBezTo>
                  <a:pt x="600" y="254"/>
                  <a:pt x="595" y="235"/>
                  <a:pt x="584" y="221"/>
                </a:cubicBezTo>
                <a:cubicBezTo>
                  <a:pt x="592" y="210"/>
                  <a:pt x="597" y="198"/>
                  <a:pt x="600" y="183"/>
                </a:cubicBezTo>
                <a:cubicBezTo>
                  <a:pt x="609" y="138"/>
                  <a:pt x="585" y="98"/>
                  <a:pt x="545" y="98"/>
                </a:cubicBezTo>
                <a:cubicBezTo>
                  <a:pt x="540" y="98"/>
                  <a:pt x="535" y="99"/>
                  <a:pt x="530" y="100"/>
                </a:cubicBezTo>
                <a:cubicBezTo>
                  <a:pt x="521" y="76"/>
                  <a:pt x="501" y="59"/>
                  <a:pt x="475" y="59"/>
                </a:cubicBezTo>
                <a:cubicBezTo>
                  <a:pt x="470" y="59"/>
                  <a:pt x="465" y="60"/>
                  <a:pt x="460" y="61"/>
                </a:cubicBezTo>
                <a:cubicBezTo>
                  <a:pt x="451" y="26"/>
                  <a:pt x="425" y="0"/>
                  <a:pt x="393" y="0"/>
                </a:cubicBezTo>
                <a:cubicBezTo>
                  <a:pt x="366" y="0"/>
                  <a:pt x="342" y="20"/>
                  <a:pt x="330" y="48"/>
                </a:cubicBezTo>
                <a:cubicBezTo>
                  <a:pt x="315" y="29"/>
                  <a:pt x="294" y="17"/>
                  <a:pt x="271" y="17"/>
                </a:cubicBezTo>
                <a:cubicBezTo>
                  <a:pt x="232" y="17"/>
                  <a:pt x="204" y="53"/>
                  <a:pt x="201" y="99"/>
                </a:cubicBezTo>
                <a:cubicBezTo>
                  <a:pt x="199" y="99"/>
                  <a:pt x="198" y="98"/>
                  <a:pt x="196" y="98"/>
                </a:cubicBezTo>
                <a:cubicBezTo>
                  <a:pt x="157" y="98"/>
                  <a:pt x="132" y="138"/>
                  <a:pt x="141" y="183"/>
                </a:cubicBezTo>
                <a:cubicBezTo>
                  <a:pt x="141" y="186"/>
                  <a:pt x="142" y="189"/>
                  <a:pt x="143" y="191"/>
                </a:cubicBezTo>
                <a:cubicBezTo>
                  <a:pt x="124" y="199"/>
                  <a:pt x="114" y="221"/>
                  <a:pt x="119" y="246"/>
                </a:cubicBezTo>
                <a:cubicBezTo>
                  <a:pt x="122" y="262"/>
                  <a:pt x="132" y="276"/>
                  <a:pt x="143" y="286"/>
                </a:cubicBezTo>
                <a:moveTo>
                  <a:pt x="220" y="304"/>
                </a:moveTo>
                <a:cubicBezTo>
                  <a:pt x="220" y="295"/>
                  <a:pt x="222" y="286"/>
                  <a:pt x="225" y="278"/>
                </a:cubicBezTo>
                <a:cubicBezTo>
                  <a:pt x="226" y="271"/>
                  <a:pt x="227" y="264"/>
                  <a:pt x="229" y="257"/>
                </a:cubicBezTo>
                <a:cubicBezTo>
                  <a:pt x="250" y="252"/>
                  <a:pt x="266" y="235"/>
                  <a:pt x="272" y="211"/>
                </a:cubicBezTo>
                <a:cubicBezTo>
                  <a:pt x="276" y="212"/>
                  <a:pt x="280" y="213"/>
                  <a:pt x="285" y="213"/>
                </a:cubicBezTo>
                <a:cubicBezTo>
                  <a:pt x="313" y="213"/>
                  <a:pt x="336" y="194"/>
                  <a:pt x="348" y="165"/>
                </a:cubicBezTo>
                <a:cubicBezTo>
                  <a:pt x="360" y="176"/>
                  <a:pt x="374" y="183"/>
                  <a:pt x="390" y="183"/>
                </a:cubicBezTo>
                <a:cubicBezTo>
                  <a:pt x="396" y="183"/>
                  <a:pt x="401" y="182"/>
                  <a:pt x="407" y="180"/>
                </a:cubicBezTo>
                <a:cubicBezTo>
                  <a:pt x="417" y="206"/>
                  <a:pt x="437" y="223"/>
                  <a:pt x="462" y="223"/>
                </a:cubicBezTo>
                <a:cubicBezTo>
                  <a:pt x="466" y="223"/>
                  <a:pt x="469" y="222"/>
                  <a:pt x="472" y="221"/>
                </a:cubicBezTo>
                <a:cubicBezTo>
                  <a:pt x="478" y="236"/>
                  <a:pt x="489" y="248"/>
                  <a:pt x="502" y="254"/>
                </a:cubicBezTo>
                <a:cubicBezTo>
                  <a:pt x="505" y="265"/>
                  <a:pt x="507" y="276"/>
                  <a:pt x="507" y="288"/>
                </a:cubicBezTo>
                <a:cubicBezTo>
                  <a:pt x="507" y="394"/>
                  <a:pt x="507" y="394"/>
                  <a:pt x="507" y="394"/>
                </a:cubicBezTo>
                <a:cubicBezTo>
                  <a:pt x="507" y="473"/>
                  <a:pt x="442" y="537"/>
                  <a:pt x="363" y="537"/>
                </a:cubicBezTo>
                <a:cubicBezTo>
                  <a:pt x="284" y="537"/>
                  <a:pt x="220" y="473"/>
                  <a:pt x="220" y="394"/>
                </a:cubicBezTo>
                <a:lnTo>
                  <a:pt x="220" y="304"/>
                </a:lnTo>
                <a:close/>
                <a:moveTo>
                  <a:pt x="721" y="1238"/>
                </a:moveTo>
                <a:cubicBezTo>
                  <a:pt x="661" y="665"/>
                  <a:pt x="661" y="665"/>
                  <a:pt x="661" y="665"/>
                </a:cubicBezTo>
                <a:cubicBezTo>
                  <a:pt x="660" y="662"/>
                  <a:pt x="660" y="660"/>
                  <a:pt x="659" y="658"/>
                </a:cubicBezTo>
                <a:cubicBezTo>
                  <a:pt x="654" y="629"/>
                  <a:pt x="639" y="617"/>
                  <a:pt x="618" y="606"/>
                </a:cubicBezTo>
                <a:cubicBezTo>
                  <a:pt x="542" y="565"/>
                  <a:pt x="542" y="565"/>
                  <a:pt x="542" y="565"/>
                </a:cubicBezTo>
                <a:cubicBezTo>
                  <a:pt x="363" y="642"/>
                  <a:pt x="363" y="642"/>
                  <a:pt x="363" y="642"/>
                </a:cubicBezTo>
                <a:cubicBezTo>
                  <a:pt x="184" y="565"/>
                  <a:pt x="184" y="565"/>
                  <a:pt x="184" y="565"/>
                </a:cubicBezTo>
                <a:cubicBezTo>
                  <a:pt x="108" y="606"/>
                  <a:pt x="108" y="606"/>
                  <a:pt x="108" y="606"/>
                </a:cubicBezTo>
                <a:cubicBezTo>
                  <a:pt x="87" y="617"/>
                  <a:pt x="73" y="629"/>
                  <a:pt x="67" y="658"/>
                </a:cubicBezTo>
                <a:cubicBezTo>
                  <a:pt x="66" y="660"/>
                  <a:pt x="66" y="662"/>
                  <a:pt x="66" y="665"/>
                </a:cubicBezTo>
                <a:cubicBezTo>
                  <a:pt x="5" y="1238"/>
                  <a:pt x="5" y="1238"/>
                  <a:pt x="5" y="1238"/>
                </a:cubicBezTo>
                <a:cubicBezTo>
                  <a:pt x="0" y="1294"/>
                  <a:pt x="44" y="1342"/>
                  <a:pt x="90" y="1370"/>
                </a:cubicBezTo>
                <a:cubicBezTo>
                  <a:pt x="56" y="1876"/>
                  <a:pt x="56" y="1876"/>
                  <a:pt x="56" y="1876"/>
                </a:cubicBezTo>
                <a:cubicBezTo>
                  <a:pt x="55" y="1897"/>
                  <a:pt x="55" y="1897"/>
                  <a:pt x="55" y="1897"/>
                </a:cubicBezTo>
                <a:cubicBezTo>
                  <a:pt x="52" y="1919"/>
                  <a:pt x="64" y="1936"/>
                  <a:pt x="87" y="1936"/>
                </a:cubicBezTo>
                <a:cubicBezTo>
                  <a:pt x="87" y="1936"/>
                  <a:pt x="87" y="1936"/>
                  <a:pt x="87" y="1936"/>
                </a:cubicBezTo>
                <a:cubicBezTo>
                  <a:pt x="87" y="1936"/>
                  <a:pt x="87" y="1936"/>
                  <a:pt x="87" y="1936"/>
                </a:cubicBezTo>
                <a:cubicBezTo>
                  <a:pt x="226" y="1936"/>
                  <a:pt x="226" y="1936"/>
                  <a:pt x="226" y="1936"/>
                </a:cubicBezTo>
                <a:cubicBezTo>
                  <a:pt x="256" y="2159"/>
                  <a:pt x="256" y="2159"/>
                  <a:pt x="256" y="2159"/>
                </a:cubicBezTo>
                <a:cubicBezTo>
                  <a:pt x="259" y="2182"/>
                  <a:pt x="280" y="2200"/>
                  <a:pt x="302" y="2200"/>
                </a:cubicBezTo>
                <a:cubicBezTo>
                  <a:pt x="424" y="2200"/>
                  <a:pt x="424" y="2200"/>
                  <a:pt x="424" y="2200"/>
                </a:cubicBezTo>
                <a:cubicBezTo>
                  <a:pt x="447" y="2200"/>
                  <a:pt x="468" y="2182"/>
                  <a:pt x="471" y="2159"/>
                </a:cubicBezTo>
                <a:cubicBezTo>
                  <a:pt x="500" y="1936"/>
                  <a:pt x="500" y="1936"/>
                  <a:pt x="500" y="1936"/>
                </a:cubicBezTo>
                <a:cubicBezTo>
                  <a:pt x="554" y="1936"/>
                  <a:pt x="554" y="1936"/>
                  <a:pt x="554" y="1936"/>
                </a:cubicBezTo>
                <a:cubicBezTo>
                  <a:pt x="554" y="1252"/>
                  <a:pt x="554" y="1252"/>
                  <a:pt x="554" y="1252"/>
                </a:cubicBezTo>
                <a:cubicBezTo>
                  <a:pt x="554" y="1216"/>
                  <a:pt x="525" y="1186"/>
                  <a:pt x="488" y="1186"/>
                </a:cubicBezTo>
                <a:cubicBezTo>
                  <a:pt x="452" y="1186"/>
                  <a:pt x="422" y="1216"/>
                  <a:pt x="422" y="1252"/>
                </a:cubicBezTo>
                <a:cubicBezTo>
                  <a:pt x="422" y="1263"/>
                  <a:pt x="413" y="1271"/>
                  <a:pt x="403" y="1271"/>
                </a:cubicBezTo>
                <a:cubicBezTo>
                  <a:pt x="392" y="1271"/>
                  <a:pt x="384" y="1263"/>
                  <a:pt x="384" y="1252"/>
                </a:cubicBezTo>
                <a:cubicBezTo>
                  <a:pt x="384" y="1195"/>
                  <a:pt x="431" y="1148"/>
                  <a:pt x="488" y="1148"/>
                </a:cubicBezTo>
                <a:cubicBezTo>
                  <a:pt x="546" y="1148"/>
                  <a:pt x="592" y="1195"/>
                  <a:pt x="592" y="1252"/>
                </a:cubicBezTo>
                <a:cubicBezTo>
                  <a:pt x="592" y="1936"/>
                  <a:pt x="592" y="1936"/>
                  <a:pt x="592" y="1936"/>
                </a:cubicBezTo>
                <a:cubicBezTo>
                  <a:pt x="639" y="1936"/>
                  <a:pt x="639" y="1936"/>
                  <a:pt x="639" y="1936"/>
                </a:cubicBezTo>
                <a:cubicBezTo>
                  <a:pt x="639" y="1936"/>
                  <a:pt x="639" y="1936"/>
                  <a:pt x="639" y="1936"/>
                </a:cubicBezTo>
                <a:cubicBezTo>
                  <a:pt x="640" y="1936"/>
                  <a:pt x="640" y="1936"/>
                  <a:pt x="640" y="1936"/>
                </a:cubicBezTo>
                <a:cubicBezTo>
                  <a:pt x="662" y="1936"/>
                  <a:pt x="674" y="1919"/>
                  <a:pt x="672" y="1897"/>
                </a:cubicBezTo>
                <a:cubicBezTo>
                  <a:pt x="670" y="1876"/>
                  <a:pt x="670" y="1876"/>
                  <a:pt x="670" y="1876"/>
                </a:cubicBezTo>
                <a:cubicBezTo>
                  <a:pt x="636" y="1370"/>
                  <a:pt x="636" y="1370"/>
                  <a:pt x="636" y="1370"/>
                </a:cubicBezTo>
                <a:cubicBezTo>
                  <a:pt x="683" y="1342"/>
                  <a:pt x="726" y="1294"/>
                  <a:pt x="721" y="1238"/>
                </a:cubicBezTo>
                <a:moveTo>
                  <a:pt x="99" y="1327"/>
                </a:moveTo>
                <a:cubicBezTo>
                  <a:pt x="94" y="1323"/>
                  <a:pt x="89" y="1319"/>
                  <a:pt x="85" y="1314"/>
                </a:cubicBezTo>
                <a:cubicBezTo>
                  <a:pt x="72" y="1299"/>
                  <a:pt x="43" y="1275"/>
                  <a:pt x="46" y="1242"/>
                </a:cubicBezTo>
                <a:cubicBezTo>
                  <a:pt x="55" y="1156"/>
                  <a:pt x="55" y="1156"/>
                  <a:pt x="55" y="1156"/>
                </a:cubicBezTo>
                <a:cubicBezTo>
                  <a:pt x="124" y="1156"/>
                  <a:pt x="124" y="1156"/>
                  <a:pt x="124" y="1156"/>
                </a:cubicBezTo>
                <a:lnTo>
                  <a:pt x="99" y="1327"/>
                </a:lnTo>
                <a:close/>
                <a:moveTo>
                  <a:pt x="343" y="2159"/>
                </a:moveTo>
                <a:cubicBezTo>
                  <a:pt x="302" y="2159"/>
                  <a:pt x="302" y="2159"/>
                  <a:pt x="302" y="2159"/>
                </a:cubicBezTo>
                <a:cubicBezTo>
                  <a:pt x="300" y="2159"/>
                  <a:pt x="296" y="2156"/>
                  <a:pt x="296" y="2154"/>
                </a:cubicBezTo>
                <a:cubicBezTo>
                  <a:pt x="268" y="1936"/>
                  <a:pt x="268" y="1936"/>
                  <a:pt x="268" y="1936"/>
                </a:cubicBezTo>
                <a:cubicBezTo>
                  <a:pt x="343" y="1936"/>
                  <a:pt x="343" y="1936"/>
                  <a:pt x="343" y="1936"/>
                </a:cubicBezTo>
                <a:lnTo>
                  <a:pt x="343" y="2159"/>
                </a:lnTo>
                <a:close/>
                <a:moveTo>
                  <a:pt x="459" y="1936"/>
                </a:moveTo>
                <a:cubicBezTo>
                  <a:pt x="430" y="2154"/>
                  <a:pt x="430" y="2154"/>
                  <a:pt x="430" y="2154"/>
                </a:cubicBezTo>
                <a:cubicBezTo>
                  <a:pt x="430" y="2156"/>
                  <a:pt x="426" y="2159"/>
                  <a:pt x="424" y="2159"/>
                </a:cubicBezTo>
                <a:cubicBezTo>
                  <a:pt x="384" y="2159"/>
                  <a:pt x="384" y="2159"/>
                  <a:pt x="384" y="2159"/>
                </a:cubicBezTo>
                <a:cubicBezTo>
                  <a:pt x="384" y="1936"/>
                  <a:pt x="384" y="1936"/>
                  <a:pt x="384" y="1936"/>
                </a:cubicBezTo>
                <a:lnTo>
                  <a:pt x="459" y="1936"/>
                </a:lnTo>
                <a:close/>
                <a:moveTo>
                  <a:pt x="592" y="2200"/>
                </a:moveTo>
                <a:cubicBezTo>
                  <a:pt x="554" y="2200"/>
                  <a:pt x="554" y="2200"/>
                  <a:pt x="554" y="2200"/>
                </a:cubicBezTo>
                <a:cubicBezTo>
                  <a:pt x="554" y="1936"/>
                  <a:pt x="554" y="1936"/>
                  <a:pt x="554" y="1936"/>
                </a:cubicBezTo>
                <a:cubicBezTo>
                  <a:pt x="592" y="1936"/>
                  <a:pt x="592" y="1936"/>
                  <a:pt x="592" y="1936"/>
                </a:cubicBezTo>
                <a:lnTo>
                  <a:pt x="592" y="220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48" name="Group 287">
            <a:extLst>
              <a:ext uri="{FF2B5EF4-FFF2-40B4-BE49-F238E27FC236}">
                <a16:creationId xmlns:a16="http://schemas.microsoft.com/office/drawing/2014/main" id="{267A6526-A4A3-49B9-8786-82A69189A65E}"/>
              </a:ext>
            </a:extLst>
          </p:cNvPr>
          <p:cNvGrpSpPr>
            <a:grpSpLocks noChangeAspect="1"/>
          </p:cNvGrpSpPr>
          <p:nvPr/>
        </p:nvGrpSpPr>
        <p:grpSpPr bwMode="auto">
          <a:xfrm>
            <a:off x="2680943" y="1606485"/>
            <a:ext cx="172543" cy="525600"/>
            <a:chOff x="1738" y="919"/>
            <a:chExt cx="1104" cy="3363"/>
          </a:xfrm>
          <a:solidFill>
            <a:schemeClr val="bg2"/>
          </a:solidFill>
        </p:grpSpPr>
        <p:sp>
          <p:nvSpPr>
            <p:cNvPr id="49" name="Freeform 290">
              <a:extLst>
                <a:ext uri="{FF2B5EF4-FFF2-40B4-BE49-F238E27FC236}">
                  <a16:creationId xmlns:a16="http://schemas.microsoft.com/office/drawing/2014/main" id="{00703550-7745-4C96-85DD-00C9A95C2988}"/>
                </a:ext>
              </a:extLst>
            </p:cNvPr>
            <p:cNvSpPr>
              <a:spLocks noEditPoints="1"/>
            </p:cNvSpPr>
            <p:nvPr/>
          </p:nvSpPr>
          <p:spPr bwMode="auto">
            <a:xfrm>
              <a:off x="1903" y="919"/>
              <a:ext cx="755" cy="879"/>
            </a:xfrm>
            <a:custGeom>
              <a:avLst/>
              <a:gdLst>
                <a:gd name="T0" fmla="*/ 30 w 494"/>
                <a:gd name="T1" fmla="*/ 284 h 575"/>
                <a:gd name="T2" fmla="*/ 23 w 494"/>
                <a:gd name="T3" fmla="*/ 315 h 575"/>
                <a:gd name="T4" fmla="*/ 39 w 494"/>
                <a:gd name="T5" fmla="*/ 342 h 575"/>
                <a:gd name="T6" fmla="*/ 38 w 494"/>
                <a:gd name="T7" fmla="*/ 357 h 575"/>
                <a:gd name="T8" fmla="*/ 65 w 494"/>
                <a:gd name="T9" fmla="*/ 385 h 575"/>
                <a:gd name="T10" fmla="*/ 65 w 494"/>
                <a:gd name="T11" fmla="*/ 392 h 575"/>
                <a:gd name="T12" fmla="*/ 249 w 494"/>
                <a:gd name="T13" fmla="*/ 575 h 575"/>
                <a:gd name="T14" fmla="*/ 432 w 494"/>
                <a:gd name="T15" fmla="*/ 394 h 575"/>
                <a:gd name="T16" fmla="*/ 446 w 494"/>
                <a:gd name="T17" fmla="*/ 367 h 575"/>
                <a:gd name="T18" fmla="*/ 445 w 494"/>
                <a:gd name="T19" fmla="*/ 363 h 575"/>
                <a:gd name="T20" fmla="*/ 480 w 494"/>
                <a:gd name="T21" fmla="*/ 329 h 575"/>
                <a:gd name="T22" fmla="*/ 471 w 494"/>
                <a:gd name="T23" fmla="*/ 298 h 575"/>
                <a:gd name="T24" fmla="*/ 480 w 494"/>
                <a:gd name="T25" fmla="*/ 274 h 575"/>
                <a:gd name="T26" fmla="*/ 469 w 494"/>
                <a:gd name="T27" fmla="*/ 220 h 575"/>
                <a:gd name="T28" fmla="*/ 485 w 494"/>
                <a:gd name="T29" fmla="*/ 182 h 575"/>
                <a:gd name="T30" fmla="*/ 430 w 494"/>
                <a:gd name="T31" fmla="*/ 97 h 575"/>
                <a:gd name="T32" fmla="*/ 415 w 494"/>
                <a:gd name="T33" fmla="*/ 99 h 575"/>
                <a:gd name="T34" fmla="*/ 361 w 494"/>
                <a:gd name="T35" fmla="*/ 59 h 575"/>
                <a:gd name="T36" fmla="*/ 345 w 494"/>
                <a:gd name="T37" fmla="*/ 61 h 575"/>
                <a:gd name="T38" fmla="*/ 279 w 494"/>
                <a:gd name="T39" fmla="*/ 0 h 575"/>
                <a:gd name="T40" fmla="*/ 216 w 494"/>
                <a:gd name="T41" fmla="*/ 47 h 575"/>
                <a:gd name="T42" fmla="*/ 157 w 494"/>
                <a:gd name="T43" fmla="*/ 17 h 575"/>
                <a:gd name="T44" fmla="*/ 87 w 494"/>
                <a:gd name="T45" fmla="*/ 98 h 575"/>
                <a:gd name="T46" fmla="*/ 82 w 494"/>
                <a:gd name="T47" fmla="*/ 97 h 575"/>
                <a:gd name="T48" fmla="*/ 27 w 494"/>
                <a:gd name="T49" fmla="*/ 182 h 575"/>
                <a:gd name="T50" fmla="*/ 29 w 494"/>
                <a:gd name="T51" fmla="*/ 190 h 575"/>
                <a:gd name="T52" fmla="*/ 6 w 494"/>
                <a:gd name="T53" fmla="*/ 245 h 575"/>
                <a:gd name="T54" fmla="*/ 30 w 494"/>
                <a:gd name="T55" fmla="*/ 284 h 575"/>
                <a:gd name="T56" fmla="*/ 106 w 494"/>
                <a:gd name="T57" fmla="*/ 303 h 575"/>
                <a:gd name="T58" fmla="*/ 111 w 494"/>
                <a:gd name="T59" fmla="*/ 277 h 575"/>
                <a:gd name="T60" fmla="*/ 115 w 494"/>
                <a:gd name="T61" fmla="*/ 256 h 575"/>
                <a:gd name="T62" fmla="*/ 158 w 494"/>
                <a:gd name="T63" fmla="*/ 210 h 575"/>
                <a:gd name="T64" fmla="*/ 171 w 494"/>
                <a:gd name="T65" fmla="*/ 211 h 575"/>
                <a:gd name="T66" fmla="*/ 233 w 494"/>
                <a:gd name="T67" fmla="*/ 164 h 575"/>
                <a:gd name="T68" fmla="*/ 275 w 494"/>
                <a:gd name="T69" fmla="*/ 182 h 575"/>
                <a:gd name="T70" fmla="*/ 292 w 494"/>
                <a:gd name="T71" fmla="*/ 179 h 575"/>
                <a:gd name="T72" fmla="*/ 347 w 494"/>
                <a:gd name="T73" fmla="*/ 222 h 575"/>
                <a:gd name="T74" fmla="*/ 358 w 494"/>
                <a:gd name="T75" fmla="*/ 220 h 575"/>
                <a:gd name="T76" fmla="*/ 387 w 494"/>
                <a:gd name="T77" fmla="*/ 252 h 575"/>
                <a:gd name="T78" fmla="*/ 392 w 494"/>
                <a:gd name="T79" fmla="*/ 287 h 575"/>
                <a:gd name="T80" fmla="*/ 392 w 494"/>
                <a:gd name="T81" fmla="*/ 392 h 575"/>
                <a:gd name="T82" fmla="*/ 249 w 494"/>
                <a:gd name="T83" fmla="*/ 535 h 575"/>
                <a:gd name="T84" fmla="*/ 106 w 494"/>
                <a:gd name="T85" fmla="*/ 392 h 575"/>
                <a:gd name="T86" fmla="*/ 106 w 494"/>
                <a:gd name="T87" fmla="*/ 303 h 5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94" h="575">
                  <a:moveTo>
                    <a:pt x="30" y="284"/>
                  </a:moveTo>
                  <a:cubicBezTo>
                    <a:pt x="23" y="292"/>
                    <a:pt x="21" y="303"/>
                    <a:pt x="23" y="315"/>
                  </a:cubicBezTo>
                  <a:cubicBezTo>
                    <a:pt x="25" y="326"/>
                    <a:pt x="31" y="335"/>
                    <a:pt x="39" y="342"/>
                  </a:cubicBezTo>
                  <a:cubicBezTo>
                    <a:pt x="38" y="346"/>
                    <a:pt x="37" y="352"/>
                    <a:pt x="38" y="357"/>
                  </a:cubicBezTo>
                  <a:cubicBezTo>
                    <a:pt x="41" y="371"/>
                    <a:pt x="52" y="382"/>
                    <a:pt x="65" y="385"/>
                  </a:cubicBezTo>
                  <a:cubicBezTo>
                    <a:pt x="65" y="392"/>
                    <a:pt x="65" y="392"/>
                    <a:pt x="65" y="392"/>
                  </a:cubicBezTo>
                  <a:cubicBezTo>
                    <a:pt x="65" y="493"/>
                    <a:pt x="147" y="575"/>
                    <a:pt x="249" y="575"/>
                  </a:cubicBezTo>
                  <a:cubicBezTo>
                    <a:pt x="349" y="575"/>
                    <a:pt x="431" y="495"/>
                    <a:pt x="432" y="394"/>
                  </a:cubicBezTo>
                  <a:cubicBezTo>
                    <a:pt x="440" y="390"/>
                    <a:pt x="446" y="380"/>
                    <a:pt x="446" y="367"/>
                  </a:cubicBezTo>
                  <a:cubicBezTo>
                    <a:pt x="446" y="366"/>
                    <a:pt x="446" y="364"/>
                    <a:pt x="445" y="363"/>
                  </a:cubicBezTo>
                  <a:cubicBezTo>
                    <a:pt x="461" y="360"/>
                    <a:pt x="476" y="346"/>
                    <a:pt x="480" y="329"/>
                  </a:cubicBezTo>
                  <a:cubicBezTo>
                    <a:pt x="483" y="316"/>
                    <a:pt x="479" y="305"/>
                    <a:pt x="471" y="298"/>
                  </a:cubicBezTo>
                  <a:cubicBezTo>
                    <a:pt x="475" y="291"/>
                    <a:pt x="478" y="283"/>
                    <a:pt x="480" y="274"/>
                  </a:cubicBezTo>
                  <a:cubicBezTo>
                    <a:pt x="485" y="253"/>
                    <a:pt x="480" y="234"/>
                    <a:pt x="469" y="220"/>
                  </a:cubicBezTo>
                  <a:cubicBezTo>
                    <a:pt x="476" y="209"/>
                    <a:pt x="482" y="196"/>
                    <a:pt x="485" y="182"/>
                  </a:cubicBezTo>
                  <a:cubicBezTo>
                    <a:pt x="494" y="137"/>
                    <a:pt x="469" y="97"/>
                    <a:pt x="430" y="97"/>
                  </a:cubicBezTo>
                  <a:cubicBezTo>
                    <a:pt x="425" y="97"/>
                    <a:pt x="420" y="98"/>
                    <a:pt x="415" y="99"/>
                  </a:cubicBezTo>
                  <a:cubicBezTo>
                    <a:pt x="406" y="75"/>
                    <a:pt x="386" y="59"/>
                    <a:pt x="361" y="59"/>
                  </a:cubicBezTo>
                  <a:cubicBezTo>
                    <a:pt x="355" y="59"/>
                    <a:pt x="350" y="60"/>
                    <a:pt x="345" y="61"/>
                  </a:cubicBezTo>
                  <a:cubicBezTo>
                    <a:pt x="336" y="26"/>
                    <a:pt x="311" y="0"/>
                    <a:pt x="279" y="0"/>
                  </a:cubicBezTo>
                  <a:cubicBezTo>
                    <a:pt x="251" y="0"/>
                    <a:pt x="228" y="19"/>
                    <a:pt x="216" y="47"/>
                  </a:cubicBezTo>
                  <a:cubicBezTo>
                    <a:pt x="201" y="29"/>
                    <a:pt x="180" y="17"/>
                    <a:pt x="157" y="17"/>
                  </a:cubicBezTo>
                  <a:cubicBezTo>
                    <a:pt x="118" y="17"/>
                    <a:pt x="90" y="53"/>
                    <a:pt x="87" y="98"/>
                  </a:cubicBezTo>
                  <a:cubicBezTo>
                    <a:pt x="86" y="98"/>
                    <a:pt x="84" y="97"/>
                    <a:pt x="82" y="97"/>
                  </a:cubicBezTo>
                  <a:cubicBezTo>
                    <a:pt x="43" y="97"/>
                    <a:pt x="19" y="137"/>
                    <a:pt x="27" y="182"/>
                  </a:cubicBezTo>
                  <a:cubicBezTo>
                    <a:pt x="28" y="185"/>
                    <a:pt x="29" y="187"/>
                    <a:pt x="29" y="190"/>
                  </a:cubicBezTo>
                  <a:cubicBezTo>
                    <a:pt x="10" y="198"/>
                    <a:pt x="0" y="220"/>
                    <a:pt x="6" y="245"/>
                  </a:cubicBezTo>
                  <a:cubicBezTo>
                    <a:pt x="9" y="261"/>
                    <a:pt x="18" y="275"/>
                    <a:pt x="30" y="284"/>
                  </a:cubicBezTo>
                  <a:moveTo>
                    <a:pt x="106" y="303"/>
                  </a:moveTo>
                  <a:cubicBezTo>
                    <a:pt x="106" y="294"/>
                    <a:pt x="108" y="285"/>
                    <a:pt x="111" y="277"/>
                  </a:cubicBezTo>
                  <a:cubicBezTo>
                    <a:pt x="112" y="270"/>
                    <a:pt x="113" y="263"/>
                    <a:pt x="115" y="256"/>
                  </a:cubicBezTo>
                  <a:cubicBezTo>
                    <a:pt x="136" y="251"/>
                    <a:pt x="152" y="234"/>
                    <a:pt x="158" y="210"/>
                  </a:cubicBezTo>
                  <a:cubicBezTo>
                    <a:pt x="162" y="211"/>
                    <a:pt x="166" y="211"/>
                    <a:pt x="171" y="211"/>
                  </a:cubicBezTo>
                  <a:cubicBezTo>
                    <a:pt x="198" y="211"/>
                    <a:pt x="222" y="193"/>
                    <a:pt x="233" y="164"/>
                  </a:cubicBezTo>
                  <a:cubicBezTo>
                    <a:pt x="245" y="175"/>
                    <a:pt x="260" y="182"/>
                    <a:pt x="275" y="182"/>
                  </a:cubicBezTo>
                  <a:cubicBezTo>
                    <a:pt x="281" y="182"/>
                    <a:pt x="287" y="181"/>
                    <a:pt x="292" y="179"/>
                  </a:cubicBezTo>
                  <a:cubicBezTo>
                    <a:pt x="302" y="205"/>
                    <a:pt x="323" y="222"/>
                    <a:pt x="347" y="222"/>
                  </a:cubicBezTo>
                  <a:cubicBezTo>
                    <a:pt x="351" y="222"/>
                    <a:pt x="354" y="221"/>
                    <a:pt x="358" y="220"/>
                  </a:cubicBezTo>
                  <a:cubicBezTo>
                    <a:pt x="364" y="235"/>
                    <a:pt x="374" y="246"/>
                    <a:pt x="387" y="252"/>
                  </a:cubicBezTo>
                  <a:cubicBezTo>
                    <a:pt x="390" y="263"/>
                    <a:pt x="392" y="275"/>
                    <a:pt x="392" y="287"/>
                  </a:cubicBezTo>
                  <a:cubicBezTo>
                    <a:pt x="392" y="392"/>
                    <a:pt x="392" y="392"/>
                    <a:pt x="392" y="392"/>
                  </a:cubicBezTo>
                  <a:cubicBezTo>
                    <a:pt x="392" y="471"/>
                    <a:pt x="328" y="535"/>
                    <a:pt x="249" y="535"/>
                  </a:cubicBezTo>
                  <a:cubicBezTo>
                    <a:pt x="170" y="535"/>
                    <a:pt x="106" y="471"/>
                    <a:pt x="106" y="392"/>
                  </a:cubicBezTo>
                  <a:lnTo>
                    <a:pt x="106"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0" name="Freeform 291">
              <a:extLst>
                <a:ext uri="{FF2B5EF4-FFF2-40B4-BE49-F238E27FC236}">
                  <a16:creationId xmlns:a16="http://schemas.microsoft.com/office/drawing/2014/main" id="{689C7080-9C6E-4A48-9672-908D2511D539}"/>
                </a:ext>
              </a:extLst>
            </p:cNvPr>
            <p:cNvSpPr>
              <a:spLocks noEditPoints="1"/>
            </p:cNvSpPr>
            <p:nvPr/>
          </p:nvSpPr>
          <p:spPr bwMode="auto">
            <a:xfrm>
              <a:off x="1738" y="1772"/>
              <a:ext cx="1104" cy="2510"/>
            </a:xfrm>
            <a:custGeom>
              <a:avLst/>
              <a:gdLst>
                <a:gd name="T0" fmla="*/ 717 w 722"/>
                <a:gd name="T1" fmla="*/ 683 h 1642"/>
                <a:gd name="T2" fmla="*/ 657 w 722"/>
                <a:gd name="T3" fmla="*/ 113 h 1642"/>
                <a:gd name="T4" fmla="*/ 616 w 722"/>
                <a:gd name="T5" fmla="*/ 56 h 1642"/>
                <a:gd name="T6" fmla="*/ 499 w 722"/>
                <a:gd name="T7" fmla="*/ 1 h 1642"/>
                <a:gd name="T8" fmla="*/ 499 w 722"/>
                <a:gd name="T9" fmla="*/ 83 h 1642"/>
                <a:gd name="T10" fmla="*/ 490 w 722"/>
                <a:gd name="T11" fmla="*/ 100 h 1642"/>
                <a:gd name="T12" fmla="*/ 478 w 722"/>
                <a:gd name="T13" fmla="*/ 103 h 1642"/>
                <a:gd name="T14" fmla="*/ 471 w 722"/>
                <a:gd name="T15" fmla="*/ 102 h 1642"/>
                <a:gd name="T16" fmla="*/ 421 w 722"/>
                <a:gd name="T17" fmla="*/ 83 h 1642"/>
                <a:gd name="T18" fmla="*/ 383 w 722"/>
                <a:gd name="T19" fmla="*/ 212 h 1642"/>
                <a:gd name="T20" fmla="*/ 364 w 722"/>
                <a:gd name="T21" fmla="*/ 226 h 1642"/>
                <a:gd name="T22" fmla="*/ 364 w 722"/>
                <a:gd name="T23" fmla="*/ 226 h 1642"/>
                <a:gd name="T24" fmla="*/ 344 w 722"/>
                <a:gd name="T25" fmla="*/ 212 h 1642"/>
                <a:gd name="T26" fmla="*/ 304 w 722"/>
                <a:gd name="T27" fmla="*/ 82 h 1642"/>
                <a:gd name="T28" fmla="*/ 251 w 722"/>
                <a:gd name="T29" fmla="*/ 102 h 1642"/>
                <a:gd name="T30" fmla="*/ 244 w 722"/>
                <a:gd name="T31" fmla="*/ 103 h 1642"/>
                <a:gd name="T32" fmla="*/ 233 w 722"/>
                <a:gd name="T33" fmla="*/ 100 h 1642"/>
                <a:gd name="T34" fmla="*/ 224 w 722"/>
                <a:gd name="T35" fmla="*/ 83 h 1642"/>
                <a:gd name="T36" fmla="*/ 224 w 722"/>
                <a:gd name="T37" fmla="*/ 0 h 1642"/>
                <a:gd name="T38" fmla="*/ 224 w 722"/>
                <a:gd name="T39" fmla="*/ 0 h 1642"/>
                <a:gd name="T40" fmla="*/ 106 w 722"/>
                <a:gd name="T41" fmla="*/ 56 h 1642"/>
                <a:gd name="T42" fmla="*/ 65 w 722"/>
                <a:gd name="T43" fmla="*/ 113 h 1642"/>
                <a:gd name="T44" fmla="*/ 5 w 722"/>
                <a:gd name="T45" fmla="*/ 683 h 1642"/>
                <a:gd name="T46" fmla="*/ 76 w 722"/>
                <a:gd name="T47" fmla="*/ 815 h 1642"/>
                <a:gd name="T48" fmla="*/ 122 w 722"/>
                <a:gd name="T49" fmla="*/ 833 h 1642"/>
                <a:gd name="T50" fmla="*/ 221 w 722"/>
                <a:gd name="T51" fmla="*/ 1601 h 1642"/>
                <a:gd name="T52" fmla="*/ 268 w 722"/>
                <a:gd name="T53" fmla="*/ 1642 h 1642"/>
                <a:gd name="T54" fmla="*/ 341 w 722"/>
                <a:gd name="T55" fmla="*/ 1642 h 1642"/>
                <a:gd name="T56" fmla="*/ 341 w 722"/>
                <a:gd name="T57" fmla="*/ 856 h 1642"/>
                <a:gd name="T58" fmla="*/ 361 w 722"/>
                <a:gd name="T59" fmla="*/ 856 h 1642"/>
                <a:gd name="T60" fmla="*/ 361 w 722"/>
                <a:gd name="T61" fmla="*/ 856 h 1642"/>
                <a:gd name="T62" fmla="*/ 382 w 722"/>
                <a:gd name="T63" fmla="*/ 856 h 1642"/>
                <a:gd name="T64" fmla="*/ 382 w 722"/>
                <a:gd name="T65" fmla="*/ 1642 h 1642"/>
                <a:gd name="T66" fmla="*/ 455 w 722"/>
                <a:gd name="T67" fmla="*/ 1642 h 1642"/>
                <a:gd name="T68" fmla="*/ 501 w 722"/>
                <a:gd name="T69" fmla="*/ 1601 h 1642"/>
                <a:gd name="T70" fmla="*/ 600 w 722"/>
                <a:gd name="T71" fmla="*/ 833 h 1642"/>
                <a:gd name="T72" fmla="*/ 647 w 722"/>
                <a:gd name="T73" fmla="*/ 815 h 1642"/>
                <a:gd name="T74" fmla="*/ 717 w 722"/>
                <a:gd name="T75" fmla="*/ 683 h 1642"/>
                <a:gd name="T76" fmla="*/ 161 w 722"/>
                <a:gd name="T77" fmla="*/ 400 h 1642"/>
                <a:gd name="T78" fmla="*/ 561 w 722"/>
                <a:gd name="T79" fmla="*/ 400 h 1642"/>
                <a:gd name="T80" fmla="*/ 561 w 722"/>
                <a:gd name="T81" fmla="*/ 522 h 1642"/>
                <a:gd name="T82" fmla="*/ 161 w 722"/>
                <a:gd name="T83" fmla="*/ 522 h 1642"/>
                <a:gd name="T84" fmla="*/ 161 w 722"/>
                <a:gd name="T85" fmla="*/ 400 h 1642"/>
                <a:gd name="T86" fmla="*/ 122 w 722"/>
                <a:gd name="T87" fmla="*/ 790 h 1642"/>
                <a:gd name="T88" fmla="*/ 71 w 722"/>
                <a:gd name="T89" fmla="*/ 759 h 1642"/>
                <a:gd name="T90" fmla="*/ 46 w 722"/>
                <a:gd name="T91" fmla="*/ 688 h 1642"/>
                <a:gd name="T92" fmla="*/ 55 w 722"/>
                <a:gd name="T93" fmla="*/ 602 h 1642"/>
                <a:gd name="T94" fmla="*/ 123 w 722"/>
                <a:gd name="T95" fmla="*/ 602 h 1642"/>
                <a:gd name="T96" fmla="*/ 122 w 722"/>
                <a:gd name="T97" fmla="*/ 790 h 1642"/>
                <a:gd name="T98" fmla="*/ 652 w 722"/>
                <a:gd name="T99" fmla="*/ 759 h 1642"/>
                <a:gd name="T100" fmla="*/ 600 w 722"/>
                <a:gd name="T101" fmla="*/ 790 h 1642"/>
                <a:gd name="T102" fmla="*/ 600 w 722"/>
                <a:gd name="T103" fmla="*/ 602 h 1642"/>
                <a:gd name="T104" fmla="*/ 668 w 722"/>
                <a:gd name="T105" fmla="*/ 602 h 1642"/>
                <a:gd name="T106" fmla="*/ 677 w 722"/>
                <a:gd name="T107" fmla="*/ 688 h 1642"/>
                <a:gd name="T108" fmla="*/ 652 w 722"/>
                <a:gd name="T109" fmla="*/ 759 h 1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2" h="1642">
                  <a:moveTo>
                    <a:pt x="717" y="683"/>
                  </a:moveTo>
                  <a:cubicBezTo>
                    <a:pt x="657" y="113"/>
                    <a:pt x="657" y="113"/>
                    <a:pt x="657" y="113"/>
                  </a:cubicBezTo>
                  <a:cubicBezTo>
                    <a:pt x="653" y="79"/>
                    <a:pt x="636" y="65"/>
                    <a:pt x="616" y="56"/>
                  </a:cubicBezTo>
                  <a:cubicBezTo>
                    <a:pt x="499" y="1"/>
                    <a:pt x="499" y="1"/>
                    <a:pt x="499" y="1"/>
                  </a:cubicBezTo>
                  <a:cubicBezTo>
                    <a:pt x="499" y="83"/>
                    <a:pt x="499" y="83"/>
                    <a:pt x="499" y="83"/>
                  </a:cubicBezTo>
                  <a:cubicBezTo>
                    <a:pt x="499" y="90"/>
                    <a:pt x="495" y="96"/>
                    <a:pt x="490" y="100"/>
                  </a:cubicBezTo>
                  <a:cubicBezTo>
                    <a:pt x="487" y="102"/>
                    <a:pt x="482" y="103"/>
                    <a:pt x="478" y="103"/>
                  </a:cubicBezTo>
                  <a:cubicBezTo>
                    <a:pt x="476" y="103"/>
                    <a:pt x="474" y="103"/>
                    <a:pt x="471" y="102"/>
                  </a:cubicBezTo>
                  <a:cubicBezTo>
                    <a:pt x="421" y="83"/>
                    <a:pt x="421" y="83"/>
                    <a:pt x="421" y="83"/>
                  </a:cubicBezTo>
                  <a:cubicBezTo>
                    <a:pt x="383" y="212"/>
                    <a:pt x="383" y="212"/>
                    <a:pt x="383" y="212"/>
                  </a:cubicBezTo>
                  <a:cubicBezTo>
                    <a:pt x="381" y="220"/>
                    <a:pt x="373" y="226"/>
                    <a:pt x="364" y="226"/>
                  </a:cubicBezTo>
                  <a:cubicBezTo>
                    <a:pt x="364" y="226"/>
                    <a:pt x="364" y="226"/>
                    <a:pt x="364" y="226"/>
                  </a:cubicBezTo>
                  <a:cubicBezTo>
                    <a:pt x="355" y="226"/>
                    <a:pt x="347" y="220"/>
                    <a:pt x="344" y="212"/>
                  </a:cubicBezTo>
                  <a:cubicBezTo>
                    <a:pt x="304" y="82"/>
                    <a:pt x="304" y="82"/>
                    <a:pt x="304" y="82"/>
                  </a:cubicBezTo>
                  <a:cubicBezTo>
                    <a:pt x="251" y="102"/>
                    <a:pt x="251" y="102"/>
                    <a:pt x="251" y="102"/>
                  </a:cubicBezTo>
                  <a:cubicBezTo>
                    <a:pt x="249" y="103"/>
                    <a:pt x="247" y="103"/>
                    <a:pt x="244" y="103"/>
                  </a:cubicBezTo>
                  <a:cubicBezTo>
                    <a:pt x="240" y="103"/>
                    <a:pt x="236" y="102"/>
                    <a:pt x="233" y="100"/>
                  </a:cubicBezTo>
                  <a:cubicBezTo>
                    <a:pt x="227" y="96"/>
                    <a:pt x="224" y="90"/>
                    <a:pt x="224" y="83"/>
                  </a:cubicBezTo>
                  <a:cubicBezTo>
                    <a:pt x="224" y="0"/>
                    <a:pt x="224" y="0"/>
                    <a:pt x="224" y="0"/>
                  </a:cubicBezTo>
                  <a:cubicBezTo>
                    <a:pt x="224" y="0"/>
                    <a:pt x="224" y="0"/>
                    <a:pt x="224" y="0"/>
                  </a:cubicBezTo>
                  <a:cubicBezTo>
                    <a:pt x="106" y="56"/>
                    <a:pt x="106" y="56"/>
                    <a:pt x="106" y="56"/>
                  </a:cubicBezTo>
                  <a:cubicBezTo>
                    <a:pt x="86" y="65"/>
                    <a:pt x="68" y="81"/>
                    <a:pt x="65" y="113"/>
                  </a:cubicBezTo>
                  <a:cubicBezTo>
                    <a:pt x="5" y="683"/>
                    <a:pt x="5" y="683"/>
                    <a:pt x="5" y="683"/>
                  </a:cubicBezTo>
                  <a:cubicBezTo>
                    <a:pt x="0" y="739"/>
                    <a:pt x="34" y="790"/>
                    <a:pt x="76" y="815"/>
                  </a:cubicBezTo>
                  <a:cubicBezTo>
                    <a:pt x="97" y="827"/>
                    <a:pt x="122" y="833"/>
                    <a:pt x="122" y="833"/>
                  </a:cubicBezTo>
                  <a:cubicBezTo>
                    <a:pt x="221" y="1601"/>
                    <a:pt x="221" y="1601"/>
                    <a:pt x="221" y="1601"/>
                  </a:cubicBezTo>
                  <a:cubicBezTo>
                    <a:pt x="224" y="1623"/>
                    <a:pt x="245" y="1642"/>
                    <a:pt x="268" y="1642"/>
                  </a:cubicBezTo>
                  <a:cubicBezTo>
                    <a:pt x="341" y="1642"/>
                    <a:pt x="341" y="1642"/>
                    <a:pt x="341" y="1642"/>
                  </a:cubicBezTo>
                  <a:cubicBezTo>
                    <a:pt x="341" y="856"/>
                    <a:pt x="341" y="856"/>
                    <a:pt x="341" y="856"/>
                  </a:cubicBezTo>
                  <a:cubicBezTo>
                    <a:pt x="361" y="856"/>
                    <a:pt x="361" y="856"/>
                    <a:pt x="361" y="856"/>
                  </a:cubicBezTo>
                  <a:cubicBezTo>
                    <a:pt x="361" y="856"/>
                    <a:pt x="361" y="856"/>
                    <a:pt x="361" y="856"/>
                  </a:cubicBezTo>
                  <a:cubicBezTo>
                    <a:pt x="382" y="856"/>
                    <a:pt x="382" y="856"/>
                    <a:pt x="382" y="856"/>
                  </a:cubicBezTo>
                  <a:cubicBezTo>
                    <a:pt x="382" y="1642"/>
                    <a:pt x="382" y="1642"/>
                    <a:pt x="382" y="1642"/>
                  </a:cubicBezTo>
                  <a:cubicBezTo>
                    <a:pt x="455" y="1642"/>
                    <a:pt x="455" y="1642"/>
                    <a:pt x="455" y="1642"/>
                  </a:cubicBezTo>
                  <a:cubicBezTo>
                    <a:pt x="477" y="1642"/>
                    <a:pt x="498" y="1623"/>
                    <a:pt x="501" y="1601"/>
                  </a:cubicBezTo>
                  <a:cubicBezTo>
                    <a:pt x="600" y="833"/>
                    <a:pt x="600" y="833"/>
                    <a:pt x="600" y="833"/>
                  </a:cubicBezTo>
                  <a:cubicBezTo>
                    <a:pt x="600" y="833"/>
                    <a:pt x="625" y="827"/>
                    <a:pt x="647" y="815"/>
                  </a:cubicBezTo>
                  <a:cubicBezTo>
                    <a:pt x="689" y="790"/>
                    <a:pt x="722" y="739"/>
                    <a:pt x="717" y="683"/>
                  </a:cubicBezTo>
                  <a:moveTo>
                    <a:pt x="161" y="400"/>
                  </a:moveTo>
                  <a:cubicBezTo>
                    <a:pt x="561" y="400"/>
                    <a:pt x="561" y="400"/>
                    <a:pt x="561" y="400"/>
                  </a:cubicBezTo>
                  <a:cubicBezTo>
                    <a:pt x="561" y="522"/>
                    <a:pt x="561" y="522"/>
                    <a:pt x="561" y="522"/>
                  </a:cubicBezTo>
                  <a:cubicBezTo>
                    <a:pt x="161" y="522"/>
                    <a:pt x="161" y="522"/>
                    <a:pt x="161" y="522"/>
                  </a:cubicBezTo>
                  <a:lnTo>
                    <a:pt x="161" y="400"/>
                  </a:lnTo>
                  <a:close/>
                  <a:moveTo>
                    <a:pt x="122" y="790"/>
                  </a:moveTo>
                  <a:cubicBezTo>
                    <a:pt x="93" y="780"/>
                    <a:pt x="77" y="765"/>
                    <a:pt x="71" y="759"/>
                  </a:cubicBezTo>
                  <a:cubicBezTo>
                    <a:pt x="57" y="746"/>
                    <a:pt x="43" y="721"/>
                    <a:pt x="46" y="688"/>
                  </a:cubicBezTo>
                  <a:cubicBezTo>
                    <a:pt x="55" y="602"/>
                    <a:pt x="55" y="602"/>
                    <a:pt x="55" y="602"/>
                  </a:cubicBezTo>
                  <a:cubicBezTo>
                    <a:pt x="123" y="602"/>
                    <a:pt x="123" y="602"/>
                    <a:pt x="123" y="602"/>
                  </a:cubicBezTo>
                  <a:lnTo>
                    <a:pt x="122" y="790"/>
                  </a:lnTo>
                  <a:close/>
                  <a:moveTo>
                    <a:pt x="652" y="759"/>
                  </a:moveTo>
                  <a:cubicBezTo>
                    <a:pt x="646" y="765"/>
                    <a:pt x="629" y="780"/>
                    <a:pt x="600" y="790"/>
                  </a:cubicBezTo>
                  <a:cubicBezTo>
                    <a:pt x="600" y="602"/>
                    <a:pt x="600" y="602"/>
                    <a:pt x="600" y="602"/>
                  </a:cubicBezTo>
                  <a:cubicBezTo>
                    <a:pt x="668" y="602"/>
                    <a:pt x="668" y="602"/>
                    <a:pt x="668" y="602"/>
                  </a:cubicBezTo>
                  <a:cubicBezTo>
                    <a:pt x="677" y="688"/>
                    <a:pt x="677" y="688"/>
                    <a:pt x="677" y="688"/>
                  </a:cubicBezTo>
                  <a:cubicBezTo>
                    <a:pt x="680" y="721"/>
                    <a:pt x="665" y="746"/>
                    <a:pt x="652" y="75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1" name="Freeform 297">
            <a:extLst>
              <a:ext uri="{FF2B5EF4-FFF2-40B4-BE49-F238E27FC236}">
                <a16:creationId xmlns:a16="http://schemas.microsoft.com/office/drawing/2014/main" id="{A2A45C8E-A7F5-4F56-A89F-57E418959927}"/>
              </a:ext>
            </a:extLst>
          </p:cNvPr>
          <p:cNvSpPr>
            <a:spLocks noChangeAspect="1" noEditPoints="1"/>
          </p:cNvSpPr>
          <p:nvPr/>
        </p:nvSpPr>
        <p:spPr bwMode="auto">
          <a:xfrm>
            <a:off x="2579170" y="2050036"/>
            <a:ext cx="172783" cy="525600"/>
          </a:xfrm>
          <a:custGeom>
            <a:avLst/>
            <a:gdLst>
              <a:gd name="T0" fmla="*/ 709 w 723"/>
              <a:gd name="T1" fmla="*/ 1161 h 2200"/>
              <a:gd name="T2" fmla="*/ 617 w 723"/>
              <a:gd name="T3" fmla="*/ 615 h 2200"/>
              <a:gd name="T4" fmla="*/ 463 w 723"/>
              <a:gd name="T5" fmla="*/ 545 h 2200"/>
              <a:gd name="T6" fmla="*/ 559 w 723"/>
              <a:gd name="T7" fmla="*/ 367 h 2200"/>
              <a:gd name="T8" fmla="*/ 593 w 723"/>
              <a:gd name="T9" fmla="*/ 329 h 2200"/>
              <a:gd name="T10" fmla="*/ 593 w 723"/>
              <a:gd name="T11" fmla="*/ 274 h 2200"/>
              <a:gd name="T12" fmla="*/ 598 w 723"/>
              <a:gd name="T13" fmla="*/ 182 h 2200"/>
              <a:gd name="T14" fmla="*/ 528 w 723"/>
              <a:gd name="T15" fmla="*/ 99 h 2200"/>
              <a:gd name="T16" fmla="*/ 458 w 723"/>
              <a:gd name="T17" fmla="*/ 61 h 2200"/>
              <a:gd name="T18" fmla="*/ 328 w 723"/>
              <a:gd name="T19" fmla="*/ 47 h 2200"/>
              <a:gd name="T20" fmla="*/ 200 w 723"/>
              <a:gd name="T21" fmla="*/ 98 h 2200"/>
              <a:gd name="T22" fmla="*/ 140 w 723"/>
              <a:gd name="T23" fmla="*/ 182 h 2200"/>
              <a:gd name="T24" fmla="*/ 118 w 723"/>
              <a:gd name="T25" fmla="*/ 245 h 2200"/>
              <a:gd name="T26" fmla="*/ 135 w 723"/>
              <a:gd name="T27" fmla="*/ 315 h 2200"/>
              <a:gd name="T28" fmla="*/ 151 w 723"/>
              <a:gd name="T29" fmla="*/ 357 h 2200"/>
              <a:gd name="T30" fmla="*/ 178 w 723"/>
              <a:gd name="T31" fmla="*/ 392 h 2200"/>
              <a:gd name="T32" fmla="*/ 249 w 723"/>
              <a:gd name="T33" fmla="*/ 548 h 2200"/>
              <a:gd name="T34" fmla="*/ 65 w 723"/>
              <a:gd name="T35" fmla="*/ 673 h 2200"/>
              <a:gd name="T36" fmla="*/ 13 w 723"/>
              <a:gd name="T37" fmla="*/ 1160 h 2200"/>
              <a:gd name="T38" fmla="*/ 75 w 723"/>
              <a:gd name="T39" fmla="*/ 1373 h 2200"/>
              <a:gd name="T40" fmla="*/ 221 w 723"/>
              <a:gd name="T41" fmla="*/ 2159 h 2200"/>
              <a:gd name="T42" fmla="*/ 341 w 723"/>
              <a:gd name="T43" fmla="*/ 2200 h 2200"/>
              <a:gd name="T44" fmla="*/ 361 w 723"/>
              <a:gd name="T45" fmla="*/ 1414 h 2200"/>
              <a:gd name="T46" fmla="*/ 382 w 723"/>
              <a:gd name="T47" fmla="*/ 2200 h 2200"/>
              <a:gd name="T48" fmla="*/ 502 w 723"/>
              <a:gd name="T49" fmla="*/ 2159 h 2200"/>
              <a:gd name="T50" fmla="*/ 647 w 723"/>
              <a:gd name="T51" fmla="*/ 1373 h 2200"/>
              <a:gd name="T52" fmla="*/ 218 w 723"/>
              <a:gd name="T53" fmla="*/ 392 h 2200"/>
              <a:gd name="T54" fmla="*/ 224 w 723"/>
              <a:gd name="T55" fmla="*/ 277 h 2200"/>
              <a:gd name="T56" fmla="*/ 270 w 723"/>
              <a:gd name="T57" fmla="*/ 210 h 2200"/>
              <a:gd name="T58" fmla="*/ 346 w 723"/>
              <a:gd name="T59" fmla="*/ 164 h 2200"/>
              <a:gd name="T60" fmla="*/ 405 w 723"/>
              <a:gd name="T61" fmla="*/ 179 h 2200"/>
              <a:gd name="T62" fmla="*/ 470 w 723"/>
              <a:gd name="T63" fmla="*/ 220 h 2200"/>
              <a:gd name="T64" fmla="*/ 505 w 723"/>
              <a:gd name="T65" fmla="*/ 287 h 2200"/>
              <a:gd name="T66" fmla="*/ 361 w 723"/>
              <a:gd name="T67" fmla="*/ 535 h 2200"/>
              <a:gd name="T68" fmla="*/ 122 w 723"/>
              <a:gd name="T69" fmla="*/ 1348 h 2200"/>
              <a:gd name="T70" fmla="*/ 45 w 723"/>
              <a:gd name="T71" fmla="*/ 1246 h 2200"/>
              <a:gd name="T72" fmla="*/ 54 w 723"/>
              <a:gd name="T73" fmla="*/ 1160 h 2200"/>
              <a:gd name="T74" fmla="*/ 111 w 723"/>
              <a:gd name="T75" fmla="*/ 1160 h 2200"/>
              <a:gd name="T76" fmla="*/ 123 w 723"/>
              <a:gd name="T77" fmla="*/ 1161 h 2200"/>
              <a:gd name="T78" fmla="*/ 166 w 723"/>
              <a:gd name="T79" fmla="*/ 1160 h 2200"/>
              <a:gd name="T80" fmla="*/ 148 w 723"/>
              <a:gd name="T81" fmla="*/ 795 h 2200"/>
              <a:gd name="T82" fmla="*/ 127 w 723"/>
              <a:gd name="T83" fmla="*/ 815 h 2200"/>
              <a:gd name="T84" fmla="*/ 59 w 723"/>
              <a:gd name="T85" fmla="*/ 1119 h 2200"/>
              <a:gd name="T86" fmla="*/ 116 w 723"/>
              <a:gd name="T87" fmla="*/ 657 h 2200"/>
              <a:gd name="T88" fmla="*/ 259 w 723"/>
              <a:gd name="T89" fmla="*/ 588 h 2200"/>
              <a:gd name="T90" fmla="*/ 341 w 723"/>
              <a:gd name="T91" fmla="*/ 750 h 2200"/>
              <a:gd name="T92" fmla="*/ 166 w 723"/>
              <a:gd name="T93" fmla="*/ 1160 h 2200"/>
              <a:gd name="T94" fmla="*/ 382 w 723"/>
              <a:gd name="T95" fmla="*/ 750 h 2200"/>
              <a:gd name="T96" fmla="*/ 464 w 723"/>
              <a:gd name="T97" fmla="*/ 588 h 2200"/>
              <a:gd name="T98" fmla="*/ 607 w 723"/>
              <a:gd name="T99" fmla="*/ 657 h 2200"/>
              <a:gd name="T100" fmla="*/ 664 w 723"/>
              <a:gd name="T101" fmla="*/ 1119 h 2200"/>
              <a:gd name="T102" fmla="*/ 595 w 723"/>
              <a:gd name="T103" fmla="*/ 815 h 2200"/>
              <a:gd name="T104" fmla="*/ 575 w 723"/>
              <a:gd name="T105" fmla="*/ 795 h 2200"/>
              <a:gd name="T106" fmla="*/ 557 w 723"/>
              <a:gd name="T107" fmla="*/ 1160 h 2200"/>
              <a:gd name="T108" fmla="*/ 652 w 723"/>
              <a:gd name="T109" fmla="*/ 1317 h 2200"/>
              <a:gd name="T110" fmla="*/ 600 w 723"/>
              <a:gd name="T111" fmla="*/ 1161 h 2200"/>
              <a:gd name="T112" fmla="*/ 611 w 723"/>
              <a:gd name="T113" fmla="*/ 1160 h 2200"/>
              <a:gd name="T114" fmla="*/ 668 w 723"/>
              <a:gd name="T115" fmla="*/ 1160 h 2200"/>
              <a:gd name="T116" fmla="*/ 652 w 723"/>
              <a:gd name="T117" fmla="*/ 1317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3" h="2200">
                <a:moveTo>
                  <a:pt x="718" y="1241"/>
                </a:moveTo>
                <a:cubicBezTo>
                  <a:pt x="709" y="1161"/>
                  <a:pt x="709" y="1161"/>
                  <a:pt x="709" y="1161"/>
                </a:cubicBezTo>
                <a:cubicBezTo>
                  <a:pt x="658" y="673"/>
                  <a:pt x="658" y="673"/>
                  <a:pt x="658" y="673"/>
                </a:cubicBezTo>
                <a:cubicBezTo>
                  <a:pt x="653" y="640"/>
                  <a:pt x="642" y="627"/>
                  <a:pt x="617" y="615"/>
                </a:cubicBezTo>
                <a:cubicBezTo>
                  <a:pt x="474" y="548"/>
                  <a:pt x="474" y="548"/>
                  <a:pt x="474" y="548"/>
                </a:cubicBezTo>
                <a:cubicBezTo>
                  <a:pt x="470" y="547"/>
                  <a:pt x="469" y="546"/>
                  <a:pt x="463" y="545"/>
                </a:cubicBezTo>
                <a:cubicBezTo>
                  <a:pt x="512" y="512"/>
                  <a:pt x="544" y="457"/>
                  <a:pt x="545" y="394"/>
                </a:cubicBezTo>
                <a:cubicBezTo>
                  <a:pt x="553" y="390"/>
                  <a:pt x="559" y="380"/>
                  <a:pt x="559" y="367"/>
                </a:cubicBezTo>
                <a:cubicBezTo>
                  <a:pt x="559" y="366"/>
                  <a:pt x="558" y="364"/>
                  <a:pt x="558" y="363"/>
                </a:cubicBezTo>
                <a:cubicBezTo>
                  <a:pt x="574" y="360"/>
                  <a:pt x="589" y="346"/>
                  <a:pt x="593" y="329"/>
                </a:cubicBezTo>
                <a:cubicBezTo>
                  <a:pt x="596" y="316"/>
                  <a:pt x="592" y="305"/>
                  <a:pt x="584" y="298"/>
                </a:cubicBezTo>
                <a:cubicBezTo>
                  <a:pt x="588" y="291"/>
                  <a:pt x="591" y="283"/>
                  <a:pt x="593" y="274"/>
                </a:cubicBezTo>
                <a:cubicBezTo>
                  <a:pt x="598" y="253"/>
                  <a:pt x="593" y="234"/>
                  <a:pt x="582" y="220"/>
                </a:cubicBezTo>
                <a:cubicBezTo>
                  <a:pt x="589" y="209"/>
                  <a:pt x="595" y="196"/>
                  <a:pt x="598" y="182"/>
                </a:cubicBezTo>
                <a:cubicBezTo>
                  <a:pt x="607" y="137"/>
                  <a:pt x="582" y="97"/>
                  <a:pt x="543" y="97"/>
                </a:cubicBezTo>
                <a:cubicBezTo>
                  <a:pt x="538" y="97"/>
                  <a:pt x="533" y="98"/>
                  <a:pt x="528" y="99"/>
                </a:cubicBezTo>
                <a:cubicBezTo>
                  <a:pt x="519" y="75"/>
                  <a:pt x="499" y="59"/>
                  <a:pt x="473" y="59"/>
                </a:cubicBezTo>
                <a:cubicBezTo>
                  <a:pt x="468" y="59"/>
                  <a:pt x="463" y="60"/>
                  <a:pt x="458" y="61"/>
                </a:cubicBezTo>
                <a:cubicBezTo>
                  <a:pt x="449" y="26"/>
                  <a:pt x="424" y="0"/>
                  <a:pt x="392" y="0"/>
                </a:cubicBezTo>
                <a:cubicBezTo>
                  <a:pt x="364" y="0"/>
                  <a:pt x="341" y="19"/>
                  <a:pt x="328" y="47"/>
                </a:cubicBezTo>
                <a:cubicBezTo>
                  <a:pt x="313" y="29"/>
                  <a:pt x="293" y="17"/>
                  <a:pt x="270" y="17"/>
                </a:cubicBezTo>
                <a:cubicBezTo>
                  <a:pt x="231" y="17"/>
                  <a:pt x="202" y="53"/>
                  <a:pt x="200" y="98"/>
                </a:cubicBezTo>
                <a:cubicBezTo>
                  <a:pt x="198" y="98"/>
                  <a:pt x="196" y="97"/>
                  <a:pt x="195" y="97"/>
                </a:cubicBezTo>
                <a:cubicBezTo>
                  <a:pt x="156" y="97"/>
                  <a:pt x="131" y="137"/>
                  <a:pt x="140" y="182"/>
                </a:cubicBezTo>
                <a:cubicBezTo>
                  <a:pt x="140" y="185"/>
                  <a:pt x="141" y="187"/>
                  <a:pt x="142" y="190"/>
                </a:cubicBezTo>
                <a:cubicBezTo>
                  <a:pt x="123" y="198"/>
                  <a:pt x="113" y="220"/>
                  <a:pt x="118" y="245"/>
                </a:cubicBezTo>
                <a:cubicBezTo>
                  <a:pt x="121" y="261"/>
                  <a:pt x="130" y="275"/>
                  <a:pt x="142" y="284"/>
                </a:cubicBezTo>
                <a:cubicBezTo>
                  <a:pt x="136" y="292"/>
                  <a:pt x="133" y="303"/>
                  <a:pt x="135" y="315"/>
                </a:cubicBezTo>
                <a:cubicBezTo>
                  <a:pt x="138" y="326"/>
                  <a:pt x="144" y="335"/>
                  <a:pt x="151" y="342"/>
                </a:cubicBezTo>
                <a:cubicBezTo>
                  <a:pt x="150" y="346"/>
                  <a:pt x="149" y="352"/>
                  <a:pt x="151" y="357"/>
                </a:cubicBezTo>
                <a:cubicBezTo>
                  <a:pt x="153" y="371"/>
                  <a:pt x="165" y="382"/>
                  <a:pt x="178" y="385"/>
                </a:cubicBezTo>
                <a:cubicBezTo>
                  <a:pt x="178" y="392"/>
                  <a:pt x="178" y="392"/>
                  <a:pt x="178" y="392"/>
                </a:cubicBezTo>
                <a:cubicBezTo>
                  <a:pt x="178" y="455"/>
                  <a:pt x="210" y="511"/>
                  <a:pt x="259" y="544"/>
                </a:cubicBezTo>
                <a:cubicBezTo>
                  <a:pt x="255" y="545"/>
                  <a:pt x="253" y="546"/>
                  <a:pt x="249" y="548"/>
                </a:cubicBezTo>
                <a:cubicBezTo>
                  <a:pt x="106" y="615"/>
                  <a:pt x="106" y="615"/>
                  <a:pt x="106" y="615"/>
                </a:cubicBezTo>
                <a:cubicBezTo>
                  <a:pt x="81" y="627"/>
                  <a:pt x="69" y="640"/>
                  <a:pt x="65" y="673"/>
                </a:cubicBezTo>
                <a:cubicBezTo>
                  <a:pt x="13" y="1160"/>
                  <a:pt x="13" y="1160"/>
                  <a:pt x="13" y="1160"/>
                </a:cubicBezTo>
                <a:cubicBezTo>
                  <a:pt x="13" y="1160"/>
                  <a:pt x="13" y="1160"/>
                  <a:pt x="13" y="1160"/>
                </a:cubicBezTo>
                <a:cubicBezTo>
                  <a:pt x="5" y="1241"/>
                  <a:pt x="5" y="1241"/>
                  <a:pt x="5" y="1241"/>
                </a:cubicBezTo>
                <a:cubicBezTo>
                  <a:pt x="0" y="1297"/>
                  <a:pt x="33" y="1348"/>
                  <a:pt x="75" y="1373"/>
                </a:cubicBezTo>
                <a:cubicBezTo>
                  <a:pt x="97" y="1385"/>
                  <a:pt x="122" y="1391"/>
                  <a:pt x="122" y="1391"/>
                </a:cubicBezTo>
                <a:cubicBezTo>
                  <a:pt x="221" y="2159"/>
                  <a:pt x="221" y="2159"/>
                  <a:pt x="221" y="2159"/>
                </a:cubicBezTo>
                <a:cubicBezTo>
                  <a:pt x="224" y="2182"/>
                  <a:pt x="245" y="2200"/>
                  <a:pt x="268" y="2200"/>
                </a:cubicBezTo>
                <a:cubicBezTo>
                  <a:pt x="341" y="2200"/>
                  <a:pt x="341" y="2200"/>
                  <a:pt x="341" y="2200"/>
                </a:cubicBezTo>
                <a:cubicBezTo>
                  <a:pt x="341" y="1414"/>
                  <a:pt x="341" y="1414"/>
                  <a:pt x="341" y="1414"/>
                </a:cubicBezTo>
                <a:cubicBezTo>
                  <a:pt x="361" y="1414"/>
                  <a:pt x="361" y="1414"/>
                  <a:pt x="361" y="1414"/>
                </a:cubicBezTo>
                <a:cubicBezTo>
                  <a:pt x="382" y="1414"/>
                  <a:pt x="382" y="1414"/>
                  <a:pt x="382" y="1414"/>
                </a:cubicBezTo>
                <a:cubicBezTo>
                  <a:pt x="382" y="2200"/>
                  <a:pt x="382" y="2200"/>
                  <a:pt x="382" y="2200"/>
                </a:cubicBezTo>
                <a:cubicBezTo>
                  <a:pt x="455" y="2200"/>
                  <a:pt x="455" y="2200"/>
                  <a:pt x="455" y="2200"/>
                </a:cubicBezTo>
                <a:cubicBezTo>
                  <a:pt x="478" y="2200"/>
                  <a:pt x="499" y="2182"/>
                  <a:pt x="502" y="2159"/>
                </a:cubicBezTo>
                <a:cubicBezTo>
                  <a:pt x="601" y="1391"/>
                  <a:pt x="601" y="1391"/>
                  <a:pt x="601" y="1391"/>
                </a:cubicBezTo>
                <a:cubicBezTo>
                  <a:pt x="601" y="1391"/>
                  <a:pt x="626" y="1385"/>
                  <a:pt x="647" y="1373"/>
                </a:cubicBezTo>
                <a:cubicBezTo>
                  <a:pt x="689" y="1348"/>
                  <a:pt x="723" y="1297"/>
                  <a:pt x="718" y="1241"/>
                </a:cubicBezTo>
                <a:moveTo>
                  <a:pt x="218" y="392"/>
                </a:moveTo>
                <a:cubicBezTo>
                  <a:pt x="218" y="303"/>
                  <a:pt x="218" y="303"/>
                  <a:pt x="218" y="303"/>
                </a:cubicBezTo>
                <a:cubicBezTo>
                  <a:pt x="218" y="294"/>
                  <a:pt x="220" y="285"/>
                  <a:pt x="224" y="277"/>
                </a:cubicBezTo>
                <a:cubicBezTo>
                  <a:pt x="224" y="270"/>
                  <a:pt x="226" y="263"/>
                  <a:pt x="228" y="255"/>
                </a:cubicBezTo>
                <a:cubicBezTo>
                  <a:pt x="248" y="251"/>
                  <a:pt x="264" y="234"/>
                  <a:pt x="270" y="210"/>
                </a:cubicBezTo>
                <a:cubicBezTo>
                  <a:pt x="275" y="211"/>
                  <a:pt x="279" y="211"/>
                  <a:pt x="283" y="211"/>
                </a:cubicBezTo>
                <a:cubicBezTo>
                  <a:pt x="311" y="211"/>
                  <a:pt x="334" y="193"/>
                  <a:pt x="346" y="164"/>
                </a:cubicBezTo>
                <a:cubicBezTo>
                  <a:pt x="358" y="175"/>
                  <a:pt x="372" y="182"/>
                  <a:pt x="388" y="182"/>
                </a:cubicBezTo>
                <a:cubicBezTo>
                  <a:pt x="394" y="182"/>
                  <a:pt x="400" y="181"/>
                  <a:pt x="405" y="179"/>
                </a:cubicBezTo>
                <a:cubicBezTo>
                  <a:pt x="415" y="205"/>
                  <a:pt x="435" y="221"/>
                  <a:pt x="460" y="221"/>
                </a:cubicBezTo>
                <a:cubicBezTo>
                  <a:pt x="464" y="221"/>
                  <a:pt x="467" y="221"/>
                  <a:pt x="470" y="220"/>
                </a:cubicBezTo>
                <a:cubicBezTo>
                  <a:pt x="476" y="235"/>
                  <a:pt x="487" y="246"/>
                  <a:pt x="500" y="252"/>
                </a:cubicBezTo>
                <a:cubicBezTo>
                  <a:pt x="503" y="263"/>
                  <a:pt x="505" y="275"/>
                  <a:pt x="505" y="287"/>
                </a:cubicBezTo>
                <a:cubicBezTo>
                  <a:pt x="505" y="392"/>
                  <a:pt x="505" y="392"/>
                  <a:pt x="505" y="392"/>
                </a:cubicBezTo>
                <a:cubicBezTo>
                  <a:pt x="505" y="471"/>
                  <a:pt x="440" y="535"/>
                  <a:pt x="361" y="535"/>
                </a:cubicBezTo>
                <a:cubicBezTo>
                  <a:pt x="283" y="535"/>
                  <a:pt x="218" y="471"/>
                  <a:pt x="218" y="392"/>
                </a:cubicBezTo>
                <a:moveTo>
                  <a:pt x="122" y="1348"/>
                </a:moveTo>
                <a:cubicBezTo>
                  <a:pt x="93" y="1338"/>
                  <a:pt x="76" y="1323"/>
                  <a:pt x="71" y="1317"/>
                </a:cubicBezTo>
                <a:cubicBezTo>
                  <a:pt x="57" y="1304"/>
                  <a:pt x="42" y="1279"/>
                  <a:pt x="45" y="1246"/>
                </a:cubicBezTo>
                <a:cubicBezTo>
                  <a:pt x="54" y="1160"/>
                  <a:pt x="54" y="1160"/>
                  <a:pt x="54" y="1160"/>
                </a:cubicBezTo>
                <a:cubicBezTo>
                  <a:pt x="54" y="1160"/>
                  <a:pt x="54" y="1160"/>
                  <a:pt x="54" y="1160"/>
                </a:cubicBezTo>
                <a:cubicBezTo>
                  <a:pt x="54" y="1160"/>
                  <a:pt x="54" y="1160"/>
                  <a:pt x="54" y="1160"/>
                </a:cubicBezTo>
                <a:cubicBezTo>
                  <a:pt x="111" y="1160"/>
                  <a:pt x="111" y="1160"/>
                  <a:pt x="111" y="1160"/>
                </a:cubicBezTo>
                <a:cubicBezTo>
                  <a:pt x="111" y="1161"/>
                  <a:pt x="111" y="1161"/>
                  <a:pt x="111" y="1161"/>
                </a:cubicBezTo>
                <a:cubicBezTo>
                  <a:pt x="123" y="1161"/>
                  <a:pt x="123" y="1161"/>
                  <a:pt x="123" y="1161"/>
                </a:cubicBezTo>
                <a:lnTo>
                  <a:pt x="122" y="1348"/>
                </a:lnTo>
                <a:close/>
                <a:moveTo>
                  <a:pt x="166" y="1160"/>
                </a:moveTo>
                <a:cubicBezTo>
                  <a:pt x="168" y="815"/>
                  <a:pt x="168" y="815"/>
                  <a:pt x="168" y="815"/>
                </a:cubicBezTo>
                <a:cubicBezTo>
                  <a:pt x="168" y="804"/>
                  <a:pt x="159" y="795"/>
                  <a:pt x="148" y="795"/>
                </a:cubicBezTo>
                <a:cubicBezTo>
                  <a:pt x="148" y="795"/>
                  <a:pt x="148" y="795"/>
                  <a:pt x="148" y="795"/>
                </a:cubicBezTo>
                <a:cubicBezTo>
                  <a:pt x="137" y="795"/>
                  <a:pt x="127" y="804"/>
                  <a:pt x="127" y="815"/>
                </a:cubicBezTo>
                <a:cubicBezTo>
                  <a:pt x="126" y="1119"/>
                  <a:pt x="126" y="1119"/>
                  <a:pt x="126" y="1119"/>
                </a:cubicBezTo>
                <a:cubicBezTo>
                  <a:pt x="59" y="1119"/>
                  <a:pt x="59" y="1119"/>
                  <a:pt x="59" y="1119"/>
                </a:cubicBezTo>
                <a:cubicBezTo>
                  <a:pt x="106" y="677"/>
                  <a:pt x="106" y="677"/>
                  <a:pt x="106" y="677"/>
                </a:cubicBezTo>
                <a:cubicBezTo>
                  <a:pt x="106" y="671"/>
                  <a:pt x="109" y="663"/>
                  <a:pt x="116" y="657"/>
                </a:cubicBezTo>
                <a:cubicBezTo>
                  <a:pt x="118" y="655"/>
                  <a:pt x="121" y="653"/>
                  <a:pt x="124" y="652"/>
                </a:cubicBezTo>
                <a:cubicBezTo>
                  <a:pt x="259" y="588"/>
                  <a:pt x="259" y="588"/>
                  <a:pt x="259" y="588"/>
                </a:cubicBezTo>
                <a:cubicBezTo>
                  <a:pt x="341" y="750"/>
                  <a:pt x="341" y="750"/>
                  <a:pt x="341" y="750"/>
                </a:cubicBezTo>
                <a:cubicBezTo>
                  <a:pt x="341" y="750"/>
                  <a:pt x="341" y="750"/>
                  <a:pt x="341" y="750"/>
                </a:cubicBezTo>
                <a:cubicBezTo>
                  <a:pt x="341" y="1160"/>
                  <a:pt x="341" y="1160"/>
                  <a:pt x="341" y="1160"/>
                </a:cubicBezTo>
                <a:lnTo>
                  <a:pt x="166" y="1160"/>
                </a:lnTo>
                <a:close/>
                <a:moveTo>
                  <a:pt x="382" y="1160"/>
                </a:moveTo>
                <a:cubicBezTo>
                  <a:pt x="382" y="750"/>
                  <a:pt x="382" y="750"/>
                  <a:pt x="382" y="750"/>
                </a:cubicBezTo>
                <a:cubicBezTo>
                  <a:pt x="382" y="750"/>
                  <a:pt x="382" y="750"/>
                  <a:pt x="382" y="750"/>
                </a:cubicBezTo>
                <a:cubicBezTo>
                  <a:pt x="464" y="588"/>
                  <a:pt x="464" y="588"/>
                  <a:pt x="464" y="588"/>
                </a:cubicBezTo>
                <a:cubicBezTo>
                  <a:pt x="599" y="652"/>
                  <a:pt x="599" y="652"/>
                  <a:pt x="599" y="652"/>
                </a:cubicBezTo>
                <a:cubicBezTo>
                  <a:pt x="602" y="653"/>
                  <a:pt x="605" y="655"/>
                  <a:pt x="607" y="657"/>
                </a:cubicBezTo>
                <a:cubicBezTo>
                  <a:pt x="614" y="663"/>
                  <a:pt x="617" y="671"/>
                  <a:pt x="617" y="677"/>
                </a:cubicBezTo>
                <a:cubicBezTo>
                  <a:pt x="664" y="1119"/>
                  <a:pt x="664" y="1119"/>
                  <a:pt x="664" y="1119"/>
                </a:cubicBezTo>
                <a:cubicBezTo>
                  <a:pt x="599" y="1119"/>
                  <a:pt x="599" y="1119"/>
                  <a:pt x="599" y="1119"/>
                </a:cubicBezTo>
                <a:cubicBezTo>
                  <a:pt x="595" y="815"/>
                  <a:pt x="595" y="815"/>
                  <a:pt x="595" y="815"/>
                </a:cubicBezTo>
                <a:cubicBezTo>
                  <a:pt x="595" y="804"/>
                  <a:pt x="586" y="795"/>
                  <a:pt x="575" y="795"/>
                </a:cubicBezTo>
                <a:cubicBezTo>
                  <a:pt x="575" y="795"/>
                  <a:pt x="575" y="795"/>
                  <a:pt x="575" y="795"/>
                </a:cubicBezTo>
                <a:cubicBezTo>
                  <a:pt x="564" y="795"/>
                  <a:pt x="554" y="804"/>
                  <a:pt x="554" y="815"/>
                </a:cubicBezTo>
                <a:cubicBezTo>
                  <a:pt x="557" y="1160"/>
                  <a:pt x="557" y="1160"/>
                  <a:pt x="557" y="1160"/>
                </a:cubicBezTo>
                <a:lnTo>
                  <a:pt x="382" y="1160"/>
                </a:lnTo>
                <a:close/>
                <a:moveTo>
                  <a:pt x="652" y="1317"/>
                </a:moveTo>
                <a:cubicBezTo>
                  <a:pt x="646" y="1323"/>
                  <a:pt x="630" y="1338"/>
                  <a:pt x="601" y="1348"/>
                </a:cubicBezTo>
                <a:cubicBezTo>
                  <a:pt x="600" y="1161"/>
                  <a:pt x="600" y="1161"/>
                  <a:pt x="600" y="1161"/>
                </a:cubicBezTo>
                <a:cubicBezTo>
                  <a:pt x="611" y="1161"/>
                  <a:pt x="611" y="1161"/>
                  <a:pt x="611" y="1161"/>
                </a:cubicBezTo>
                <a:cubicBezTo>
                  <a:pt x="611" y="1160"/>
                  <a:pt x="611" y="1160"/>
                  <a:pt x="611" y="1160"/>
                </a:cubicBezTo>
                <a:cubicBezTo>
                  <a:pt x="668" y="1160"/>
                  <a:pt x="668" y="1160"/>
                  <a:pt x="668" y="1160"/>
                </a:cubicBezTo>
                <a:cubicBezTo>
                  <a:pt x="668" y="1160"/>
                  <a:pt x="668" y="1160"/>
                  <a:pt x="668" y="1160"/>
                </a:cubicBezTo>
                <a:cubicBezTo>
                  <a:pt x="677" y="1246"/>
                  <a:pt x="677" y="1246"/>
                  <a:pt x="677" y="1246"/>
                </a:cubicBezTo>
                <a:cubicBezTo>
                  <a:pt x="680" y="1279"/>
                  <a:pt x="666" y="1304"/>
                  <a:pt x="652" y="1317"/>
                </a:cubicBezTo>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52" name="Group 300">
            <a:extLst>
              <a:ext uri="{FF2B5EF4-FFF2-40B4-BE49-F238E27FC236}">
                <a16:creationId xmlns:a16="http://schemas.microsoft.com/office/drawing/2014/main" id="{05F50B89-E6F0-4E38-B1D6-3C3B49D94BB2}"/>
              </a:ext>
            </a:extLst>
          </p:cNvPr>
          <p:cNvGrpSpPr>
            <a:grpSpLocks noChangeAspect="1"/>
          </p:cNvGrpSpPr>
          <p:nvPr/>
        </p:nvGrpSpPr>
        <p:grpSpPr bwMode="auto">
          <a:xfrm>
            <a:off x="1481891" y="1959109"/>
            <a:ext cx="173440" cy="525600"/>
            <a:chOff x="1339" y="902"/>
            <a:chExt cx="1117" cy="3385"/>
          </a:xfrm>
          <a:solidFill>
            <a:schemeClr val="bg2"/>
          </a:solidFill>
        </p:grpSpPr>
        <p:sp>
          <p:nvSpPr>
            <p:cNvPr id="53" name="Freeform 303">
              <a:extLst>
                <a:ext uri="{FF2B5EF4-FFF2-40B4-BE49-F238E27FC236}">
                  <a16:creationId xmlns:a16="http://schemas.microsoft.com/office/drawing/2014/main" id="{342A6CF6-7408-4F9F-B7AD-3586EFA0190B}"/>
                </a:ext>
              </a:extLst>
            </p:cNvPr>
            <p:cNvSpPr>
              <a:spLocks noEditPoints="1"/>
            </p:cNvSpPr>
            <p:nvPr/>
          </p:nvSpPr>
          <p:spPr bwMode="auto">
            <a:xfrm>
              <a:off x="1339" y="1771"/>
              <a:ext cx="1117" cy="2516"/>
            </a:xfrm>
            <a:custGeom>
              <a:avLst/>
              <a:gdLst>
                <a:gd name="T0" fmla="*/ 721 w 726"/>
                <a:gd name="T1" fmla="*/ 672 h 1635"/>
                <a:gd name="T2" fmla="*/ 661 w 726"/>
                <a:gd name="T3" fmla="*/ 99 h 1635"/>
                <a:gd name="T4" fmla="*/ 659 w 726"/>
                <a:gd name="T5" fmla="*/ 93 h 1635"/>
                <a:gd name="T6" fmla="*/ 618 w 726"/>
                <a:gd name="T7" fmla="*/ 41 h 1635"/>
                <a:gd name="T8" fmla="*/ 542 w 726"/>
                <a:gd name="T9" fmla="*/ 0 h 1635"/>
                <a:gd name="T10" fmla="*/ 363 w 726"/>
                <a:gd name="T11" fmla="*/ 76 h 1635"/>
                <a:gd name="T12" fmla="*/ 184 w 726"/>
                <a:gd name="T13" fmla="*/ 0 h 1635"/>
                <a:gd name="T14" fmla="*/ 108 w 726"/>
                <a:gd name="T15" fmla="*/ 41 h 1635"/>
                <a:gd name="T16" fmla="*/ 67 w 726"/>
                <a:gd name="T17" fmla="*/ 93 h 1635"/>
                <a:gd name="T18" fmla="*/ 66 w 726"/>
                <a:gd name="T19" fmla="*/ 99 h 1635"/>
                <a:gd name="T20" fmla="*/ 5 w 726"/>
                <a:gd name="T21" fmla="*/ 672 h 1635"/>
                <a:gd name="T22" fmla="*/ 90 w 726"/>
                <a:gd name="T23" fmla="*/ 805 h 1635"/>
                <a:gd name="T24" fmla="*/ 56 w 726"/>
                <a:gd name="T25" fmla="*/ 1310 h 1635"/>
                <a:gd name="T26" fmla="*/ 54 w 726"/>
                <a:gd name="T27" fmla="*/ 1331 h 1635"/>
                <a:gd name="T28" fmla="*/ 87 w 726"/>
                <a:gd name="T29" fmla="*/ 1371 h 1635"/>
                <a:gd name="T30" fmla="*/ 87 w 726"/>
                <a:gd name="T31" fmla="*/ 1371 h 1635"/>
                <a:gd name="T32" fmla="*/ 87 w 726"/>
                <a:gd name="T33" fmla="*/ 1371 h 1635"/>
                <a:gd name="T34" fmla="*/ 226 w 726"/>
                <a:gd name="T35" fmla="*/ 1371 h 1635"/>
                <a:gd name="T36" fmla="*/ 256 w 726"/>
                <a:gd name="T37" fmla="*/ 1594 h 1635"/>
                <a:gd name="T38" fmla="*/ 302 w 726"/>
                <a:gd name="T39" fmla="*/ 1635 h 1635"/>
                <a:gd name="T40" fmla="*/ 424 w 726"/>
                <a:gd name="T41" fmla="*/ 1635 h 1635"/>
                <a:gd name="T42" fmla="*/ 471 w 726"/>
                <a:gd name="T43" fmla="*/ 1594 h 1635"/>
                <a:gd name="T44" fmla="*/ 500 w 726"/>
                <a:gd name="T45" fmla="*/ 1371 h 1635"/>
                <a:gd name="T46" fmla="*/ 639 w 726"/>
                <a:gd name="T47" fmla="*/ 1371 h 1635"/>
                <a:gd name="T48" fmla="*/ 639 w 726"/>
                <a:gd name="T49" fmla="*/ 1371 h 1635"/>
                <a:gd name="T50" fmla="*/ 640 w 726"/>
                <a:gd name="T51" fmla="*/ 1371 h 1635"/>
                <a:gd name="T52" fmla="*/ 672 w 726"/>
                <a:gd name="T53" fmla="*/ 1331 h 1635"/>
                <a:gd name="T54" fmla="*/ 670 w 726"/>
                <a:gd name="T55" fmla="*/ 1310 h 1635"/>
                <a:gd name="T56" fmla="*/ 636 w 726"/>
                <a:gd name="T57" fmla="*/ 805 h 1635"/>
                <a:gd name="T58" fmla="*/ 721 w 726"/>
                <a:gd name="T59" fmla="*/ 672 h 1635"/>
                <a:gd name="T60" fmla="*/ 99 w 726"/>
                <a:gd name="T61" fmla="*/ 762 h 1635"/>
                <a:gd name="T62" fmla="*/ 85 w 726"/>
                <a:gd name="T63" fmla="*/ 749 h 1635"/>
                <a:gd name="T64" fmla="*/ 46 w 726"/>
                <a:gd name="T65" fmla="*/ 677 h 1635"/>
                <a:gd name="T66" fmla="*/ 55 w 726"/>
                <a:gd name="T67" fmla="*/ 591 h 1635"/>
                <a:gd name="T68" fmla="*/ 124 w 726"/>
                <a:gd name="T69" fmla="*/ 591 h 1635"/>
                <a:gd name="T70" fmla="*/ 99 w 726"/>
                <a:gd name="T71" fmla="*/ 762 h 1635"/>
                <a:gd name="T72" fmla="*/ 343 w 726"/>
                <a:gd name="T73" fmla="*/ 1594 h 1635"/>
                <a:gd name="T74" fmla="*/ 302 w 726"/>
                <a:gd name="T75" fmla="*/ 1594 h 1635"/>
                <a:gd name="T76" fmla="*/ 296 w 726"/>
                <a:gd name="T77" fmla="*/ 1589 h 1635"/>
                <a:gd name="T78" fmla="*/ 268 w 726"/>
                <a:gd name="T79" fmla="*/ 1371 h 1635"/>
                <a:gd name="T80" fmla="*/ 343 w 726"/>
                <a:gd name="T81" fmla="*/ 1371 h 1635"/>
                <a:gd name="T82" fmla="*/ 343 w 726"/>
                <a:gd name="T83" fmla="*/ 1594 h 1635"/>
                <a:gd name="T84" fmla="*/ 430 w 726"/>
                <a:gd name="T85" fmla="*/ 1588 h 1635"/>
                <a:gd name="T86" fmla="*/ 424 w 726"/>
                <a:gd name="T87" fmla="*/ 1594 h 1635"/>
                <a:gd name="T88" fmla="*/ 384 w 726"/>
                <a:gd name="T89" fmla="*/ 1594 h 1635"/>
                <a:gd name="T90" fmla="*/ 384 w 726"/>
                <a:gd name="T91" fmla="*/ 1371 h 1635"/>
                <a:gd name="T92" fmla="*/ 459 w 726"/>
                <a:gd name="T93" fmla="*/ 1371 h 1635"/>
                <a:gd name="T94" fmla="*/ 430 w 726"/>
                <a:gd name="T95" fmla="*/ 1588 h 1635"/>
                <a:gd name="T96" fmla="*/ 627 w 726"/>
                <a:gd name="T97" fmla="*/ 762 h 1635"/>
                <a:gd name="T98" fmla="*/ 603 w 726"/>
                <a:gd name="T99" fmla="*/ 591 h 1635"/>
                <a:gd name="T100" fmla="*/ 671 w 726"/>
                <a:gd name="T101" fmla="*/ 591 h 1635"/>
                <a:gd name="T102" fmla="*/ 680 w 726"/>
                <a:gd name="T103" fmla="*/ 677 h 1635"/>
                <a:gd name="T104" fmla="*/ 641 w 726"/>
                <a:gd name="T105" fmla="*/ 749 h 1635"/>
                <a:gd name="T106" fmla="*/ 627 w 726"/>
                <a:gd name="T107" fmla="*/ 762 h 1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26" h="1635">
                  <a:moveTo>
                    <a:pt x="721" y="672"/>
                  </a:moveTo>
                  <a:cubicBezTo>
                    <a:pt x="661" y="99"/>
                    <a:pt x="661" y="99"/>
                    <a:pt x="661" y="99"/>
                  </a:cubicBezTo>
                  <a:cubicBezTo>
                    <a:pt x="660" y="97"/>
                    <a:pt x="660" y="95"/>
                    <a:pt x="659" y="93"/>
                  </a:cubicBezTo>
                  <a:cubicBezTo>
                    <a:pt x="653" y="64"/>
                    <a:pt x="639" y="52"/>
                    <a:pt x="618" y="41"/>
                  </a:cubicBezTo>
                  <a:cubicBezTo>
                    <a:pt x="542" y="0"/>
                    <a:pt x="542" y="0"/>
                    <a:pt x="542" y="0"/>
                  </a:cubicBezTo>
                  <a:cubicBezTo>
                    <a:pt x="363" y="76"/>
                    <a:pt x="363" y="76"/>
                    <a:pt x="363" y="76"/>
                  </a:cubicBezTo>
                  <a:cubicBezTo>
                    <a:pt x="184" y="0"/>
                    <a:pt x="184" y="0"/>
                    <a:pt x="184" y="0"/>
                  </a:cubicBezTo>
                  <a:cubicBezTo>
                    <a:pt x="108" y="41"/>
                    <a:pt x="108" y="41"/>
                    <a:pt x="108" y="41"/>
                  </a:cubicBezTo>
                  <a:cubicBezTo>
                    <a:pt x="87" y="52"/>
                    <a:pt x="73" y="64"/>
                    <a:pt x="67" y="93"/>
                  </a:cubicBezTo>
                  <a:cubicBezTo>
                    <a:pt x="66" y="95"/>
                    <a:pt x="66" y="97"/>
                    <a:pt x="66" y="99"/>
                  </a:cubicBezTo>
                  <a:cubicBezTo>
                    <a:pt x="5" y="672"/>
                    <a:pt x="5" y="672"/>
                    <a:pt x="5" y="672"/>
                  </a:cubicBezTo>
                  <a:cubicBezTo>
                    <a:pt x="0" y="728"/>
                    <a:pt x="44" y="777"/>
                    <a:pt x="90" y="805"/>
                  </a:cubicBezTo>
                  <a:cubicBezTo>
                    <a:pt x="56" y="1310"/>
                    <a:pt x="56" y="1310"/>
                    <a:pt x="56" y="1310"/>
                  </a:cubicBezTo>
                  <a:cubicBezTo>
                    <a:pt x="54" y="1331"/>
                    <a:pt x="54" y="1331"/>
                    <a:pt x="54" y="1331"/>
                  </a:cubicBezTo>
                  <a:cubicBezTo>
                    <a:pt x="52" y="1353"/>
                    <a:pt x="64" y="1371"/>
                    <a:pt x="87" y="1371"/>
                  </a:cubicBezTo>
                  <a:cubicBezTo>
                    <a:pt x="87" y="1371"/>
                    <a:pt x="87" y="1371"/>
                    <a:pt x="87" y="1371"/>
                  </a:cubicBezTo>
                  <a:cubicBezTo>
                    <a:pt x="87" y="1371"/>
                    <a:pt x="87" y="1371"/>
                    <a:pt x="87" y="1371"/>
                  </a:cubicBezTo>
                  <a:cubicBezTo>
                    <a:pt x="226" y="1371"/>
                    <a:pt x="226" y="1371"/>
                    <a:pt x="226" y="1371"/>
                  </a:cubicBezTo>
                  <a:cubicBezTo>
                    <a:pt x="256" y="1594"/>
                    <a:pt x="256" y="1594"/>
                    <a:pt x="256" y="1594"/>
                  </a:cubicBezTo>
                  <a:cubicBezTo>
                    <a:pt x="259" y="1616"/>
                    <a:pt x="280" y="1635"/>
                    <a:pt x="302" y="1635"/>
                  </a:cubicBezTo>
                  <a:cubicBezTo>
                    <a:pt x="424" y="1635"/>
                    <a:pt x="424" y="1635"/>
                    <a:pt x="424" y="1635"/>
                  </a:cubicBezTo>
                  <a:cubicBezTo>
                    <a:pt x="447" y="1635"/>
                    <a:pt x="468" y="1616"/>
                    <a:pt x="471" y="1594"/>
                  </a:cubicBezTo>
                  <a:cubicBezTo>
                    <a:pt x="500" y="1371"/>
                    <a:pt x="500" y="1371"/>
                    <a:pt x="500" y="1371"/>
                  </a:cubicBezTo>
                  <a:cubicBezTo>
                    <a:pt x="639" y="1371"/>
                    <a:pt x="639" y="1371"/>
                    <a:pt x="639" y="1371"/>
                  </a:cubicBezTo>
                  <a:cubicBezTo>
                    <a:pt x="639" y="1371"/>
                    <a:pt x="639" y="1371"/>
                    <a:pt x="639" y="1371"/>
                  </a:cubicBezTo>
                  <a:cubicBezTo>
                    <a:pt x="640" y="1371"/>
                    <a:pt x="640" y="1371"/>
                    <a:pt x="640" y="1371"/>
                  </a:cubicBezTo>
                  <a:cubicBezTo>
                    <a:pt x="662" y="1371"/>
                    <a:pt x="674" y="1353"/>
                    <a:pt x="672" y="1331"/>
                  </a:cubicBezTo>
                  <a:cubicBezTo>
                    <a:pt x="670" y="1310"/>
                    <a:pt x="670" y="1310"/>
                    <a:pt x="670" y="1310"/>
                  </a:cubicBezTo>
                  <a:cubicBezTo>
                    <a:pt x="636" y="805"/>
                    <a:pt x="636" y="805"/>
                    <a:pt x="636" y="805"/>
                  </a:cubicBezTo>
                  <a:cubicBezTo>
                    <a:pt x="683" y="777"/>
                    <a:pt x="726" y="728"/>
                    <a:pt x="721" y="672"/>
                  </a:cubicBezTo>
                  <a:moveTo>
                    <a:pt x="99" y="762"/>
                  </a:moveTo>
                  <a:cubicBezTo>
                    <a:pt x="94" y="758"/>
                    <a:pt x="89" y="753"/>
                    <a:pt x="85" y="749"/>
                  </a:cubicBezTo>
                  <a:cubicBezTo>
                    <a:pt x="72" y="734"/>
                    <a:pt x="43" y="710"/>
                    <a:pt x="46" y="677"/>
                  </a:cubicBezTo>
                  <a:cubicBezTo>
                    <a:pt x="55" y="591"/>
                    <a:pt x="55" y="591"/>
                    <a:pt x="55" y="591"/>
                  </a:cubicBezTo>
                  <a:cubicBezTo>
                    <a:pt x="124" y="591"/>
                    <a:pt x="124" y="591"/>
                    <a:pt x="124" y="591"/>
                  </a:cubicBezTo>
                  <a:lnTo>
                    <a:pt x="99" y="762"/>
                  </a:lnTo>
                  <a:close/>
                  <a:moveTo>
                    <a:pt x="343" y="1594"/>
                  </a:moveTo>
                  <a:cubicBezTo>
                    <a:pt x="302" y="1594"/>
                    <a:pt x="302" y="1594"/>
                    <a:pt x="302" y="1594"/>
                  </a:cubicBezTo>
                  <a:cubicBezTo>
                    <a:pt x="300" y="1594"/>
                    <a:pt x="296" y="1591"/>
                    <a:pt x="296" y="1589"/>
                  </a:cubicBezTo>
                  <a:cubicBezTo>
                    <a:pt x="268" y="1371"/>
                    <a:pt x="268" y="1371"/>
                    <a:pt x="268" y="1371"/>
                  </a:cubicBezTo>
                  <a:cubicBezTo>
                    <a:pt x="343" y="1371"/>
                    <a:pt x="343" y="1371"/>
                    <a:pt x="343" y="1371"/>
                  </a:cubicBezTo>
                  <a:lnTo>
                    <a:pt x="343" y="1594"/>
                  </a:lnTo>
                  <a:close/>
                  <a:moveTo>
                    <a:pt x="430" y="1588"/>
                  </a:moveTo>
                  <a:cubicBezTo>
                    <a:pt x="430" y="1591"/>
                    <a:pt x="426" y="1594"/>
                    <a:pt x="424" y="1594"/>
                  </a:cubicBezTo>
                  <a:cubicBezTo>
                    <a:pt x="384" y="1594"/>
                    <a:pt x="384" y="1594"/>
                    <a:pt x="384" y="1594"/>
                  </a:cubicBezTo>
                  <a:cubicBezTo>
                    <a:pt x="384" y="1371"/>
                    <a:pt x="384" y="1371"/>
                    <a:pt x="384" y="1371"/>
                  </a:cubicBezTo>
                  <a:cubicBezTo>
                    <a:pt x="459" y="1371"/>
                    <a:pt x="459" y="1371"/>
                    <a:pt x="459" y="1371"/>
                  </a:cubicBezTo>
                  <a:lnTo>
                    <a:pt x="430" y="1588"/>
                  </a:lnTo>
                  <a:close/>
                  <a:moveTo>
                    <a:pt x="627" y="762"/>
                  </a:moveTo>
                  <a:cubicBezTo>
                    <a:pt x="603" y="591"/>
                    <a:pt x="603" y="591"/>
                    <a:pt x="603" y="591"/>
                  </a:cubicBezTo>
                  <a:cubicBezTo>
                    <a:pt x="671" y="591"/>
                    <a:pt x="671" y="591"/>
                    <a:pt x="671" y="591"/>
                  </a:cubicBezTo>
                  <a:cubicBezTo>
                    <a:pt x="680" y="677"/>
                    <a:pt x="680" y="677"/>
                    <a:pt x="680" y="677"/>
                  </a:cubicBezTo>
                  <a:cubicBezTo>
                    <a:pt x="683" y="710"/>
                    <a:pt x="654" y="734"/>
                    <a:pt x="641" y="749"/>
                  </a:cubicBezTo>
                  <a:cubicBezTo>
                    <a:pt x="637" y="753"/>
                    <a:pt x="632" y="758"/>
                    <a:pt x="627" y="76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4" name="Freeform 304">
              <a:extLst>
                <a:ext uri="{FF2B5EF4-FFF2-40B4-BE49-F238E27FC236}">
                  <a16:creationId xmlns:a16="http://schemas.microsoft.com/office/drawing/2014/main" id="{D028FD8B-5D06-460C-B296-41D8DB78E35E}"/>
                </a:ext>
              </a:extLst>
            </p:cNvPr>
            <p:cNvSpPr>
              <a:spLocks noEditPoints="1"/>
            </p:cNvSpPr>
            <p:nvPr/>
          </p:nvSpPr>
          <p:spPr bwMode="auto">
            <a:xfrm>
              <a:off x="1515" y="902"/>
              <a:ext cx="761" cy="889"/>
            </a:xfrm>
            <a:custGeom>
              <a:avLst/>
              <a:gdLst>
                <a:gd name="T0" fmla="*/ 29 w 495"/>
                <a:gd name="T1" fmla="*/ 286 h 578"/>
                <a:gd name="T2" fmla="*/ 22 w 495"/>
                <a:gd name="T3" fmla="*/ 316 h 578"/>
                <a:gd name="T4" fmla="*/ 39 w 495"/>
                <a:gd name="T5" fmla="*/ 343 h 578"/>
                <a:gd name="T6" fmla="*/ 38 w 495"/>
                <a:gd name="T7" fmla="*/ 359 h 578"/>
                <a:gd name="T8" fmla="*/ 65 w 495"/>
                <a:gd name="T9" fmla="*/ 387 h 578"/>
                <a:gd name="T10" fmla="*/ 65 w 495"/>
                <a:gd name="T11" fmla="*/ 394 h 578"/>
                <a:gd name="T12" fmla="*/ 249 w 495"/>
                <a:gd name="T13" fmla="*/ 578 h 578"/>
                <a:gd name="T14" fmla="*/ 433 w 495"/>
                <a:gd name="T15" fmla="*/ 396 h 578"/>
                <a:gd name="T16" fmla="*/ 447 w 495"/>
                <a:gd name="T17" fmla="*/ 369 h 578"/>
                <a:gd name="T18" fmla="*/ 447 w 495"/>
                <a:gd name="T19" fmla="*/ 364 h 578"/>
                <a:gd name="T20" fmla="*/ 481 w 495"/>
                <a:gd name="T21" fmla="*/ 330 h 578"/>
                <a:gd name="T22" fmla="*/ 472 w 495"/>
                <a:gd name="T23" fmla="*/ 300 h 578"/>
                <a:gd name="T24" fmla="*/ 482 w 495"/>
                <a:gd name="T25" fmla="*/ 275 h 578"/>
                <a:gd name="T26" fmla="*/ 470 w 495"/>
                <a:gd name="T27" fmla="*/ 221 h 578"/>
                <a:gd name="T28" fmla="*/ 486 w 495"/>
                <a:gd name="T29" fmla="*/ 183 h 578"/>
                <a:gd name="T30" fmla="*/ 431 w 495"/>
                <a:gd name="T31" fmla="*/ 98 h 578"/>
                <a:gd name="T32" fmla="*/ 416 w 495"/>
                <a:gd name="T33" fmla="*/ 100 h 578"/>
                <a:gd name="T34" fmla="*/ 361 w 495"/>
                <a:gd name="T35" fmla="*/ 59 h 578"/>
                <a:gd name="T36" fmla="*/ 346 w 495"/>
                <a:gd name="T37" fmla="*/ 61 h 578"/>
                <a:gd name="T38" fmla="*/ 279 w 495"/>
                <a:gd name="T39" fmla="*/ 0 h 578"/>
                <a:gd name="T40" fmla="*/ 216 w 495"/>
                <a:gd name="T41" fmla="*/ 48 h 578"/>
                <a:gd name="T42" fmla="*/ 157 w 495"/>
                <a:gd name="T43" fmla="*/ 17 h 578"/>
                <a:gd name="T44" fmla="*/ 87 w 495"/>
                <a:gd name="T45" fmla="*/ 98 h 578"/>
                <a:gd name="T46" fmla="*/ 82 w 495"/>
                <a:gd name="T47" fmla="*/ 98 h 578"/>
                <a:gd name="T48" fmla="*/ 27 w 495"/>
                <a:gd name="T49" fmla="*/ 183 h 578"/>
                <a:gd name="T50" fmla="*/ 29 w 495"/>
                <a:gd name="T51" fmla="*/ 191 h 578"/>
                <a:gd name="T52" fmla="*/ 5 w 495"/>
                <a:gd name="T53" fmla="*/ 246 h 578"/>
                <a:gd name="T54" fmla="*/ 29 w 495"/>
                <a:gd name="T55" fmla="*/ 286 h 578"/>
                <a:gd name="T56" fmla="*/ 106 w 495"/>
                <a:gd name="T57" fmla="*/ 304 h 578"/>
                <a:gd name="T58" fmla="*/ 111 w 495"/>
                <a:gd name="T59" fmla="*/ 278 h 578"/>
                <a:gd name="T60" fmla="*/ 115 w 495"/>
                <a:gd name="T61" fmla="*/ 257 h 578"/>
                <a:gd name="T62" fmla="*/ 158 w 495"/>
                <a:gd name="T63" fmla="*/ 211 h 578"/>
                <a:gd name="T64" fmla="*/ 171 w 495"/>
                <a:gd name="T65" fmla="*/ 212 h 578"/>
                <a:gd name="T66" fmla="*/ 234 w 495"/>
                <a:gd name="T67" fmla="*/ 165 h 578"/>
                <a:gd name="T68" fmla="*/ 276 w 495"/>
                <a:gd name="T69" fmla="*/ 183 h 578"/>
                <a:gd name="T70" fmla="*/ 293 w 495"/>
                <a:gd name="T71" fmla="*/ 180 h 578"/>
                <a:gd name="T72" fmla="*/ 348 w 495"/>
                <a:gd name="T73" fmla="*/ 222 h 578"/>
                <a:gd name="T74" fmla="*/ 358 w 495"/>
                <a:gd name="T75" fmla="*/ 221 h 578"/>
                <a:gd name="T76" fmla="*/ 388 w 495"/>
                <a:gd name="T77" fmla="*/ 253 h 578"/>
                <a:gd name="T78" fmla="*/ 393 w 495"/>
                <a:gd name="T79" fmla="*/ 288 h 578"/>
                <a:gd name="T80" fmla="*/ 393 w 495"/>
                <a:gd name="T81" fmla="*/ 394 h 578"/>
                <a:gd name="T82" fmla="*/ 249 w 495"/>
                <a:gd name="T83" fmla="*/ 537 h 578"/>
                <a:gd name="T84" fmla="*/ 106 w 495"/>
                <a:gd name="T85" fmla="*/ 394 h 578"/>
                <a:gd name="T86" fmla="*/ 106 w 495"/>
                <a:gd name="T87" fmla="*/ 304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95" h="578">
                  <a:moveTo>
                    <a:pt x="29" y="286"/>
                  </a:moveTo>
                  <a:cubicBezTo>
                    <a:pt x="23" y="293"/>
                    <a:pt x="20" y="304"/>
                    <a:pt x="22" y="316"/>
                  </a:cubicBezTo>
                  <a:cubicBezTo>
                    <a:pt x="25" y="327"/>
                    <a:pt x="31" y="337"/>
                    <a:pt x="39" y="343"/>
                  </a:cubicBezTo>
                  <a:cubicBezTo>
                    <a:pt x="37" y="348"/>
                    <a:pt x="36" y="353"/>
                    <a:pt x="38" y="359"/>
                  </a:cubicBezTo>
                  <a:cubicBezTo>
                    <a:pt x="40" y="372"/>
                    <a:pt x="52" y="384"/>
                    <a:pt x="65" y="387"/>
                  </a:cubicBezTo>
                  <a:cubicBezTo>
                    <a:pt x="65" y="394"/>
                    <a:pt x="65" y="394"/>
                    <a:pt x="65" y="394"/>
                  </a:cubicBezTo>
                  <a:cubicBezTo>
                    <a:pt x="65" y="495"/>
                    <a:pt x="147" y="578"/>
                    <a:pt x="249" y="578"/>
                  </a:cubicBezTo>
                  <a:cubicBezTo>
                    <a:pt x="350" y="578"/>
                    <a:pt x="432" y="497"/>
                    <a:pt x="433" y="396"/>
                  </a:cubicBezTo>
                  <a:cubicBezTo>
                    <a:pt x="441" y="392"/>
                    <a:pt x="447" y="381"/>
                    <a:pt x="447" y="369"/>
                  </a:cubicBezTo>
                  <a:cubicBezTo>
                    <a:pt x="447" y="367"/>
                    <a:pt x="447" y="366"/>
                    <a:pt x="447" y="364"/>
                  </a:cubicBezTo>
                  <a:cubicBezTo>
                    <a:pt x="463" y="362"/>
                    <a:pt x="478" y="348"/>
                    <a:pt x="481" y="330"/>
                  </a:cubicBezTo>
                  <a:cubicBezTo>
                    <a:pt x="484" y="318"/>
                    <a:pt x="480" y="306"/>
                    <a:pt x="472" y="300"/>
                  </a:cubicBezTo>
                  <a:cubicBezTo>
                    <a:pt x="476" y="292"/>
                    <a:pt x="480" y="284"/>
                    <a:pt x="482" y="275"/>
                  </a:cubicBezTo>
                  <a:cubicBezTo>
                    <a:pt x="486" y="254"/>
                    <a:pt x="481" y="235"/>
                    <a:pt x="470" y="221"/>
                  </a:cubicBezTo>
                  <a:cubicBezTo>
                    <a:pt x="478" y="210"/>
                    <a:pt x="483" y="197"/>
                    <a:pt x="486" y="183"/>
                  </a:cubicBezTo>
                  <a:cubicBezTo>
                    <a:pt x="495" y="138"/>
                    <a:pt x="471" y="98"/>
                    <a:pt x="431" y="98"/>
                  </a:cubicBezTo>
                  <a:cubicBezTo>
                    <a:pt x="426" y="98"/>
                    <a:pt x="421" y="99"/>
                    <a:pt x="416" y="100"/>
                  </a:cubicBezTo>
                  <a:cubicBezTo>
                    <a:pt x="407" y="76"/>
                    <a:pt x="387" y="59"/>
                    <a:pt x="361" y="59"/>
                  </a:cubicBezTo>
                  <a:cubicBezTo>
                    <a:pt x="356" y="59"/>
                    <a:pt x="351" y="60"/>
                    <a:pt x="346" y="61"/>
                  </a:cubicBezTo>
                  <a:cubicBezTo>
                    <a:pt x="337" y="26"/>
                    <a:pt x="311" y="0"/>
                    <a:pt x="279" y="0"/>
                  </a:cubicBezTo>
                  <a:cubicBezTo>
                    <a:pt x="252" y="0"/>
                    <a:pt x="228" y="19"/>
                    <a:pt x="216" y="48"/>
                  </a:cubicBezTo>
                  <a:cubicBezTo>
                    <a:pt x="201" y="29"/>
                    <a:pt x="180" y="17"/>
                    <a:pt x="157" y="17"/>
                  </a:cubicBezTo>
                  <a:cubicBezTo>
                    <a:pt x="118" y="17"/>
                    <a:pt x="90" y="53"/>
                    <a:pt x="87" y="98"/>
                  </a:cubicBezTo>
                  <a:cubicBezTo>
                    <a:pt x="85" y="98"/>
                    <a:pt x="84" y="98"/>
                    <a:pt x="82" y="98"/>
                  </a:cubicBezTo>
                  <a:cubicBezTo>
                    <a:pt x="43" y="98"/>
                    <a:pt x="18" y="138"/>
                    <a:pt x="27" y="183"/>
                  </a:cubicBezTo>
                  <a:cubicBezTo>
                    <a:pt x="27" y="186"/>
                    <a:pt x="28" y="188"/>
                    <a:pt x="29" y="191"/>
                  </a:cubicBezTo>
                  <a:cubicBezTo>
                    <a:pt x="10" y="199"/>
                    <a:pt x="0" y="221"/>
                    <a:pt x="5" y="246"/>
                  </a:cubicBezTo>
                  <a:cubicBezTo>
                    <a:pt x="8" y="262"/>
                    <a:pt x="18" y="276"/>
                    <a:pt x="29" y="286"/>
                  </a:cubicBezTo>
                  <a:moveTo>
                    <a:pt x="106" y="304"/>
                  </a:moveTo>
                  <a:cubicBezTo>
                    <a:pt x="106" y="295"/>
                    <a:pt x="108" y="286"/>
                    <a:pt x="111" y="278"/>
                  </a:cubicBezTo>
                  <a:cubicBezTo>
                    <a:pt x="112" y="271"/>
                    <a:pt x="113" y="264"/>
                    <a:pt x="115" y="257"/>
                  </a:cubicBezTo>
                  <a:cubicBezTo>
                    <a:pt x="136" y="252"/>
                    <a:pt x="152" y="235"/>
                    <a:pt x="158" y="211"/>
                  </a:cubicBezTo>
                  <a:cubicBezTo>
                    <a:pt x="162" y="212"/>
                    <a:pt x="166" y="212"/>
                    <a:pt x="171" y="212"/>
                  </a:cubicBezTo>
                  <a:cubicBezTo>
                    <a:pt x="198" y="212"/>
                    <a:pt x="222" y="193"/>
                    <a:pt x="234" y="165"/>
                  </a:cubicBezTo>
                  <a:cubicBezTo>
                    <a:pt x="246" y="176"/>
                    <a:pt x="260" y="183"/>
                    <a:pt x="276" y="183"/>
                  </a:cubicBezTo>
                  <a:cubicBezTo>
                    <a:pt x="282" y="183"/>
                    <a:pt x="287" y="182"/>
                    <a:pt x="293" y="180"/>
                  </a:cubicBezTo>
                  <a:cubicBezTo>
                    <a:pt x="302" y="206"/>
                    <a:pt x="323" y="222"/>
                    <a:pt x="348" y="222"/>
                  </a:cubicBezTo>
                  <a:cubicBezTo>
                    <a:pt x="351" y="222"/>
                    <a:pt x="355" y="222"/>
                    <a:pt x="358" y="221"/>
                  </a:cubicBezTo>
                  <a:cubicBezTo>
                    <a:pt x="364" y="236"/>
                    <a:pt x="375" y="248"/>
                    <a:pt x="388" y="253"/>
                  </a:cubicBezTo>
                  <a:cubicBezTo>
                    <a:pt x="391" y="265"/>
                    <a:pt x="393" y="276"/>
                    <a:pt x="393" y="288"/>
                  </a:cubicBezTo>
                  <a:cubicBezTo>
                    <a:pt x="393" y="394"/>
                    <a:pt x="393" y="394"/>
                    <a:pt x="393" y="394"/>
                  </a:cubicBezTo>
                  <a:cubicBezTo>
                    <a:pt x="393" y="473"/>
                    <a:pt x="328" y="537"/>
                    <a:pt x="249" y="537"/>
                  </a:cubicBezTo>
                  <a:cubicBezTo>
                    <a:pt x="170" y="537"/>
                    <a:pt x="106" y="473"/>
                    <a:pt x="106" y="394"/>
                  </a:cubicBezTo>
                  <a:lnTo>
                    <a:pt x="106" y="3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5" name="Freeform 347">
            <a:extLst>
              <a:ext uri="{FF2B5EF4-FFF2-40B4-BE49-F238E27FC236}">
                <a16:creationId xmlns:a16="http://schemas.microsoft.com/office/drawing/2014/main" id="{6DB1EDEC-DA08-4F88-9705-C1D9003E2717}"/>
              </a:ext>
            </a:extLst>
          </p:cNvPr>
          <p:cNvSpPr>
            <a:spLocks noEditPoints="1"/>
          </p:cNvSpPr>
          <p:nvPr/>
        </p:nvSpPr>
        <p:spPr bwMode="auto">
          <a:xfrm>
            <a:off x="1505680" y="1209727"/>
            <a:ext cx="185737" cy="525462"/>
          </a:xfrm>
          <a:custGeom>
            <a:avLst/>
            <a:gdLst>
              <a:gd name="T0" fmla="*/ 391 w 784"/>
              <a:gd name="T1" fmla="*/ 507 h 2200"/>
              <a:gd name="T2" fmla="*/ 583 w 784"/>
              <a:gd name="T3" fmla="*/ 129 h 2200"/>
              <a:gd name="T4" fmla="*/ 199 w 784"/>
              <a:gd name="T5" fmla="*/ 129 h 2200"/>
              <a:gd name="T6" fmla="*/ 391 w 784"/>
              <a:gd name="T7" fmla="*/ 507 h 2200"/>
              <a:gd name="T8" fmla="*/ 247 w 784"/>
              <a:gd name="T9" fmla="*/ 168 h 2200"/>
              <a:gd name="T10" fmla="*/ 395 w 784"/>
              <a:gd name="T11" fmla="*/ 148 h 2200"/>
              <a:gd name="T12" fmla="*/ 541 w 784"/>
              <a:gd name="T13" fmla="*/ 205 h 2200"/>
              <a:gd name="T14" fmla="*/ 541 w 784"/>
              <a:gd name="T15" fmla="*/ 315 h 2200"/>
              <a:gd name="T16" fmla="*/ 242 w 784"/>
              <a:gd name="T17" fmla="*/ 315 h 2200"/>
              <a:gd name="T18" fmla="*/ 258 w 784"/>
              <a:gd name="T19" fmla="*/ 592 h 2200"/>
              <a:gd name="T20" fmla="*/ 318 w 784"/>
              <a:gd name="T21" fmla="*/ 732 h 2200"/>
              <a:gd name="T22" fmla="*/ 779 w 784"/>
              <a:gd name="T23" fmla="*/ 898 h 2200"/>
              <a:gd name="T24" fmla="*/ 731 w 784"/>
              <a:gd name="T25" fmla="*/ 612 h 2200"/>
              <a:gd name="T26" fmla="*/ 723 w 784"/>
              <a:gd name="T27" fmla="*/ 581 h 2200"/>
              <a:gd name="T28" fmla="*/ 603 w 784"/>
              <a:gd name="T29" fmla="*/ 503 h 2200"/>
              <a:gd name="T30" fmla="*/ 603 w 784"/>
              <a:gd name="T31" fmla="*/ 503 h 2200"/>
              <a:gd name="T32" fmla="*/ 533 w 784"/>
              <a:gd name="T33" fmla="*/ 588 h 2200"/>
              <a:gd name="T34" fmla="*/ 461 w 784"/>
              <a:gd name="T35" fmla="*/ 774 h 2200"/>
              <a:gd name="T36" fmla="*/ 564 w 784"/>
              <a:gd name="T37" fmla="*/ 853 h 2200"/>
              <a:gd name="T38" fmla="*/ 410 w 784"/>
              <a:gd name="T39" fmla="*/ 943 h 2200"/>
              <a:gd name="T40" fmla="*/ 391 w 784"/>
              <a:gd name="T41" fmla="*/ 944 h 2200"/>
              <a:gd name="T42" fmla="*/ 142 w 784"/>
              <a:gd name="T43" fmla="*/ 943 h 2200"/>
              <a:gd name="T44" fmla="*/ 103 w 784"/>
              <a:gd name="T45" fmla="*/ 1533 h 2200"/>
              <a:gd name="T46" fmla="*/ 124 w 784"/>
              <a:gd name="T47" fmla="*/ 1555 h 2200"/>
              <a:gd name="T48" fmla="*/ 152 w 784"/>
              <a:gd name="T49" fmla="*/ 2200 h 2200"/>
              <a:gd name="T50" fmla="*/ 296 w 784"/>
              <a:gd name="T51" fmla="*/ 2159 h 2200"/>
              <a:gd name="T52" fmla="*/ 415 w 784"/>
              <a:gd name="T53" fmla="*/ 1555 h 2200"/>
              <a:gd name="T54" fmla="*/ 532 w 784"/>
              <a:gd name="T55" fmla="*/ 2200 h 2200"/>
              <a:gd name="T56" fmla="*/ 631 w 784"/>
              <a:gd name="T57" fmla="*/ 1555 h 2200"/>
              <a:gd name="T58" fmla="*/ 674 w 784"/>
              <a:gd name="T59" fmla="*/ 1549 h 2200"/>
              <a:gd name="T60" fmla="*/ 670 w 784"/>
              <a:gd name="T61" fmla="*/ 1380 h 2200"/>
              <a:gd name="T62" fmla="*/ 747 w 784"/>
              <a:gd name="T63" fmla="*/ 906 h 2200"/>
              <a:gd name="T64" fmla="*/ 779 w 784"/>
              <a:gd name="T65" fmla="*/ 898 h 2200"/>
              <a:gd name="T66" fmla="*/ 641 w 784"/>
              <a:gd name="T67" fmla="*/ 906 h 2200"/>
              <a:gd name="T68" fmla="*/ 726 w 784"/>
              <a:gd name="T69" fmla="*/ 1235 h 2200"/>
              <a:gd name="T70" fmla="*/ 395 w 784"/>
              <a:gd name="T71" fmla="*/ 774 h 2200"/>
              <a:gd name="T72" fmla="*/ 536 w 784"/>
              <a:gd name="T73" fmla="*/ 482 h 2200"/>
              <a:gd name="T74" fmla="*/ 581 w 784"/>
              <a:gd name="T75" fmla="*/ 492 h 2200"/>
              <a:gd name="T76" fmla="*/ 452 w 784"/>
              <a:gd name="T77" fmla="*/ 598 h 2200"/>
              <a:gd name="T78" fmla="*/ 395 w 784"/>
              <a:gd name="T79" fmla="*/ 774 h 2200"/>
              <a:gd name="T80" fmla="*/ 233 w 784"/>
              <a:gd name="T81" fmla="*/ 476 h 2200"/>
              <a:gd name="T82" fmla="*/ 376 w 784"/>
              <a:gd name="T83" fmla="*/ 561 h 2200"/>
              <a:gd name="T84" fmla="*/ 345 w 784"/>
              <a:gd name="T85" fmla="*/ 774 h 2200"/>
              <a:gd name="T86" fmla="*/ 321 w 784"/>
              <a:gd name="T87" fmla="*/ 587 h 2200"/>
              <a:gd name="T88" fmla="*/ 212 w 784"/>
              <a:gd name="T89" fmla="*/ 487 h 2200"/>
              <a:gd name="T90" fmla="*/ 102 w 784"/>
              <a:gd name="T91" fmla="*/ 943 h 2200"/>
              <a:gd name="T92" fmla="*/ 2 w 784"/>
              <a:gd name="T93" fmla="*/ 871 h 2200"/>
              <a:gd name="T94" fmla="*/ 60 w 784"/>
              <a:gd name="T95" fmla="*/ 560 h 2200"/>
              <a:gd name="T96" fmla="*/ 131 w 784"/>
              <a:gd name="T97" fmla="*/ 943 h 2200"/>
              <a:gd name="T98" fmla="*/ 473 w 784"/>
              <a:gd name="T99" fmla="*/ 908 h 2200"/>
              <a:gd name="T100" fmla="*/ 352 w 784"/>
              <a:gd name="T101" fmla="*/ 809 h 2200"/>
              <a:gd name="T102" fmla="*/ 528 w 784"/>
              <a:gd name="T103" fmla="*/ 853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84" h="2200">
                <a:moveTo>
                  <a:pt x="391" y="507"/>
                </a:moveTo>
                <a:cubicBezTo>
                  <a:pt x="391" y="507"/>
                  <a:pt x="391" y="507"/>
                  <a:pt x="391" y="507"/>
                </a:cubicBezTo>
                <a:cubicBezTo>
                  <a:pt x="497" y="507"/>
                  <a:pt x="583" y="421"/>
                  <a:pt x="583" y="315"/>
                </a:cubicBezTo>
                <a:cubicBezTo>
                  <a:pt x="583" y="129"/>
                  <a:pt x="583" y="129"/>
                  <a:pt x="583" y="129"/>
                </a:cubicBezTo>
                <a:cubicBezTo>
                  <a:pt x="583" y="23"/>
                  <a:pt x="497" y="0"/>
                  <a:pt x="391" y="0"/>
                </a:cubicBezTo>
                <a:cubicBezTo>
                  <a:pt x="285" y="0"/>
                  <a:pt x="199" y="23"/>
                  <a:pt x="199" y="129"/>
                </a:cubicBezTo>
                <a:cubicBezTo>
                  <a:pt x="199" y="315"/>
                  <a:pt x="199" y="315"/>
                  <a:pt x="199" y="315"/>
                </a:cubicBezTo>
                <a:cubicBezTo>
                  <a:pt x="199" y="421"/>
                  <a:pt x="285" y="507"/>
                  <a:pt x="391" y="507"/>
                </a:cubicBezTo>
                <a:moveTo>
                  <a:pt x="242" y="205"/>
                </a:moveTo>
                <a:cubicBezTo>
                  <a:pt x="242" y="192"/>
                  <a:pt x="244" y="180"/>
                  <a:pt x="247" y="168"/>
                </a:cubicBezTo>
                <a:cubicBezTo>
                  <a:pt x="287" y="149"/>
                  <a:pt x="336" y="148"/>
                  <a:pt x="388" y="148"/>
                </a:cubicBezTo>
                <a:cubicBezTo>
                  <a:pt x="395" y="148"/>
                  <a:pt x="395" y="148"/>
                  <a:pt x="395" y="148"/>
                </a:cubicBezTo>
                <a:cubicBezTo>
                  <a:pt x="447" y="148"/>
                  <a:pt x="495" y="149"/>
                  <a:pt x="536" y="168"/>
                </a:cubicBezTo>
                <a:cubicBezTo>
                  <a:pt x="539" y="180"/>
                  <a:pt x="541" y="192"/>
                  <a:pt x="541" y="205"/>
                </a:cubicBezTo>
                <a:cubicBezTo>
                  <a:pt x="541" y="314"/>
                  <a:pt x="541" y="314"/>
                  <a:pt x="541" y="314"/>
                </a:cubicBezTo>
                <a:cubicBezTo>
                  <a:pt x="541" y="315"/>
                  <a:pt x="541" y="315"/>
                  <a:pt x="541" y="315"/>
                </a:cubicBezTo>
                <a:cubicBezTo>
                  <a:pt x="541" y="397"/>
                  <a:pt x="474" y="464"/>
                  <a:pt x="391" y="464"/>
                </a:cubicBezTo>
                <a:cubicBezTo>
                  <a:pt x="309" y="464"/>
                  <a:pt x="242" y="397"/>
                  <a:pt x="242" y="315"/>
                </a:cubicBezTo>
                <a:lnTo>
                  <a:pt x="242" y="205"/>
                </a:lnTo>
                <a:close/>
                <a:moveTo>
                  <a:pt x="258" y="592"/>
                </a:moveTo>
                <a:cubicBezTo>
                  <a:pt x="272" y="599"/>
                  <a:pt x="288" y="604"/>
                  <a:pt x="308" y="608"/>
                </a:cubicBezTo>
                <a:cubicBezTo>
                  <a:pt x="318" y="732"/>
                  <a:pt x="318" y="732"/>
                  <a:pt x="318" y="732"/>
                </a:cubicBezTo>
                <a:lnTo>
                  <a:pt x="258" y="592"/>
                </a:lnTo>
                <a:close/>
                <a:moveTo>
                  <a:pt x="779" y="898"/>
                </a:moveTo>
                <a:cubicBezTo>
                  <a:pt x="783" y="893"/>
                  <a:pt x="784" y="887"/>
                  <a:pt x="783" y="881"/>
                </a:cubicBezTo>
                <a:cubicBezTo>
                  <a:pt x="731" y="612"/>
                  <a:pt x="731" y="612"/>
                  <a:pt x="731" y="612"/>
                </a:cubicBezTo>
                <a:cubicBezTo>
                  <a:pt x="729" y="602"/>
                  <a:pt x="726" y="588"/>
                  <a:pt x="724" y="583"/>
                </a:cubicBezTo>
                <a:cubicBezTo>
                  <a:pt x="723" y="581"/>
                  <a:pt x="723" y="581"/>
                  <a:pt x="723" y="581"/>
                </a:cubicBezTo>
                <a:cubicBezTo>
                  <a:pt x="717" y="565"/>
                  <a:pt x="705" y="553"/>
                  <a:pt x="689" y="546"/>
                </a:cubicBezTo>
                <a:cubicBezTo>
                  <a:pt x="603" y="503"/>
                  <a:pt x="603" y="503"/>
                  <a:pt x="603" y="503"/>
                </a:cubicBezTo>
                <a:cubicBezTo>
                  <a:pt x="603" y="503"/>
                  <a:pt x="603" y="503"/>
                  <a:pt x="603" y="503"/>
                </a:cubicBezTo>
                <a:cubicBezTo>
                  <a:pt x="603" y="503"/>
                  <a:pt x="603" y="503"/>
                  <a:pt x="603" y="503"/>
                </a:cubicBezTo>
                <a:cubicBezTo>
                  <a:pt x="598" y="531"/>
                  <a:pt x="571" y="564"/>
                  <a:pt x="542" y="583"/>
                </a:cubicBezTo>
                <a:cubicBezTo>
                  <a:pt x="539" y="585"/>
                  <a:pt x="536" y="587"/>
                  <a:pt x="533" y="588"/>
                </a:cubicBezTo>
                <a:cubicBezTo>
                  <a:pt x="517" y="597"/>
                  <a:pt x="498" y="604"/>
                  <a:pt x="475" y="608"/>
                </a:cubicBezTo>
                <a:cubicBezTo>
                  <a:pt x="461" y="774"/>
                  <a:pt x="461" y="774"/>
                  <a:pt x="461" y="774"/>
                </a:cubicBezTo>
                <a:cubicBezTo>
                  <a:pt x="564" y="774"/>
                  <a:pt x="564" y="774"/>
                  <a:pt x="564" y="774"/>
                </a:cubicBezTo>
                <a:cubicBezTo>
                  <a:pt x="564" y="853"/>
                  <a:pt x="564" y="853"/>
                  <a:pt x="564" y="853"/>
                </a:cubicBezTo>
                <a:cubicBezTo>
                  <a:pt x="564" y="903"/>
                  <a:pt x="523" y="943"/>
                  <a:pt x="473" y="943"/>
                </a:cubicBezTo>
                <a:cubicBezTo>
                  <a:pt x="410" y="943"/>
                  <a:pt x="410" y="943"/>
                  <a:pt x="410" y="943"/>
                </a:cubicBezTo>
                <a:cubicBezTo>
                  <a:pt x="394" y="943"/>
                  <a:pt x="394" y="943"/>
                  <a:pt x="394" y="943"/>
                </a:cubicBezTo>
                <a:cubicBezTo>
                  <a:pt x="393" y="943"/>
                  <a:pt x="392" y="944"/>
                  <a:pt x="391" y="944"/>
                </a:cubicBezTo>
                <a:cubicBezTo>
                  <a:pt x="390" y="944"/>
                  <a:pt x="389" y="943"/>
                  <a:pt x="388" y="943"/>
                </a:cubicBezTo>
                <a:cubicBezTo>
                  <a:pt x="142" y="943"/>
                  <a:pt x="142" y="943"/>
                  <a:pt x="142" y="943"/>
                </a:cubicBezTo>
                <a:cubicBezTo>
                  <a:pt x="131" y="943"/>
                  <a:pt x="131" y="943"/>
                  <a:pt x="131" y="943"/>
                </a:cubicBezTo>
                <a:cubicBezTo>
                  <a:pt x="103" y="1533"/>
                  <a:pt x="103" y="1533"/>
                  <a:pt x="103" y="1533"/>
                </a:cubicBezTo>
                <a:cubicBezTo>
                  <a:pt x="103" y="1539"/>
                  <a:pt x="105" y="1544"/>
                  <a:pt x="109" y="1549"/>
                </a:cubicBezTo>
                <a:cubicBezTo>
                  <a:pt x="113" y="1553"/>
                  <a:pt x="118" y="1555"/>
                  <a:pt x="124" y="1555"/>
                </a:cubicBezTo>
                <a:cubicBezTo>
                  <a:pt x="152" y="1555"/>
                  <a:pt x="152" y="1555"/>
                  <a:pt x="152" y="1555"/>
                </a:cubicBezTo>
                <a:cubicBezTo>
                  <a:pt x="152" y="2200"/>
                  <a:pt x="152" y="2200"/>
                  <a:pt x="152" y="2200"/>
                </a:cubicBezTo>
                <a:cubicBezTo>
                  <a:pt x="251" y="2200"/>
                  <a:pt x="251" y="2200"/>
                  <a:pt x="251" y="2200"/>
                </a:cubicBezTo>
                <a:cubicBezTo>
                  <a:pt x="273" y="2200"/>
                  <a:pt x="294" y="2181"/>
                  <a:pt x="296" y="2159"/>
                </a:cubicBezTo>
                <a:cubicBezTo>
                  <a:pt x="368" y="1555"/>
                  <a:pt x="368" y="1555"/>
                  <a:pt x="368" y="1555"/>
                </a:cubicBezTo>
                <a:cubicBezTo>
                  <a:pt x="415" y="1555"/>
                  <a:pt x="415" y="1555"/>
                  <a:pt x="415" y="1555"/>
                </a:cubicBezTo>
                <a:cubicBezTo>
                  <a:pt x="486" y="2159"/>
                  <a:pt x="486" y="2159"/>
                  <a:pt x="486" y="2159"/>
                </a:cubicBezTo>
                <a:cubicBezTo>
                  <a:pt x="489" y="2181"/>
                  <a:pt x="509" y="2200"/>
                  <a:pt x="532" y="2200"/>
                </a:cubicBezTo>
                <a:cubicBezTo>
                  <a:pt x="631" y="2200"/>
                  <a:pt x="631" y="2200"/>
                  <a:pt x="631" y="2200"/>
                </a:cubicBezTo>
                <a:cubicBezTo>
                  <a:pt x="631" y="1555"/>
                  <a:pt x="631" y="1555"/>
                  <a:pt x="631" y="1555"/>
                </a:cubicBezTo>
                <a:cubicBezTo>
                  <a:pt x="659" y="1555"/>
                  <a:pt x="659" y="1555"/>
                  <a:pt x="659" y="1555"/>
                </a:cubicBezTo>
                <a:cubicBezTo>
                  <a:pt x="665" y="1555"/>
                  <a:pt x="670" y="1553"/>
                  <a:pt x="674" y="1549"/>
                </a:cubicBezTo>
                <a:cubicBezTo>
                  <a:pt x="678" y="1544"/>
                  <a:pt x="680" y="1539"/>
                  <a:pt x="679" y="1533"/>
                </a:cubicBezTo>
                <a:cubicBezTo>
                  <a:pt x="670" y="1380"/>
                  <a:pt x="670" y="1380"/>
                  <a:pt x="670" y="1380"/>
                </a:cubicBezTo>
                <a:cubicBezTo>
                  <a:pt x="727" y="1356"/>
                  <a:pt x="767" y="1300"/>
                  <a:pt x="767" y="1234"/>
                </a:cubicBezTo>
                <a:cubicBezTo>
                  <a:pt x="747" y="906"/>
                  <a:pt x="747" y="906"/>
                  <a:pt x="747" y="906"/>
                </a:cubicBezTo>
                <a:cubicBezTo>
                  <a:pt x="763" y="906"/>
                  <a:pt x="763" y="906"/>
                  <a:pt x="763" y="906"/>
                </a:cubicBezTo>
                <a:cubicBezTo>
                  <a:pt x="769" y="906"/>
                  <a:pt x="775" y="903"/>
                  <a:pt x="779" y="898"/>
                </a:cubicBezTo>
                <a:moveTo>
                  <a:pt x="667" y="1336"/>
                </a:moveTo>
                <a:cubicBezTo>
                  <a:pt x="641" y="906"/>
                  <a:pt x="641" y="906"/>
                  <a:pt x="641" y="906"/>
                </a:cubicBezTo>
                <a:cubicBezTo>
                  <a:pt x="704" y="906"/>
                  <a:pt x="704" y="906"/>
                  <a:pt x="704" y="906"/>
                </a:cubicBezTo>
                <a:cubicBezTo>
                  <a:pt x="726" y="1235"/>
                  <a:pt x="726" y="1235"/>
                  <a:pt x="726" y="1235"/>
                </a:cubicBezTo>
                <a:cubicBezTo>
                  <a:pt x="725" y="1278"/>
                  <a:pt x="702" y="1315"/>
                  <a:pt x="667" y="1336"/>
                </a:cubicBezTo>
                <a:moveTo>
                  <a:pt x="395" y="774"/>
                </a:moveTo>
                <a:cubicBezTo>
                  <a:pt x="407" y="561"/>
                  <a:pt x="407" y="561"/>
                  <a:pt x="407" y="561"/>
                </a:cubicBezTo>
                <a:cubicBezTo>
                  <a:pt x="465" y="553"/>
                  <a:pt x="536" y="516"/>
                  <a:pt x="536" y="482"/>
                </a:cubicBezTo>
                <a:cubicBezTo>
                  <a:pt x="536" y="480"/>
                  <a:pt x="549" y="476"/>
                  <a:pt x="549" y="476"/>
                </a:cubicBezTo>
                <a:cubicBezTo>
                  <a:pt x="581" y="492"/>
                  <a:pt x="581" y="492"/>
                  <a:pt x="581" y="492"/>
                </a:cubicBezTo>
                <a:cubicBezTo>
                  <a:pt x="580" y="531"/>
                  <a:pt x="534" y="575"/>
                  <a:pt x="462" y="587"/>
                </a:cubicBezTo>
                <a:cubicBezTo>
                  <a:pt x="456" y="588"/>
                  <a:pt x="452" y="592"/>
                  <a:pt x="452" y="598"/>
                </a:cubicBezTo>
                <a:cubicBezTo>
                  <a:pt x="437" y="774"/>
                  <a:pt x="437" y="774"/>
                  <a:pt x="437" y="774"/>
                </a:cubicBezTo>
                <a:lnTo>
                  <a:pt x="395" y="774"/>
                </a:lnTo>
                <a:close/>
                <a:moveTo>
                  <a:pt x="212" y="487"/>
                </a:moveTo>
                <a:cubicBezTo>
                  <a:pt x="233" y="476"/>
                  <a:pt x="233" y="476"/>
                  <a:pt x="233" y="476"/>
                </a:cubicBezTo>
                <a:cubicBezTo>
                  <a:pt x="233" y="476"/>
                  <a:pt x="247" y="480"/>
                  <a:pt x="247" y="482"/>
                </a:cubicBezTo>
                <a:cubicBezTo>
                  <a:pt x="247" y="516"/>
                  <a:pt x="317" y="553"/>
                  <a:pt x="376" y="561"/>
                </a:cubicBezTo>
                <a:cubicBezTo>
                  <a:pt x="387" y="774"/>
                  <a:pt x="387" y="774"/>
                  <a:pt x="387" y="774"/>
                </a:cubicBezTo>
                <a:cubicBezTo>
                  <a:pt x="345" y="774"/>
                  <a:pt x="345" y="774"/>
                  <a:pt x="345" y="774"/>
                </a:cubicBezTo>
                <a:cubicBezTo>
                  <a:pt x="331" y="598"/>
                  <a:pt x="331" y="598"/>
                  <a:pt x="331" y="598"/>
                </a:cubicBezTo>
                <a:cubicBezTo>
                  <a:pt x="330" y="592"/>
                  <a:pt x="326" y="588"/>
                  <a:pt x="321" y="587"/>
                </a:cubicBezTo>
                <a:cubicBezTo>
                  <a:pt x="289" y="582"/>
                  <a:pt x="262" y="569"/>
                  <a:pt x="242" y="555"/>
                </a:cubicBezTo>
                <a:lnTo>
                  <a:pt x="212" y="487"/>
                </a:lnTo>
                <a:close/>
                <a:moveTo>
                  <a:pt x="131" y="943"/>
                </a:moveTo>
                <a:cubicBezTo>
                  <a:pt x="102" y="943"/>
                  <a:pt x="102" y="943"/>
                  <a:pt x="102" y="943"/>
                </a:cubicBezTo>
                <a:cubicBezTo>
                  <a:pt x="72" y="943"/>
                  <a:pt x="72" y="943"/>
                  <a:pt x="72" y="943"/>
                </a:cubicBezTo>
                <a:cubicBezTo>
                  <a:pt x="32" y="944"/>
                  <a:pt x="0" y="911"/>
                  <a:pt x="2" y="871"/>
                </a:cubicBezTo>
                <a:cubicBezTo>
                  <a:pt x="23" y="616"/>
                  <a:pt x="23" y="616"/>
                  <a:pt x="23" y="616"/>
                </a:cubicBezTo>
                <a:cubicBezTo>
                  <a:pt x="25" y="589"/>
                  <a:pt x="38" y="571"/>
                  <a:pt x="60" y="560"/>
                </a:cubicBezTo>
                <a:cubicBezTo>
                  <a:pt x="175" y="507"/>
                  <a:pt x="175" y="507"/>
                  <a:pt x="175" y="507"/>
                </a:cubicBezTo>
                <a:lnTo>
                  <a:pt x="131" y="943"/>
                </a:lnTo>
                <a:close/>
                <a:moveTo>
                  <a:pt x="528" y="853"/>
                </a:moveTo>
                <a:cubicBezTo>
                  <a:pt x="528" y="883"/>
                  <a:pt x="504" y="908"/>
                  <a:pt x="473" y="908"/>
                </a:cubicBezTo>
                <a:cubicBezTo>
                  <a:pt x="394" y="908"/>
                  <a:pt x="394" y="908"/>
                  <a:pt x="394" y="908"/>
                </a:cubicBezTo>
                <a:cubicBezTo>
                  <a:pt x="352" y="809"/>
                  <a:pt x="352" y="809"/>
                  <a:pt x="352" y="809"/>
                </a:cubicBezTo>
                <a:cubicBezTo>
                  <a:pt x="528" y="809"/>
                  <a:pt x="528" y="809"/>
                  <a:pt x="528" y="809"/>
                </a:cubicBezTo>
                <a:lnTo>
                  <a:pt x="528" y="85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GB"/>
          </a:p>
        </p:txBody>
      </p:sp>
      <p:sp>
        <p:nvSpPr>
          <p:cNvPr id="56" name="Freeform 176">
            <a:extLst>
              <a:ext uri="{FF2B5EF4-FFF2-40B4-BE49-F238E27FC236}">
                <a16:creationId xmlns:a16="http://schemas.microsoft.com/office/drawing/2014/main" id="{CB63280D-E597-4399-89AD-1596C1F724DE}"/>
              </a:ext>
            </a:extLst>
          </p:cNvPr>
          <p:cNvSpPr>
            <a:spLocks noChangeAspect="1" noEditPoints="1"/>
          </p:cNvSpPr>
          <p:nvPr/>
        </p:nvSpPr>
        <p:spPr bwMode="auto">
          <a:xfrm>
            <a:off x="3024303" y="1339071"/>
            <a:ext cx="182416" cy="525600"/>
          </a:xfrm>
          <a:custGeom>
            <a:avLst/>
            <a:gdLst>
              <a:gd name="T0" fmla="*/ 694 w 762"/>
              <a:gd name="T1" fmla="*/ 588 h 2200"/>
              <a:gd name="T2" fmla="*/ 500 w 762"/>
              <a:gd name="T3" fmla="*/ 457 h 2200"/>
              <a:gd name="T4" fmla="*/ 564 w 762"/>
              <a:gd name="T5" fmla="*/ 445 h 2200"/>
              <a:gd name="T6" fmla="*/ 585 w 762"/>
              <a:gd name="T7" fmla="*/ 413 h 2200"/>
              <a:gd name="T8" fmla="*/ 575 w 762"/>
              <a:gd name="T9" fmla="*/ 193 h 2200"/>
              <a:gd name="T10" fmla="*/ 188 w 762"/>
              <a:gd name="T11" fmla="*/ 193 h 2200"/>
              <a:gd name="T12" fmla="*/ 178 w 762"/>
              <a:gd name="T13" fmla="*/ 413 h 2200"/>
              <a:gd name="T14" fmla="*/ 199 w 762"/>
              <a:gd name="T15" fmla="*/ 445 h 2200"/>
              <a:gd name="T16" fmla="*/ 263 w 762"/>
              <a:gd name="T17" fmla="*/ 457 h 2200"/>
              <a:gd name="T18" fmla="*/ 69 w 762"/>
              <a:gd name="T19" fmla="*/ 588 h 2200"/>
              <a:gd name="T20" fmla="*/ 94 w 762"/>
              <a:gd name="T21" fmla="*/ 1329 h 2200"/>
              <a:gd name="T22" fmla="*/ 91 w 762"/>
              <a:gd name="T23" fmla="*/ 1809 h 2200"/>
              <a:gd name="T24" fmla="*/ 247 w 762"/>
              <a:gd name="T25" fmla="*/ 2157 h 2200"/>
              <a:gd name="T26" fmla="*/ 360 w 762"/>
              <a:gd name="T27" fmla="*/ 2200 h 2200"/>
              <a:gd name="T28" fmla="*/ 403 w 762"/>
              <a:gd name="T29" fmla="*/ 1809 h 2200"/>
              <a:gd name="T30" fmla="*/ 467 w 762"/>
              <a:gd name="T31" fmla="*/ 2200 h 2200"/>
              <a:gd name="T32" fmla="*/ 586 w 762"/>
              <a:gd name="T33" fmla="*/ 1809 h 2200"/>
              <a:gd name="T34" fmla="*/ 705 w 762"/>
              <a:gd name="T35" fmla="*/ 1767 h 2200"/>
              <a:gd name="T36" fmla="*/ 757 w 762"/>
              <a:gd name="T37" fmla="*/ 1190 h 2200"/>
              <a:gd name="T38" fmla="*/ 231 w 762"/>
              <a:gd name="T39" fmla="*/ 267 h 2200"/>
              <a:gd name="T40" fmla="*/ 532 w 762"/>
              <a:gd name="T41" fmla="*/ 195 h 2200"/>
              <a:gd name="T42" fmla="*/ 381 w 762"/>
              <a:gd name="T43" fmla="*/ 455 h 2200"/>
              <a:gd name="T44" fmla="*/ 196 w 762"/>
              <a:gd name="T45" fmla="*/ 640 h 2200"/>
              <a:gd name="T46" fmla="*/ 89 w 762"/>
              <a:gd name="T47" fmla="*/ 1270 h 2200"/>
              <a:gd name="T48" fmla="*/ 58 w 762"/>
              <a:gd name="T49" fmla="*/ 1104 h 2200"/>
              <a:gd name="T50" fmla="*/ 162 w 762"/>
              <a:gd name="T51" fmla="*/ 622 h 2200"/>
              <a:gd name="T52" fmla="*/ 363 w 762"/>
              <a:gd name="T53" fmla="*/ 521 h 2200"/>
              <a:gd name="T54" fmla="*/ 399 w 762"/>
              <a:gd name="T55" fmla="*/ 477 h 2200"/>
              <a:gd name="T56" fmla="*/ 383 w 762"/>
              <a:gd name="T57" fmla="*/ 555 h 2200"/>
              <a:gd name="T58" fmla="*/ 658 w 762"/>
              <a:gd name="T59" fmla="*/ 1284 h 2200"/>
              <a:gd name="T60" fmla="*/ 705 w 762"/>
              <a:gd name="T61" fmla="*/ 1104 h 2200"/>
              <a:gd name="T62" fmla="*/ 673 w 762"/>
              <a:gd name="T63" fmla="*/ 1270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62" h="2200">
                <a:moveTo>
                  <a:pt x="757" y="1190"/>
                </a:moveTo>
                <a:cubicBezTo>
                  <a:pt x="694" y="588"/>
                  <a:pt x="694" y="588"/>
                  <a:pt x="694" y="588"/>
                </a:cubicBezTo>
                <a:cubicBezTo>
                  <a:pt x="690" y="555"/>
                  <a:pt x="672" y="537"/>
                  <a:pt x="650" y="527"/>
                </a:cubicBezTo>
                <a:cubicBezTo>
                  <a:pt x="500" y="457"/>
                  <a:pt x="500" y="457"/>
                  <a:pt x="500" y="457"/>
                </a:cubicBezTo>
                <a:cubicBezTo>
                  <a:pt x="504" y="453"/>
                  <a:pt x="509" y="449"/>
                  <a:pt x="514" y="445"/>
                </a:cubicBezTo>
                <a:cubicBezTo>
                  <a:pt x="564" y="445"/>
                  <a:pt x="564" y="445"/>
                  <a:pt x="564" y="445"/>
                </a:cubicBezTo>
                <a:cubicBezTo>
                  <a:pt x="571" y="445"/>
                  <a:pt x="577" y="441"/>
                  <a:pt x="581" y="434"/>
                </a:cubicBezTo>
                <a:cubicBezTo>
                  <a:pt x="586" y="425"/>
                  <a:pt x="585" y="413"/>
                  <a:pt x="585" y="413"/>
                </a:cubicBezTo>
                <a:cubicBezTo>
                  <a:pt x="585" y="413"/>
                  <a:pt x="575" y="321"/>
                  <a:pt x="575" y="248"/>
                </a:cubicBezTo>
                <a:cubicBezTo>
                  <a:pt x="575" y="193"/>
                  <a:pt x="575" y="193"/>
                  <a:pt x="575" y="193"/>
                </a:cubicBezTo>
                <a:cubicBezTo>
                  <a:pt x="575" y="86"/>
                  <a:pt x="488" y="0"/>
                  <a:pt x="381" y="0"/>
                </a:cubicBezTo>
                <a:cubicBezTo>
                  <a:pt x="274" y="0"/>
                  <a:pt x="188" y="86"/>
                  <a:pt x="188" y="193"/>
                </a:cubicBezTo>
                <a:cubicBezTo>
                  <a:pt x="188" y="248"/>
                  <a:pt x="188" y="248"/>
                  <a:pt x="188" y="248"/>
                </a:cubicBezTo>
                <a:cubicBezTo>
                  <a:pt x="188" y="321"/>
                  <a:pt x="178" y="413"/>
                  <a:pt x="178" y="413"/>
                </a:cubicBezTo>
                <a:cubicBezTo>
                  <a:pt x="178" y="413"/>
                  <a:pt x="176" y="425"/>
                  <a:pt x="181" y="434"/>
                </a:cubicBezTo>
                <a:cubicBezTo>
                  <a:pt x="185" y="441"/>
                  <a:pt x="191" y="445"/>
                  <a:pt x="199" y="445"/>
                </a:cubicBezTo>
                <a:cubicBezTo>
                  <a:pt x="249" y="445"/>
                  <a:pt x="249" y="445"/>
                  <a:pt x="249" y="445"/>
                </a:cubicBezTo>
                <a:cubicBezTo>
                  <a:pt x="253" y="449"/>
                  <a:pt x="258" y="453"/>
                  <a:pt x="263" y="457"/>
                </a:cubicBezTo>
                <a:cubicBezTo>
                  <a:pt x="112" y="527"/>
                  <a:pt x="112" y="527"/>
                  <a:pt x="112" y="527"/>
                </a:cubicBezTo>
                <a:cubicBezTo>
                  <a:pt x="91" y="537"/>
                  <a:pt x="73" y="555"/>
                  <a:pt x="69" y="588"/>
                </a:cubicBezTo>
                <a:cubicBezTo>
                  <a:pt x="6" y="1190"/>
                  <a:pt x="6" y="1190"/>
                  <a:pt x="6" y="1190"/>
                </a:cubicBezTo>
                <a:cubicBezTo>
                  <a:pt x="0" y="1249"/>
                  <a:pt x="46" y="1299"/>
                  <a:pt x="94" y="1329"/>
                </a:cubicBezTo>
                <a:cubicBezTo>
                  <a:pt x="58" y="1767"/>
                  <a:pt x="58" y="1767"/>
                  <a:pt x="58" y="1767"/>
                </a:cubicBezTo>
                <a:cubicBezTo>
                  <a:pt x="55" y="1790"/>
                  <a:pt x="68" y="1809"/>
                  <a:pt x="91" y="1809"/>
                </a:cubicBezTo>
                <a:cubicBezTo>
                  <a:pt x="177" y="1809"/>
                  <a:pt x="177" y="1809"/>
                  <a:pt x="177" y="1809"/>
                </a:cubicBezTo>
                <a:cubicBezTo>
                  <a:pt x="247" y="2157"/>
                  <a:pt x="247" y="2157"/>
                  <a:pt x="247" y="2157"/>
                </a:cubicBezTo>
                <a:cubicBezTo>
                  <a:pt x="250" y="2181"/>
                  <a:pt x="272" y="2200"/>
                  <a:pt x="296" y="2200"/>
                </a:cubicBezTo>
                <a:cubicBezTo>
                  <a:pt x="360" y="2200"/>
                  <a:pt x="360" y="2200"/>
                  <a:pt x="360" y="2200"/>
                </a:cubicBezTo>
                <a:cubicBezTo>
                  <a:pt x="360" y="1809"/>
                  <a:pt x="360" y="1809"/>
                  <a:pt x="360" y="1809"/>
                </a:cubicBezTo>
                <a:cubicBezTo>
                  <a:pt x="403" y="1809"/>
                  <a:pt x="403" y="1809"/>
                  <a:pt x="403" y="1809"/>
                </a:cubicBezTo>
                <a:cubicBezTo>
                  <a:pt x="403" y="2200"/>
                  <a:pt x="403" y="2200"/>
                  <a:pt x="403" y="2200"/>
                </a:cubicBezTo>
                <a:cubicBezTo>
                  <a:pt x="467" y="2200"/>
                  <a:pt x="467" y="2200"/>
                  <a:pt x="467" y="2200"/>
                </a:cubicBezTo>
                <a:cubicBezTo>
                  <a:pt x="490" y="2200"/>
                  <a:pt x="513" y="2181"/>
                  <a:pt x="516" y="2157"/>
                </a:cubicBezTo>
                <a:cubicBezTo>
                  <a:pt x="586" y="1809"/>
                  <a:pt x="586" y="1809"/>
                  <a:pt x="586" y="1809"/>
                </a:cubicBezTo>
                <a:cubicBezTo>
                  <a:pt x="671" y="1809"/>
                  <a:pt x="671" y="1809"/>
                  <a:pt x="671" y="1809"/>
                </a:cubicBezTo>
                <a:cubicBezTo>
                  <a:pt x="695" y="1809"/>
                  <a:pt x="708" y="1790"/>
                  <a:pt x="705" y="1767"/>
                </a:cubicBezTo>
                <a:cubicBezTo>
                  <a:pt x="668" y="1329"/>
                  <a:pt x="668" y="1329"/>
                  <a:pt x="668" y="1329"/>
                </a:cubicBezTo>
                <a:cubicBezTo>
                  <a:pt x="717" y="1299"/>
                  <a:pt x="762" y="1249"/>
                  <a:pt x="757" y="1190"/>
                </a:cubicBezTo>
                <a:moveTo>
                  <a:pt x="231" y="304"/>
                </a:moveTo>
                <a:cubicBezTo>
                  <a:pt x="231" y="267"/>
                  <a:pt x="231" y="267"/>
                  <a:pt x="231" y="267"/>
                </a:cubicBezTo>
                <a:cubicBezTo>
                  <a:pt x="231" y="227"/>
                  <a:pt x="263" y="195"/>
                  <a:pt x="303" y="195"/>
                </a:cubicBezTo>
                <a:cubicBezTo>
                  <a:pt x="532" y="195"/>
                  <a:pt x="532" y="195"/>
                  <a:pt x="532" y="195"/>
                </a:cubicBezTo>
                <a:cubicBezTo>
                  <a:pt x="532" y="304"/>
                  <a:pt x="532" y="304"/>
                  <a:pt x="532" y="304"/>
                </a:cubicBezTo>
                <a:cubicBezTo>
                  <a:pt x="532" y="387"/>
                  <a:pt x="464" y="455"/>
                  <a:pt x="381" y="455"/>
                </a:cubicBezTo>
                <a:cubicBezTo>
                  <a:pt x="298" y="455"/>
                  <a:pt x="231" y="387"/>
                  <a:pt x="231" y="304"/>
                </a:cubicBezTo>
                <a:moveTo>
                  <a:pt x="196" y="640"/>
                </a:moveTo>
                <a:cubicBezTo>
                  <a:pt x="104" y="1284"/>
                  <a:pt x="104" y="1284"/>
                  <a:pt x="104" y="1284"/>
                </a:cubicBezTo>
                <a:cubicBezTo>
                  <a:pt x="99" y="1279"/>
                  <a:pt x="94" y="1275"/>
                  <a:pt x="89" y="1270"/>
                </a:cubicBezTo>
                <a:cubicBezTo>
                  <a:pt x="75" y="1255"/>
                  <a:pt x="45" y="1229"/>
                  <a:pt x="48" y="1194"/>
                </a:cubicBezTo>
                <a:cubicBezTo>
                  <a:pt x="58" y="1104"/>
                  <a:pt x="58" y="1104"/>
                  <a:pt x="58" y="1104"/>
                </a:cubicBezTo>
                <a:cubicBezTo>
                  <a:pt x="94" y="1104"/>
                  <a:pt x="94" y="1104"/>
                  <a:pt x="94" y="1104"/>
                </a:cubicBezTo>
                <a:cubicBezTo>
                  <a:pt x="162" y="622"/>
                  <a:pt x="162" y="622"/>
                  <a:pt x="162" y="622"/>
                </a:cubicBezTo>
                <a:cubicBezTo>
                  <a:pt x="167" y="618"/>
                  <a:pt x="167" y="618"/>
                  <a:pt x="167" y="618"/>
                </a:cubicBezTo>
                <a:cubicBezTo>
                  <a:pt x="171" y="614"/>
                  <a:pt x="257" y="538"/>
                  <a:pt x="363" y="521"/>
                </a:cubicBezTo>
                <a:cubicBezTo>
                  <a:pt x="363" y="477"/>
                  <a:pt x="363" y="477"/>
                  <a:pt x="363" y="477"/>
                </a:cubicBezTo>
                <a:cubicBezTo>
                  <a:pt x="399" y="477"/>
                  <a:pt x="399" y="477"/>
                  <a:pt x="399" y="477"/>
                </a:cubicBezTo>
                <a:cubicBezTo>
                  <a:pt x="399" y="553"/>
                  <a:pt x="399" y="553"/>
                  <a:pt x="399" y="553"/>
                </a:cubicBezTo>
                <a:cubicBezTo>
                  <a:pt x="383" y="555"/>
                  <a:pt x="383" y="555"/>
                  <a:pt x="383" y="555"/>
                </a:cubicBezTo>
                <a:cubicBezTo>
                  <a:pt x="294" y="563"/>
                  <a:pt x="215" y="624"/>
                  <a:pt x="196" y="640"/>
                </a:cubicBezTo>
                <a:moveTo>
                  <a:pt x="658" y="1284"/>
                </a:moveTo>
                <a:cubicBezTo>
                  <a:pt x="633" y="1104"/>
                  <a:pt x="633" y="1104"/>
                  <a:pt x="633" y="1104"/>
                </a:cubicBezTo>
                <a:cubicBezTo>
                  <a:pt x="705" y="1104"/>
                  <a:pt x="705" y="1104"/>
                  <a:pt x="705" y="1104"/>
                </a:cubicBezTo>
                <a:cubicBezTo>
                  <a:pt x="714" y="1194"/>
                  <a:pt x="714" y="1194"/>
                  <a:pt x="714" y="1194"/>
                </a:cubicBezTo>
                <a:cubicBezTo>
                  <a:pt x="717" y="1229"/>
                  <a:pt x="687" y="1255"/>
                  <a:pt x="673" y="1270"/>
                </a:cubicBezTo>
                <a:cubicBezTo>
                  <a:pt x="669" y="1275"/>
                  <a:pt x="664" y="1279"/>
                  <a:pt x="658" y="1284"/>
                </a:cubicBezTo>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57" name="Group 51">
            <a:extLst>
              <a:ext uri="{FF2B5EF4-FFF2-40B4-BE49-F238E27FC236}">
                <a16:creationId xmlns:a16="http://schemas.microsoft.com/office/drawing/2014/main" id="{465C1A26-890F-4FBE-BED0-8D73C7F8414C}"/>
              </a:ext>
            </a:extLst>
          </p:cNvPr>
          <p:cNvGrpSpPr>
            <a:grpSpLocks noChangeAspect="1"/>
          </p:cNvGrpSpPr>
          <p:nvPr/>
        </p:nvGrpSpPr>
        <p:grpSpPr bwMode="auto">
          <a:xfrm>
            <a:off x="2467617" y="1308019"/>
            <a:ext cx="182563" cy="527050"/>
            <a:chOff x="5269" y="2490"/>
            <a:chExt cx="115" cy="332"/>
          </a:xfrm>
          <a:solidFill>
            <a:schemeClr val="bg2"/>
          </a:solidFill>
        </p:grpSpPr>
        <p:sp>
          <p:nvSpPr>
            <p:cNvPr id="58" name="Freeform 52">
              <a:extLst>
                <a:ext uri="{FF2B5EF4-FFF2-40B4-BE49-F238E27FC236}">
                  <a16:creationId xmlns:a16="http://schemas.microsoft.com/office/drawing/2014/main" id="{DB4977DD-6FA0-426A-9AA1-EB46F04E4E5F}"/>
                </a:ext>
              </a:extLst>
            </p:cNvPr>
            <p:cNvSpPr>
              <a:spLocks noEditPoints="1"/>
            </p:cNvSpPr>
            <p:nvPr/>
          </p:nvSpPr>
          <p:spPr bwMode="auto">
            <a:xfrm>
              <a:off x="5269" y="2561"/>
              <a:ext cx="115" cy="261"/>
            </a:xfrm>
            <a:custGeom>
              <a:avLst/>
              <a:gdLst>
                <a:gd name="T0" fmla="*/ 682 w 762"/>
                <a:gd name="T1" fmla="*/ 860 h 1731"/>
                <a:gd name="T2" fmla="*/ 757 w 762"/>
                <a:gd name="T3" fmla="*/ 721 h 1731"/>
                <a:gd name="T4" fmla="*/ 693 w 762"/>
                <a:gd name="T5" fmla="*/ 119 h 1731"/>
                <a:gd name="T6" fmla="*/ 650 w 762"/>
                <a:gd name="T7" fmla="*/ 58 h 1731"/>
                <a:gd name="T8" fmla="*/ 526 w 762"/>
                <a:gd name="T9" fmla="*/ 0 h 1731"/>
                <a:gd name="T10" fmla="*/ 526 w 762"/>
                <a:gd name="T11" fmla="*/ 87 h 1731"/>
                <a:gd name="T12" fmla="*/ 517 w 762"/>
                <a:gd name="T13" fmla="*/ 105 h 1731"/>
                <a:gd name="T14" fmla="*/ 505 w 762"/>
                <a:gd name="T15" fmla="*/ 108 h 1731"/>
                <a:gd name="T16" fmla="*/ 497 w 762"/>
                <a:gd name="T17" fmla="*/ 107 h 1731"/>
                <a:gd name="T18" fmla="*/ 381 w 762"/>
                <a:gd name="T19" fmla="*/ 63 h 1731"/>
                <a:gd name="T20" fmla="*/ 265 w 762"/>
                <a:gd name="T21" fmla="*/ 107 h 1731"/>
                <a:gd name="T22" fmla="*/ 258 w 762"/>
                <a:gd name="T23" fmla="*/ 108 h 1731"/>
                <a:gd name="T24" fmla="*/ 245 w 762"/>
                <a:gd name="T25" fmla="*/ 105 h 1731"/>
                <a:gd name="T26" fmla="*/ 236 w 762"/>
                <a:gd name="T27" fmla="*/ 87 h 1731"/>
                <a:gd name="T28" fmla="*/ 236 w 762"/>
                <a:gd name="T29" fmla="*/ 0 h 1731"/>
                <a:gd name="T30" fmla="*/ 112 w 762"/>
                <a:gd name="T31" fmla="*/ 58 h 1731"/>
                <a:gd name="T32" fmla="*/ 69 w 762"/>
                <a:gd name="T33" fmla="*/ 119 h 1731"/>
                <a:gd name="T34" fmla="*/ 6 w 762"/>
                <a:gd name="T35" fmla="*/ 721 h 1731"/>
                <a:gd name="T36" fmla="*/ 80 w 762"/>
                <a:gd name="T37" fmla="*/ 860 h 1731"/>
                <a:gd name="T38" fmla="*/ 15 w 762"/>
                <a:gd name="T39" fmla="*/ 1155 h 1731"/>
                <a:gd name="T40" fmla="*/ 48 w 762"/>
                <a:gd name="T41" fmla="*/ 1196 h 1731"/>
                <a:gd name="T42" fmla="*/ 177 w 762"/>
                <a:gd name="T43" fmla="*/ 1196 h 1731"/>
                <a:gd name="T44" fmla="*/ 247 w 762"/>
                <a:gd name="T45" fmla="*/ 1688 h 1731"/>
                <a:gd name="T46" fmla="*/ 296 w 762"/>
                <a:gd name="T47" fmla="*/ 1731 h 1731"/>
                <a:gd name="T48" fmla="*/ 360 w 762"/>
                <a:gd name="T49" fmla="*/ 1731 h 1731"/>
                <a:gd name="T50" fmla="*/ 360 w 762"/>
                <a:gd name="T51" fmla="*/ 1196 h 1731"/>
                <a:gd name="T52" fmla="*/ 403 w 762"/>
                <a:gd name="T53" fmla="*/ 1196 h 1731"/>
                <a:gd name="T54" fmla="*/ 403 w 762"/>
                <a:gd name="T55" fmla="*/ 1731 h 1731"/>
                <a:gd name="T56" fmla="*/ 467 w 762"/>
                <a:gd name="T57" fmla="*/ 1731 h 1731"/>
                <a:gd name="T58" fmla="*/ 516 w 762"/>
                <a:gd name="T59" fmla="*/ 1688 h 1731"/>
                <a:gd name="T60" fmla="*/ 586 w 762"/>
                <a:gd name="T61" fmla="*/ 1196 h 1731"/>
                <a:gd name="T62" fmla="*/ 714 w 762"/>
                <a:gd name="T63" fmla="*/ 1196 h 1731"/>
                <a:gd name="T64" fmla="*/ 748 w 762"/>
                <a:gd name="T65" fmla="*/ 1155 h 1731"/>
                <a:gd name="T66" fmla="*/ 682 w 762"/>
                <a:gd name="T67" fmla="*/ 860 h 1731"/>
                <a:gd name="T68" fmla="*/ 705 w 762"/>
                <a:gd name="T69" fmla="*/ 635 h 1731"/>
                <a:gd name="T70" fmla="*/ 714 w 762"/>
                <a:gd name="T71" fmla="*/ 724 h 1731"/>
                <a:gd name="T72" fmla="*/ 688 w 762"/>
                <a:gd name="T73" fmla="*/ 801 h 1731"/>
                <a:gd name="T74" fmla="*/ 672 w 762"/>
                <a:gd name="T75" fmla="*/ 815 h 1731"/>
                <a:gd name="T76" fmla="*/ 632 w 762"/>
                <a:gd name="T77" fmla="*/ 635 h 1731"/>
                <a:gd name="T78" fmla="*/ 705 w 762"/>
                <a:gd name="T79" fmla="*/ 635 h 1731"/>
                <a:gd name="T80" fmla="*/ 75 w 762"/>
                <a:gd name="T81" fmla="*/ 801 h 1731"/>
                <a:gd name="T82" fmla="*/ 48 w 762"/>
                <a:gd name="T83" fmla="*/ 725 h 1731"/>
                <a:gd name="T84" fmla="*/ 58 w 762"/>
                <a:gd name="T85" fmla="*/ 635 h 1731"/>
                <a:gd name="T86" fmla="*/ 130 w 762"/>
                <a:gd name="T87" fmla="*/ 635 h 1731"/>
                <a:gd name="T88" fmla="*/ 90 w 762"/>
                <a:gd name="T89" fmla="*/ 814 h 1731"/>
                <a:gd name="T90" fmla="*/ 75 w 762"/>
                <a:gd name="T91" fmla="*/ 801 h 1731"/>
                <a:gd name="T92" fmla="*/ 59 w 762"/>
                <a:gd name="T93" fmla="*/ 1154 h 1731"/>
                <a:gd name="T94" fmla="*/ 181 w 762"/>
                <a:gd name="T95" fmla="*/ 601 h 1731"/>
                <a:gd name="T96" fmla="*/ 191 w 762"/>
                <a:gd name="T97" fmla="*/ 593 h 1731"/>
                <a:gd name="T98" fmla="*/ 571 w 762"/>
                <a:gd name="T99" fmla="*/ 593 h 1731"/>
                <a:gd name="T100" fmla="*/ 581 w 762"/>
                <a:gd name="T101" fmla="*/ 601 h 1731"/>
                <a:gd name="T102" fmla="*/ 703 w 762"/>
                <a:gd name="T103" fmla="*/ 1154 h 1731"/>
                <a:gd name="T104" fmla="*/ 59 w 762"/>
                <a:gd name="T105" fmla="*/ 1154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62" h="1731">
                  <a:moveTo>
                    <a:pt x="682" y="860"/>
                  </a:moveTo>
                  <a:cubicBezTo>
                    <a:pt x="731" y="830"/>
                    <a:pt x="762" y="779"/>
                    <a:pt x="757" y="721"/>
                  </a:cubicBezTo>
                  <a:cubicBezTo>
                    <a:pt x="693" y="119"/>
                    <a:pt x="693" y="119"/>
                    <a:pt x="693" y="119"/>
                  </a:cubicBezTo>
                  <a:cubicBezTo>
                    <a:pt x="689" y="82"/>
                    <a:pt x="671" y="68"/>
                    <a:pt x="650" y="58"/>
                  </a:cubicBezTo>
                  <a:cubicBezTo>
                    <a:pt x="526" y="0"/>
                    <a:pt x="526" y="0"/>
                    <a:pt x="526" y="0"/>
                  </a:cubicBezTo>
                  <a:cubicBezTo>
                    <a:pt x="526" y="87"/>
                    <a:pt x="526" y="87"/>
                    <a:pt x="526" y="87"/>
                  </a:cubicBezTo>
                  <a:cubicBezTo>
                    <a:pt x="526" y="94"/>
                    <a:pt x="523" y="101"/>
                    <a:pt x="517" y="105"/>
                  </a:cubicBezTo>
                  <a:cubicBezTo>
                    <a:pt x="513" y="107"/>
                    <a:pt x="509" y="108"/>
                    <a:pt x="505" y="108"/>
                  </a:cubicBezTo>
                  <a:cubicBezTo>
                    <a:pt x="502" y="108"/>
                    <a:pt x="500" y="108"/>
                    <a:pt x="497" y="107"/>
                  </a:cubicBezTo>
                  <a:cubicBezTo>
                    <a:pt x="381" y="63"/>
                    <a:pt x="381" y="63"/>
                    <a:pt x="381" y="63"/>
                  </a:cubicBezTo>
                  <a:cubicBezTo>
                    <a:pt x="265" y="107"/>
                    <a:pt x="265" y="107"/>
                    <a:pt x="265" y="107"/>
                  </a:cubicBezTo>
                  <a:cubicBezTo>
                    <a:pt x="263" y="108"/>
                    <a:pt x="260" y="108"/>
                    <a:pt x="258" y="108"/>
                  </a:cubicBezTo>
                  <a:cubicBezTo>
                    <a:pt x="253" y="108"/>
                    <a:pt x="249" y="107"/>
                    <a:pt x="245" y="105"/>
                  </a:cubicBezTo>
                  <a:cubicBezTo>
                    <a:pt x="240" y="101"/>
                    <a:pt x="236" y="94"/>
                    <a:pt x="236" y="87"/>
                  </a:cubicBezTo>
                  <a:cubicBezTo>
                    <a:pt x="236" y="0"/>
                    <a:pt x="236" y="0"/>
                    <a:pt x="236" y="0"/>
                  </a:cubicBezTo>
                  <a:cubicBezTo>
                    <a:pt x="112" y="58"/>
                    <a:pt x="112" y="58"/>
                    <a:pt x="112" y="58"/>
                  </a:cubicBezTo>
                  <a:cubicBezTo>
                    <a:pt x="91" y="68"/>
                    <a:pt x="74" y="81"/>
                    <a:pt x="69" y="119"/>
                  </a:cubicBezTo>
                  <a:cubicBezTo>
                    <a:pt x="6" y="721"/>
                    <a:pt x="6" y="721"/>
                    <a:pt x="6" y="721"/>
                  </a:cubicBezTo>
                  <a:cubicBezTo>
                    <a:pt x="0" y="779"/>
                    <a:pt x="32" y="830"/>
                    <a:pt x="80" y="860"/>
                  </a:cubicBezTo>
                  <a:cubicBezTo>
                    <a:pt x="15" y="1155"/>
                    <a:pt x="15" y="1155"/>
                    <a:pt x="15" y="1155"/>
                  </a:cubicBezTo>
                  <a:cubicBezTo>
                    <a:pt x="10" y="1178"/>
                    <a:pt x="25" y="1196"/>
                    <a:pt x="48" y="1196"/>
                  </a:cubicBezTo>
                  <a:cubicBezTo>
                    <a:pt x="177" y="1196"/>
                    <a:pt x="177" y="1196"/>
                    <a:pt x="177" y="1196"/>
                  </a:cubicBezTo>
                  <a:cubicBezTo>
                    <a:pt x="247" y="1688"/>
                    <a:pt x="247" y="1688"/>
                    <a:pt x="247" y="1688"/>
                  </a:cubicBezTo>
                  <a:cubicBezTo>
                    <a:pt x="250" y="1711"/>
                    <a:pt x="272" y="1731"/>
                    <a:pt x="296" y="1731"/>
                  </a:cubicBezTo>
                  <a:cubicBezTo>
                    <a:pt x="360" y="1731"/>
                    <a:pt x="360" y="1731"/>
                    <a:pt x="360" y="1731"/>
                  </a:cubicBezTo>
                  <a:cubicBezTo>
                    <a:pt x="360" y="1196"/>
                    <a:pt x="360" y="1196"/>
                    <a:pt x="360" y="1196"/>
                  </a:cubicBezTo>
                  <a:cubicBezTo>
                    <a:pt x="403" y="1196"/>
                    <a:pt x="403" y="1196"/>
                    <a:pt x="403" y="1196"/>
                  </a:cubicBezTo>
                  <a:cubicBezTo>
                    <a:pt x="403" y="1731"/>
                    <a:pt x="403" y="1731"/>
                    <a:pt x="403" y="1731"/>
                  </a:cubicBezTo>
                  <a:cubicBezTo>
                    <a:pt x="467" y="1731"/>
                    <a:pt x="467" y="1731"/>
                    <a:pt x="467" y="1731"/>
                  </a:cubicBezTo>
                  <a:cubicBezTo>
                    <a:pt x="490" y="1731"/>
                    <a:pt x="512" y="1711"/>
                    <a:pt x="516" y="1688"/>
                  </a:cubicBezTo>
                  <a:cubicBezTo>
                    <a:pt x="586" y="1196"/>
                    <a:pt x="586" y="1196"/>
                    <a:pt x="586" y="1196"/>
                  </a:cubicBezTo>
                  <a:cubicBezTo>
                    <a:pt x="714" y="1196"/>
                    <a:pt x="714" y="1196"/>
                    <a:pt x="714" y="1196"/>
                  </a:cubicBezTo>
                  <a:cubicBezTo>
                    <a:pt x="737" y="1196"/>
                    <a:pt x="753" y="1178"/>
                    <a:pt x="748" y="1155"/>
                  </a:cubicBezTo>
                  <a:lnTo>
                    <a:pt x="682" y="860"/>
                  </a:lnTo>
                  <a:close/>
                  <a:moveTo>
                    <a:pt x="705" y="635"/>
                  </a:moveTo>
                  <a:cubicBezTo>
                    <a:pt x="714" y="724"/>
                    <a:pt x="714" y="724"/>
                    <a:pt x="714" y="724"/>
                  </a:cubicBezTo>
                  <a:cubicBezTo>
                    <a:pt x="717" y="760"/>
                    <a:pt x="702" y="785"/>
                    <a:pt x="688" y="801"/>
                  </a:cubicBezTo>
                  <a:cubicBezTo>
                    <a:pt x="683" y="806"/>
                    <a:pt x="678" y="810"/>
                    <a:pt x="672" y="815"/>
                  </a:cubicBezTo>
                  <a:cubicBezTo>
                    <a:pt x="632" y="635"/>
                    <a:pt x="632" y="635"/>
                    <a:pt x="632" y="635"/>
                  </a:cubicBezTo>
                  <a:lnTo>
                    <a:pt x="705" y="635"/>
                  </a:lnTo>
                  <a:close/>
                  <a:moveTo>
                    <a:pt x="75" y="801"/>
                  </a:moveTo>
                  <a:cubicBezTo>
                    <a:pt x="61" y="785"/>
                    <a:pt x="45" y="760"/>
                    <a:pt x="48" y="725"/>
                  </a:cubicBezTo>
                  <a:cubicBezTo>
                    <a:pt x="58" y="635"/>
                    <a:pt x="58" y="635"/>
                    <a:pt x="58" y="635"/>
                  </a:cubicBezTo>
                  <a:cubicBezTo>
                    <a:pt x="130" y="635"/>
                    <a:pt x="130" y="635"/>
                    <a:pt x="130" y="635"/>
                  </a:cubicBezTo>
                  <a:cubicBezTo>
                    <a:pt x="90" y="814"/>
                    <a:pt x="90" y="814"/>
                    <a:pt x="90" y="814"/>
                  </a:cubicBezTo>
                  <a:cubicBezTo>
                    <a:pt x="85" y="810"/>
                    <a:pt x="79" y="806"/>
                    <a:pt x="75" y="801"/>
                  </a:cubicBezTo>
                  <a:moveTo>
                    <a:pt x="59" y="1154"/>
                  </a:moveTo>
                  <a:cubicBezTo>
                    <a:pt x="181" y="601"/>
                    <a:pt x="181" y="601"/>
                    <a:pt x="181" y="601"/>
                  </a:cubicBezTo>
                  <a:cubicBezTo>
                    <a:pt x="182" y="598"/>
                    <a:pt x="188" y="593"/>
                    <a:pt x="191" y="593"/>
                  </a:cubicBezTo>
                  <a:cubicBezTo>
                    <a:pt x="571" y="593"/>
                    <a:pt x="571" y="593"/>
                    <a:pt x="571" y="593"/>
                  </a:cubicBezTo>
                  <a:cubicBezTo>
                    <a:pt x="574" y="593"/>
                    <a:pt x="580" y="598"/>
                    <a:pt x="581" y="601"/>
                  </a:cubicBezTo>
                  <a:cubicBezTo>
                    <a:pt x="703" y="1154"/>
                    <a:pt x="703" y="1154"/>
                    <a:pt x="703" y="1154"/>
                  </a:cubicBezTo>
                  <a:lnTo>
                    <a:pt x="59" y="1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9" name="Freeform 53">
              <a:extLst>
                <a:ext uri="{FF2B5EF4-FFF2-40B4-BE49-F238E27FC236}">
                  <a16:creationId xmlns:a16="http://schemas.microsoft.com/office/drawing/2014/main" id="{B4151FBE-A8A9-42EA-AA5F-3BC847BE4153}"/>
                </a:ext>
              </a:extLst>
            </p:cNvPr>
            <p:cNvSpPr>
              <a:spLocks noEditPoints="1"/>
            </p:cNvSpPr>
            <p:nvPr/>
          </p:nvSpPr>
          <p:spPr bwMode="auto">
            <a:xfrm>
              <a:off x="5291" y="2490"/>
              <a:ext cx="71" cy="75"/>
            </a:xfrm>
            <a:custGeom>
              <a:avLst/>
              <a:gdLst>
                <a:gd name="T0" fmla="*/ 470 w 474"/>
                <a:gd name="T1" fmla="*/ 413 h 497"/>
                <a:gd name="T2" fmla="*/ 431 w 474"/>
                <a:gd name="T3" fmla="*/ 264 h 497"/>
                <a:gd name="T4" fmla="*/ 431 w 474"/>
                <a:gd name="T5" fmla="*/ 193 h 497"/>
                <a:gd name="T6" fmla="*/ 237 w 474"/>
                <a:gd name="T7" fmla="*/ 0 h 497"/>
                <a:gd name="T8" fmla="*/ 44 w 474"/>
                <a:gd name="T9" fmla="*/ 193 h 497"/>
                <a:gd name="T10" fmla="*/ 44 w 474"/>
                <a:gd name="T11" fmla="*/ 248 h 497"/>
                <a:gd name="T12" fmla="*/ 44 w 474"/>
                <a:gd name="T13" fmla="*/ 248 h 497"/>
                <a:gd name="T14" fmla="*/ 4 w 474"/>
                <a:gd name="T15" fmla="*/ 413 h 497"/>
                <a:gd name="T16" fmla="*/ 5 w 474"/>
                <a:gd name="T17" fmla="*/ 434 h 497"/>
                <a:gd name="T18" fmla="*/ 23 w 474"/>
                <a:gd name="T19" fmla="*/ 444 h 497"/>
                <a:gd name="T20" fmla="*/ 105 w 474"/>
                <a:gd name="T21" fmla="*/ 444 h 497"/>
                <a:gd name="T22" fmla="*/ 237 w 474"/>
                <a:gd name="T23" fmla="*/ 497 h 497"/>
                <a:gd name="T24" fmla="*/ 369 w 474"/>
                <a:gd name="T25" fmla="*/ 444 h 497"/>
                <a:gd name="T26" fmla="*/ 451 w 474"/>
                <a:gd name="T27" fmla="*/ 444 h 497"/>
                <a:gd name="T28" fmla="*/ 470 w 474"/>
                <a:gd name="T29" fmla="*/ 434 h 497"/>
                <a:gd name="T30" fmla="*/ 470 w 474"/>
                <a:gd name="T31" fmla="*/ 413 h 497"/>
                <a:gd name="T32" fmla="*/ 87 w 474"/>
                <a:gd name="T33" fmla="*/ 304 h 497"/>
                <a:gd name="T34" fmla="*/ 87 w 474"/>
                <a:gd name="T35" fmla="*/ 267 h 497"/>
                <a:gd name="T36" fmla="*/ 159 w 474"/>
                <a:gd name="T37" fmla="*/ 195 h 497"/>
                <a:gd name="T38" fmla="*/ 260 w 474"/>
                <a:gd name="T39" fmla="*/ 195 h 497"/>
                <a:gd name="T40" fmla="*/ 333 w 474"/>
                <a:gd name="T41" fmla="*/ 122 h 497"/>
                <a:gd name="T42" fmla="*/ 333 w 474"/>
                <a:gd name="T43" fmla="*/ 77 h 497"/>
                <a:gd name="T44" fmla="*/ 388 w 474"/>
                <a:gd name="T45" fmla="*/ 193 h 497"/>
                <a:gd name="T46" fmla="*/ 388 w 474"/>
                <a:gd name="T47" fmla="*/ 304 h 497"/>
                <a:gd name="T48" fmla="*/ 237 w 474"/>
                <a:gd name="T49" fmla="*/ 454 h 497"/>
                <a:gd name="T50" fmla="*/ 87 w 474"/>
                <a:gd name="T51" fmla="*/ 30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4" h="497">
                  <a:moveTo>
                    <a:pt x="470" y="413"/>
                  </a:moveTo>
                  <a:cubicBezTo>
                    <a:pt x="434" y="342"/>
                    <a:pt x="431" y="324"/>
                    <a:pt x="431" y="264"/>
                  </a:cubicBezTo>
                  <a:cubicBezTo>
                    <a:pt x="431" y="193"/>
                    <a:pt x="431" y="193"/>
                    <a:pt x="431" y="193"/>
                  </a:cubicBezTo>
                  <a:cubicBezTo>
                    <a:pt x="431" y="86"/>
                    <a:pt x="344" y="0"/>
                    <a:pt x="237" y="0"/>
                  </a:cubicBezTo>
                  <a:cubicBezTo>
                    <a:pt x="130" y="0"/>
                    <a:pt x="44" y="86"/>
                    <a:pt x="44" y="193"/>
                  </a:cubicBezTo>
                  <a:cubicBezTo>
                    <a:pt x="44" y="248"/>
                    <a:pt x="44" y="248"/>
                    <a:pt x="44" y="248"/>
                  </a:cubicBezTo>
                  <a:cubicBezTo>
                    <a:pt x="44" y="248"/>
                    <a:pt x="44" y="248"/>
                    <a:pt x="44" y="248"/>
                  </a:cubicBezTo>
                  <a:cubicBezTo>
                    <a:pt x="44" y="321"/>
                    <a:pt x="44" y="336"/>
                    <a:pt x="4" y="413"/>
                  </a:cubicBezTo>
                  <a:cubicBezTo>
                    <a:pt x="0" y="420"/>
                    <a:pt x="1" y="428"/>
                    <a:pt x="5" y="434"/>
                  </a:cubicBezTo>
                  <a:cubicBezTo>
                    <a:pt x="8" y="441"/>
                    <a:pt x="15" y="444"/>
                    <a:pt x="23" y="444"/>
                  </a:cubicBezTo>
                  <a:cubicBezTo>
                    <a:pt x="105" y="444"/>
                    <a:pt x="105" y="444"/>
                    <a:pt x="105" y="444"/>
                  </a:cubicBezTo>
                  <a:cubicBezTo>
                    <a:pt x="139" y="477"/>
                    <a:pt x="186" y="497"/>
                    <a:pt x="237" y="497"/>
                  </a:cubicBezTo>
                  <a:cubicBezTo>
                    <a:pt x="288" y="497"/>
                    <a:pt x="335" y="477"/>
                    <a:pt x="369" y="444"/>
                  </a:cubicBezTo>
                  <a:cubicBezTo>
                    <a:pt x="451" y="444"/>
                    <a:pt x="451" y="444"/>
                    <a:pt x="451" y="444"/>
                  </a:cubicBezTo>
                  <a:cubicBezTo>
                    <a:pt x="459" y="444"/>
                    <a:pt x="466" y="441"/>
                    <a:pt x="470" y="434"/>
                  </a:cubicBezTo>
                  <a:cubicBezTo>
                    <a:pt x="474" y="428"/>
                    <a:pt x="474" y="420"/>
                    <a:pt x="470" y="413"/>
                  </a:cubicBezTo>
                  <a:moveTo>
                    <a:pt x="87" y="304"/>
                  </a:moveTo>
                  <a:cubicBezTo>
                    <a:pt x="87" y="267"/>
                    <a:pt x="87" y="267"/>
                    <a:pt x="87" y="267"/>
                  </a:cubicBezTo>
                  <a:cubicBezTo>
                    <a:pt x="87" y="227"/>
                    <a:pt x="119" y="195"/>
                    <a:pt x="159" y="195"/>
                  </a:cubicBezTo>
                  <a:cubicBezTo>
                    <a:pt x="260" y="195"/>
                    <a:pt x="260" y="195"/>
                    <a:pt x="260" y="195"/>
                  </a:cubicBezTo>
                  <a:cubicBezTo>
                    <a:pt x="300" y="195"/>
                    <a:pt x="333" y="162"/>
                    <a:pt x="333" y="122"/>
                  </a:cubicBezTo>
                  <a:cubicBezTo>
                    <a:pt x="333" y="77"/>
                    <a:pt x="333" y="77"/>
                    <a:pt x="333" y="77"/>
                  </a:cubicBezTo>
                  <a:cubicBezTo>
                    <a:pt x="366" y="104"/>
                    <a:pt x="388" y="146"/>
                    <a:pt x="388" y="193"/>
                  </a:cubicBezTo>
                  <a:cubicBezTo>
                    <a:pt x="388" y="304"/>
                    <a:pt x="388" y="304"/>
                    <a:pt x="388" y="304"/>
                  </a:cubicBezTo>
                  <a:cubicBezTo>
                    <a:pt x="388" y="387"/>
                    <a:pt x="320" y="454"/>
                    <a:pt x="237" y="454"/>
                  </a:cubicBezTo>
                  <a:cubicBezTo>
                    <a:pt x="154" y="454"/>
                    <a:pt x="87" y="387"/>
                    <a:pt x="87" y="30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cxnSp>
        <p:nvCxnSpPr>
          <p:cNvPr id="61" name="Straight Arrow Connector 60">
            <a:extLst>
              <a:ext uri="{FF2B5EF4-FFF2-40B4-BE49-F238E27FC236}">
                <a16:creationId xmlns:a16="http://schemas.microsoft.com/office/drawing/2014/main" id="{7128CF9E-D06E-475E-87BD-5ACE235A26A8}"/>
              </a:ext>
            </a:extLst>
          </p:cNvPr>
          <p:cNvCxnSpPr>
            <a:cxnSpLocks/>
          </p:cNvCxnSpPr>
          <p:nvPr/>
        </p:nvCxnSpPr>
        <p:spPr>
          <a:xfrm>
            <a:off x="3875314" y="1836270"/>
            <a:ext cx="1611086"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3560726F-35E1-4193-BE5C-648426A99615}"/>
              </a:ext>
            </a:extLst>
          </p:cNvPr>
          <p:cNvSpPr/>
          <p:nvPr/>
        </p:nvSpPr>
        <p:spPr>
          <a:xfrm>
            <a:off x="1722837" y="2647817"/>
            <a:ext cx="684803" cy="369332"/>
          </a:xfrm>
          <a:prstGeom prst="rect">
            <a:avLst/>
          </a:prstGeom>
        </p:spPr>
        <p:txBody>
          <a:bodyPr wrap="none">
            <a:spAutoFit/>
          </a:bodyPr>
          <a:lstStyle/>
          <a:p>
            <a:r>
              <a:rPr lang="en-GB" b="1"/>
              <a:t>Data</a:t>
            </a:r>
          </a:p>
        </p:txBody>
      </p:sp>
      <p:sp>
        <p:nvSpPr>
          <p:cNvPr id="65" name="Rectangle 64">
            <a:extLst>
              <a:ext uri="{FF2B5EF4-FFF2-40B4-BE49-F238E27FC236}">
                <a16:creationId xmlns:a16="http://schemas.microsoft.com/office/drawing/2014/main" id="{5970FDB3-5E38-40F3-8051-B2185CEBBDD1}"/>
              </a:ext>
            </a:extLst>
          </p:cNvPr>
          <p:cNvSpPr/>
          <p:nvPr/>
        </p:nvSpPr>
        <p:spPr>
          <a:xfrm>
            <a:off x="6155323" y="2638253"/>
            <a:ext cx="1338828" cy="369332"/>
          </a:xfrm>
          <a:prstGeom prst="rect">
            <a:avLst/>
          </a:prstGeom>
        </p:spPr>
        <p:txBody>
          <a:bodyPr wrap="none">
            <a:spAutoFit/>
          </a:bodyPr>
          <a:lstStyle/>
          <a:p>
            <a:r>
              <a:rPr lang="en-GB" b="1"/>
              <a:t>Inferences</a:t>
            </a:r>
          </a:p>
        </p:txBody>
      </p:sp>
      <p:sp>
        <p:nvSpPr>
          <p:cNvPr id="60" name="Date Placeholder 6">
            <a:extLst>
              <a:ext uri="{FF2B5EF4-FFF2-40B4-BE49-F238E27FC236}">
                <a16:creationId xmlns:a16="http://schemas.microsoft.com/office/drawing/2014/main" id="{C39B5232-775E-47DD-B61E-04E8FE028DFB}"/>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296014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0" presetClass="exit" presetSubtype="0" fill="hold" nodeType="withEffect">
                                  <p:stCondLst>
                                    <p:cond delay="0"/>
                                  </p:stCondLst>
                                  <p:childTnLst>
                                    <p:animEffect transition="out" filter="fade">
                                      <p:cBhvr>
                                        <p:cTn id="12" dur="1000"/>
                                        <p:tgtEl>
                                          <p:spTgt spid="52"/>
                                        </p:tgtEl>
                                      </p:cBhvr>
                                    </p:animEffect>
                                    <p:set>
                                      <p:cBhvr>
                                        <p:cTn id="13" dur="1" fill="hold">
                                          <p:stCondLst>
                                            <p:cond delay="999"/>
                                          </p:stCondLst>
                                        </p:cTn>
                                        <p:tgtEl>
                                          <p:spTgt spid="52"/>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1000"/>
                                        <p:tgtEl>
                                          <p:spTgt spid="27"/>
                                        </p:tgtEl>
                                      </p:cBhvr>
                                    </p:animEffect>
                                    <p:set>
                                      <p:cBhvr>
                                        <p:cTn id="16" dur="1" fill="hold">
                                          <p:stCondLst>
                                            <p:cond delay="999"/>
                                          </p:stCondLst>
                                        </p:cTn>
                                        <p:tgtEl>
                                          <p:spTgt spid="27"/>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1000"/>
                                        <p:tgtEl>
                                          <p:spTgt spid="23"/>
                                        </p:tgtEl>
                                      </p:cBhvr>
                                    </p:animEffect>
                                    <p:set>
                                      <p:cBhvr>
                                        <p:cTn id="19" dur="1" fill="hold">
                                          <p:stCondLst>
                                            <p:cond delay="999"/>
                                          </p:stCondLst>
                                        </p:cTn>
                                        <p:tgtEl>
                                          <p:spTgt spid="23"/>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1000"/>
                                        <p:tgtEl>
                                          <p:spTgt spid="24"/>
                                        </p:tgtEl>
                                      </p:cBhvr>
                                    </p:animEffect>
                                    <p:set>
                                      <p:cBhvr>
                                        <p:cTn id="22" dur="1" fill="hold">
                                          <p:stCondLst>
                                            <p:cond delay="999"/>
                                          </p:stCondLst>
                                        </p:cTn>
                                        <p:tgtEl>
                                          <p:spTgt spid="24"/>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1000"/>
                                        <p:tgtEl>
                                          <p:spTgt spid="31"/>
                                        </p:tgtEl>
                                      </p:cBhvr>
                                    </p:animEffect>
                                    <p:set>
                                      <p:cBhvr>
                                        <p:cTn id="25" dur="1" fill="hold">
                                          <p:stCondLst>
                                            <p:cond delay="999"/>
                                          </p:stCondLst>
                                        </p:cTn>
                                        <p:tgtEl>
                                          <p:spTgt spid="31"/>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1000"/>
                                        <p:tgtEl>
                                          <p:spTgt spid="56"/>
                                        </p:tgtEl>
                                      </p:cBhvr>
                                    </p:animEffect>
                                    <p:set>
                                      <p:cBhvr>
                                        <p:cTn id="28" dur="1" fill="hold">
                                          <p:stCondLst>
                                            <p:cond delay="999"/>
                                          </p:stCondLst>
                                        </p:cTn>
                                        <p:tgtEl>
                                          <p:spTgt spid="5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1" grpId="0" animBg="1"/>
      <p:bldP spid="5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1C64ED-4283-4A17-810A-17A2C90A680C}"/>
              </a:ext>
            </a:extLst>
          </p:cNvPr>
          <p:cNvSpPr>
            <a:spLocks noGrp="1"/>
          </p:cNvSpPr>
          <p:nvPr>
            <p:ph sz="quarter" idx="12"/>
          </p:nvPr>
        </p:nvSpPr>
        <p:spPr>
          <a:xfrm>
            <a:off x="359150" y="1260121"/>
            <a:ext cx="8424001" cy="3396386"/>
          </a:xfrm>
        </p:spPr>
        <p:txBody>
          <a:bodyPr/>
          <a:lstStyle/>
          <a:p>
            <a:r>
              <a:rPr lang="en-GB"/>
              <a:t>Not necessarily. </a:t>
            </a:r>
          </a:p>
          <a:p>
            <a:r>
              <a:rPr lang="en-GB"/>
              <a:t>Basing analyses on only the data that is available (complete cases) this makes strong assumptions about the reasons why data are missing.</a:t>
            </a:r>
          </a:p>
          <a:p>
            <a:pPr lvl="1"/>
            <a:r>
              <a:rPr lang="en-GB"/>
              <a:t>This may not be appropriate.</a:t>
            </a:r>
          </a:p>
          <a:p>
            <a:pPr marL="0" indent="0">
              <a:buNone/>
            </a:pPr>
            <a:endParaRPr lang="en-GB"/>
          </a:p>
          <a:p>
            <a:pPr marL="0" indent="0">
              <a:buNone/>
            </a:pPr>
            <a:r>
              <a:rPr lang="en-GB" sz="1800" b="1">
                <a:solidFill>
                  <a:schemeClr val="accent5"/>
                </a:solidFill>
              </a:rPr>
              <a:t>Regulators are particularly hot on this topic</a:t>
            </a:r>
          </a:p>
          <a:p>
            <a:pPr lvl="1"/>
            <a:r>
              <a:rPr lang="en-GB" sz="1600"/>
              <a:t>Impact of missing data and methods used to account for it</a:t>
            </a:r>
          </a:p>
          <a:p>
            <a:pPr lvl="1"/>
            <a:r>
              <a:rPr lang="en-GB" sz="1600"/>
              <a:t>Sensitivity around the missing data</a:t>
            </a:r>
          </a:p>
          <a:p>
            <a:pPr lvl="1"/>
            <a:r>
              <a:rPr lang="en-GB" sz="1600"/>
              <a:t>May question the reliability of the estimate</a:t>
            </a:r>
          </a:p>
          <a:p>
            <a:pPr lvl="1"/>
            <a:endParaRPr lang="en-GB" sz="1600"/>
          </a:p>
          <a:p>
            <a:endParaRPr lang="en-GB"/>
          </a:p>
          <a:p>
            <a:pPr lvl="1"/>
            <a:endParaRPr lang="en-GB"/>
          </a:p>
        </p:txBody>
      </p:sp>
      <p:sp>
        <p:nvSpPr>
          <p:cNvPr id="3" name="Text Placeholder 2">
            <a:extLst>
              <a:ext uri="{FF2B5EF4-FFF2-40B4-BE49-F238E27FC236}">
                <a16:creationId xmlns:a16="http://schemas.microsoft.com/office/drawing/2014/main" id="{91103CD5-2067-4A95-AB93-9059B374434E}"/>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D2D9E890-485F-49B1-B52C-1F206A030E76}"/>
              </a:ext>
            </a:extLst>
          </p:cNvPr>
          <p:cNvSpPr>
            <a:spLocks noGrp="1"/>
          </p:cNvSpPr>
          <p:nvPr>
            <p:ph type="title"/>
          </p:nvPr>
        </p:nvSpPr>
        <p:spPr/>
        <p:txBody>
          <a:bodyPr/>
          <a:lstStyle/>
          <a:p>
            <a:r>
              <a:rPr lang="en-GB"/>
              <a:t>Can we not just ignore the missing data?</a:t>
            </a:r>
          </a:p>
        </p:txBody>
      </p:sp>
      <p:sp>
        <p:nvSpPr>
          <p:cNvPr id="5" name="Slide Number Placeholder 4">
            <a:extLst>
              <a:ext uri="{FF2B5EF4-FFF2-40B4-BE49-F238E27FC236}">
                <a16:creationId xmlns:a16="http://schemas.microsoft.com/office/drawing/2014/main" id="{29A7FEA6-F8BD-44DE-BC93-AE87AE35BECA}"/>
              </a:ext>
            </a:extLst>
          </p:cNvPr>
          <p:cNvSpPr>
            <a:spLocks noGrp="1"/>
          </p:cNvSpPr>
          <p:nvPr>
            <p:ph type="sldNum" sz="quarter" idx="21"/>
          </p:nvPr>
        </p:nvSpPr>
        <p:spPr/>
        <p:txBody>
          <a:bodyPr/>
          <a:lstStyle/>
          <a:p>
            <a:fld id="{9F9F533D-B52E-4A2F-BF72-0ADD2D94BD75}" type="slidenum">
              <a:rPr lang="en-GB" smtClean="0"/>
              <a:pPr/>
              <a:t>4</a:t>
            </a:fld>
            <a:endParaRPr lang="en-GB"/>
          </a:p>
        </p:txBody>
      </p:sp>
      <p:pic>
        <p:nvPicPr>
          <p:cNvPr id="7" name="Picture 6">
            <a:extLst>
              <a:ext uri="{FF2B5EF4-FFF2-40B4-BE49-F238E27FC236}">
                <a16:creationId xmlns:a16="http://schemas.microsoft.com/office/drawing/2014/main" id="{3019B304-5ED2-4037-B067-B6CCD708D6DF}"/>
              </a:ext>
            </a:extLst>
          </p:cNvPr>
          <p:cNvPicPr>
            <a:picLocks noChangeAspect="1"/>
          </p:cNvPicPr>
          <p:nvPr/>
        </p:nvPicPr>
        <p:blipFill>
          <a:blip r:embed="rId3"/>
          <a:stretch>
            <a:fillRect/>
          </a:stretch>
        </p:blipFill>
        <p:spPr>
          <a:xfrm rot="565927">
            <a:off x="6756204" y="2191750"/>
            <a:ext cx="1501678" cy="2149681"/>
          </a:xfrm>
          <a:prstGeom prst="rect">
            <a:avLst/>
          </a:prstGeom>
          <a:ln>
            <a:noFill/>
          </a:ln>
          <a:effectLst>
            <a:outerShdw blurRad="292100" dist="139700" dir="2700000" algn="tl" rotWithShape="0">
              <a:srgbClr val="333333">
                <a:alpha val="65000"/>
              </a:srgbClr>
            </a:outerShdw>
          </a:effectLst>
        </p:spPr>
      </p:pic>
      <p:sp>
        <p:nvSpPr>
          <p:cNvPr id="8" name="Date Placeholder 6">
            <a:extLst>
              <a:ext uri="{FF2B5EF4-FFF2-40B4-BE49-F238E27FC236}">
                <a16:creationId xmlns:a16="http://schemas.microsoft.com/office/drawing/2014/main" id="{AE112C1F-EFE4-44A0-8B09-4B5A1B6BBA78}"/>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3019347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0E831D49-889B-4CCE-A5BC-AD4B5EC88A2F}"/>
              </a:ext>
            </a:extLst>
          </p:cNvPr>
          <p:cNvGraphicFramePr>
            <a:graphicFrameLocks/>
          </p:cNvGraphicFramePr>
          <p:nvPr>
            <p:extLst>
              <p:ext uri="{D42A27DB-BD31-4B8C-83A1-F6EECF244321}">
                <p14:modId xmlns:p14="http://schemas.microsoft.com/office/powerpoint/2010/main" val="181409253"/>
              </p:ext>
            </p:extLst>
          </p:nvPr>
        </p:nvGraphicFramePr>
        <p:xfrm>
          <a:off x="3984171" y="126465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95E39FFA-5AA7-4DAA-833B-B73DAA49858B}"/>
              </a:ext>
            </a:extLst>
          </p:cNvPr>
          <p:cNvGraphicFramePr>
            <a:graphicFrameLocks/>
          </p:cNvGraphicFramePr>
          <p:nvPr>
            <p:extLst>
              <p:ext uri="{D42A27DB-BD31-4B8C-83A1-F6EECF244321}">
                <p14:modId xmlns:p14="http://schemas.microsoft.com/office/powerpoint/2010/main" val="68504399"/>
              </p:ext>
            </p:extLst>
          </p:nvPr>
        </p:nvGraphicFramePr>
        <p:xfrm>
          <a:off x="3984171" y="1264650"/>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Placeholder 4">
            <a:extLst>
              <a:ext uri="{FF2B5EF4-FFF2-40B4-BE49-F238E27FC236}">
                <a16:creationId xmlns:a16="http://schemas.microsoft.com/office/drawing/2014/main" id="{EFA64963-E28E-4F1E-A705-EA8E3A1433E6}"/>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EF67EC58-E5F7-459C-88E8-CC2DC21F8C9E}"/>
              </a:ext>
            </a:extLst>
          </p:cNvPr>
          <p:cNvSpPr>
            <a:spLocks noGrp="1"/>
          </p:cNvSpPr>
          <p:nvPr>
            <p:ph type="title"/>
          </p:nvPr>
        </p:nvSpPr>
        <p:spPr/>
        <p:txBody>
          <a:bodyPr/>
          <a:lstStyle/>
          <a:p>
            <a:r>
              <a:rPr lang="en-GB"/>
              <a:t>Motivating example</a:t>
            </a:r>
          </a:p>
        </p:txBody>
      </p:sp>
      <p:sp>
        <p:nvSpPr>
          <p:cNvPr id="6" name="Content Placeholder 5">
            <a:extLst>
              <a:ext uri="{FF2B5EF4-FFF2-40B4-BE49-F238E27FC236}">
                <a16:creationId xmlns:a16="http://schemas.microsoft.com/office/drawing/2014/main" id="{88255122-D1FC-4CBF-8BE6-EA031780406A}"/>
              </a:ext>
            </a:extLst>
          </p:cNvPr>
          <p:cNvSpPr>
            <a:spLocks noGrp="1"/>
          </p:cNvSpPr>
          <p:nvPr>
            <p:ph sz="quarter" idx="17"/>
          </p:nvPr>
        </p:nvSpPr>
        <p:spPr>
          <a:xfrm>
            <a:off x="360000" y="1525589"/>
            <a:ext cx="3318621" cy="2743200"/>
          </a:xfrm>
        </p:spPr>
        <p:txBody>
          <a:bodyPr/>
          <a:lstStyle/>
          <a:p>
            <a:r>
              <a:rPr lang="en-GB" sz="1400"/>
              <a:t>Graph of response and non-response rates by treatment group</a:t>
            </a:r>
          </a:p>
          <a:p>
            <a:r>
              <a:rPr lang="en-GB" sz="1400"/>
              <a:t>Missing data was imputed using non-responder imputation.</a:t>
            </a:r>
          </a:p>
          <a:p>
            <a:r>
              <a:rPr lang="en-GB" sz="1400"/>
              <a:t>A conservative, but not uncommon approach to dealing with binary data.</a:t>
            </a:r>
          </a:p>
        </p:txBody>
      </p:sp>
      <p:sp>
        <p:nvSpPr>
          <p:cNvPr id="10" name="Date Placeholder 6">
            <a:extLst>
              <a:ext uri="{FF2B5EF4-FFF2-40B4-BE49-F238E27FC236}">
                <a16:creationId xmlns:a16="http://schemas.microsoft.com/office/drawing/2014/main" id="{EEA3EC50-B36D-48D1-B21E-DC6C41187682}"/>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115903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Graphic spid="9"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103CD5-2067-4A95-AB93-9059B374434E}"/>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D2D9E890-485F-49B1-B52C-1F206A030E76}"/>
              </a:ext>
            </a:extLst>
          </p:cNvPr>
          <p:cNvSpPr>
            <a:spLocks noGrp="1"/>
          </p:cNvSpPr>
          <p:nvPr>
            <p:ph type="title"/>
          </p:nvPr>
        </p:nvSpPr>
        <p:spPr/>
        <p:txBody>
          <a:bodyPr/>
          <a:lstStyle/>
          <a:p>
            <a:r>
              <a:rPr lang="en-GB"/>
              <a:t>Types of Missing Data</a:t>
            </a:r>
          </a:p>
        </p:txBody>
      </p:sp>
      <p:sp>
        <p:nvSpPr>
          <p:cNvPr id="5" name="Slide Number Placeholder 4">
            <a:extLst>
              <a:ext uri="{FF2B5EF4-FFF2-40B4-BE49-F238E27FC236}">
                <a16:creationId xmlns:a16="http://schemas.microsoft.com/office/drawing/2014/main" id="{29A7FEA6-F8BD-44DE-BC93-AE87AE35BECA}"/>
              </a:ext>
            </a:extLst>
          </p:cNvPr>
          <p:cNvSpPr>
            <a:spLocks noGrp="1"/>
          </p:cNvSpPr>
          <p:nvPr>
            <p:ph type="sldNum" sz="quarter" idx="21"/>
          </p:nvPr>
        </p:nvSpPr>
        <p:spPr/>
        <p:txBody>
          <a:bodyPr/>
          <a:lstStyle/>
          <a:p>
            <a:fld id="{9F9F533D-B52E-4A2F-BF72-0ADD2D94BD75}" type="slidenum">
              <a:rPr lang="en-GB" smtClean="0"/>
              <a:pPr/>
              <a:t>6</a:t>
            </a:fld>
            <a:endParaRPr lang="en-GB"/>
          </a:p>
        </p:txBody>
      </p:sp>
      <p:sp>
        <p:nvSpPr>
          <p:cNvPr id="9" name="Date Placeholder 6">
            <a:extLst>
              <a:ext uri="{FF2B5EF4-FFF2-40B4-BE49-F238E27FC236}">
                <a16:creationId xmlns:a16="http://schemas.microsoft.com/office/drawing/2014/main" id="{1C6AB6A2-79E0-4FFB-A5BB-9B70F10E8039}"/>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
        <p:nvSpPr>
          <p:cNvPr id="2" name="Oval 1">
            <a:extLst>
              <a:ext uri="{FF2B5EF4-FFF2-40B4-BE49-F238E27FC236}">
                <a16:creationId xmlns:a16="http://schemas.microsoft.com/office/drawing/2014/main" id="{0D3E4BDE-BDC3-4A4A-90C5-94850927C0E1}"/>
              </a:ext>
            </a:extLst>
          </p:cNvPr>
          <p:cNvSpPr/>
          <p:nvPr/>
        </p:nvSpPr>
        <p:spPr bwMode="auto">
          <a:xfrm>
            <a:off x="229681" y="1287437"/>
            <a:ext cx="3635305" cy="1576480"/>
          </a:xfrm>
          <a:prstGeom prst="ellipse">
            <a:avLst/>
          </a:prstGeom>
          <a:noFill/>
          <a:ln w="57150">
            <a:solidFill>
              <a:schemeClr val="accent5">
                <a:lumMod val="75000"/>
              </a:schemeClr>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eaLnBrk="0" fontAlgn="auto" hangingPunct="0">
              <a:spcBef>
                <a:spcPts val="0"/>
              </a:spcBef>
              <a:spcAft>
                <a:spcPts val="0"/>
              </a:spcAft>
              <a:buClr>
                <a:schemeClr val="bg1"/>
              </a:buClr>
            </a:pPr>
            <a:endParaRPr lang="en-GB" sz="900" b="1" kern="0">
              <a:solidFill>
                <a:schemeClr val="tx1">
                  <a:lumMod val="50000"/>
                </a:schemeClr>
              </a:solidFill>
              <a:latin typeface="Arial"/>
            </a:endParaRPr>
          </a:p>
          <a:p>
            <a:pPr algn="ctr" eaLnBrk="0" fontAlgn="auto" hangingPunct="0">
              <a:spcBef>
                <a:spcPts val="0"/>
              </a:spcBef>
              <a:spcAft>
                <a:spcPts val="0"/>
              </a:spcAft>
              <a:buClr>
                <a:schemeClr val="bg1"/>
              </a:buClr>
            </a:pPr>
            <a:r>
              <a:rPr lang="en-GB" sz="2000" b="1" kern="0">
                <a:solidFill>
                  <a:schemeClr val="accent5">
                    <a:lumMod val="50000"/>
                  </a:schemeClr>
                </a:solidFill>
                <a:latin typeface="Arial"/>
              </a:rPr>
              <a:t>Missing Completely at Random (MCAR)</a:t>
            </a:r>
          </a:p>
        </p:txBody>
      </p:sp>
      <p:sp>
        <p:nvSpPr>
          <p:cNvPr id="14" name="Oval 13">
            <a:extLst>
              <a:ext uri="{FF2B5EF4-FFF2-40B4-BE49-F238E27FC236}">
                <a16:creationId xmlns:a16="http://schemas.microsoft.com/office/drawing/2014/main" id="{3D1030F7-7E94-438A-8F45-3F4F6B54C4E0}"/>
              </a:ext>
            </a:extLst>
          </p:cNvPr>
          <p:cNvSpPr/>
          <p:nvPr/>
        </p:nvSpPr>
        <p:spPr bwMode="auto">
          <a:xfrm>
            <a:off x="4841809" y="1254565"/>
            <a:ext cx="3635305" cy="1576480"/>
          </a:xfrm>
          <a:prstGeom prst="ellipse">
            <a:avLst/>
          </a:prstGeom>
          <a:noFill/>
          <a:ln w="57150">
            <a:solidFill>
              <a:schemeClr val="accent5">
                <a:lumMod val="75000"/>
              </a:schemeClr>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eaLnBrk="0" fontAlgn="auto" hangingPunct="0">
              <a:spcBef>
                <a:spcPts val="0"/>
              </a:spcBef>
              <a:spcAft>
                <a:spcPts val="0"/>
              </a:spcAft>
              <a:buClr>
                <a:schemeClr val="bg1"/>
              </a:buClr>
            </a:pPr>
            <a:endParaRPr lang="en-GB" sz="900" b="1" kern="0">
              <a:solidFill>
                <a:schemeClr val="tx1">
                  <a:lumMod val="50000"/>
                </a:schemeClr>
              </a:solidFill>
              <a:latin typeface="Arial"/>
            </a:endParaRPr>
          </a:p>
          <a:p>
            <a:pPr algn="ctr" eaLnBrk="0" fontAlgn="auto" hangingPunct="0">
              <a:spcBef>
                <a:spcPts val="0"/>
              </a:spcBef>
              <a:spcAft>
                <a:spcPts val="0"/>
              </a:spcAft>
              <a:buClr>
                <a:schemeClr val="bg1"/>
              </a:buClr>
            </a:pPr>
            <a:r>
              <a:rPr lang="en-GB" sz="2000" b="1" kern="0">
                <a:solidFill>
                  <a:schemeClr val="accent5">
                    <a:lumMod val="50000"/>
                  </a:schemeClr>
                </a:solidFill>
                <a:latin typeface="Arial"/>
              </a:rPr>
              <a:t>Missing Not at Random (MNAR)</a:t>
            </a:r>
          </a:p>
        </p:txBody>
      </p:sp>
      <p:sp>
        <p:nvSpPr>
          <p:cNvPr id="15" name="Oval 14">
            <a:extLst>
              <a:ext uri="{FF2B5EF4-FFF2-40B4-BE49-F238E27FC236}">
                <a16:creationId xmlns:a16="http://schemas.microsoft.com/office/drawing/2014/main" id="{AB99F35F-91E6-4E34-93B0-6B482258B102}"/>
              </a:ext>
            </a:extLst>
          </p:cNvPr>
          <p:cNvSpPr/>
          <p:nvPr/>
        </p:nvSpPr>
        <p:spPr bwMode="auto">
          <a:xfrm>
            <a:off x="2535745" y="2761497"/>
            <a:ext cx="3635305" cy="1576480"/>
          </a:xfrm>
          <a:prstGeom prst="ellipse">
            <a:avLst/>
          </a:prstGeom>
          <a:noFill/>
          <a:ln w="57150">
            <a:solidFill>
              <a:schemeClr val="accent5">
                <a:lumMod val="75000"/>
              </a:schemeClr>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eaLnBrk="0" fontAlgn="auto" hangingPunct="0">
              <a:spcBef>
                <a:spcPts val="0"/>
              </a:spcBef>
              <a:spcAft>
                <a:spcPts val="0"/>
              </a:spcAft>
              <a:buClr>
                <a:schemeClr val="bg1"/>
              </a:buClr>
            </a:pPr>
            <a:endParaRPr lang="en-GB" sz="900" b="1" kern="0">
              <a:solidFill>
                <a:schemeClr val="tx1">
                  <a:lumMod val="50000"/>
                </a:schemeClr>
              </a:solidFill>
              <a:latin typeface="Arial"/>
            </a:endParaRPr>
          </a:p>
          <a:p>
            <a:pPr algn="ctr" eaLnBrk="0" fontAlgn="auto" hangingPunct="0">
              <a:spcBef>
                <a:spcPts val="0"/>
              </a:spcBef>
              <a:spcAft>
                <a:spcPts val="0"/>
              </a:spcAft>
              <a:buClr>
                <a:schemeClr val="bg1"/>
              </a:buClr>
            </a:pPr>
            <a:r>
              <a:rPr lang="en-GB" sz="2000" b="1" kern="0">
                <a:solidFill>
                  <a:schemeClr val="accent5">
                    <a:lumMod val="50000"/>
                  </a:schemeClr>
                </a:solidFill>
                <a:latin typeface="Arial"/>
              </a:rPr>
              <a:t>Missing at Random (MAR)</a:t>
            </a:r>
          </a:p>
        </p:txBody>
      </p:sp>
    </p:spTree>
    <p:extLst>
      <p:ext uri="{BB962C8B-B14F-4D97-AF65-F5344CB8AC3E}">
        <p14:creationId xmlns:p14="http://schemas.microsoft.com/office/powerpoint/2010/main" val="221429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Graphic 22" descr="School boy">
            <a:extLst>
              <a:ext uri="{FF2B5EF4-FFF2-40B4-BE49-F238E27FC236}">
                <a16:creationId xmlns:a16="http://schemas.microsoft.com/office/drawing/2014/main" id="{30F012A4-ADFB-4A2D-9713-B5A6B49A47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40851" y="1251881"/>
            <a:ext cx="914400" cy="914400"/>
          </a:xfrm>
          <a:prstGeom prst="rect">
            <a:avLst/>
          </a:prstGeom>
        </p:spPr>
      </p:pic>
      <p:pic>
        <p:nvPicPr>
          <p:cNvPr id="28" name="Graphic 27" descr="School boy">
            <a:extLst>
              <a:ext uri="{FF2B5EF4-FFF2-40B4-BE49-F238E27FC236}">
                <a16:creationId xmlns:a16="http://schemas.microsoft.com/office/drawing/2014/main" id="{C313DA09-E1C2-4E27-AF88-C74E904A46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63707" y="1251881"/>
            <a:ext cx="914400" cy="914400"/>
          </a:xfrm>
          <a:prstGeom prst="rect">
            <a:avLst/>
          </a:prstGeom>
        </p:spPr>
      </p:pic>
      <p:pic>
        <p:nvPicPr>
          <p:cNvPr id="21" name="Graphic 20" descr="School boy">
            <a:extLst>
              <a:ext uri="{FF2B5EF4-FFF2-40B4-BE49-F238E27FC236}">
                <a16:creationId xmlns:a16="http://schemas.microsoft.com/office/drawing/2014/main" id="{EEB85F0C-B84D-4850-964A-577EF9F0CE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86563" y="1251881"/>
            <a:ext cx="914400" cy="914400"/>
          </a:xfrm>
          <a:prstGeom prst="rect">
            <a:avLst/>
          </a:prstGeom>
        </p:spPr>
      </p:pic>
      <p:pic>
        <p:nvPicPr>
          <p:cNvPr id="19" name="Graphic 18" descr="School girl">
            <a:extLst>
              <a:ext uri="{FF2B5EF4-FFF2-40B4-BE49-F238E27FC236}">
                <a16:creationId xmlns:a16="http://schemas.microsoft.com/office/drawing/2014/main" id="{D16C68FE-E09B-4431-B1B6-396851D427C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22735" y="1251881"/>
            <a:ext cx="914400" cy="914400"/>
          </a:xfrm>
          <a:prstGeom prst="rect">
            <a:avLst/>
          </a:prstGeom>
        </p:spPr>
      </p:pic>
      <p:sp>
        <p:nvSpPr>
          <p:cNvPr id="2" name="Content Placeholder 1">
            <a:extLst>
              <a:ext uri="{FF2B5EF4-FFF2-40B4-BE49-F238E27FC236}">
                <a16:creationId xmlns:a16="http://schemas.microsoft.com/office/drawing/2014/main" id="{2D1C64ED-4283-4A17-810A-17A2C90A680C}"/>
              </a:ext>
            </a:extLst>
          </p:cNvPr>
          <p:cNvSpPr>
            <a:spLocks noGrp="1"/>
          </p:cNvSpPr>
          <p:nvPr>
            <p:ph sz="quarter" idx="12"/>
          </p:nvPr>
        </p:nvSpPr>
        <p:spPr>
          <a:xfrm>
            <a:off x="598589" y="2730510"/>
            <a:ext cx="8378280" cy="1625910"/>
          </a:xfrm>
        </p:spPr>
        <p:txBody>
          <a:bodyPr/>
          <a:lstStyle/>
          <a:p>
            <a:pPr marL="0" indent="0">
              <a:buNone/>
            </a:pPr>
            <a:r>
              <a:rPr lang="en-GB" b="1"/>
              <a:t>The school dog eats the students homework at random</a:t>
            </a:r>
          </a:p>
          <a:p>
            <a:pPr marL="0" indent="0">
              <a:buNone/>
            </a:pPr>
            <a:endParaRPr lang="en-GB" sz="600" b="1"/>
          </a:p>
          <a:p>
            <a:r>
              <a:rPr lang="en-GB"/>
              <a:t>Missing Completely at Random (MCAR)</a:t>
            </a:r>
          </a:p>
          <a:p>
            <a:pPr lvl="1"/>
            <a:r>
              <a:rPr lang="en-GB"/>
              <a:t>Failure to observe a value does not depend on any data (observed or missing) – it is random</a:t>
            </a:r>
          </a:p>
          <a:p>
            <a:pPr lvl="1"/>
            <a:r>
              <a:rPr lang="en-GB"/>
              <a:t>Clinical Trial Examples: lost data, equipment failure, personnel error, subject moving away</a:t>
            </a:r>
          </a:p>
          <a:p>
            <a:endParaRPr lang="en-GB"/>
          </a:p>
          <a:p>
            <a:pPr lvl="1"/>
            <a:endParaRPr lang="en-GB"/>
          </a:p>
        </p:txBody>
      </p:sp>
      <p:sp>
        <p:nvSpPr>
          <p:cNvPr id="3" name="Text Placeholder 2">
            <a:extLst>
              <a:ext uri="{FF2B5EF4-FFF2-40B4-BE49-F238E27FC236}">
                <a16:creationId xmlns:a16="http://schemas.microsoft.com/office/drawing/2014/main" id="{91103CD5-2067-4A95-AB93-9059B374434E}"/>
              </a:ext>
            </a:extLst>
          </p:cNvPr>
          <p:cNvSpPr>
            <a:spLocks noGrp="1"/>
          </p:cNvSpPr>
          <p:nvPr>
            <p:ph type="body" sz="quarter" idx="14"/>
          </p:nvPr>
        </p:nvSpPr>
        <p:spPr/>
        <p:txBody>
          <a:bodyPr/>
          <a:lstStyle/>
          <a:p>
            <a:r>
              <a:rPr lang="en-GB"/>
              <a:t>Homework grades example - MCAR</a:t>
            </a:r>
          </a:p>
        </p:txBody>
      </p:sp>
      <p:sp>
        <p:nvSpPr>
          <p:cNvPr id="4" name="Title 3">
            <a:extLst>
              <a:ext uri="{FF2B5EF4-FFF2-40B4-BE49-F238E27FC236}">
                <a16:creationId xmlns:a16="http://schemas.microsoft.com/office/drawing/2014/main" id="{D2D9E890-485F-49B1-B52C-1F206A030E76}"/>
              </a:ext>
            </a:extLst>
          </p:cNvPr>
          <p:cNvSpPr>
            <a:spLocks noGrp="1"/>
          </p:cNvSpPr>
          <p:nvPr>
            <p:ph type="title"/>
          </p:nvPr>
        </p:nvSpPr>
        <p:spPr/>
        <p:txBody>
          <a:bodyPr/>
          <a:lstStyle/>
          <a:p>
            <a:r>
              <a:rPr lang="en-GB"/>
              <a:t>Types of Missing Data</a:t>
            </a:r>
          </a:p>
        </p:txBody>
      </p:sp>
      <p:sp>
        <p:nvSpPr>
          <p:cNvPr id="5" name="Slide Number Placeholder 4">
            <a:extLst>
              <a:ext uri="{FF2B5EF4-FFF2-40B4-BE49-F238E27FC236}">
                <a16:creationId xmlns:a16="http://schemas.microsoft.com/office/drawing/2014/main" id="{29A7FEA6-F8BD-44DE-BC93-AE87AE35BECA}"/>
              </a:ext>
            </a:extLst>
          </p:cNvPr>
          <p:cNvSpPr>
            <a:spLocks noGrp="1"/>
          </p:cNvSpPr>
          <p:nvPr>
            <p:ph type="sldNum" sz="quarter" idx="21"/>
          </p:nvPr>
        </p:nvSpPr>
        <p:spPr/>
        <p:txBody>
          <a:bodyPr/>
          <a:lstStyle/>
          <a:p>
            <a:fld id="{9F9F533D-B52E-4A2F-BF72-0ADD2D94BD75}" type="slidenum">
              <a:rPr lang="en-GB" smtClean="0"/>
              <a:pPr/>
              <a:t>7</a:t>
            </a:fld>
            <a:endParaRPr lang="en-GB"/>
          </a:p>
        </p:txBody>
      </p:sp>
      <p:pic>
        <p:nvPicPr>
          <p:cNvPr id="10" name="Graphic 9" descr="Dog">
            <a:extLst>
              <a:ext uri="{FF2B5EF4-FFF2-40B4-BE49-F238E27FC236}">
                <a16:creationId xmlns:a16="http://schemas.microsoft.com/office/drawing/2014/main" id="{64E3C784-6338-4B5F-9855-6F13A9C049C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9990" y="1709081"/>
            <a:ext cx="914400" cy="914400"/>
          </a:xfrm>
          <a:prstGeom prst="rect">
            <a:avLst/>
          </a:prstGeom>
        </p:spPr>
      </p:pic>
      <p:pic>
        <p:nvPicPr>
          <p:cNvPr id="22" name="Graphic 21" descr="School girl">
            <a:extLst>
              <a:ext uri="{FF2B5EF4-FFF2-40B4-BE49-F238E27FC236}">
                <a16:creationId xmlns:a16="http://schemas.microsoft.com/office/drawing/2014/main" id="{B0CA717C-06BF-4D2E-A7F3-9FEB334AF8E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922735" y="1251881"/>
            <a:ext cx="914400" cy="914400"/>
          </a:xfrm>
          <a:prstGeom prst="rect">
            <a:avLst/>
          </a:prstGeom>
        </p:spPr>
      </p:pic>
      <p:pic>
        <p:nvPicPr>
          <p:cNvPr id="24" name="Graphic 23" descr="School boy">
            <a:extLst>
              <a:ext uri="{FF2B5EF4-FFF2-40B4-BE49-F238E27FC236}">
                <a16:creationId xmlns:a16="http://schemas.microsoft.com/office/drawing/2014/main" id="{CFF35974-7CFA-482D-909D-B4875BF5324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09419" y="1251881"/>
            <a:ext cx="914400" cy="914400"/>
          </a:xfrm>
          <a:prstGeom prst="rect">
            <a:avLst/>
          </a:prstGeom>
        </p:spPr>
      </p:pic>
      <p:pic>
        <p:nvPicPr>
          <p:cNvPr id="25" name="Graphic 24" descr="School girl">
            <a:extLst>
              <a:ext uri="{FF2B5EF4-FFF2-40B4-BE49-F238E27FC236}">
                <a16:creationId xmlns:a16="http://schemas.microsoft.com/office/drawing/2014/main" id="{FF5E5382-1A0E-4D1A-9941-4DF572541E9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097991" y="1251881"/>
            <a:ext cx="914400" cy="914400"/>
          </a:xfrm>
          <a:prstGeom prst="rect">
            <a:avLst/>
          </a:prstGeom>
        </p:spPr>
      </p:pic>
      <p:pic>
        <p:nvPicPr>
          <p:cNvPr id="26" name="Graphic 25" descr="School boy">
            <a:extLst>
              <a:ext uri="{FF2B5EF4-FFF2-40B4-BE49-F238E27FC236}">
                <a16:creationId xmlns:a16="http://schemas.microsoft.com/office/drawing/2014/main" id="{C77D41F2-D26A-449D-9619-285DAEFEE44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686563" y="1251881"/>
            <a:ext cx="914400" cy="914400"/>
          </a:xfrm>
          <a:prstGeom prst="rect">
            <a:avLst/>
          </a:prstGeom>
        </p:spPr>
      </p:pic>
      <p:pic>
        <p:nvPicPr>
          <p:cNvPr id="27" name="Graphic 26" descr="School girl">
            <a:extLst>
              <a:ext uri="{FF2B5EF4-FFF2-40B4-BE49-F238E27FC236}">
                <a16:creationId xmlns:a16="http://schemas.microsoft.com/office/drawing/2014/main" id="{2A4AD80E-E1DF-417B-B446-0B99ABDCA92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275135" y="1251881"/>
            <a:ext cx="914400" cy="914400"/>
          </a:xfrm>
          <a:prstGeom prst="rect">
            <a:avLst/>
          </a:prstGeom>
        </p:spPr>
      </p:pic>
      <p:pic>
        <p:nvPicPr>
          <p:cNvPr id="29" name="Graphic 28" descr="School girl">
            <a:extLst>
              <a:ext uri="{FF2B5EF4-FFF2-40B4-BE49-F238E27FC236}">
                <a16:creationId xmlns:a16="http://schemas.microsoft.com/office/drawing/2014/main" id="{F283A8B8-6078-4CC4-95F0-170B2427544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452279" y="1251881"/>
            <a:ext cx="914400" cy="914400"/>
          </a:xfrm>
          <a:prstGeom prst="rect">
            <a:avLst/>
          </a:prstGeom>
        </p:spPr>
      </p:pic>
      <p:pic>
        <p:nvPicPr>
          <p:cNvPr id="30" name="Graphic 29" descr="School boy">
            <a:extLst>
              <a:ext uri="{FF2B5EF4-FFF2-40B4-BE49-F238E27FC236}">
                <a16:creationId xmlns:a16="http://schemas.microsoft.com/office/drawing/2014/main" id="{79B800D9-1D2E-4591-85AF-7B008D4DF22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040848" y="1251881"/>
            <a:ext cx="914400" cy="914400"/>
          </a:xfrm>
          <a:prstGeom prst="rect">
            <a:avLst/>
          </a:prstGeom>
        </p:spPr>
      </p:pic>
      <p:pic>
        <p:nvPicPr>
          <p:cNvPr id="31" name="Graphic 30" descr="School girl">
            <a:extLst>
              <a:ext uri="{FF2B5EF4-FFF2-40B4-BE49-F238E27FC236}">
                <a16:creationId xmlns:a16="http://schemas.microsoft.com/office/drawing/2014/main" id="{3FE4745E-9DD4-44DF-8F4E-CE379FA2009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29423" y="1251881"/>
            <a:ext cx="914400" cy="914400"/>
          </a:xfrm>
          <a:prstGeom prst="rect">
            <a:avLst/>
          </a:prstGeom>
        </p:spPr>
      </p:pic>
      <p:pic>
        <p:nvPicPr>
          <p:cNvPr id="32" name="Graphic 31" descr="School boy">
            <a:extLst>
              <a:ext uri="{FF2B5EF4-FFF2-40B4-BE49-F238E27FC236}">
                <a16:creationId xmlns:a16="http://schemas.microsoft.com/office/drawing/2014/main" id="{2037679F-1EDE-4151-A435-409B937DA3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17992" y="1251881"/>
            <a:ext cx="914400" cy="914400"/>
          </a:xfrm>
          <a:prstGeom prst="rect">
            <a:avLst/>
          </a:prstGeom>
        </p:spPr>
      </p:pic>
      <p:sp>
        <p:nvSpPr>
          <p:cNvPr id="18" name="Date Placeholder 6">
            <a:extLst>
              <a:ext uri="{FF2B5EF4-FFF2-40B4-BE49-F238E27FC236}">
                <a16:creationId xmlns:a16="http://schemas.microsoft.com/office/drawing/2014/main" id="{D7DAEBB3-D921-4C18-97A1-8C5C87CCEF33}"/>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356095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Graphic 19" descr="School boy">
            <a:extLst>
              <a:ext uri="{FF2B5EF4-FFF2-40B4-BE49-F238E27FC236}">
                <a16:creationId xmlns:a16="http://schemas.microsoft.com/office/drawing/2014/main" id="{02A4CA1C-2A94-4923-9B61-5E130AF396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8346" y="1251881"/>
            <a:ext cx="914400" cy="914400"/>
          </a:xfrm>
          <a:prstGeom prst="rect">
            <a:avLst/>
          </a:prstGeom>
        </p:spPr>
      </p:pic>
      <p:pic>
        <p:nvPicPr>
          <p:cNvPr id="21" name="Graphic 20" descr="School boy">
            <a:extLst>
              <a:ext uri="{FF2B5EF4-FFF2-40B4-BE49-F238E27FC236}">
                <a16:creationId xmlns:a16="http://schemas.microsoft.com/office/drawing/2014/main" id="{FB7701EC-BF4A-4F02-889B-DA07461CBD6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09419" y="1251881"/>
            <a:ext cx="914400" cy="914400"/>
          </a:xfrm>
          <a:prstGeom prst="rect">
            <a:avLst/>
          </a:prstGeom>
        </p:spPr>
      </p:pic>
      <p:pic>
        <p:nvPicPr>
          <p:cNvPr id="19" name="Graphic 18" descr="School girl">
            <a:extLst>
              <a:ext uri="{FF2B5EF4-FFF2-40B4-BE49-F238E27FC236}">
                <a16:creationId xmlns:a16="http://schemas.microsoft.com/office/drawing/2014/main" id="{430F6DC9-7642-431A-B4AD-26F07546DB5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20847" y="1251881"/>
            <a:ext cx="914400" cy="914400"/>
          </a:xfrm>
          <a:prstGeom prst="rect">
            <a:avLst/>
          </a:prstGeom>
        </p:spPr>
      </p:pic>
      <p:sp>
        <p:nvSpPr>
          <p:cNvPr id="2" name="Content Placeholder 1">
            <a:extLst>
              <a:ext uri="{FF2B5EF4-FFF2-40B4-BE49-F238E27FC236}">
                <a16:creationId xmlns:a16="http://schemas.microsoft.com/office/drawing/2014/main" id="{2D1C64ED-4283-4A17-810A-17A2C90A680C}"/>
              </a:ext>
            </a:extLst>
          </p:cNvPr>
          <p:cNvSpPr>
            <a:spLocks noGrp="1"/>
          </p:cNvSpPr>
          <p:nvPr>
            <p:ph sz="quarter" idx="12"/>
          </p:nvPr>
        </p:nvSpPr>
        <p:spPr>
          <a:xfrm>
            <a:off x="598589" y="2730509"/>
            <a:ext cx="8378280" cy="1719437"/>
          </a:xfrm>
        </p:spPr>
        <p:txBody>
          <a:bodyPr/>
          <a:lstStyle/>
          <a:p>
            <a:pPr marL="0" indent="0">
              <a:buNone/>
            </a:pPr>
            <a:r>
              <a:rPr lang="en-GB" b="1"/>
              <a:t>The school dog eats the homework closer to him</a:t>
            </a:r>
          </a:p>
          <a:p>
            <a:pPr marL="0" indent="0">
              <a:buNone/>
            </a:pPr>
            <a:endParaRPr lang="en-GB" sz="600" b="1"/>
          </a:p>
          <a:p>
            <a:r>
              <a:rPr lang="en-GB"/>
              <a:t>Missing at Random (MAR)</a:t>
            </a:r>
          </a:p>
          <a:p>
            <a:pPr lvl="1"/>
            <a:r>
              <a:rPr lang="en-GB"/>
              <a:t>Failure to observe a value is dependent on observed data (the student’s location) but does not depend on the data that are unobserved (the homework grade)</a:t>
            </a:r>
          </a:p>
          <a:p>
            <a:pPr lvl="1"/>
            <a:r>
              <a:rPr lang="en-GB"/>
              <a:t>Clinical Trial example: younger subjects being worse at completing </a:t>
            </a:r>
            <a:r>
              <a:rPr lang="en-GB" err="1"/>
              <a:t>eDiary</a:t>
            </a:r>
            <a:r>
              <a:rPr lang="en-GB"/>
              <a:t>.</a:t>
            </a:r>
          </a:p>
          <a:p>
            <a:endParaRPr lang="en-GB"/>
          </a:p>
          <a:p>
            <a:pPr lvl="1"/>
            <a:endParaRPr lang="en-GB"/>
          </a:p>
        </p:txBody>
      </p:sp>
      <p:sp>
        <p:nvSpPr>
          <p:cNvPr id="3" name="Text Placeholder 2">
            <a:extLst>
              <a:ext uri="{FF2B5EF4-FFF2-40B4-BE49-F238E27FC236}">
                <a16:creationId xmlns:a16="http://schemas.microsoft.com/office/drawing/2014/main" id="{91103CD5-2067-4A95-AB93-9059B374434E}"/>
              </a:ext>
            </a:extLst>
          </p:cNvPr>
          <p:cNvSpPr>
            <a:spLocks noGrp="1"/>
          </p:cNvSpPr>
          <p:nvPr>
            <p:ph type="body" sz="quarter" idx="14"/>
          </p:nvPr>
        </p:nvSpPr>
        <p:spPr/>
        <p:txBody>
          <a:bodyPr/>
          <a:lstStyle/>
          <a:p>
            <a:r>
              <a:rPr lang="en-GB"/>
              <a:t>Homework grades example - MAR</a:t>
            </a:r>
          </a:p>
          <a:p>
            <a:endParaRPr lang="en-GB"/>
          </a:p>
        </p:txBody>
      </p:sp>
      <p:sp>
        <p:nvSpPr>
          <p:cNvPr id="4" name="Title 3">
            <a:extLst>
              <a:ext uri="{FF2B5EF4-FFF2-40B4-BE49-F238E27FC236}">
                <a16:creationId xmlns:a16="http://schemas.microsoft.com/office/drawing/2014/main" id="{D2D9E890-485F-49B1-B52C-1F206A030E76}"/>
              </a:ext>
            </a:extLst>
          </p:cNvPr>
          <p:cNvSpPr>
            <a:spLocks noGrp="1"/>
          </p:cNvSpPr>
          <p:nvPr>
            <p:ph type="title"/>
          </p:nvPr>
        </p:nvSpPr>
        <p:spPr/>
        <p:txBody>
          <a:bodyPr/>
          <a:lstStyle/>
          <a:p>
            <a:r>
              <a:rPr lang="en-GB"/>
              <a:t>Types of Missing Data</a:t>
            </a:r>
          </a:p>
        </p:txBody>
      </p:sp>
      <p:sp>
        <p:nvSpPr>
          <p:cNvPr id="5" name="Slide Number Placeholder 4">
            <a:extLst>
              <a:ext uri="{FF2B5EF4-FFF2-40B4-BE49-F238E27FC236}">
                <a16:creationId xmlns:a16="http://schemas.microsoft.com/office/drawing/2014/main" id="{29A7FEA6-F8BD-44DE-BC93-AE87AE35BECA}"/>
              </a:ext>
            </a:extLst>
          </p:cNvPr>
          <p:cNvSpPr>
            <a:spLocks noGrp="1"/>
          </p:cNvSpPr>
          <p:nvPr>
            <p:ph type="sldNum" sz="quarter" idx="21"/>
          </p:nvPr>
        </p:nvSpPr>
        <p:spPr/>
        <p:txBody>
          <a:bodyPr/>
          <a:lstStyle/>
          <a:p>
            <a:fld id="{9F9F533D-B52E-4A2F-BF72-0ADD2D94BD75}" type="slidenum">
              <a:rPr lang="en-GB" smtClean="0"/>
              <a:pPr/>
              <a:t>8</a:t>
            </a:fld>
            <a:endParaRPr lang="en-GB"/>
          </a:p>
        </p:txBody>
      </p:sp>
      <p:pic>
        <p:nvPicPr>
          <p:cNvPr id="10" name="Graphic 9" descr="Dog">
            <a:extLst>
              <a:ext uri="{FF2B5EF4-FFF2-40B4-BE49-F238E27FC236}">
                <a16:creationId xmlns:a16="http://schemas.microsoft.com/office/drawing/2014/main" id="{64E3C784-6338-4B5F-9855-6F13A9C049C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9990" y="1709081"/>
            <a:ext cx="914400" cy="914400"/>
          </a:xfrm>
          <a:prstGeom prst="rect">
            <a:avLst/>
          </a:prstGeom>
        </p:spPr>
      </p:pic>
      <p:pic>
        <p:nvPicPr>
          <p:cNvPr id="22" name="Graphic 21" descr="School girl">
            <a:extLst>
              <a:ext uri="{FF2B5EF4-FFF2-40B4-BE49-F238E27FC236}">
                <a16:creationId xmlns:a16="http://schemas.microsoft.com/office/drawing/2014/main" id="{B0CA717C-06BF-4D2E-A7F3-9FEB334AF8E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920847" y="1251881"/>
            <a:ext cx="914400" cy="914400"/>
          </a:xfrm>
          <a:prstGeom prst="rect">
            <a:avLst/>
          </a:prstGeom>
        </p:spPr>
      </p:pic>
      <p:pic>
        <p:nvPicPr>
          <p:cNvPr id="24" name="Graphic 23" descr="School boy">
            <a:extLst>
              <a:ext uri="{FF2B5EF4-FFF2-40B4-BE49-F238E27FC236}">
                <a16:creationId xmlns:a16="http://schemas.microsoft.com/office/drawing/2014/main" id="{CFF35974-7CFA-482D-909D-B4875BF5324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509419" y="1251881"/>
            <a:ext cx="914400" cy="914400"/>
          </a:xfrm>
          <a:prstGeom prst="rect">
            <a:avLst/>
          </a:prstGeom>
        </p:spPr>
      </p:pic>
      <p:pic>
        <p:nvPicPr>
          <p:cNvPr id="25" name="Graphic 24" descr="School girl">
            <a:extLst>
              <a:ext uri="{FF2B5EF4-FFF2-40B4-BE49-F238E27FC236}">
                <a16:creationId xmlns:a16="http://schemas.microsoft.com/office/drawing/2014/main" id="{FF5E5382-1A0E-4D1A-9941-4DF572541E9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97991" y="1251881"/>
            <a:ext cx="914400" cy="914400"/>
          </a:xfrm>
          <a:prstGeom prst="rect">
            <a:avLst/>
          </a:prstGeom>
        </p:spPr>
      </p:pic>
      <p:pic>
        <p:nvPicPr>
          <p:cNvPr id="26" name="Graphic 25" descr="School boy">
            <a:extLst>
              <a:ext uri="{FF2B5EF4-FFF2-40B4-BE49-F238E27FC236}">
                <a16:creationId xmlns:a16="http://schemas.microsoft.com/office/drawing/2014/main" id="{C77D41F2-D26A-449D-9619-285DAEFEE44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658346" y="1251881"/>
            <a:ext cx="914400" cy="914400"/>
          </a:xfrm>
          <a:prstGeom prst="rect">
            <a:avLst/>
          </a:prstGeom>
        </p:spPr>
      </p:pic>
      <p:pic>
        <p:nvPicPr>
          <p:cNvPr id="27" name="Graphic 26" descr="School girl">
            <a:extLst>
              <a:ext uri="{FF2B5EF4-FFF2-40B4-BE49-F238E27FC236}">
                <a16:creationId xmlns:a16="http://schemas.microsoft.com/office/drawing/2014/main" id="{2A4AD80E-E1DF-417B-B446-0B99ABDCA9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46918" y="1251881"/>
            <a:ext cx="914400" cy="914400"/>
          </a:xfrm>
          <a:prstGeom prst="rect">
            <a:avLst/>
          </a:prstGeom>
        </p:spPr>
      </p:pic>
      <p:pic>
        <p:nvPicPr>
          <p:cNvPr id="28" name="Graphic 27" descr="School boy">
            <a:extLst>
              <a:ext uri="{FF2B5EF4-FFF2-40B4-BE49-F238E27FC236}">
                <a16:creationId xmlns:a16="http://schemas.microsoft.com/office/drawing/2014/main" id="{C313DA09-E1C2-4E27-AF88-C74E904A46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203456" y="1251881"/>
            <a:ext cx="914400" cy="914400"/>
          </a:xfrm>
          <a:prstGeom prst="rect">
            <a:avLst/>
          </a:prstGeom>
        </p:spPr>
      </p:pic>
      <p:pic>
        <p:nvPicPr>
          <p:cNvPr id="29" name="Graphic 28" descr="School girl">
            <a:extLst>
              <a:ext uri="{FF2B5EF4-FFF2-40B4-BE49-F238E27FC236}">
                <a16:creationId xmlns:a16="http://schemas.microsoft.com/office/drawing/2014/main" id="{F283A8B8-6078-4CC4-95F0-170B242754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792028" y="1251881"/>
            <a:ext cx="914400" cy="914400"/>
          </a:xfrm>
          <a:prstGeom prst="rect">
            <a:avLst/>
          </a:prstGeom>
        </p:spPr>
      </p:pic>
      <p:pic>
        <p:nvPicPr>
          <p:cNvPr id="30" name="Graphic 29" descr="School boy">
            <a:extLst>
              <a:ext uri="{FF2B5EF4-FFF2-40B4-BE49-F238E27FC236}">
                <a16:creationId xmlns:a16="http://schemas.microsoft.com/office/drawing/2014/main" id="{79B800D9-1D2E-4591-85AF-7B008D4DF2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80600" y="1251881"/>
            <a:ext cx="914400" cy="914400"/>
          </a:xfrm>
          <a:prstGeom prst="rect">
            <a:avLst/>
          </a:prstGeom>
        </p:spPr>
      </p:pic>
      <p:pic>
        <p:nvPicPr>
          <p:cNvPr id="31" name="Graphic 30" descr="School girl">
            <a:extLst>
              <a:ext uri="{FF2B5EF4-FFF2-40B4-BE49-F238E27FC236}">
                <a16:creationId xmlns:a16="http://schemas.microsoft.com/office/drawing/2014/main" id="{3FE4745E-9DD4-44DF-8F4E-CE379FA2009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69172" y="1251881"/>
            <a:ext cx="914400" cy="914400"/>
          </a:xfrm>
          <a:prstGeom prst="rect">
            <a:avLst/>
          </a:prstGeom>
        </p:spPr>
      </p:pic>
      <p:pic>
        <p:nvPicPr>
          <p:cNvPr id="32" name="Graphic 31" descr="School boy">
            <a:extLst>
              <a:ext uri="{FF2B5EF4-FFF2-40B4-BE49-F238E27FC236}">
                <a16:creationId xmlns:a16="http://schemas.microsoft.com/office/drawing/2014/main" id="{2037679F-1EDE-4151-A435-409B937DA3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557744" y="1257523"/>
            <a:ext cx="914400" cy="914400"/>
          </a:xfrm>
          <a:prstGeom prst="rect">
            <a:avLst/>
          </a:prstGeom>
        </p:spPr>
      </p:pic>
      <p:sp>
        <p:nvSpPr>
          <p:cNvPr id="18" name="Date Placeholder 6">
            <a:extLst>
              <a:ext uri="{FF2B5EF4-FFF2-40B4-BE49-F238E27FC236}">
                <a16:creationId xmlns:a16="http://schemas.microsoft.com/office/drawing/2014/main" id="{C1C55265-315B-4161-A785-8C3D797E88CF}"/>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88726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1C64ED-4283-4A17-810A-17A2C90A680C}"/>
              </a:ext>
            </a:extLst>
          </p:cNvPr>
          <p:cNvSpPr>
            <a:spLocks noGrp="1"/>
          </p:cNvSpPr>
          <p:nvPr>
            <p:ph sz="quarter" idx="12"/>
          </p:nvPr>
        </p:nvSpPr>
        <p:spPr>
          <a:xfrm>
            <a:off x="598589" y="2730510"/>
            <a:ext cx="8378280" cy="1625910"/>
          </a:xfrm>
        </p:spPr>
        <p:txBody>
          <a:bodyPr lIns="0" tIns="45720" rIns="91440" bIns="45720" anchor="t"/>
          <a:lstStyle/>
          <a:p>
            <a:pPr marL="0" indent="0">
              <a:buNone/>
            </a:pPr>
            <a:r>
              <a:rPr lang="en-GB" b="1"/>
              <a:t>The school dog eats the homework achieving the top grade</a:t>
            </a:r>
          </a:p>
          <a:p>
            <a:pPr marL="0" indent="0">
              <a:buNone/>
            </a:pPr>
            <a:endParaRPr lang="en-GB" sz="600" b="1"/>
          </a:p>
          <a:p>
            <a:pPr marL="269875" indent="-269875"/>
            <a:r>
              <a:rPr lang="en-GB"/>
              <a:t>Missing Not at Random (MNAR)</a:t>
            </a:r>
            <a:endParaRPr lang="en-GB">
              <a:cs typeface="Arial"/>
            </a:endParaRPr>
          </a:p>
          <a:p>
            <a:pPr marL="537845" lvl="1" indent="-269875"/>
            <a:r>
              <a:rPr lang="en-GB"/>
              <a:t>Failure to observe a value depends on the value that would have been observed (the homework grade).</a:t>
            </a:r>
            <a:endParaRPr lang="en-GB">
              <a:cs typeface="Arial"/>
            </a:endParaRPr>
          </a:p>
          <a:p>
            <a:pPr marL="537845" lvl="1" indent="-269875"/>
            <a:r>
              <a:rPr lang="en-GB"/>
              <a:t>Clinical Trial example: longitudinal data where missingness may be related to study dropout</a:t>
            </a:r>
            <a:endParaRPr lang="en-GB">
              <a:cs typeface="Arial"/>
            </a:endParaRPr>
          </a:p>
          <a:p>
            <a:pPr marL="269875" indent="-269875"/>
            <a:endParaRPr lang="en-GB">
              <a:cs typeface="Arial"/>
            </a:endParaRPr>
          </a:p>
          <a:p>
            <a:pPr marL="537845" lvl="1" indent="-269875"/>
            <a:endParaRPr lang="en-GB">
              <a:cs typeface="Arial"/>
            </a:endParaRPr>
          </a:p>
        </p:txBody>
      </p:sp>
      <p:sp>
        <p:nvSpPr>
          <p:cNvPr id="3" name="Text Placeholder 2">
            <a:extLst>
              <a:ext uri="{FF2B5EF4-FFF2-40B4-BE49-F238E27FC236}">
                <a16:creationId xmlns:a16="http://schemas.microsoft.com/office/drawing/2014/main" id="{91103CD5-2067-4A95-AB93-9059B374434E}"/>
              </a:ext>
            </a:extLst>
          </p:cNvPr>
          <p:cNvSpPr>
            <a:spLocks noGrp="1"/>
          </p:cNvSpPr>
          <p:nvPr>
            <p:ph type="body" sz="quarter" idx="14"/>
          </p:nvPr>
        </p:nvSpPr>
        <p:spPr/>
        <p:txBody>
          <a:bodyPr/>
          <a:lstStyle/>
          <a:p>
            <a:r>
              <a:rPr lang="en-GB"/>
              <a:t>Homework grades example - MNAR</a:t>
            </a:r>
          </a:p>
          <a:p>
            <a:endParaRPr lang="en-GB"/>
          </a:p>
        </p:txBody>
      </p:sp>
      <p:sp>
        <p:nvSpPr>
          <p:cNvPr id="4" name="Title 3">
            <a:extLst>
              <a:ext uri="{FF2B5EF4-FFF2-40B4-BE49-F238E27FC236}">
                <a16:creationId xmlns:a16="http://schemas.microsoft.com/office/drawing/2014/main" id="{D2D9E890-485F-49B1-B52C-1F206A030E76}"/>
              </a:ext>
            </a:extLst>
          </p:cNvPr>
          <p:cNvSpPr>
            <a:spLocks noGrp="1"/>
          </p:cNvSpPr>
          <p:nvPr>
            <p:ph type="title"/>
          </p:nvPr>
        </p:nvSpPr>
        <p:spPr/>
        <p:txBody>
          <a:bodyPr/>
          <a:lstStyle/>
          <a:p>
            <a:r>
              <a:rPr lang="en-GB"/>
              <a:t>Types of Missing Data</a:t>
            </a:r>
          </a:p>
        </p:txBody>
      </p:sp>
      <p:sp>
        <p:nvSpPr>
          <p:cNvPr id="5" name="Slide Number Placeholder 4">
            <a:extLst>
              <a:ext uri="{FF2B5EF4-FFF2-40B4-BE49-F238E27FC236}">
                <a16:creationId xmlns:a16="http://schemas.microsoft.com/office/drawing/2014/main" id="{29A7FEA6-F8BD-44DE-BC93-AE87AE35BECA}"/>
              </a:ext>
            </a:extLst>
          </p:cNvPr>
          <p:cNvSpPr>
            <a:spLocks noGrp="1"/>
          </p:cNvSpPr>
          <p:nvPr>
            <p:ph type="sldNum" sz="quarter" idx="21"/>
          </p:nvPr>
        </p:nvSpPr>
        <p:spPr/>
        <p:txBody>
          <a:bodyPr/>
          <a:lstStyle/>
          <a:p>
            <a:fld id="{9F9F533D-B52E-4A2F-BF72-0ADD2D94BD75}" type="slidenum">
              <a:rPr lang="en-GB" smtClean="0"/>
              <a:pPr/>
              <a:t>9</a:t>
            </a:fld>
            <a:endParaRPr lang="en-GB"/>
          </a:p>
        </p:txBody>
      </p:sp>
      <p:pic>
        <p:nvPicPr>
          <p:cNvPr id="10" name="Graphic 9" descr="Dog">
            <a:extLst>
              <a:ext uri="{FF2B5EF4-FFF2-40B4-BE49-F238E27FC236}">
                <a16:creationId xmlns:a16="http://schemas.microsoft.com/office/drawing/2014/main" id="{64E3C784-6338-4B5F-9855-6F13A9C049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90" y="1709081"/>
            <a:ext cx="914400" cy="914400"/>
          </a:xfrm>
          <a:prstGeom prst="rect">
            <a:avLst/>
          </a:prstGeom>
        </p:spPr>
      </p:pic>
      <p:pic>
        <p:nvPicPr>
          <p:cNvPr id="22" name="Graphic 21" descr="School girl">
            <a:extLst>
              <a:ext uri="{FF2B5EF4-FFF2-40B4-BE49-F238E27FC236}">
                <a16:creationId xmlns:a16="http://schemas.microsoft.com/office/drawing/2014/main" id="{B0CA717C-06BF-4D2E-A7F3-9FEB334AF8E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20847" y="1251881"/>
            <a:ext cx="914400" cy="914400"/>
          </a:xfrm>
          <a:prstGeom prst="rect">
            <a:avLst/>
          </a:prstGeom>
        </p:spPr>
      </p:pic>
      <p:pic>
        <p:nvPicPr>
          <p:cNvPr id="24" name="Graphic 23" descr="School boy">
            <a:extLst>
              <a:ext uri="{FF2B5EF4-FFF2-40B4-BE49-F238E27FC236}">
                <a16:creationId xmlns:a16="http://schemas.microsoft.com/office/drawing/2014/main" id="{CFF35974-7CFA-482D-909D-B4875BF5324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509419" y="1251881"/>
            <a:ext cx="914400" cy="914400"/>
          </a:xfrm>
          <a:prstGeom prst="rect">
            <a:avLst/>
          </a:prstGeom>
        </p:spPr>
      </p:pic>
      <p:pic>
        <p:nvPicPr>
          <p:cNvPr id="25" name="Graphic 24" descr="School girl">
            <a:extLst>
              <a:ext uri="{FF2B5EF4-FFF2-40B4-BE49-F238E27FC236}">
                <a16:creationId xmlns:a16="http://schemas.microsoft.com/office/drawing/2014/main" id="{FF5E5382-1A0E-4D1A-9941-4DF572541E9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097991" y="1425692"/>
            <a:ext cx="914400" cy="914400"/>
          </a:xfrm>
          <a:prstGeom prst="rect">
            <a:avLst/>
          </a:prstGeom>
        </p:spPr>
      </p:pic>
      <p:pic>
        <p:nvPicPr>
          <p:cNvPr id="26" name="Graphic 25" descr="School boy">
            <a:extLst>
              <a:ext uri="{FF2B5EF4-FFF2-40B4-BE49-F238E27FC236}">
                <a16:creationId xmlns:a16="http://schemas.microsoft.com/office/drawing/2014/main" id="{C77D41F2-D26A-449D-9619-285DAEFEE44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686563" y="1425692"/>
            <a:ext cx="914400" cy="914400"/>
          </a:xfrm>
          <a:prstGeom prst="rect">
            <a:avLst/>
          </a:prstGeom>
        </p:spPr>
      </p:pic>
      <p:pic>
        <p:nvPicPr>
          <p:cNvPr id="27" name="Graphic 26" descr="School girl">
            <a:extLst>
              <a:ext uri="{FF2B5EF4-FFF2-40B4-BE49-F238E27FC236}">
                <a16:creationId xmlns:a16="http://schemas.microsoft.com/office/drawing/2014/main" id="{2A4AD80E-E1DF-417B-B446-0B99ABDCA9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75135" y="1251881"/>
            <a:ext cx="914400" cy="914400"/>
          </a:xfrm>
          <a:prstGeom prst="rect">
            <a:avLst/>
          </a:prstGeom>
        </p:spPr>
      </p:pic>
      <p:pic>
        <p:nvPicPr>
          <p:cNvPr id="28" name="Graphic 27" descr="School boy">
            <a:extLst>
              <a:ext uri="{FF2B5EF4-FFF2-40B4-BE49-F238E27FC236}">
                <a16:creationId xmlns:a16="http://schemas.microsoft.com/office/drawing/2014/main" id="{C313DA09-E1C2-4E27-AF88-C74E904A46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63707" y="1251881"/>
            <a:ext cx="914400" cy="914400"/>
          </a:xfrm>
          <a:prstGeom prst="rect">
            <a:avLst/>
          </a:prstGeom>
        </p:spPr>
      </p:pic>
      <p:pic>
        <p:nvPicPr>
          <p:cNvPr id="29" name="Graphic 28" descr="School girl">
            <a:extLst>
              <a:ext uri="{FF2B5EF4-FFF2-40B4-BE49-F238E27FC236}">
                <a16:creationId xmlns:a16="http://schemas.microsoft.com/office/drawing/2014/main" id="{F283A8B8-6078-4CC4-95F0-170B242754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52279" y="1251881"/>
            <a:ext cx="914400" cy="914400"/>
          </a:xfrm>
          <a:prstGeom prst="rect">
            <a:avLst/>
          </a:prstGeom>
        </p:spPr>
      </p:pic>
      <p:pic>
        <p:nvPicPr>
          <p:cNvPr id="30" name="Graphic 29" descr="School boy">
            <a:extLst>
              <a:ext uri="{FF2B5EF4-FFF2-40B4-BE49-F238E27FC236}">
                <a16:creationId xmlns:a16="http://schemas.microsoft.com/office/drawing/2014/main" id="{79B800D9-1D2E-4591-85AF-7B008D4DF2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40849" y="1408364"/>
            <a:ext cx="914400" cy="914400"/>
          </a:xfrm>
          <a:prstGeom prst="rect">
            <a:avLst/>
          </a:prstGeom>
        </p:spPr>
      </p:pic>
      <p:pic>
        <p:nvPicPr>
          <p:cNvPr id="31" name="Graphic 30" descr="School girl">
            <a:extLst>
              <a:ext uri="{FF2B5EF4-FFF2-40B4-BE49-F238E27FC236}">
                <a16:creationId xmlns:a16="http://schemas.microsoft.com/office/drawing/2014/main" id="{3FE4745E-9DD4-44DF-8F4E-CE379FA2009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9423" y="1251881"/>
            <a:ext cx="914400" cy="914400"/>
          </a:xfrm>
          <a:prstGeom prst="rect">
            <a:avLst/>
          </a:prstGeom>
        </p:spPr>
      </p:pic>
      <p:pic>
        <p:nvPicPr>
          <p:cNvPr id="32" name="Graphic 31" descr="School boy">
            <a:extLst>
              <a:ext uri="{FF2B5EF4-FFF2-40B4-BE49-F238E27FC236}">
                <a16:creationId xmlns:a16="http://schemas.microsoft.com/office/drawing/2014/main" id="{2037679F-1EDE-4151-A435-409B937DA3E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215246" y="1426640"/>
            <a:ext cx="914400" cy="914400"/>
          </a:xfrm>
          <a:prstGeom prst="rect">
            <a:avLst/>
          </a:prstGeom>
        </p:spPr>
      </p:pic>
      <p:pic>
        <p:nvPicPr>
          <p:cNvPr id="8" name="Graphic 7" descr="Graduation cap">
            <a:extLst>
              <a:ext uri="{FF2B5EF4-FFF2-40B4-BE49-F238E27FC236}">
                <a16:creationId xmlns:a16="http://schemas.microsoft.com/office/drawing/2014/main" id="{2830092E-60E1-4898-AB59-A0B68B48F30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239422" y="1203166"/>
            <a:ext cx="631537" cy="631537"/>
          </a:xfrm>
          <a:prstGeom prst="rect">
            <a:avLst/>
          </a:prstGeom>
        </p:spPr>
      </p:pic>
      <p:pic>
        <p:nvPicPr>
          <p:cNvPr id="20" name="Graphic 19" descr="Graduation cap">
            <a:extLst>
              <a:ext uri="{FF2B5EF4-FFF2-40B4-BE49-F238E27FC236}">
                <a16:creationId xmlns:a16="http://schemas.microsoft.com/office/drawing/2014/main" id="{D4ECCD03-8943-4925-8D0B-39B9492D346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827994" y="1203852"/>
            <a:ext cx="631537" cy="631537"/>
          </a:xfrm>
          <a:prstGeom prst="rect">
            <a:avLst/>
          </a:prstGeom>
        </p:spPr>
      </p:pic>
      <p:pic>
        <p:nvPicPr>
          <p:cNvPr id="21" name="Graphic 20" descr="Graduation cap">
            <a:extLst>
              <a:ext uri="{FF2B5EF4-FFF2-40B4-BE49-F238E27FC236}">
                <a16:creationId xmlns:a16="http://schemas.microsoft.com/office/drawing/2014/main" id="{FA4AD09E-2A74-4AB6-A6AF-680C50F6E02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182280" y="1201717"/>
            <a:ext cx="631537" cy="631537"/>
          </a:xfrm>
          <a:prstGeom prst="rect">
            <a:avLst/>
          </a:prstGeom>
        </p:spPr>
      </p:pic>
      <p:pic>
        <p:nvPicPr>
          <p:cNvPr id="23" name="Graphic 22" descr="Graduation cap">
            <a:extLst>
              <a:ext uri="{FF2B5EF4-FFF2-40B4-BE49-F238E27FC236}">
                <a16:creationId xmlns:a16="http://schemas.microsoft.com/office/drawing/2014/main" id="{2B57A325-C366-48A3-B797-C20DD5A2999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65667" y="1197079"/>
            <a:ext cx="631537" cy="631537"/>
          </a:xfrm>
          <a:prstGeom prst="rect">
            <a:avLst/>
          </a:prstGeom>
        </p:spPr>
      </p:pic>
      <p:sp>
        <p:nvSpPr>
          <p:cNvPr id="33" name="Date Placeholder 6">
            <a:extLst>
              <a:ext uri="{FF2B5EF4-FFF2-40B4-BE49-F238E27FC236}">
                <a16:creationId xmlns:a16="http://schemas.microsoft.com/office/drawing/2014/main" id="{CC0B763E-A30B-4F64-B13B-79BC9AA62322}"/>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pic>
        <p:nvPicPr>
          <p:cNvPr id="34" name="Graphic 33" descr="School girl">
            <a:extLst>
              <a:ext uri="{FF2B5EF4-FFF2-40B4-BE49-F238E27FC236}">
                <a16:creationId xmlns:a16="http://schemas.microsoft.com/office/drawing/2014/main" id="{2FD9BD4E-D4E9-4EB2-90DE-97C778483D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97989" y="1251881"/>
            <a:ext cx="914400" cy="914400"/>
          </a:xfrm>
          <a:prstGeom prst="rect">
            <a:avLst/>
          </a:prstGeom>
        </p:spPr>
      </p:pic>
      <p:pic>
        <p:nvPicPr>
          <p:cNvPr id="35" name="Graphic 34" descr="School boy">
            <a:extLst>
              <a:ext uri="{FF2B5EF4-FFF2-40B4-BE49-F238E27FC236}">
                <a16:creationId xmlns:a16="http://schemas.microsoft.com/office/drawing/2014/main" id="{24E77BAE-BC90-4319-9891-F1433C51AB7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215246" y="1251881"/>
            <a:ext cx="914400" cy="914400"/>
          </a:xfrm>
          <a:prstGeom prst="rect">
            <a:avLst/>
          </a:prstGeom>
        </p:spPr>
      </p:pic>
      <p:pic>
        <p:nvPicPr>
          <p:cNvPr id="36" name="Graphic 35" descr="School boy">
            <a:extLst>
              <a:ext uri="{FF2B5EF4-FFF2-40B4-BE49-F238E27FC236}">
                <a16:creationId xmlns:a16="http://schemas.microsoft.com/office/drawing/2014/main" id="{E33CD28A-4D6B-4409-B17C-74AB81A1368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036891" y="1266435"/>
            <a:ext cx="914400" cy="914400"/>
          </a:xfrm>
          <a:prstGeom prst="rect">
            <a:avLst/>
          </a:prstGeom>
        </p:spPr>
      </p:pic>
      <p:pic>
        <p:nvPicPr>
          <p:cNvPr id="37" name="Graphic 36" descr="School boy">
            <a:extLst>
              <a:ext uri="{FF2B5EF4-FFF2-40B4-BE49-F238E27FC236}">
                <a16:creationId xmlns:a16="http://schemas.microsoft.com/office/drawing/2014/main" id="{15B4AAA9-5341-4858-AA77-7D09BF6003E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690521" y="1255990"/>
            <a:ext cx="914400" cy="914400"/>
          </a:xfrm>
          <a:prstGeom prst="rect">
            <a:avLst/>
          </a:prstGeom>
        </p:spPr>
      </p:pic>
    </p:spTree>
    <p:extLst>
      <p:ext uri="{BB962C8B-B14F-4D97-AF65-F5344CB8AC3E}">
        <p14:creationId xmlns:p14="http://schemas.microsoft.com/office/powerpoint/2010/main" val="982879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3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35"/>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36"/>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3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F4E52E0-4435-434C-81DC-3D3778401D43}"/>
              </a:ext>
            </a:extLst>
          </p:cNvPr>
          <p:cNvSpPr>
            <a:spLocks noGrp="1"/>
          </p:cNvSpPr>
          <p:nvPr>
            <p:ph type="body" sz="quarter" idx="14"/>
          </p:nvPr>
        </p:nvSpPr>
        <p:spPr/>
        <p:txBody>
          <a:bodyPr/>
          <a:lstStyle/>
          <a:p>
            <a:r>
              <a:rPr lang="en-GB"/>
              <a:t>CHATBOX</a:t>
            </a:r>
          </a:p>
        </p:txBody>
      </p:sp>
      <p:sp>
        <p:nvSpPr>
          <p:cNvPr id="4" name="Title 3">
            <a:extLst>
              <a:ext uri="{FF2B5EF4-FFF2-40B4-BE49-F238E27FC236}">
                <a16:creationId xmlns:a16="http://schemas.microsoft.com/office/drawing/2014/main" id="{AD44C4E1-0B9C-412D-8B71-B91B3381EEA1}"/>
              </a:ext>
            </a:extLst>
          </p:cNvPr>
          <p:cNvSpPr>
            <a:spLocks noGrp="1"/>
          </p:cNvSpPr>
          <p:nvPr>
            <p:ph type="title"/>
          </p:nvPr>
        </p:nvSpPr>
        <p:spPr/>
        <p:txBody>
          <a:bodyPr/>
          <a:lstStyle/>
          <a:p>
            <a:r>
              <a:rPr lang="en-GB"/>
              <a:t>Knowledge Check</a:t>
            </a:r>
          </a:p>
        </p:txBody>
      </p:sp>
      <p:sp>
        <p:nvSpPr>
          <p:cNvPr id="5" name="Slide Number Placeholder 4">
            <a:extLst>
              <a:ext uri="{FF2B5EF4-FFF2-40B4-BE49-F238E27FC236}">
                <a16:creationId xmlns:a16="http://schemas.microsoft.com/office/drawing/2014/main" id="{D937DEC5-B8EB-44D5-A9BE-1A76936518A8}"/>
              </a:ext>
            </a:extLst>
          </p:cNvPr>
          <p:cNvSpPr>
            <a:spLocks noGrp="1"/>
          </p:cNvSpPr>
          <p:nvPr>
            <p:ph type="sldNum" sz="quarter" idx="21"/>
          </p:nvPr>
        </p:nvSpPr>
        <p:spPr/>
        <p:txBody>
          <a:bodyPr/>
          <a:lstStyle/>
          <a:p>
            <a:fld id="{9F9F533D-B52E-4A2F-BF72-0ADD2D94BD75}" type="slidenum">
              <a:rPr lang="en-GB" smtClean="0"/>
              <a:pPr/>
              <a:t>10</a:t>
            </a:fld>
            <a:endParaRPr lang="en-GB"/>
          </a:p>
        </p:txBody>
      </p:sp>
      <p:sp>
        <p:nvSpPr>
          <p:cNvPr id="6" name="Rectangle: Rounded Corners 5">
            <a:extLst>
              <a:ext uri="{FF2B5EF4-FFF2-40B4-BE49-F238E27FC236}">
                <a16:creationId xmlns:a16="http://schemas.microsoft.com/office/drawing/2014/main" id="{D47A8986-6A5A-43D3-A631-DF65E584A64A}"/>
              </a:ext>
            </a:extLst>
          </p:cNvPr>
          <p:cNvSpPr/>
          <p:nvPr/>
        </p:nvSpPr>
        <p:spPr bwMode="auto">
          <a:xfrm>
            <a:off x="736598" y="1253862"/>
            <a:ext cx="4428000" cy="936000"/>
          </a:xfrm>
          <a:prstGeom prst="roundRect">
            <a:avLst/>
          </a:prstGeom>
          <a:solidFill>
            <a:srgbClr val="40488D"/>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a:t>Missing visit due to COVID-19 isolation period in unvaccinated subject</a:t>
            </a:r>
            <a:endParaRPr lang="en-GB" b="1" kern="0">
              <a:solidFill>
                <a:srgbClr val="FFFFFF"/>
              </a:solidFill>
              <a:latin typeface="Arial"/>
            </a:endParaRPr>
          </a:p>
        </p:txBody>
      </p:sp>
      <p:sp>
        <p:nvSpPr>
          <p:cNvPr id="7" name="Rectangle: Rounded Corners 6">
            <a:extLst>
              <a:ext uri="{FF2B5EF4-FFF2-40B4-BE49-F238E27FC236}">
                <a16:creationId xmlns:a16="http://schemas.microsoft.com/office/drawing/2014/main" id="{B72F0B9C-4CCE-4603-A6CF-06CD86807C96}"/>
              </a:ext>
            </a:extLst>
          </p:cNvPr>
          <p:cNvSpPr/>
          <p:nvPr/>
        </p:nvSpPr>
        <p:spPr bwMode="auto">
          <a:xfrm>
            <a:off x="736598" y="2353585"/>
            <a:ext cx="4428000" cy="93600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a:t>Missing dosing data due to iPad breaking</a:t>
            </a:r>
            <a:endParaRPr lang="en-GB" b="1" kern="0">
              <a:solidFill>
                <a:srgbClr val="FFFFFF"/>
              </a:solidFill>
              <a:latin typeface="Arial"/>
            </a:endParaRPr>
          </a:p>
        </p:txBody>
      </p:sp>
      <p:sp>
        <p:nvSpPr>
          <p:cNvPr id="8" name="Rectangle: Rounded Corners 7">
            <a:extLst>
              <a:ext uri="{FF2B5EF4-FFF2-40B4-BE49-F238E27FC236}">
                <a16:creationId xmlns:a16="http://schemas.microsoft.com/office/drawing/2014/main" id="{A62A1F9A-786D-42AD-8B95-4B936EAF552B}"/>
              </a:ext>
            </a:extLst>
          </p:cNvPr>
          <p:cNvSpPr/>
          <p:nvPr/>
        </p:nvSpPr>
        <p:spPr bwMode="auto">
          <a:xfrm>
            <a:off x="736598" y="3453307"/>
            <a:ext cx="4428000" cy="936000"/>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a:t>Missing primary endpoint as subject dropped out due to lack of efficacy</a:t>
            </a:r>
            <a:endParaRPr lang="en-GB" b="1" kern="0">
              <a:solidFill>
                <a:srgbClr val="FFFFFF"/>
              </a:solidFill>
              <a:latin typeface="Arial"/>
            </a:endParaRPr>
          </a:p>
        </p:txBody>
      </p:sp>
      <p:sp>
        <p:nvSpPr>
          <p:cNvPr id="9" name="Rectangle 8">
            <a:extLst>
              <a:ext uri="{FF2B5EF4-FFF2-40B4-BE49-F238E27FC236}">
                <a16:creationId xmlns:a16="http://schemas.microsoft.com/office/drawing/2014/main" id="{BAA2D833-B582-4C65-8EFA-8EB6478E7546}"/>
              </a:ext>
            </a:extLst>
          </p:cNvPr>
          <p:cNvSpPr/>
          <p:nvPr/>
        </p:nvSpPr>
        <p:spPr bwMode="auto">
          <a:xfrm>
            <a:off x="6710754" y="2410996"/>
            <a:ext cx="1624791" cy="814813"/>
          </a:xfrm>
          <a:prstGeom prst="rect">
            <a:avLst/>
          </a:prstGeom>
          <a:ln>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600" b="1" kern="0">
                <a:solidFill>
                  <a:schemeClr val="tx1"/>
                </a:solidFill>
                <a:latin typeface="Arial"/>
              </a:rPr>
              <a:t>MAR</a:t>
            </a:r>
          </a:p>
        </p:txBody>
      </p:sp>
      <p:sp>
        <p:nvSpPr>
          <p:cNvPr id="12" name="Rectangle 11">
            <a:extLst>
              <a:ext uri="{FF2B5EF4-FFF2-40B4-BE49-F238E27FC236}">
                <a16:creationId xmlns:a16="http://schemas.microsoft.com/office/drawing/2014/main" id="{1BCD94A4-0967-4C16-B454-595932DA729E}"/>
              </a:ext>
            </a:extLst>
          </p:cNvPr>
          <p:cNvSpPr/>
          <p:nvPr/>
        </p:nvSpPr>
        <p:spPr bwMode="auto">
          <a:xfrm>
            <a:off x="6710754" y="3507535"/>
            <a:ext cx="1624791" cy="814813"/>
          </a:xfrm>
          <a:prstGeom prst="rect">
            <a:avLst/>
          </a:prstGeom>
          <a:ln>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600" b="1" kern="0">
                <a:solidFill>
                  <a:schemeClr val="tx1"/>
                </a:solidFill>
                <a:latin typeface="Arial"/>
              </a:rPr>
              <a:t>MNAR</a:t>
            </a:r>
          </a:p>
        </p:txBody>
      </p:sp>
      <p:sp>
        <p:nvSpPr>
          <p:cNvPr id="13" name="Rectangle 12">
            <a:extLst>
              <a:ext uri="{FF2B5EF4-FFF2-40B4-BE49-F238E27FC236}">
                <a16:creationId xmlns:a16="http://schemas.microsoft.com/office/drawing/2014/main" id="{1CB83EDA-4085-44D7-BCBF-A7B1322CFFC4}"/>
              </a:ext>
            </a:extLst>
          </p:cNvPr>
          <p:cNvSpPr/>
          <p:nvPr/>
        </p:nvSpPr>
        <p:spPr bwMode="auto">
          <a:xfrm>
            <a:off x="6710754" y="1314456"/>
            <a:ext cx="1624791" cy="814813"/>
          </a:xfrm>
          <a:prstGeom prst="rect">
            <a:avLst/>
          </a:prstGeom>
          <a:ln>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600" b="1" kern="0">
                <a:solidFill>
                  <a:schemeClr val="tx1"/>
                </a:solidFill>
                <a:latin typeface="Arial"/>
              </a:rPr>
              <a:t>MCAR</a:t>
            </a:r>
          </a:p>
        </p:txBody>
      </p:sp>
      <p:pic>
        <p:nvPicPr>
          <p:cNvPr id="11" name="Graphic 10" descr="Head with gears">
            <a:extLst>
              <a:ext uri="{FF2B5EF4-FFF2-40B4-BE49-F238E27FC236}">
                <a16:creationId xmlns:a16="http://schemas.microsoft.com/office/drawing/2014/main" id="{8473FC0D-8A10-4D73-8173-3D48E09F70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5003" y="232497"/>
            <a:ext cx="789392" cy="789392"/>
          </a:xfrm>
          <a:prstGeom prst="rect">
            <a:avLst/>
          </a:prstGeom>
        </p:spPr>
      </p:pic>
      <p:sp>
        <p:nvSpPr>
          <p:cNvPr id="2" name="TextBox 1">
            <a:extLst>
              <a:ext uri="{FF2B5EF4-FFF2-40B4-BE49-F238E27FC236}">
                <a16:creationId xmlns:a16="http://schemas.microsoft.com/office/drawing/2014/main" id="{009376DF-D700-4FF9-A7FB-C4A51158C66A}"/>
              </a:ext>
            </a:extLst>
          </p:cNvPr>
          <p:cNvSpPr txBox="1"/>
          <p:nvPr/>
        </p:nvSpPr>
        <p:spPr>
          <a:xfrm>
            <a:off x="333027" y="1499238"/>
            <a:ext cx="313509" cy="369332"/>
          </a:xfrm>
          <a:prstGeom prst="rect">
            <a:avLst/>
          </a:prstGeom>
          <a:noFill/>
        </p:spPr>
        <p:txBody>
          <a:bodyPr wrap="square" rtlCol="0">
            <a:spAutoFit/>
          </a:bodyPr>
          <a:lstStyle/>
          <a:p>
            <a:pPr>
              <a:buClr>
                <a:schemeClr val="tx1"/>
              </a:buClr>
            </a:pPr>
            <a:r>
              <a:rPr lang="en-GB" b="1"/>
              <a:t>A</a:t>
            </a:r>
          </a:p>
        </p:txBody>
      </p:sp>
      <p:sp>
        <p:nvSpPr>
          <p:cNvPr id="14" name="TextBox 13">
            <a:extLst>
              <a:ext uri="{FF2B5EF4-FFF2-40B4-BE49-F238E27FC236}">
                <a16:creationId xmlns:a16="http://schemas.microsoft.com/office/drawing/2014/main" id="{BB5CA5D6-4D3E-4F2D-AC13-8EFAC7FD3403}"/>
              </a:ext>
            </a:extLst>
          </p:cNvPr>
          <p:cNvSpPr txBox="1"/>
          <p:nvPr/>
        </p:nvSpPr>
        <p:spPr>
          <a:xfrm>
            <a:off x="328672" y="2633736"/>
            <a:ext cx="313509" cy="369332"/>
          </a:xfrm>
          <a:prstGeom prst="rect">
            <a:avLst/>
          </a:prstGeom>
          <a:noFill/>
        </p:spPr>
        <p:txBody>
          <a:bodyPr wrap="square" rtlCol="0">
            <a:spAutoFit/>
          </a:bodyPr>
          <a:lstStyle/>
          <a:p>
            <a:pPr>
              <a:buClr>
                <a:schemeClr val="tx1"/>
              </a:buClr>
            </a:pPr>
            <a:r>
              <a:rPr lang="en-GB" b="1"/>
              <a:t>B</a:t>
            </a:r>
          </a:p>
        </p:txBody>
      </p:sp>
      <p:sp>
        <p:nvSpPr>
          <p:cNvPr id="15" name="TextBox 14">
            <a:extLst>
              <a:ext uri="{FF2B5EF4-FFF2-40B4-BE49-F238E27FC236}">
                <a16:creationId xmlns:a16="http://schemas.microsoft.com/office/drawing/2014/main" id="{F201C37F-3970-4874-9427-66FF289A4A78}"/>
              </a:ext>
            </a:extLst>
          </p:cNvPr>
          <p:cNvSpPr txBox="1"/>
          <p:nvPr/>
        </p:nvSpPr>
        <p:spPr>
          <a:xfrm>
            <a:off x="328672" y="3730275"/>
            <a:ext cx="313509" cy="369332"/>
          </a:xfrm>
          <a:prstGeom prst="rect">
            <a:avLst/>
          </a:prstGeom>
          <a:noFill/>
        </p:spPr>
        <p:txBody>
          <a:bodyPr wrap="square" rtlCol="0">
            <a:spAutoFit/>
          </a:bodyPr>
          <a:lstStyle/>
          <a:p>
            <a:pPr>
              <a:buClr>
                <a:schemeClr val="tx1"/>
              </a:buClr>
            </a:pPr>
            <a:r>
              <a:rPr lang="en-GB" b="1"/>
              <a:t>C</a:t>
            </a:r>
          </a:p>
        </p:txBody>
      </p:sp>
      <p:sp>
        <p:nvSpPr>
          <p:cNvPr id="16" name="Date Placeholder 6">
            <a:extLst>
              <a:ext uri="{FF2B5EF4-FFF2-40B4-BE49-F238E27FC236}">
                <a16:creationId xmlns:a16="http://schemas.microsoft.com/office/drawing/2014/main" id="{0ECF6425-528B-4A4A-AE2D-FEE4BF721DB8}"/>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3410814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F4E52E0-4435-434C-81DC-3D3778401D43}"/>
              </a:ext>
            </a:extLst>
          </p:cNvPr>
          <p:cNvSpPr>
            <a:spLocks noGrp="1"/>
          </p:cNvSpPr>
          <p:nvPr>
            <p:ph type="body" sz="quarter" idx="14"/>
          </p:nvPr>
        </p:nvSpPr>
        <p:spPr/>
        <p:txBody>
          <a:bodyPr/>
          <a:lstStyle/>
          <a:p>
            <a:r>
              <a:rPr lang="en-GB"/>
              <a:t>CHATBOX</a:t>
            </a:r>
          </a:p>
        </p:txBody>
      </p:sp>
      <p:sp>
        <p:nvSpPr>
          <p:cNvPr id="4" name="Title 3">
            <a:extLst>
              <a:ext uri="{FF2B5EF4-FFF2-40B4-BE49-F238E27FC236}">
                <a16:creationId xmlns:a16="http://schemas.microsoft.com/office/drawing/2014/main" id="{AD44C4E1-0B9C-412D-8B71-B91B3381EEA1}"/>
              </a:ext>
            </a:extLst>
          </p:cNvPr>
          <p:cNvSpPr>
            <a:spLocks noGrp="1"/>
          </p:cNvSpPr>
          <p:nvPr>
            <p:ph type="title"/>
          </p:nvPr>
        </p:nvSpPr>
        <p:spPr/>
        <p:txBody>
          <a:bodyPr/>
          <a:lstStyle/>
          <a:p>
            <a:r>
              <a:rPr lang="en-GB"/>
              <a:t>Knowledge Check</a:t>
            </a:r>
          </a:p>
        </p:txBody>
      </p:sp>
      <p:sp>
        <p:nvSpPr>
          <p:cNvPr id="5" name="Slide Number Placeholder 4">
            <a:extLst>
              <a:ext uri="{FF2B5EF4-FFF2-40B4-BE49-F238E27FC236}">
                <a16:creationId xmlns:a16="http://schemas.microsoft.com/office/drawing/2014/main" id="{D937DEC5-B8EB-44D5-A9BE-1A76936518A8}"/>
              </a:ext>
            </a:extLst>
          </p:cNvPr>
          <p:cNvSpPr>
            <a:spLocks noGrp="1"/>
          </p:cNvSpPr>
          <p:nvPr>
            <p:ph type="sldNum" sz="quarter" idx="21"/>
          </p:nvPr>
        </p:nvSpPr>
        <p:spPr/>
        <p:txBody>
          <a:bodyPr/>
          <a:lstStyle/>
          <a:p>
            <a:fld id="{9F9F533D-B52E-4A2F-BF72-0ADD2D94BD75}" type="slidenum">
              <a:rPr lang="en-GB" smtClean="0"/>
              <a:pPr/>
              <a:t>11</a:t>
            </a:fld>
            <a:endParaRPr lang="en-GB"/>
          </a:p>
        </p:txBody>
      </p:sp>
      <p:sp>
        <p:nvSpPr>
          <p:cNvPr id="6" name="Rectangle: Rounded Corners 5">
            <a:extLst>
              <a:ext uri="{FF2B5EF4-FFF2-40B4-BE49-F238E27FC236}">
                <a16:creationId xmlns:a16="http://schemas.microsoft.com/office/drawing/2014/main" id="{D47A8986-6A5A-43D3-A631-DF65E584A64A}"/>
              </a:ext>
            </a:extLst>
          </p:cNvPr>
          <p:cNvSpPr/>
          <p:nvPr/>
        </p:nvSpPr>
        <p:spPr bwMode="auto">
          <a:xfrm>
            <a:off x="736598" y="1253862"/>
            <a:ext cx="4428000" cy="936000"/>
          </a:xfrm>
          <a:prstGeom prst="roundRect">
            <a:avLst/>
          </a:prstGeom>
          <a:solidFill>
            <a:srgbClr val="40488D"/>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a:t>Missing visit due to COVID-19 isolation period in unvaccinated subject</a:t>
            </a:r>
            <a:endParaRPr lang="en-GB" b="1" kern="0">
              <a:solidFill>
                <a:srgbClr val="FFFFFF"/>
              </a:solidFill>
              <a:latin typeface="Arial"/>
            </a:endParaRPr>
          </a:p>
        </p:txBody>
      </p:sp>
      <p:sp>
        <p:nvSpPr>
          <p:cNvPr id="7" name="Rectangle: Rounded Corners 6">
            <a:extLst>
              <a:ext uri="{FF2B5EF4-FFF2-40B4-BE49-F238E27FC236}">
                <a16:creationId xmlns:a16="http://schemas.microsoft.com/office/drawing/2014/main" id="{B72F0B9C-4CCE-4603-A6CF-06CD86807C96}"/>
              </a:ext>
            </a:extLst>
          </p:cNvPr>
          <p:cNvSpPr/>
          <p:nvPr/>
        </p:nvSpPr>
        <p:spPr bwMode="auto">
          <a:xfrm>
            <a:off x="736598" y="2353585"/>
            <a:ext cx="4428000" cy="93600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a:t>Missing dosing data due to iPad breaking</a:t>
            </a:r>
            <a:endParaRPr lang="en-GB" b="1" kern="0">
              <a:solidFill>
                <a:srgbClr val="FFFFFF"/>
              </a:solidFill>
              <a:latin typeface="Arial"/>
            </a:endParaRPr>
          </a:p>
        </p:txBody>
      </p:sp>
      <p:sp>
        <p:nvSpPr>
          <p:cNvPr id="8" name="Rectangle: Rounded Corners 7">
            <a:extLst>
              <a:ext uri="{FF2B5EF4-FFF2-40B4-BE49-F238E27FC236}">
                <a16:creationId xmlns:a16="http://schemas.microsoft.com/office/drawing/2014/main" id="{A62A1F9A-786D-42AD-8B95-4B936EAF552B}"/>
              </a:ext>
            </a:extLst>
          </p:cNvPr>
          <p:cNvSpPr/>
          <p:nvPr/>
        </p:nvSpPr>
        <p:spPr bwMode="auto">
          <a:xfrm>
            <a:off x="736598" y="3453307"/>
            <a:ext cx="4428000" cy="936000"/>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a:t>Missing primary endpoint as subject dropped out due to lack of efficacy</a:t>
            </a:r>
            <a:endParaRPr lang="en-GB" b="1" kern="0">
              <a:solidFill>
                <a:srgbClr val="FFFFFF"/>
              </a:solidFill>
              <a:latin typeface="Arial"/>
            </a:endParaRPr>
          </a:p>
        </p:txBody>
      </p:sp>
      <p:sp>
        <p:nvSpPr>
          <p:cNvPr id="9" name="Rectangle 8">
            <a:extLst>
              <a:ext uri="{FF2B5EF4-FFF2-40B4-BE49-F238E27FC236}">
                <a16:creationId xmlns:a16="http://schemas.microsoft.com/office/drawing/2014/main" id="{BAA2D833-B582-4C65-8EFA-8EB6478E7546}"/>
              </a:ext>
            </a:extLst>
          </p:cNvPr>
          <p:cNvSpPr/>
          <p:nvPr/>
        </p:nvSpPr>
        <p:spPr bwMode="auto">
          <a:xfrm>
            <a:off x="6710754" y="2410996"/>
            <a:ext cx="1624791" cy="814813"/>
          </a:xfrm>
          <a:prstGeom prst="rect">
            <a:avLst/>
          </a:prstGeom>
          <a:ln>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600" b="1" kern="0">
                <a:solidFill>
                  <a:schemeClr val="tx1"/>
                </a:solidFill>
                <a:latin typeface="Arial"/>
              </a:rPr>
              <a:t>MAR</a:t>
            </a:r>
          </a:p>
        </p:txBody>
      </p:sp>
      <p:sp>
        <p:nvSpPr>
          <p:cNvPr id="12" name="Rectangle 11">
            <a:extLst>
              <a:ext uri="{FF2B5EF4-FFF2-40B4-BE49-F238E27FC236}">
                <a16:creationId xmlns:a16="http://schemas.microsoft.com/office/drawing/2014/main" id="{1BCD94A4-0967-4C16-B454-595932DA729E}"/>
              </a:ext>
            </a:extLst>
          </p:cNvPr>
          <p:cNvSpPr/>
          <p:nvPr/>
        </p:nvSpPr>
        <p:spPr bwMode="auto">
          <a:xfrm>
            <a:off x="6710754" y="3507535"/>
            <a:ext cx="1624791" cy="814813"/>
          </a:xfrm>
          <a:prstGeom prst="rect">
            <a:avLst/>
          </a:prstGeom>
          <a:ln>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600" b="1" kern="0">
                <a:solidFill>
                  <a:schemeClr val="tx1"/>
                </a:solidFill>
                <a:latin typeface="Arial"/>
              </a:rPr>
              <a:t>MNAR</a:t>
            </a:r>
          </a:p>
        </p:txBody>
      </p:sp>
      <p:sp>
        <p:nvSpPr>
          <p:cNvPr id="13" name="Rectangle 12">
            <a:extLst>
              <a:ext uri="{FF2B5EF4-FFF2-40B4-BE49-F238E27FC236}">
                <a16:creationId xmlns:a16="http://schemas.microsoft.com/office/drawing/2014/main" id="{1CB83EDA-4085-44D7-BCBF-A7B1322CFFC4}"/>
              </a:ext>
            </a:extLst>
          </p:cNvPr>
          <p:cNvSpPr/>
          <p:nvPr/>
        </p:nvSpPr>
        <p:spPr bwMode="auto">
          <a:xfrm>
            <a:off x="6710754" y="1314456"/>
            <a:ext cx="1624791" cy="814813"/>
          </a:xfrm>
          <a:prstGeom prst="rect">
            <a:avLst/>
          </a:prstGeom>
          <a:ln>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600" b="1" kern="0">
                <a:solidFill>
                  <a:schemeClr val="tx1"/>
                </a:solidFill>
                <a:latin typeface="Arial"/>
              </a:rPr>
              <a:t>MCAR</a:t>
            </a:r>
          </a:p>
        </p:txBody>
      </p:sp>
      <p:pic>
        <p:nvPicPr>
          <p:cNvPr id="11" name="Graphic 10" descr="Head with gears">
            <a:extLst>
              <a:ext uri="{FF2B5EF4-FFF2-40B4-BE49-F238E27FC236}">
                <a16:creationId xmlns:a16="http://schemas.microsoft.com/office/drawing/2014/main" id="{8473FC0D-8A10-4D73-8173-3D48E09F70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5003" y="232497"/>
            <a:ext cx="789392" cy="789392"/>
          </a:xfrm>
          <a:prstGeom prst="rect">
            <a:avLst/>
          </a:prstGeom>
        </p:spPr>
      </p:pic>
      <p:sp>
        <p:nvSpPr>
          <p:cNvPr id="2" name="TextBox 1">
            <a:extLst>
              <a:ext uri="{FF2B5EF4-FFF2-40B4-BE49-F238E27FC236}">
                <a16:creationId xmlns:a16="http://schemas.microsoft.com/office/drawing/2014/main" id="{009376DF-D700-4FF9-A7FB-C4A51158C66A}"/>
              </a:ext>
            </a:extLst>
          </p:cNvPr>
          <p:cNvSpPr txBox="1"/>
          <p:nvPr/>
        </p:nvSpPr>
        <p:spPr>
          <a:xfrm>
            <a:off x="333027" y="1499238"/>
            <a:ext cx="313509" cy="369332"/>
          </a:xfrm>
          <a:prstGeom prst="rect">
            <a:avLst/>
          </a:prstGeom>
          <a:noFill/>
        </p:spPr>
        <p:txBody>
          <a:bodyPr wrap="square" rtlCol="0">
            <a:spAutoFit/>
          </a:bodyPr>
          <a:lstStyle/>
          <a:p>
            <a:pPr>
              <a:buClr>
                <a:schemeClr val="tx1"/>
              </a:buClr>
            </a:pPr>
            <a:r>
              <a:rPr lang="en-GB" b="1"/>
              <a:t>A</a:t>
            </a:r>
          </a:p>
        </p:txBody>
      </p:sp>
      <p:sp>
        <p:nvSpPr>
          <p:cNvPr id="14" name="TextBox 13">
            <a:extLst>
              <a:ext uri="{FF2B5EF4-FFF2-40B4-BE49-F238E27FC236}">
                <a16:creationId xmlns:a16="http://schemas.microsoft.com/office/drawing/2014/main" id="{BB5CA5D6-4D3E-4F2D-AC13-8EFAC7FD3403}"/>
              </a:ext>
            </a:extLst>
          </p:cNvPr>
          <p:cNvSpPr txBox="1"/>
          <p:nvPr/>
        </p:nvSpPr>
        <p:spPr>
          <a:xfrm>
            <a:off x="328672" y="2633736"/>
            <a:ext cx="313509" cy="369332"/>
          </a:xfrm>
          <a:prstGeom prst="rect">
            <a:avLst/>
          </a:prstGeom>
          <a:noFill/>
        </p:spPr>
        <p:txBody>
          <a:bodyPr wrap="square" rtlCol="0">
            <a:spAutoFit/>
          </a:bodyPr>
          <a:lstStyle/>
          <a:p>
            <a:pPr>
              <a:buClr>
                <a:schemeClr val="tx1"/>
              </a:buClr>
            </a:pPr>
            <a:r>
              <a:rPr lang="en-GB" b="1"/>
              <a:t>B</a:t>
            </a:r>
          </a:p>
        </p:txBody>
      </p:sp>
      <p:sp>
        <p:nvSpPr>
          <p:cNvPr id="15" name="TextBox 14">
            <a:extLst>
              <a:ext uri="{FF2B5EF4-FFF2-40B4-BE49-F238E27FC236}">
                <a16:creationId xmlns:a16="http://schemas.microsoft.com/office/drawing/2014/main" id="{F201C37F-3970-4874-9427-66FF289A4A78}"/>
              </a:ext>
            </a:extLst>
          </p:cNvPr>
          <p:cNvSpPr txBox="1"/>
          <p:nvPr/>
        </p:nvSpPr>
        <p:spPr>
          <a:xfrm>
            <a:off x="328672" y="3730275"/>
            <a:ext cx="313509" cy="369332"/>
          </a:xfrm>
          <a:prstGeom prst="rect">
            <a:avLst/>
          </a:prstGeom>
          <a:noFill/>
        </p:spPr>
        <p:txBody>
          <a:bodyPr wrap="square" rtlCol="0">
            <a:spAutoFit/>
          </a:bodyPr>
          <a:lstStyle/>
          <a:p>
            <a:pPr>
              <a:buClr>
                <a:schemeClr val="tx1"/>
              </a:buClr>
            </a:pPr>
            <a:r>
              <a:rPr lang="en-GB" b="1"/>
              <a:t>C</a:t>
            </a:r>
          </a:p>
        </p:txBody>
      </p:sp>
      <p:cxnSp>
        <p:nvCxnSpPr>
          <p:cNvPr id="16" name="Connector: Curved 15">
            <a:extLst>
              <a:ext uri="{FF2B5EF4-FFF2-40B4-BE49-F238E27FC236}">
                <a16:creationId xmlns:a16="http://schemas.microsoft.com/office/drawing/2014/main" id="{4E723553-6710-4BCC-B2AC-35D240A69593}"/>
              </a:ext>
            </a:extLst>
          </p:cNvPr>
          <p:cNvCxnSpPr>
            <a:cxnSpLocks/>
            <a:stCxn id="6" idx="3"/>
            <a:endCxn id="9" idx="1"/>
          </p:cNvCxnSpPr>
          <p:nvPr/>
        </p:nvCxnSpPr>
        <p:spPr>
          <a:xfrm>
            <a:off x="5164598" y="1721862"/>
            <a:ext cx="1546156" cy="1096541"/>
          </a:xfrm>
          <a:prstGeom prst="curvedConnector3">
            <a:avLst>
              <a:gd name="adj1" fmla="val 41203"/>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F27BB830-63FB-421E-92EA-122ED1ADB67F}"/>
              </a:ext>
            </a:extLst>
          </p:cNvPr>
          <p:cNvCxnSpPr>
            <a:cxnSpLocks/>
            <a:stCxn id="7" idx="3"/>
            <a:endCxn id="13" idx="1"/>
          </p:cNvCxnSpPr>
          <p:nvPr/>
        </p:nvCxnSpPr>
        <p:spPr>
          <a:xfrm flipV="1">
            <a:off x="5164598" y="1721863"/>
            <a:ext cx="1546156" cy="1099722"/>
          </a:xfrm>
          <a:prstGeom prst="curvedConnector3">
            <a:avLst>
              <a:gd name="adj1" fmla="val 61099"/>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DD3A3DD9-01DC-4D4C-AE76-F74B83BFE911}"/>
              </a:ext>
            </a:extLst>
          </p:cNvPr>
          <p:cNvCxnSpPr>
            <a:cxnSpLocks/>
            <a:stCxn id="8" idx="3"/>
            <a:endCxn id="12" idx="1"/>
          </p:cNvCxnSpPr>
          <p:nvPr/>
        </p:nvCxnSpPr>
        <p:spPr>
          <a:xfrm flipV="1">
            <a:off x="5164598" y="3914942"/>
            <a:ext cx="1546156" cy="6365"/>
          </a:xfrm>
          <a:prstGeom prst="curvedConnector3">
            <a:avLst>
              <a:gd name="adj1" fmla="val 50000"/>
            </a:avLst>
          </a:prstGeom>
          <a:ln w="19050"/>
        </p:spPr>
        <p:style>
          <a:lnRef idx="1">
            <a:schemeClr val="accent1"/>
          </a:lnRef>
          <a:fillRef idx="0">
            <a:schemeClr val="accent1"/>
          </a:fillRef>
          <a:effectRef idx="0">
            <a:schemeClr val="accent1"/>
          </a:effectRef>
          <a:fontRef idx="minor">
            <a:schemeClr val="tx1"/>
          </a:fontRef>
        </p:style>
      </p:cxnSp>
      <p:sp>
        <p:nvSpPr>
          <p:cNvPr id="27" name="Date Placeholder 6">
            <a:extLst>
              <a:ext uri="{FF2B5EF4-FFF2-40B4-BE49-F238E27FC236}">
                <a16:creationId xmlns:a16="http://schemas.microsoft.com/office/drawing/2014/main" id="{7ABF6C9F-C344-419D-8704-CD931A5FC152}"/>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1272709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40D451-FF0B-4A5A-BC92-126A83854F26}"/>
              </a:ext>
            </a:extLst>
          </p:cNvPr>
          <p:cNvSpPr>
            <a:spLocks noGrp="1"/>
          </p:cNvSpPr>
          <p:nvPr>
            <p:ph sz="quarter" idx="12"/>
          </p:nvPr>
        </p:nvSpPr>
        <p:spPr>
          <a:xfrm>
            <a:off x="374246" y="1777646"/>
            <a:ext cx="4144534" cy="2390160"/>
          </a:xfrm>
        </p:spPr>
        <p:txBody>
          <a:bodyPr lIns="0" tIns="45720" rIns="91440" bIns="45720" anchor="t"/>
          <a:lstStyle/>
          <a:p>
            <a:pPr marL="0" indent="0" algn="ctr">
              <a:buNone/>
            </a:pPr>
            <a:r>
              <a:rPr lang="en-GB" b="1">
                <a:solidFill>
                  <a:schemeClr val="bg2"/>
                </a:solidFill>
                <a:cs typeface="Arial"/>
              </a:rPr>
              <a:t>Non-Responder Imputation (NRI)</a:t>
            </a:r>
          </a:p>
          <a:p>
            <a:pPr marL="0" indent="0" algn="ctr">
              <a:buNone/>
            </a:pPr>
            <a:r>
              <a:rPr lang="en-GB" sz="1400">
                <a:cs typeface="Arial"/>
              </a:rPr>
              <a:t>May under- or over-estimate efficacy depending on a number of factors, including differential withdrawal from any treatment arm</a:t>
            </a:r>
          </a:p>
          <a:p>
            <a:pPr marL="0" indent="0" algn="ctr">
              <a:buNone/>
            </a:pPr>
            <a:endParaRPr lang="en-GB" b="1">
              <a:solidFill>
                <a:schemeClr val="bg2"/>
              </a:solidFill>
              <a:cs typeface="Arial"/>
            </a:endParaRPr>
          </a:p>
          <a:p>
            <a:pPr marL="0" indent="0" algn="ctr">
              <a:buNone/>
            </a:pPr>
            <a:r>
              <a:rPr lang="en-GB" b="1">
                <a:solidFill>
                  <a:schemeClr val="bg2"/>
                </a:solidFill>
                <a:cs typeface="Arial"/>
              </a:rPr>
              <a:t>Last Observation Carried Forward (LOCF) </a:t>
            </a:r>
          </a:p>
          <a:p>
            <a:pPr marL="0" indent="0" algn="ctr">
              <a:spcAft>
                <a:spcPts val="0"/>
              </a:spcAft>
              <a:buNone/>
            </a:pPr>
            <a:r>
              <a:rPr lang="en-GB" sz="1400">
                <a:cs typeface="Arial"/>
              </a:rPr>
              <a:t>Can over-estimate efficacy and/or under-estimate safety where the subject’s condition is expected to deteriorate over time</a:t>
            </a:r>
          </a:p>
        </p:txBody>
      </p:sp>
      <p:sp>
        <p:nvSpPr>
          <p:cNvPr id="3" name="Text Placeholder 2">
            <a:extLst>
              <a:ext uri="{FF2B5EF4-FFF2-40B4-BE49-F238E27FC236}">
                <a16:creationId xmlns:a16="http://schemas.microsoft.com/office/drawing/2014/main" id="{3A78817B-C0B6-46A9-B63E-7CD7D9229A50}"/>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4DBE47E2-92D8-420A-90FC-484B28B22D15}"/>
              </a:ext>
            </a:extLst>
          </p:cNvPr>
          <p:cNvSpPr>
            <a:spLocks noGrp="1"/>
          </p:cNvSpPr>
          <p:nvPr>
            <p:ph type="title"/>
          </p:nvPr>
        </p:nvSpPr>
        <p:spPr/>
        <p:txBody>
          <a:bodyPr/>
          <a:lstStyle/>
          <a:p>
            <a:r>
              <a:rPr lang="en-GB"/>
              <a:t>Methods for Handling Missing Data</a:t>
            </a:r>
          </a:p>
        </p:txBody>
      </p:sp>
      <p:sp>
        <p:nvSpPr>
          <p:cNvPr id="5" name="Slide Number Placeholder 4">
            <a:extLst>
              <a:ext uri="{FF2B5EF4-FFF2-40B4-BE49-F238E27FC236}">
                <a16:creationId xmlns:a16="http://schemas.microsoft.com/office/drawing/2014/main" id="{5BBE5FFA-7462-47A2-8526-97319213E22D}"/>
              </a:ext>
            </a:extLst>
          </p:cNvPr>
          <p:cNvSpPr>
            <a:spLocks noGrp="1"/>
          </p:cNvSpPr>
          <p:nvPr>
            <p:ph type="sldNum" sz="quarter" idx="21"/>
          </p:nvPr>
        </p:nvSpPr>
        <p:spPr/>
        <p:txBody>
          <a:bodyPr/>
          <a:lstStyle/>
          <a:p>
            <a:fld id="{9F9F533D-B52E-4A2F-BF72-0ADD2D94BD75}" type="slidenum">
              <a:rPr lang="en-GB" smtClean="0"/>
              <a:pPr/>
              <a:t>12</a:t>
            </a:fld>
            <a:endParaRPr lang="en-GB"/>
          </a:p>
        </p:txBody>
      </p:sp>
      <p:sp>
        <p:nvSpPr>
          <p:cNvPr id="6" name="Content Placeholder 1">
            <a:extLst>
              <a:ext uri="{FF2B5EF4-FFF2-40B4-BE49-F238E27FC236}">
                <a16:creationId xmlns:a16="http://schemas.microsoft.com/office/drawing/2014/main" id="{88B51F4B-B7A8-4FF1-AD59-48D1F2AF37A8}"/>
              </a:ext>
            </a:extLst>
          </p:cNvPr>
          <p:cNvSpPr txBox="1">
            <a:spLocks/>
          </p:cNvSpPr>
          <p:nvPr/>
        </p:nvSpPr>
        <p:spPr>
          <a:xfrm>
            <a:off x="4572000" y="1198231"/>
            <a:ext cx="4211152" cy="3257559"/>
          </a:xfrm>
          <a:prstGeom prst="rect">
            <a:avLst/>
          </a:prstGeom>
        </p:spPr>
        <p:txBody>
          <a:bodyPr lIns="0" tIns="45720" rIns="91440" bIns="45720" anchor="t"/>
          <a:lstStyle>
            <a:lvl1pPr marL="270000" indent="-270000" algn="l" defTabSz="914400" rtl="0" eaLnBrk="1" latinLnBrk="0" hangingPunct="1">
              <a:spcBef>
                <a:spcPts val="0"/>
              </a:spcBef>
              <a:spcAft>
                <a:spcPts val="600"/>
              </a:spcAft>
              <a:buClr>
                <a:schemeClr val="tx1"/>
              </a:buClr>
              <a:buFont typeface="Arial" pitchFamily="34" charset="0"/>
              <a:buChar char="–"/>
              <a:defRPr sz="1600" kern="1200">
                <a:solidFill>
                  <a:schemeClr val="tx1"/>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1400" kern="1200">
                <a:solidFill>
                  <a:schemeClr val="tx1"/>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1200" b="0" kern="1200">
                <a:solidFill>
                  <a:schemeClr val="tx1"/>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a:lstStyle>
          <a:p>
            <a:pPr marL="269875" indent="-269875"/>
            <a:endParaRPr lang="en-GB" sz="1400">
              <a:cs typeface="Arial"/>
            </a:endParaRPr>
          </a:p>
        </p:txBody>
      </p:sp>
      <p:sp>
        <p:nvSpPr>
          <p:cNvPr id="7" name="Rectangle 6">
            <a:extLst>
              <a:ext uri="{FF2B5EF4-FFF2-40B4-BE49-F238E27FC236}">
                <a16:creationId xmlns:a16="http://schemas.microsoft.com/office/drawing/2014/main" id="{C01E129A-1974-4938-9C41-90ED23993FAC}"/>
              </a:ext>
            </a:extLst>
          </p:cNvPr>
          <p:cNvSpPr/>
          <p:nvPr/>
        </p:nvSpPr>
        <p:spPr>
          <a:xfrm>
            <a:off x="4458395" y="1808148"/>
            <a:ext cx="4625220" cy="2092881"/>
          </a:xfrm>
          <a:prstGeom prst="rect">
            <a:avLst/>
          </a:prstGeom>
        </p:spPr>
        <p:txBody>
          <a:bodyPr wrap="square">
            <a:spAutoFit/>
          </a:bodyPr>
          <a:lstStyle/>
          <a:p>
            <a:pPr algn="ctr">
              <a:spcAft>
                <a:spcPts val="0"/>
              </a:spcAft>
            </a:pPr>
            <a:r>
              <a:rPr lang="en-GB" sz="1600" b="1">
                <a:solidFill>
                  <a:schemeClr val="bg2"/>
                </a:solidFill>
                <a:ea typeface="Calibri" panose="020F0502020204030204" pitchFamily="34" charset="0"/>
                <a:cs typeface="Times New Roman" panose="02020603050405020304" pitchFamily="18" charset="0"/>
              </a:rPr>
              <a:t>Mixed Models Repeated Measures (MMRM) </a:t>
            </a:r>
          </a:p>
          <a:p>
            <a:pPr algn="ctr"/>
            <a:r>
              <a:rPr lang="en-GB" sz="1400">
                <a:ea typeface="Calibri" panose="020F0502020204030204" pitchFamily="34" charset="0"/>
                <a:cs typeface="Times New Roman" panose="02020603050405020304" pitchFamily="18" charset="0"/>
              </a:rPr>
              <a:t>Used with longitudinal continuous data, </a:t>
            </a:r>
          </a:p>
          <a:p>
            <a:pPr algn="ctr"/>
            <a:r>
              <a:rPr lang="en-GB" sz="1400">
                <a:ea typeface="Calibri" panose="020F0502020204030204" pitchFamily="34" charset="0"/>
                <a:cs typeface="Times New Roman" panose="02020603050405020304" pitchFamily="18" charset="0"/>
              </a:rPr>
              <a:t>does not involve any formal imputation</a:t>
            </a:r>
          </a:p>
          <a:p>
            <a:pPr algn="ctr"/>
            <a:r>
              <a:rPr lang="en-GB" sz="1400">
                <a:ea typeface="Calibri" panose="020F0502020204030204" pitchFamily="34" charset="0"/>
                <a:cs typeface="Times New Roman" panose="02020603050405020304" pitchFamily="18" charset="0"/>
              </a:rPr>
              <a:t>implicitly assumes MAR</a:t>
            </a:r>
          </a:p>
          <a:p>
            <a:pPr algn="ctr"/>
            <a:endParaRPr lang="en-GB" sz="1400">
              <a:ea typeface="Calibri" panose="020F0502020204030204" pitchFamily="34" charset="0"/>
              <a:cs typeface="Times New Roman" panose="02020603050405020304" pitchFamily="18" charset="0"/>
            </a:endParaRPr>
          </a:p>
          <a:p>
            <a:pPr algn="ctr">
              <a:spcAft>
                <a:spcPts val="0"/>
              </a:spcAft>
            </a:pPr>
            <a:r>
              <a:rPr lang="en-GB" sz="1600" b="1">
                <a:solidFill>
                  <a:schemeClr val="bg2"/>
                </a:solidFill>
                <a:ea typeface="Calibri" panose="020F0502020204030204" pitchFamily="34" charset="0"/>
                <a:cs typeface="Times New Roman" panose="02020603050405020304" pitchFamily="18" charset="0"/>
              </a:rPr>
              <a:t>Multiple Imputation (MI)</a:t>
            </a:r>
          </a:p>
          <a:p>
            <a:pPr algn="ctr"/>
            <a:r>
              <a:rPr lang="en-GB" sz="1400">
                <a:ea typeface="Calibri" panose="020F0502020204030204" pitchFamily="34" charset="0"/>
                <a:cs typeface="Times New Roman" panose="02020603050405020304" pitchFamily="18" charset="0"/>
              </a:rPr>
              <a:t>Simulation based technique implicitly assumes MAR. Imputations can be performed under different assumptions, </a:t>
            </a:r>
            <a:r>
              <a:rPr lang="en-GB" sz="1400" err="1">
                <a:ea typeface="Calibri" panose="020F0502020204030204" pitchFamily="34" charset="0"/>
                <a:cs typeface="Times New Roman" panose="02020603050405020304" pitchFamily="18" charset="0"/>
              </a:rPr>
              <a:t>e.g</a:t>
            </a:r>
            <a:r>
              <a:rPr lang="en-GB" sz="1400">
                <a:ea typeface="Calibri" panose="020F0502020204030204" pitchFamily="34" charset="0"/>
                <a:cs typeface="Times New Roman" panose="02020603050405020304" pitchFamily="18" charset="0"/>
              </a:rPr>
              <a:t> Jump to Reference</a:t>
            </a:r>
          </a:p>
        </p:txBody>
      </p:sp>
      <p:sp>
        <p:nvSpPr>
          <p:cNvPr id="10" name="Rectangle 9">
            <a:extLst>
              <a:ext uri="{FF2B5EF4-FFF2-40B4-BE49-F238E27FC236}">
                <a16:creationId xmlns:a16="http://schemas.microsoft.com/office/drawing/2014/main" id="{68C0D62C-9B58-4AFA-934B-AEAEBD36E1D8}"/>
              </a:ext>
            </a:extLst>
          </p:cNvPr>
          <p:cNvSpPr/>
          <p:nvPr/>
        </p:nvSpPr>
        <p:spPr>
          <a:xfrm>
            <a:off x="71453" y="1201906"/>
            <a:ext cx="6880089" cy="369332"/>
          </a:xfrm>
          <a:prstGeom prst="rect">
            <a:avLst/>
          </a:prstGeom>
        </p:spPr>
        <p:txBody>
          <a:bodyPr wrap="none">
            <a:spAutoFit/>
          </a:bodyPr>
          <a:lstStyle/>
          <a:p>
            <a:pPr marL="268163" lvl="1">
              <a:spcAft>
                <a:spcPts val="0"/>
              </a:spcAft>
            </a:pPr>
            <a:r>
              <a:rPr lang="en-GB">
                <a:cs typeface="Arial"/>
              </a:rPr>
              <a:t>Not an exhaustive list, but here are some common examples…</a:t>
            </a:r>
          </a:p>
        </p:txBody>
      </p:sp>
      <p:sp>
        <p:nvSpPr>
          <p:cNvPr id="12" name="Date Placeholder 6">
            <a:extLst>
              <a:ext uri="{FF2B5EF4-FFF2-40B4-BE49-F238E27FC236}">
                <a16:creationId xmlns:a16="http://schemas.microsoft.com/office/drawing/2014/main" id="{2CBC469F-908C-4E87-BD12-25B6B31412FE}"/>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1744909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40D451-FF0B-4A5A-BC92-126A83854F26}"/>
              </a:ext>
            </a:extLst>
          </p:cNvPr>
          <p:cNvSpPr>
            <a:spLocks noGrp="1"/>
          </p:cNvSpPr>
          <p:nvPr>
            <p:ph sz="quarter" idx="12"/>
          </p:nvPr>
        </p:nvSpPr>
        <p:spPr>
          <a:xfrm>
            <a:off x="359152" y="2559691"/>
            <a:ext cx="8697762" cy="2169122"/>
          </a:xfrm>
        </p:spPr>
        <p:txBody>
          <a:bodyPr/>
          <a:lstStyle/>
          <a:p>
            <a:pPr marL="0" indent="0">
              <a:buNone/>
            </a:pPr>
            <a:r>
              <a:rPr lang="en-GB" sz="1400" b="1">
                <a:solidFill>
                  <a:schemeClr val="bg2"/>
                </a:solidFill>
              </a:rPr>
              <a:t>What?  </a:t>
            </a:r>
            <a:r>
              <a:rPr lang="en-GB" sz="1400"/>
              <a:t>A type of sensitivity analysis</a:t>
            </a:r>
            <a:endParaRPr lang="en-GB"/>
          </a:p>
          <a:p>
            <a:pPr marL="0" indent="0">
              <a:buNone/>
            </a:pPr>
            <a:r>
              <a:rPr lang="en-GB" sz="1400" b="1">
                <a:solidFill>
                  <a:schemeClr val="bg2"/>
                </a:solidFill>
              </a:rPr>
              <a:t>Why?   </a:t>
            </a:r>
            <a:r>
              <a:rPr lang="en-GB" sz="1400"/>
              <a:t>Aims to identify which assumptions about the missing data lead to a change in the conclusion</a:t>
            </a:r>
            <a:endParaRPr lang="en-GB"/>
          </a:p>
          <a:p>
            <a:pPr marL="0" indent="0">
              <a:buNone/>
            </a:pPr>
            <a:r>
              <a:rPr lang="en-GB" sz="1400" b="1">
                <a:solidFill>
                  <a:schemeClr val="bg2"/>
                </a:solidFill>
              </a:rPr>
              <a:t>How?   </a:t>
            </a:r>
            <a:r>
              <a:rPr lang="en-GB" sz="1400"/>
              <a:t>Repeat analysis for a range of missing data scenarios, each time recording what the conclusion</a:t>
            </a:r>
          </a:p>
          <a:p>
            <a:pPr marL="0" indent="0">
              <a:buNone/>
            </a:pPr>
            <a:endParaRPr lang="en-GB" sz="500"/>
          </a:p>
          <a:p>
            <a:pPr marL="0" indent="0">
              <a:buNone/>
            </a:pPr>
            <a:r>
              <a:rPr lang="en-GB" b="1">
                <a:solidFill>
                  <a:schemeClr val="bg2"/>
                </a:solidFill>
              </a:rPr>
              <a:t>Conclusion</a:t>
            </a:r>
          </a:p>
          <a:p>
            <a:pPr marL="0" indent="0">
              <a:buNone/>
            </a:pPr>
            <a:r>
              <a:rPr lang="en-GB"/>
              <a:t>The more extreme our assumptions need to be in order to “tip” the conclusion of the analysis, the greater the robustness of the original analysis. </a:t>
            </a:r>
          </a:p>
        </p:txBody>
      </p:sp>
      <p:sp>
        <p:nvSpPr>
          <p:cNvPr id="3" name="Text Placeholder 2">
            <a:extLst>
              <a:ext uri="{FF2B5EF4-FFF2-40B4-BE49-F238E27FC236}">
                <a16:creationId xmlns:a16="http://schemas.microsoft.com/office/drawing/2014/main" id="{3A78817B-C0B6-46A9-B63E-7CD7D9229A50}"/>
              </a:ext>
            </a:extLst>
          </p:cNvPr>
          <p:cNvSpPr>
            <a:spLocks noGrp="1"/>
          </p:cNvSpPr>
          <p:nvPr>
            <p:ph type="body" sz="quarter" idx="14"/>
          </p:nvPr>
        </p:nvSpPr>
        <p:spPr/>
        <p:txBody>
          <a:bodyPr/>
          <a:lstStyle/>
          <a:p>
            <a:r>
              <a:rPr lang="en-GB"/>
              <a:t>“Stress Testing” the Missing Data Handling</a:t>
            </a:r>
          </a:p>
          <a:p>
            <a:endParaRPr lang="en-GB"/>
          </a:p>
        </p:txBody>
      </p:sp>
      <p:sp>
        <p:nvSpPr>
          <p:cNvPr id="4" name="Title 3">
            <a:extLst>
              <a:ext uri="{FF2B5EF4-FFF2-40B4-BE49-F238E27FC236}">
                <a16:creationId xmlns:a16="http://schemas.microsoft.com/office/drawing/2014/main" id="{4DBE47E2-92D8-420A-90FC-484B28B22D15}"/>
              </a:ext>
            </a:extLst>
          </p:cNvPr>
          <p:cNvSpPr>
            <a:spLocks noGrp="1"/>
          </p:cNvSpPr>
          <p:nvPr>
            <p:ph type="title"/>
          </p:nvPr>
        </p:nvSpPr>
        <p:spPr/>
        <p:txBody>
          <a:bodyPr/>
          <a:lstStyle/>
          <a:p>
            <a:r>
              <a:rPr lang="en-GB"/>
              <a:t>Tipping Point Analysis</a:t>
            </a:r>
          </a:p>
        </p:txBody>
      </p:sp>
      <p:sp>
        <p:nvSpPr>
          <p:cNvPr id="5" name="Slide Number Placeholder 4">
            <a:extLst>
              <a:ext uri="{FF2B5EF4-FFF2-40B4-BE49-F238E27FC236}">
                <a16:creationId xmlns:a16="http://schemas.microsoft.com/office/drawing/2014/main" id="{5BBE5FFA-7462-47A2-8526-97319213E22D}"/>
              </a:ext>
            </a:extLst>
          </p:cNvPr>
          <p:cNvSpPr>
            <a:spLocks noGrp="1"/>
          </p:cNvSpPr>
          <p:nvPr>
            <p:ph type="sldNum" sz="quarter" idx="21"/>
          </p:nvPr>
        </p:nvSpPr>
        <p:spPr/>
        <p:txBody>
          <a:bodyPr/>
          <a:lstStyle/>
          <a:p>
            <a:fld id="{9F9F533D-B52E-4A2F-BF72-0ADD2D94BD75}" type="slidenum">
              <a:rPr lang="en-GB" smtClean="0"/>
              <a:pPr/>
              <a:t>13</a:t>
            </a:fld>
            <a:endParaRPr lang="en-GB"/>
          </a:p>
        </p:txBody>
      </p:sp>
      <p:grpSp>
        <p:nvGrpSpPr>
          <p:cNvPr id="8" name="Group 954">
            <a:extLst>
              <a:ext uri="{FF2B5EF4-FFF2-40B4-BE49-F238E27FC236}">
                <a16:creationId xmlns:a16="http://schemas.microsoft.com/office/drawing/2014/main" id="{C4AD401F-88F5-46D0-B896-D110CE70B8B3}"/>
              </a:ext>
            </a:extLst>
          </p:cNvPr>
          <p:cNvGrpSpPr>
            <a:grpSpLocks noChangeAspect="1"/>
          </p:cNvGrpSpPr>
          <p:nvPr/>
        </p:nvGrpSpPr>
        <p:grpSpPr bwMode="auto">
          <a:xfrm>
            <a:off x="3721561" y="1240334"/>
            <a:ext cx="1372954" cy="1371923"/>
            <a:chOff x="3074" y="2323"/>
            <a:chExt cx="1331" cy="1330"/>
          </a:xfrm>
          <a:solidFill>
            <a:schemeClr val="bg2"/>
          </a:solidFill>
        </p:grpSpPr>
        <p:sp>
          <p:nvSpPr>
            <p:cNvPr id="9" name="Oval 955">
              <a:extLst>
                <a:ext uri="{FF2B5EF4-FFF2-40B4-BE49-F238E27FC236}">
                  <a16:creationId xmlns:a16="http://schemas.microsoft.com/office/drawing/2014/main" id="{C7CB63AE-26F5-46B0-B146-43FFD7140BEA}"/>
                </a:ext>
              </a:extLst>
            </p:cNvPr>
            <p:cNvSpPr>
              <a:spLocks noChangeArrowheads="1"/>
            </p:cNvSpPr>
            <p:nvPr/>
          </p:nvSpPr>
          <p:spPr bwMode="auto">
            <a:xfrm>
              <a:off x="3698" y="2699"/>
              <a:ext cx="83" cy="8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956">
              <a:extLst>
                <a:ext uri="{FF2B5EF4-FFF2-40B4-BE49-F238E27FC236}">
                  <a16:creationId xmlns:a16="http://schemas.microsoft.com/office/drawing/2014/main" id="{10386072-C0EA-4BEC-9BF9-553AC6A63D09}"/>
                </a:ext>
              </a:extLst>
            </p:cNvPr>
            <p:cNvSpPr>
              <a:spLocks/>
            </p:cNvSpPr>
            <p:nvPr/>
          </p:nvSpPr>
          <p:spPr bwMode="auto">
            <a:xfrm>
              <a:off x="3330" y="2726"/>
              <a:ext cx="312" cy="269"/>
            </a:xfrm>
            <a:custGeom>
              <a:avLst/>
              <a:gdLst>
                <a:gd name="T0" fmla="*/ 258 w 516"/>
                <a:gd name="T1" fmla="*/ 0 h 444"/>
                <a:gd name="T2" fmla="*/ 253 w 516"/>
                <a:gd name="T3" fmla="*/ 0 h 444"/>
                <a:gd name="T4" fmla="*/ 0 w 516"/>
                <a:gd name="T5" fmla="*/ 444 h 444"/>
                <a:gd name="T6" fmla="*/ 516 w 516"/>
                <a:gd name="T7" fmla="*/ 444 h 444"/>
                <a:gd name="T8" fmla="*/ 263 w 516"/>
                <a:gd name="T9" fmla="*/ 0 h 444"/>
                <a:gd name="T10" fmla="*/ 258 w 516"/>
                <a:gd name="T11" fmla="*/ 0 h 444"/>
              </a:gdLst>
              <a:ahLst/>
              <a:cxnLst>
                <a:cxn ang="0">
                  <a:pos x="T0" y="T1"/>
                </a:cxn>
                <a:cxn ang="0">
                  <a:pos x="T2" y="T3"/>
                </a:cxn>
                <a:cxn ang="0">
                  <a:pos x="T4" y="T5"/>
                </a:cxn>
                <a:cxn ang="0">
                  <a:pos x="T6" y="T7"/>
                </a:cxn>
                <a:cxn ang="0">
                  <a:pos x="T8" y="T9"/>
                </a:cxn>
                <a:cxn ang="0">
                  <a:pos x="T10" y="T11"/>
                </a:cxn>
              </a:cxnLst>
              <a:rect l="0" t="0" r="r" b="b"/>
              <a:pathLst>
                <a:path w="516" h="444">
                  <a:moveTo>
                    <a:pt x="258" y="0"/>
                  </a:moveTo>
                  <a:cubicBezTo>
                    <a:pt x="256" y="0"/>
                    <a:pt x="255" y="0"/>
                    <a:pt x="253" y="0"/>
                  </a:cubicBezTo>
                  <a:cubicBezTo>
                    <a:pt x="0" y="444"/>
                    <a:pt x="0" y="444"/>
                    <a:pt x="0" y="444"/>
                  </a:cubicBezTo>
                  <a:cubicBezTo>
                    <a:pt x="516" y="444"/>
                    <a:pt x="516" y="444"/>
                    <a:pt x="516" y="444"/>
                  </a:cubicBezTo>
                  <a:cubicBezTo>
                    <a:pt x="263" y="0"/>
                    <a:pt x="263" y="0"/>
                    <a:pt x="263" y="0"/>
                  </a:cubicBezTo>
                  <a:lnTo>
                    <a:pt x="2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957">
              <a:extLst>
                <a:ext uri="{FF2B5EF4-FFF2-40B4-BE49-F238E27FC236}">
                  <a16:creationId xmlns:a16="http://schemas.microsoft.com/office/drawing/2014/main" id="{D958F600-45BE-4B2A-B075-705EA5CDC35C}"/>
                </a:ext>
              </a:extLst>
            </p:cNvPr>
            <p:cNvSpPr>
              <a:spLocks/>
            </p:cNvSpPr>
            <p:nvPr/>
          </p:nvSpPr>
          <p:spPr bwMode="auto">
            <a:xfrm>
              <a:off x="3837" y="2811"/>
              <a:ext cx="312" cy="268"/>
            </a:xfrm>
            <a:custGeom>
              <a:avLst/>
              <a:gdLst>
                <a:gd name="T0" fmla="*/ 258 w 515"/>
                <a:gd name="T1" fmla="*/ 0 h 443"/>
                <a:gd name="T2" fmla="*/ 253 w 515"/>
                <a:gd name="T3" fmla="*/ 0 h 443"/>
                <a:gd name="T4" fmla="*/ 0 w 515"/>
                <a:gd name="T5" fmla="*/ 443 h 443"/>
                <a:gd name="T6" fmla="*/ 515 w 515"/>
                <a:gd name="T7" fmla="*/ 443 h 443"/>
                <a:gd name="T8" fmla="*/ 263 w 515"/>
                <a:gd name="T9" fmla="*/ 0 h 443"/>
                <a:gd name="T10" fmla="*/ 258 w 515"/>
                <a:gd name="T11" fmla="*/ 0 h 443"/>
              </a:gdLst>
              <a:ahLst/>
              <a:cxnLst>
                <a:cxn ang="0">
                  <a:pos x="T0" y="T1"/>
                </a:cxn>
                <a:cxn ang="0">
                  <a:pos x="T2" y="T3"/>
                </a:cxn>
                <a:cxn ang="0">
                  <a:pos x="T4" y="T5"/>
                </a:cxn>
                <a:cxn ang="0">
                  <a:pos x="T6" y="T7"/>
                </a:cxn>
                <a:cxn ang="0">
                  <a:pos x="T8" y="T9"/>
                </a:cxn>
                <a:cxn ang="0">
                  <a:pos x="T10" y="T11"/>
                </a:cxn>
              </a:cxnLst>
              <a:rect l="0" t="0" r="r" b="b"/>
              <a:pathLst>
                <a:path w="515" h="443">
                  <a:moveTo>
                    <a:pt x="258" y="0"/>
                  </a:moveTo>
                  <a:cubicBezTo>
                    <a:pt x="253" y="0"/>
                    <a:pt x="253" y="0"/>
                    <a:pt x="253" y="0"/>
                  </a:cubicBezTo>
                  <a:cubicBezTo>
                    <a:pt x="0" y="443"/>
                    <a:pt x="0" y="443"/>
                    <a:pt x="0" y="443"/>
                  </a:cubicBezTo>
                  <a:cubicBezTo>
                    <a:pt x="515" y="443"/>
                    <a:pt x="515" y="443"/>
                    <a:pt x="515" y="443"/>
                  </a:cubicBezTo>
                  <a:cubicBezTo>
                    <a:pt x="263" y="0"/>
                    <a:pt x="263" y="0"/>
                    <a:pt x="263" y="0"/>
                  </a:cubicBezTo>
                  <a:cubicBezTo>
                    <a:pt x="261" y="0"/>
                    <a:pt x="259"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958">
              <a:extLst>
                <a:ext uri="{FF2B5EF4-FFF2-40B4-BE49-F238E27FC236}">
                  <a16:creationId xmlns:a16="http://schemas.microsoft.com/office/drawing/2014/main" id="{FA272E19-4B3C-4E2D-9610-E10B28C3094B}"/>
                </a:ext>
              </a:extLst>
            </p:cNvPr>
            <p:cNvSpPr>
              <a:spLocks noEditPoints="1"/>
            </p:cNvSpPr>
            <p:nvPr/>
          </p:nvSpPr>
          <p:spPr bwMode="auto">
            <a:xfrm>
              <a:off x="3074" y="2323"/>
              <a:ext cx="1331" cy="1330"/>
            </a:xfrm>
            <a:custGeom>
              <a:avLst/>
              <a:gdLst>
                <a:gd name="T0" fmla="*/ 1100 w 2200"/>
                <a:gd name="T1" fmla="*/ 0 h 2200"/>
                <a:gd name="T2" fmla="*/ 0 w 2200"/>
                <a:gd name="T3" fmla="*/ 1100 h 2200"/>
                <a:gd name="T4" fmla="*/ 1100 w 2200"/>
                <a:gd name="T5" fmla="*/ 2200 h 2200"/>
                <a:gd name="T6" fmla="*/ 2200 w 2200"/>
                <a:gd name="T7" fmla="*/ 1100 h 2200"/>
                <a:gd name="T8" fmla="*/ 1100 w 2200"/>
                <a:gd name="T9" fmla="*/ 0 h 2200"/>
                <a:gd name="T10" fmla="*/ 1519 w 2200"/>
                <a:gd name="T11" fmla="*/ 1487 h 2200"/>
                <a:gd name="T12" fmla="*/ 1202 w 2200"/>
                <a:gd name="T13" fmla="*/ 1273 h 2200"/>
                <a:gd name="T14" fmla="*/ 1209 w 2200"/>
                <a:gd name="T15" fmla="*/ 1258 h 2200"/>
                <a:gd name="T16" fmla="*/ 1470 w 2200"/>
                <a:gd name="T17" fmla="*/ 798 h 2200"/>
                <a:gd name="T18" fmla="*/ 1194 w 2200"/>
                <a:gd name="T19" fmla="*/ 751 h 2200"/>
                <a:gd name="T20" fmla="*/ 1164 w 2200"/>
                <a:gd name="T21" fmla="*/ 782 h 2200"/>
                <a:gd name="T22" fmla="*/ 1150 w 2200"/>
                <a:gd name="T23" fmla="*/ 790 h 2200"/>
                <a:gd name="T24" fmla="*/ 1150 w 2200"/>
                <a:gd name="T25" fmla="*/ 1538 h 2200"/>
                <a:gd name="T26" fmla="*/ 1518 w 2200"/>
                <a:gd name="T27" fmla="*/ 1538 h 2200"/>
                <a:gd name="T28" fmla="*/ 1520 w 2200"/>
                <a:gd name="T29" fmla="*/ 1538 h 2200"/>
                <a:gd name="T30" fmla="*/ 1690 w 2200"/>
                <a:gd name="T31" fmla="*/ 1633 h 2200"/>
                <a:gd name="T32" fmla="*/ 1687 w 2200"/>
                <a:gd name="T33" fmla="*/ 1640 h 2200"/>
                <a:gd name="T34" fmla="*/ 1681 w 2200"/>
                <a:gd name="T35" fmla="*/ 1643 h 2200"/>
                <a:gd name="T36" fmla="*/ 519 w 2200"/>
                <a:gd name="T37" fmla="*/ 1643 h 2200"/>
                <a:gd name="T38" fmla="*/ 513 w 2200"/>
                <a:gd name="T39" fmla="*/ 1640 h 2200"/>
                <a:gd name="T40" fmla="*/ 510 w 2200"/>
                <a:gd name="T41" fmla="*/ 1633 h 2200"/>
                <a:gd name="T42" fmla="*/ 680 w 2200"/>
                <a:gd name="T43" fmla="*/ 1538 h 2200"/>
                <a:gd name="T44" fmla="*/ 682 w 2200"/>
                <a:gd name="T45" fmla="*/ 1538 h 2200"/>
                <a:gd name="T46" fmla="*/ 1050 w 2200"/>
                <a:gd name="T47" fmla="*/ 1538 h 2200"/>
                <a:gd name="T48" fmla="*/ 1050 w 2200"/>
                <a:gd name="T49" fmla="*/ 790 h 2200"/>
                <a:gd name="T50" fmla="*/ 1046 w 2200"/>
                <a:gd name="T51" fmla="*/ 788 h 2200"/>
                <a:gd name="T52" fmla="*/ 992 w 2200"/>
                <a:gd name="T53" fmla="*/ 719 h 2200"/>
                <a:gd name="T54" fmla="*/ 736 w 2200"/>
                <a:gd name="T55" fmla="*/ 675 h 2200"/>
                <a:gd name="T56" fmla="*/ 991 w 2200"/>
                <a:gd name="T57" fmla="*/ 1118 h 2200"/>
                <a:gd name="T58" fmla="*/ 998 w 2200"/>
                <a:gd name="T59" fmla="*/ 1134 h 2200"/>
                <a:gd name="T60" fmla="*/ 681 w 2200"/>
                <a:gd name="T61" fmla="*/ 1347 h 2200"/>
                <a:gd name="T62" fmla="*/ 364 w 2200"/>
                <a:gd name="T63" fmla="*/ 1134 h 2200"/>
                <a:gd name="T64" fmla="*/ 372 w 2200"/>
                <a:gd name="T65" fmla="*/ 1118 h 2200"/>
                <a:gd name="T66" fmla="*/ 640 w 2200"/>
                <a:gd name="T67" fmla="*/ 646 h 2200"/>
                <a:gd name="T68" fmla="*/ 631 w 2200"/>
                <a:gd name="T69" fmla="*/ 617 h 2200"/>
                <a:gd name="T70" fmla="*/ 681 w 2200"/>
                <a:gd name="T71" fmla="*/ 567 h 2200"/>
                <a:gd name="T72" fmla="*/ 1014 w 2200"/>
                <a:gd name="T73" fmla="*/ 619 h 2200"/>
                <a:gd name="T74" fmla="*/ 1050 w 2200"/>
                <a:gd name="T75" fmla="*/ 591 h 2200"/>
                <a:gd name="T76" fmla="*/ 1050 w 2200"/>
                <a:gd name="T77" fmla="*/ 493 h 2200"/>
                <a:gd name="T78" fmla="*/ 1100 w 2200"/>
                <a:gd name="T79" fmla="*/ 443 h 2200"/>
                <a:gd name="T80" fmla="*/ 1150 w 2200"/>
                <a:gd name="T81" fmla="*/ 493 h 2200"/>
                <a:gd name="T82" fmla="*/ 1150 w 2200"/>
                <a:gd name="T83" fmla="*/ 591 h 2200"/>
                <a:gd name="T84" fmla="*/ 1205 w 2200"/>
                <a:gd name="T85" fmla="*/ 652 h 2200"/>
                <a:gd name="T86" fmla="*/ 1519 w 2200"/>
                <a:gd name="T87" fmla="*/ 706 h 2200"/>
                <a:gd name="T88" fmla="*/ 1569 w 2200"/>
                <a:gd name="T89" fmla="*/ 757 h 2200"/>
                <a:gd name="T90" fmla="*/ 1559 w 2200"/>
                <a:gd name="T91" fmla="*/ 786 h 2200"/>
                <a:gd name="T92" fmla="*/ 1828 w 2200"/>
                <a:gd name="T93" fmla="*/ 1258 h 2200"/>
                <a:gd name="T94" fmla="*/ 1836 w 2200"/>
                <a:gd name="T95" fmla="*/ 1273 h 2200"/>
                <a:gd name="T96" fmla="*/ 1519 w 2200"/>
                <a:gd name="T97" fmla="*/ 1487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00" h="2200">
                  <a:moveTo>
                    <a:pt x="1100" y="0"/>
                  </a:moveTo>
                  <a:cubicBezTo>
                    <a:pt x="492" y="0"/>
                    <a:pt x="0" y="493"/>
                    <a:pt x="0" y="1100"/>
                  </a:cubicBezTo>
                  <a:cubicBezTo>
                    <a:pt x="0" y="1708"/>
                    <a:pt x="492" y="2200"/>
                    <a:pt x="1100" y="2200"/>
                  </a:cubicBezTo>
                  <a:cubicBezTo>
                    <a:pt x="1707" y="2200"/>
                    <a:pt x="2200" y="1708"/>
                    <a:pt x="2200" y="1100"/>
                  </a:cubicBezTo>
                  <a:cubicBezTo>
                    <a:pt x="2200" y="493"/>
                    <a:pt x="1707" y="0"/>
                    <a:pt x="1100" y="0"/>
                  </a:cubicBezTo>
                  <a:close/>
                  <a:moveTo>
                    <a:pt x="1519" y="1487"/>
                  </a:moveTo>
                  <a:cubicBezTo>
                    <a:pt x="1344" y="1487"/>
                    <a:pt x="1202" y="1391"/>
                    <a:pt x="1202" y="1273"/>
                  </a:cubicBezTo>
                  <a:cubicBezTo>
                    <a:pt x="1202" y="1267"/>
                    <a:pt x="1205" y="1262"/>
                    <a:pt x="1209" y="1258"/>
                  </a:cubicBezTo>
                  <a:cubicBezTo>
                    <a:pt x="1470" y="798"/>
                    <a:pt x="1470" y="798"/>
                    <a:pt x="1470" y="798"/>
                  </a:cubicBezTo>
                  <a:cubicBezTo>
                    <a:pt x="1194" y="751"/>
                    <a:pt x="1194" y="751"/>
                    <a:pt x="1194" y="751"/>
                  </a:cubicBezTo>
                  <a:cubicBezTo>
                    <a:pt x="1186" y="763"/>
                    <a:pt x="1176" y="774"/>
                    <a:pt x="1164" y="782"/>
                  </a:cubicBezTo>
                  <a:cubicBezTo>
                    <a:pt x="1160" y="785"/>
                    <a:pt x="1156" y="788"/>
                    <a:pt x="1150" y="790"/>
                  </a:cubicBezTo>
                  <a:cubicBezTo>
                    <a:pt x="1150" y="1538"/>
                    <a:pt x="1150" y="1538"/>
                    <a:pt x="1150" y="1538"/>
                  </a:cubicBezTo>
                  <a:cubicBezTo>
                    <a:pt x="1518" y="1538"/>
                    <a:pt x="1518" y="1538"/>
                    <a:pt x="1518" y="1538"/>
                  </a:cubicBezTo>
                  <a:cubicBezTo>
                    <a:pt x="1518" y="1538"/>
                    <a:pt x="1519" y="1538"/>
                    <a:pt x="1520" y="1538"/>
                  </a:cubicBezTo>
                  <a:cubicBezTo>
                    <a:pt x="1596" y="1556"/>
                    <a:pt x="1687" y="1586"/>
                    <a:pt x="1690" y="1633"/>
                  </a:cubicBezTo>
                  <a:cubicBezTo>
                    <a:pt x="1690" y="1636"/>
                    <a:pt x="1689" y="1638"/>
                    <a:pt x="1687" y="1640"/>
                  </a:cubicBezTo>
                  <a:cubicBezTo>
                    <a:pt x="1686" y="1642"/>
                    <a:pt x="1683" y="1643"/>
                    <a:pt x="1681" y="1643"/>
                  </a:cubicBezTo>
                  <a:cubicBezTo>
                    <a:pt x="519" y="1643"/>
                    <a:pt x="519" y="1643"/>
                    <a:pt x="519" y="1643"/>
                  </a:cubicBezTo>
                  <a:cubicBezTo>
                    <a:pt x="517" y="1643"/>
                    <a:pt x="514" y="1642"/>
                    <a:pt x="513" y="1640"/>
                  </a:cubicBezTo>
                  <a:cubicBezTo>
                    <a:pt x="511" y="1638"/>
                    <a:pt x="510" y="1636"/>
                    <a:pt x="510" y="1633"/>
                  </a:cubicBezTo>
                  <a:cubicBezTo>
                    <a:pt x="513" y="1586"/>
                    <a:pt x="604" y="1556"/>
                    <a:pt x="680" y="1538"/>
                  </a:cubicBezTo>
                  <a:cubicBezTo>
                    <a:pt x="681" y="1538"/>
                    <a:pt x="682" y="1538"/>
                    <a:pt x="682" y="1538"/>
                  </a:cubicBezTo>
                  <a:cubicBezTo>
                    <a:pt x="1050" y="1538"/>
                    <a:pt x="1050" y="1538"/>
                    <a:pt x="1050" y="1538"/>
                  </a:cubicBezTo>
                  <a:cubicBezTo>
                    <a:pt x="1050" y="790"/>
                    <a:pt x="1050" y="790"/>
                    <a:pt x="1050" y="790"/>
                  </a:cubicBezTo>
                  <a:cubicBezTo>
                    <a:pt x="1048" y="790"/>
                    <a:pt x="1047" y="789"/>
                    <a:pt x="1046" y="788"/>
                  </a:cubicBezTo>
                  <a:cubicBezTo>
                    <a:pt x="1020" y="773"/>
                    <a:pt x="1000" y="749"/>
                    <a:pt x="992" y="719"/>
                  </a:cubicBezTo>
                  <a:cubicBezTo>
                    <a:pt x="736" y="675"/>
                    <a:pt x="736" y="675"/>
                    <a:pt x="736" y="675"/>
                  </a:cubicBezTo>
                  <a:cubicBezTo>
                    <a:pt x="991" y="1118"/>
                    <a:pt x="991" y="1118"/>
                    <a:pt x="991" y="1118"/>
                  </a:cubicBezTo>
                  <a:cubicBezTo>
                    <a:pt x="995" y="1122"/>
                    <a:pt x="998" y="1127"/>
                    <a:pt x="998" y="1134"/>
                  </a:cubicBezTo>
                  <a:cubicBezTo>
                    <a:pt x="998" y="1251"/>
                    <a:pt x="856" y="1347"/>
                    <a:pt x="681" y="1347"/>
                  </a:cubicBezTo>
                  <a:cubicBezTo>
                    <a:pt x="506" y="1347"/>
                    <a:pt x="364" y="1251"/>
                    <a:pt x="364" y="1134"/>
                  </a:cubicBezTo>
                  <a:cubicBezTo>
                    <a:pt x="364" y="1127"/>
                    <a:pt x="367" y="1122"/>
                    <a:pt x="372" y="1118"/>
                  </a:cubicBezTo>
                  <a:cubicBezTo>
                    <a:pt x="640" y="646"/>
                    <a:pt x="640" y="646"/>
                    <a:pt x="640" y="646"/>
                  </a:cubicBezTo>
                  <a:cubicBezTo>
                    <a:pt x="634" y="638"/>
                    <a:pt x="631" y="628"/>
                    <a:pt x="631" y="617"/>
                  </a:cubicBezTo>
                  <a:cubicBezTo>
                    <a:pt x="631" y="589"/>
                    <a:pt x="653" y="567"/>
                    <a:pt x="681" y="567"/>
                  </a:cubicBezTo>
                  <a:cubicBezTo>
                    <a:pt x="1014" y="619"/>
                    <a:pt x="1014" y="619"/>
                    <a:pt x="1014" y="619"/>
                  </a:cubicBezTo>
                  <a:cubicBezTo>
                    <a:pt x="1024" y="607"/>
                    <a:pt x="1036" y="598"/>
                    <a:pt x="1050" y="591"/>
                  </a:cubicBezTo>
                  <a:cubicBezTo>
                    <a:pt x="1050" y="493"/>
                    <a:pt x="1050" y="493"/>
                    <a:pt x="1050" y="493"/>
                  </a:cubicBezTo>
                  <a:cubicBezTo>
                    <a:pt x="1050" y="465"/>
                    <a:pt x="1072" y="443"/>
                    <a:pt x="1100" y="443"/>
                  </a:cubicBezTo>
                  <a:cubicBezTo>
                    <a:pt x="1128" y="443"/>
                    <a:pt x="1150" y="465"/>
                    <a:pt x="1150" y="493"/>
                  </a:cubicBezTo>
                  <a:cubicBezTo>
                    <a:pt x="1150" y="591"/>
                    <a:pt x="1150" y="591"/>
                    <a:pt x="1150" y="591"/>
                  </a:cubicBezTo>
                  <a:cubicBezTo>
                    <a:pt x="1175" y="604"/>
                    <a:pt x="1195" y="626"/>
                    <a:pt x="1205" y="652"/>
                  </a:cubicBezTo>
                  <a:cubicBezTo>
                    <a:pt x="1519" y="706"/>
                    <a:pt x="1519" y="706"/>
                    <a:pt x="1519" y="706"/>
                  </a:cubicBezTo>
                  <a:cubicBezTo>
                    <a:pt x="1547" y="706"/>
                    <a:pt x="1569" y="729"/>
                    <a:pt x="1569" y="757"/>
                  </a:cubicBezTo>
                  <a:cubicBezTo>
                    <a:pt x="1569" y="768"/>
                    <a:pt x="1565" y="778"/>
                    <a:pt x="1559" y="786"/>
                  </a:cubicBezTo>
                  <a:cubicBezTo>
                    <a:pt x="1828" y="1258"/>
                    <a:pt x="1828" y="1258"/>
                    <a:pt x="1828" y="1258"/>
                  </a:cubicBezTo>
                  <a:cubicBezTo>
                    <a:pt x="1833" y="1262"/>
                    <a:pt x="1836" y="1267"/>
                    <a:pt x="1836" y="1273"/>
                  </a:cubicBezTo>
                  <a:cubicBezTo>
                    <a:pt x="1836" y="1391"/>
                    <a:pt x="1693" y="1487"/>
                    <a:pt x="1519" y="14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3" name="Date Placeholder 6">
            <a:extLst>
              <a:ext uri="{FF2B5EF4-FFF2-40B4-BE49-F238E27FC236}">
                <a16:creationId xmlns:a16="http://schemas.microsoft.com/office/drawing/2014/main" id="{16C22864-B7A1-41F9-9D90-5301FC0E4095}"/>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3600547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EF54418-CC92-4431-AB86-6860AD45E3EF}"/>
              </a:ext>
            </a:extLst>
          </p:cNvPr>
          <p:cNvPicPr>
            <a:picLocks noChangeAspect="1"/>
          </p:cNvPicPr>
          <p:nvPr/>
        </p:nvPicPr>
        <p:blipFill rotWithShape="1">
          <a:blip r:embed="rId3"/>
          <a:srcRect l="596" t="19914" r="237"/>
          <a:stretch/>
        </p:blipFill>
        <p:spPr>
          <a:xfrm>
            <a:off x="257319" y="1099178"/>
            <a:ext cx="7678972" cy="3389939"/>
          </a:xfrm>
          <a:prstGeom prst="rect">
            <a:avLst/>
          </a:prstGeom>
          <a:ln w="38100" cap="sq">
            <a:noFill/>
            <a:prstDash val="solid"/>
            <a:miter lim="800000"/>
          </a:ln>
          <a:effectLst/>
        </p:spPr>
      </p:pic>
      <p:sp>
        <p:nvSpPr>
          <p:cNvPr id="18" name="Title 17"/>
          <p:cNvSpPr>
            <a:spLocks noGrp="1"/>
          </p:cNvSpPr>
          <p:nvPr>
            <p:ph type="title"/>
          </p:nvPr>
        </p:nvSpPr>
        <p:spPr>
          <a:xfrm>
            <a:off x="359152" y="268106"/>
            <a:ext cx="7577139" cy="338554"/>
          </a:xfrm>
        </p:spPr>
        <p:txBody>
          <a:bodyPr/>
          <a:lstStyle/>
          <a:p>
            <a:r>
              <a:rPr lang="en-US"/>
              <a:t>Tipping Point Analysis Example: IMPACT</a:t>
            </a:r>
          </a:p>
        </p:txBody>
      </p:sp>
      <p:sp>
        <p:nvSpPr>
          <p:cNvPr id="8" name="Slide Number Placeholder 7"/>
          <p:cNvSpPr>
            <a:spLocks noGrp="1"/>
          </p:cNvSpPr>
          <p:nvPr>
            <p:ph type="sldNum" sz="quarter" idx="21"/>
          </p:nvPr>
        </p:nvSpPr>
        <p:spPr/>
        <p:txBody>
          <a:bodyPr/>
          <a:lstStyle/>
          <a:p>
            <a:fld id="{9F9F533D-B52E-4A2F-BF72-0ADD2D94BD75}" type="slidenum">
              <a:rPr lang="en-GB" smtClean="0"/>
              <a:pPr/>
              <a:t>14</a:t>
            </a:fld>
            <a:endParaRPr lang="en-GB"/>
          </a:p>
        </p:txBody>
      </p:sp>
      <p:sp>
        <p:nvSpPr>
          <p:cNvPr id="7" name="Text Placeholder 2">
            <a:extLst>
              <a:ext uri="{FF2B5EF4-FFF2-40B4-BE49-F238E27FC236}">
                <a16:creationId xmlns:a16="http://schemas.microsoft.com/office/drawing/2014/main" id="{32D2871E-D102-4800-96AB-C33F6B0C11EB}"/>
              </a:ext>
            </a:extLst>
          </p:cNvPr>
          <p:cNvSpPr>
            <a:spLocks noGrp="1"/>
          </p:cNvSpPr>
          <p:nvPr>
            <p:ph type="body" sz="quarter" idx="14"/>
          </p:nvPr>
        </p:nvSpPr>
        <p:spPr>
          <a:xfrm>
            <a:off x="359152" y="693553"/>
            <a:ext cx="7578000" cy="276999"/>
          </a:xfrm>
        </p:spPr>
        <p:txBody>
          <a:bodyPr/>
          <a:lstStyle/>
          <a:p>
            <a:r>
              <a:rPr lang="en-GB"/>
              <a:t>Logistic Regression (testing assumptions around missing data)</a:t>
            </a:r>
          </a:p>
          <a:p>
            <a:endParaRPr lang="en-GB"/>
          </a:p>
        </p:txBody>
      </p:sp>
      <p:sp>
        <p:nvSpPr>
          <p:cNvPr id="9" name="Content Placeholder 1">
            <a:extLst>
              <a:ext uri="{FF2B5EF4-FFF2-40B4-BE49-F238E27FC236}">
                <a16:creationId xmlns:a16="http://schemas.microsoft.com/office/drawing/2014/main" id="{78C2B79F-9A25-41B4-AF73-C4CABBAD10EA}"/>
              </a:ext>
            </a:extLst>
          </p:cNvPr>
          <p:cNvSpPr txBox="1">
            <a:spLocks/>
          </p:cNvSpPr>
          <p:nvPr/>
        </p:nvSpPr>
        <p:spPr>
          <a:xfrm>
            <a:off x="4863953" y="1463070"/>
            <a:ext cx="3853750" cy="1429306"/>
          </a:xfrm>
          <a:prstGeom prst="rect">
            <a:avLst/>
          </a:prstGeom>
        </p:spPr>
        <p:style>
          <a:lnRef idx="2">
            <a:schemeClr val="accent5"/>
          </a:lnRef>
          <a:fillRef idx="1">
            <a:schemeClr val="lt1"/>
          </a:fillRef>
          <a:effectRef idx="0">
            <a:schemeClr val="accent5"/>
          </a:effectRef>
          <a:fontRef idx="minor">
            <a:schemeClr val="dk1"/>
          </a:fontRef>
        </p:style>
        <p:txBody>
          <a:bodyPr vert="horz" lIns="108000" tIns="36000" rIns="108000" bIns="36000" rtlCol="0" anchor="ctr">
            <a:noAutofit/>
          </a:bodyPr>
          <a:lstStyle>
            <a:lvl1pPr marL="270000" indent="-270000" algn="l" defTabSz="914400" rtl="0" eaLnBrk="1" latinLnBrk="0" hangingPunct="1">
              <a:spcBef>
                <a:spcPts val="0"/>
              </a:spcBef>
              <a:spcAft>
                <a:spcPts val="600"/>
              </a:spcAft>
              <a:buClr>
                <a:schemeClr val="tx1"/>
              </a:buClr>
              <a:buFont typeface="Arial" pitchFamily="34" charset="0"/>
              <a:buChar char="–"/>
              <a:defRPr sz="2400" kern="1200">
                <a:solidFill>
                  <a:schemeClr val="tx1"/>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2400" kern="1200">
                <a:solidFill>
                  <a:schemeClr val="tx1"/>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2400" kern="1200">
                <a:solidFill>
                  <a:schemeClr val="tx1"/>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2400" kern="1200">
                <a:solidFill>
                  <a:schemeClr val="tx1"/>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2400" b="0" kern="1200">
                <a:solidFill>
                  <a:schemeClr val="tx1"/>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a:lstStyle>
          <a:p>
            <a:r>
              <a:rPr lang="en-GB" sz="1200" b="1"/>
              <a:t>15</a:t>
            </a:r>
            <a:r>
              <a:rPr lang="en-GB" sz="1200"/>
              <a:t> on UMEC/VI arm and </a:t>
            </a:r>
            <a:r>
              <a:rPr lang="en-GB" sz="1200" b="1"/>
              <a:t>9</a:t>
            </a:r>
            <a:r>
              <a:rPr lang="en-GB" sz="1200"/>
              <a:t> on FF/UMEC/VI arm had missing data</a:t>
            </a:r>
          </a:p>
          <a:p>
            <a:r>
              <a:rPr lang="en-GB" sz="1200"/>
              <a:t>Figure shows the OR for all possible combinations of assuming these people are dead or alive</a:t>
            </a:r>
          </a:p>
          <a:p>
            <a:r>
              <a:rPr lang="en-GB" sz="1200"/>
              <a:t>Statistically significant results have a border</a:t>
            </a:r>
          </a:p>
        </p:txBody>
      </p:sp>
      <p:sp>
        <p:nvSpPr>
          <p:cNvPr id="11" name="Date Placeholder 6">
            <a:extLst>
              <a:ext uri="{FF2B5EF4-FFF2-40B4-BE49-F238E27FC236}">
                <a16:creationId xmlns:a16="http://schemas.microsoft.com/office/drawing/2014/main" id="{B0C99DD0-F1DD-4492-928D-CF8945B0EE91}"/>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
        <p:nvSpPr>
          <p:cNvPr id="10" name="Content Placeholder 1">
            <a:extLst>
              <a:ext uri="{FF2B5EF4-FFF2-40B4-BE49-F238E27FC236}">
                <a16:creationId xmlns:a16="http://schemas.microsoft.com/office/drawing/2014/main" id="{7DEA4DFA-534A-43AF-A519-C44C04128BB0}"/>
              </a:ext>
            </a:extLst>
          </p:cNvPr>
          <p:cNvSpPr txBox="1">
            <a:spLocks/>
          </p:cNvSpPr>
          <p:nvPr/>
        </p:nvSpPr>
        <p:spPr>
          <a:xfrm>
            <a:off x="6551629" y="2922773"/>
            <a:ext cx="2474536" cy="1429306"/>
          </a:xfrm>
          <a:prstGeom prst="rect">
            <a:avLst/>
          </a:prstGeom>
        </p:spPr>
        <p:style>
          <a:lnRef idx="2">
            <a:schemeClr val="accent5"/>
          </a:lnRef>
          <a:fillRef idx="1">
            <a:schemeClr val="lt1"/>
          </a:fillRef>
          <a:effectRef idx="0">
            <a:schemeClr val="accent5"/>
          </a:effectRef>
          <a:fontRef idx="minor">
            <a:schemeClr val="dk1"/>
          </a:fontRef>
        </p:style>
        <p:txBody>
          <a:bodyPr vert="horz" lIns="108000" tIns="36000" rIns="108000" bIns="36000" rtlCol="0" anchor="ctr">
            <a:noAutofit/>
          </a:bodyPr>
          <a:lstStyle>
            <a:lvl1pPr marL="270000" indent="-270000" algn="l" defTabSz="914400" rtl="0" eaLnBrk="1" latinLnBrk="0" hangingPunct="1">
              <a:spcBef>
                <a:spcPts val="0"/>
              </a:spcBef>
              <a:spcAft>
                <a:spcPts val="600"/>
              </a:spcAft>
              <a:buClr>
                <a:schemeClr val="tx1"/>
              </a:buClr>
              <a:buFont typeface="Arial" pitchFamily="34" charset="0"/>
              <a:buChar char="–"/>
              <a:defRPr sz="2400" kern="1200">
                <a:solidFill>
                  <a:schemeClr val="tx1"/>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2400" kern="1200">
                <a:solidFill>
                  <a:schemeClr val="tx1"/>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2400" kern="1200">
                <a:solidFill>
                  <a:schemeClr val="tx1"/>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2400" kern="1200">
                <a:solidFill>
                  <a:schemeClr val="tx1"/>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2400" b="0" kern="1200">
                <a:solidFill>
                  <a:schemeClr val="tx1"/>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a:lstStyle>
          <a:p>
            <a:pPr marL="0" indent="0">
              <a:buNone/>
            </a:pPr>
            <a:r>
              <a:rPr lang="en-GB" sz="1200"/>
              <a:t>Regardless of the number of patients with missing survival status that we impute as either dead or alive on either treatment arm the OR is always less than 0.81. i.e. the odds of dying is at least 19% lower on Trelegy vs Anoro.</a:t>
            </a:r>
          </a:p>
        </p:txBody>
      </p:sp>
      <p:sp>
        <p:nvSpPr>
          <p:cNvPr id="2" name="Rectangle 1">
            <a:extLst>
              <a:ext uri="{FF2B5EF4-FFF2-40B4-BE49-F238E27FC236}">
                <a16:creationId xmlns:a16="http://schemas.microsoft.com/office/drawing/2014/main" id="{9C8C8FD0-E6AF-462F-9665-5E154F644809}"/>
              </a:ext>
            </a:extLst>
          </p:cNvPr>
          <p:cNvSpPr/>
          <p:nvPr/>
        </p:nvSpPr>
        <p:spPr bwMode="auto">
          <a:xfrm>
            <a:off x="1480008" y="1630837"/>
            <a:ext cx="556182" cy="301658"/>
          </a:xfrm>
          <a:prstGeom prst="rect">
            <a:avLst/>
          </a:prstGeom>
          <a:noFill/>
          <a:ln w="38100">
            <a:solidFill>
              <a:schemeClr val="accent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3" name="Oval 2">
            <a:extLst>
              <a:ext uri="{FF2B5EF4-FFF2-40B4-BE49-F238E27FC236}">
                <a16:creationId xmlns:a16="http://schemas.microsoft.com/office/drawing/2014/main" id="{A034CE81-0279-461C-B283-746FA5EB51E3}"/>
              </a:ext>
            </a:extLst>
          </p:cNvPr>
          <p:cNvSpPr/>
          <p:nvPr/>
        </p:nvSpPr>
        <p:spPr bwMode="auto">
          <a:xfrm>
            <a:off x="876693" y="3761296"/>
            <a:ext cx="688155" cy="216816"/>
          </a:xfrm>
          <a:prstGeom prst="ellipse">
            <a:avLst/>
          </a:prstGeom>
          <a:noFill/>
          <a:ln w="38100">
            <a:solidFill>
              <a:schemeClr val="accent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2" name="Oval 11">
            <a:extLst>
              <a:ext uri="{FF2B5EF4-FFF2-40B4-BE49-F238E27FC236}">
                <a16:creationId xmlns:a16="http://schemas.microsoft.com/office/drawing/2014/main" id="{E5FBED6F-A6D1-4957-8150-15B83B1AD322}"/>
              </a:ext>
            </a:extLst>
          </p:cNvPr>
          <p:cNvSpPr/>
          <p:nvPr/>
        </p:nvSpPr>
        <p:spPr bwMode="auto">
          <a:xfrm>
            <a:off x="754146" y="4146262"/>
            <a:ext cx="3704732" cy="301658"/>
          </a:xfrm>
          <a:prstGeom prst="ellipse">
            <a:avLst/>
          </a:prstGeom>
          <a:noFill/>
          <a:ln w="38100">
            <a:solidFill>
              <a:schemeClr val="accent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3" name="Oval 12">
            <a:extLst>
              <a:ext uri="{FF2B5EF4-FFF2-40B4-BE49-F238E27FC236}">
                <a16:creationId xmlns:a16="http://schemas.microsoft.com/office/drawing/2014/main" id="{810A84D9-AD98-4114-B549-D18DEC17030B}"/>
              </a:ext>
            </a:extLst>
          </p:cNvPr>
          <p:cNvSpPr/>
          <p:nvPr/>
        </p:nvSpPr>
        <p:spPr bwMode="auto">
          <a:xfrm>
            <a:off x="117835" y="1687862"/>
            <a:ext cx="631596" cy="2111609"/>
          </a:xfrm>
          <a:prstGeom prst="ellipse">
            <a:avLst/>
          </a:prstGeom>
          <a:noFill/>
          <a:ln w="38100">
            <a:solidFill>
              <a:schemeClr val="accent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5" name="Rectangle 14">
            <a:extLst>
              <a:ext uri="{FF2B5EF4-FFF2-40B4-BE49-F238E27FC236}">
                <a16:creationId xmlns:a16="http://schemas.microsoft.com/office/drawing/2014/main" id="{1176A536-775B-4F92-A1DE-4559692B1C22}"/>
              </a:ext>
            </a:extLst>
          </p:cNvPr>
          <p:cNvSpPr/>
          <p:nvPr/>
        </p:nvSpPr>
        <p:spPr bwMode="auto">
          <a:xfrm>
            <a:off x="3728710" y="1453655"/>
            <a:ext cx="513761" cy="354363"/>
          </a:xfrm>
          <a:prstGeom prst="rect">
            <a:avLst/>
          </a:prstGeom>
          <a:noFill/>
          <a:ln w="38100">
            <a:solidFill>
              <a:schemeClr val="accent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6" name="Oval 15">
            <a:extLst>
              <a:ext uri="{FF2B5EF4-FFF2-40B4-BE49-F238E27FC236}">
                <a16:creationId xmlns:a16="http://schemas.microsoft.com/office/drawing/2014/main" id="{6A27D71D-A13E-47AB-B2B7-16561CA85432}"/>
              </a:ext>
            </a:extLst>
          </p:cNvPr>
          <p:cNvSpPr/>
          <p:nvPr/>
        </p:nvSpPr>
        <p:spPr bwMode="auto">
          <a:xfrm>
            <a:off x="863631" y="3676454"/>
            <a:ext cx="2121616" cy="301658"/>
          </a:xfrm>
          <a:prstGeom prst="ellipse">
            <a:avLst/>
          </a:prstGeom>
          <a:noFill/>
          <a:ln w="38100">
            <a:solidFill>
              <a:schemeClr val="accent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7" name="Rectangle 16">
            <a:extLst>
              <a:ext uri="{FF2B5EF4-FFF2-40B4-BE49-F238E27FC236}">
                <a16:creationId xmlns:a16="http://schemas.microsoft.com/office/drawing/2014/main" id="{0B019E35-75E3-4B0F-B3FC-972E6EAA9BC1}"/>
              </a:ext>
            </a:extLst>
          </p:cNvPr>
          <p:cNvSpPr/>
          <p:nvPr/>
        </p:nvSpPr>
        <p:spPr bwMode="auto">
          <a:xfrm>
            <a:off x="3591560" y="3653744"/>
            <a:ext cx="723560" cy="428205"/>
          </a:xfrm>
          <a:prstGeom prst="rect">
            <a:avLst/>
          </a:prstGeom>
          <a:noFill/>
          <a:ln w="38100">
            <a:solidFill>
              <a:schemeClr val="accent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Tree>
    <p:extLst>
      <p:ext uri="{BB962C8B-B14F-4D97-AF65-F5344CB8AC3E}">
        <p14:creationId xmlns:p14="http://schemas.microsoft.com/office/powerpoint/2010/main" val="534583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12"/>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3"/>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3"/>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6"/>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5"/>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 grpId="0" animBg="1"/>
      <p:bldP spid="2" grpId="1" animBg="1"/>
      <p:bldP spid="3" grpId="0" animBg="1"/>
      <p:bldP spid="3" grpId="1" animBg="1"/>
      <p:bldP spid="12" grpId="0" animBg="1"/>
      <p:bldP spid="12" grpId="1" animBg="1"/>
      <p:bldP spid="13" grpId="0" animBg="1"/>
      <p:bldP spid="13" grpId="1" animBg="1"/>
      <p:bldP spid="15" grpId="0" animBg="1"/>
      <p:bldP spid="15" grpId="1" animBg="1"/>
      <p:bldP spid="16" grpId="0" animBg="1"/>
      <p:bldP spid="16" grpId="1"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1C64ED-4283-4A17-810A-17A2C90A680C}"/>
              </a:ext>
            </a:extLst>
          </p:cNvPr>
          <p:cNvSpPr>
            <a:spLocks noGrp="1"/>
          </p:cNvSpPr>
          <p:nvPr>
            <p:ph sz="quarter" idx="12"/>
          </p:nvPr>
        </p:nvSpPr>
        <p:spPr>
          <a:xfrm>
            <a:off x="359152" y="1171821"/>
            <a:ext cx="8424000" cy="487829"/>
          </a:xfrm>
        </p:spPr>
        <p:txBody>
          <a:bodyPr/>
          <a:lstStyle/>
          <a:p>
            <a:pPr marL="0" indent="0">
              <a:buNone/>
            </a:pPr>
            <a:r>
              <a:rPr lang="en-GB" sz="1400"/>
              <a:t>How we handle our missing data caused by events occurring after treatment has start feeds into a bigger concept known as an </a:t>
            </a:r>
            <a:r>
              <a:rPr lang="en-GB" sz="1400" b="1" i="1" err="1"/>
              <a:t>Estimand</a:t>
            </a:r>
            <a:r>
              <a:rPr lang="en-GB" sz="1400" b="1" i="1"/>
              <a:t>.</a:t>
            </a:r>
            <a:endParaRPr lang="en-GB" sz="1400" i="1"/>
          </a:p>
          <a:p>
            <a:endParaRPr lang="en-GB" sz="1400"/>
          </a:p>
          <a:p>
            <a:endParaRPr lang="en-GB" sz="1400"/>
          </a:p>
          <a:p>
            <a:pPr lvl="1"/>
            <a:endParaRPr lang="en-GB" sz="1200"/>
          </a:p>
        </p:txBody>
      </p:sp>
      <p:sp>
        <p:nvSpPr>
          <p:cNvPr id="3" name="Text Placeholder 2">
            <a:extLst>
              <a:ext uri="{FF2B5EF4-FFF2-40B4-BE49-F238E27FC236}">
                <a16:creationId xmlns:a16="http://schemas.microsoft.com/office/drawing/2014/main" id="{91103CD5-2067-4A95-AB93-9059B374434E}"/>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D2D9E890-485F-49B1-B52C-1F206A030E76}"/>
              </a:ext>
            </a:extLst>
          </p:cNvPr>
          <p:cNvSpPr>
            <a:spLocks noGrp="1"/>
          </p:cNvSpPr>
          <p:nvPr>
            <p:ph type="title"/>
          </p:nvPr>
        </p:nvSpPr>
        <p:spPr/>
        <p:txBody>
          <a:bodyPr/>
          <a:lstStyle/>
          <a:p>
            <a:r>
              <a:rPr lang="en-GB"/>
              <a:t>A piece of the puzzle: Linking to Estimands</a:t>
            </a:r>
          </a:p>
        </p:txBody>
      </p:sp>
      <p:sp>
        <p:nvSpPr>
          <p:cNvPr id="5" name="Slide Number Placeholder 4">
            <a:extLst>
              <a:ext uri="{FF2B5EF4-FFF2-40B4-BE49-F238E27FC236}">
                <a16:creationId xmlns:a16="http://schemas.microsoft.com/office/drawing/2014/main" id="{29A7FEA6-F8BD-44DE-BC93-AE87AE35BECA}"/>
              </a:ext>
            </a:extLst>
          </p:cNvPr>
          <p:cNvSpPr>
            <a:spLocks noGrp="1"/>
          </p:cNvSpPr>
          <p:nvPr>
            <p:ph type="sldNum" sz="quarter" idx="21"/>
          </p:nvPr>
        </p:nvSpPr>
        <p:spPr/>
        <p:txBody>
          <a:bodyPr/>
          <a:lstStyle/>
          <a:p>
            <a:fld id="{9F9F533D-B52E-4A2F-BF72-0ADD2D94BD75}" type="slidenum">
              <a:rPr lang="en-GB" smtClean="0"/>
              <a:pPr/>
              <a:t>15</a:t>
            </a:fld>
            <a:endParaRPr lang="en-GB"/>
          </a:p>
        </p:txBody>
      </p:sp>
      <p:sp>
        <p:nvSpPr>
          <p:cNvPr id="27" name="Rectangle 26">
            <a:extLst>
              <a:ext uri="{FF2B5EF4-FFF2-40B4-BE49-F238E27FC236}">
                <a16:creationId xmlns:a16="http://schemas.microsoft.com/office/drawing/2014/main" id="{216D2D67-7203-4D55-B81E-BEEF2FFCE89B}"/>
              </a:ext>
            </a:extLst>
          </p:cNvPr>
          <p:cNvSpPr/>
          <p:nvPr/>
        </p:nvSpPr>
        <p:spPr>
          <a:xfrm>
            <a:off x="472934" y="1820283"/>
            <a:ext cx="4156846" cy="1815882"/>
          </a:xfrm>
          <a:prstGeom prst="rect">
            <a:avLst/>
          </a:prstGeom>
        </p:spPr>
        <p:txBody>
          <a:bodyPr wrap="square">
            <a:spAutoFit/>
          </a:bodyPr>
          <a:lstStyle/>
          <a:p>
            <a:r>
              <a:rPr lang="en-GB" sz="1400" b="1">
                <a:solidFill>
                  <a:schemeClr val="accent5"/>
                </a:solidFill>
              </a:rPr>
              <a:t>Estimands</a:t>
            </a:r>
          </a:p>
          <a:p>
            <a:pPr marL="285750" indent="-285750">
              <a:buFont typeface="Arial" panose="020B0604020202020204" pitchFamily="34" charset="0"/>
              <a:buChar char="•"/>
            </a:pPr>
            <a:r>
              <a:rPr lang="en-GB" sz="1400"/>
              <a:t>Add transparency around how we are assessing our trial objectives.</a:t>
            </a:r>
          </a:p>
          <a:p>
            <a:pPr marL="285750" indent="-285750">
              <a:buFont typeface="Arial" panose="020B0604020202020204" pitchFamily="34" charset="0"/>
              <a:buChar char="•"/>
            </a:pPr>
            <a:r>
              <a:rPr lang="en-GB" sz="1400"/>
              <a:t>Require teams to explicitly state how they are handling of the data impacted by intercurrent events.</a:t>
            </a:r>
          </a:p>
          <a:p>
            <a:pPr marL="285750" indent="-285750">
              <a:buFont typeface="Arial" panose="020B0604020202020204" pitchFamily="34" charset="0"/>
              <a:buChar char="•"/>
            </a:pPr>
            <a:r>
              <a:rPr lang="en-GB" sz="1400"/>
              <a:t>Aid comparisons making against our competitors</a:t>
            </a:r>
          </a:p>
        </p:txBody>
      </p:sp>
      <p:sp>
        <p:nvSpPr>
          <p:cNvPr id="7" name="Rectangle 6">
            <a:extLst>
              <a:ext uri="{FF2B5EF4-FFF2-40B4-BE49-F238E27FC236}">
                <a16:creationId xmlns:a16="http://schemas.microsoft.com/office/drawing/2014/main" id="{1E4322B3-0668-4075-AF5A-150BEA6F2D6A}"/>
              </a:ext>
            </a:extLst>
          </p:cNvPr>
          <p:cNvSpPr/>
          <p:nvPr/>
        </p:nvSpPr>
        <p:spPr>
          <a:xfrm>
            <a:off x="4629780" y="1717428"/>
            <a:ext cx="3929281" cy="369332"/>
          </a:xfrm>
          <a:prstGeom prst="rect">
            <a:avLst/>
          </a:prstGeom>
        </p:spPr>
        <p:txBody>
          <a:bodyPr wrap="none">
            <a:spAutoFit/>
          </a:bodyPr>
          <a:lstStyle/>
          <a:p>
            <a:r>
              <a:rPr lang="en-GB">
                <a:solidFill>
                  <a:schemeClr val="accent5"/>
                </a:solidFill>
              </a:rPr>
              <a:t>What question are we interested in? </a:t>
            </a:r>
          </a:p>
        </p:txBody>
      </p:sp>
      <p:sp>
        <p:nvSpPr>
          <p:cNvPr id="8" name="Rectangle 7">
            <a:extLst>
              <a:ext uri="{FF2B5EF4-FFF2-40B4-BE49-F238E27FC236}">
                <a16:creationId xmlns:a16="http://schemas.microsoft.com/office/drawing/2014/main" id="{4E422795-CB35-4B67-994E-8E22B75391DF}"/>
              </a:ext>
            </a:extLst>
          </p:cNvPr>
          <p:cNvSpPr/>
          <p:nvPr/>
        </p:nvSpPr>
        <p:spPr>
          <a:xfrm>
            <a:off x="359152" y="3681594"/>
            <a:ext cx="4572000" cy="861774"/>
          </a:xfrm>
          <a:prstGeom prst="rect">
            <a:avLst/>
          </a:prstGeom>
        </p:spPr>
        <p:txBody>
          <a:bodyPr>
            <a:spAutoFit/>
          </a:bodyPr>
          <a:lstStyle/>
          <a:p>
            <a:endParaRPr lang="en-GB" sz="1000"/>
          </a:p>
          <a:p>
            <a:r>
              <a:rPr lang="en-GB" sz="1000"/>
              <a:t>Resources:</a:t>
            </a:r>
          </a:p>
          <a:p>
            <a:r>
              <a:rPr lang="en-GB" sz="1000">
                <a:hlinkClick r:id="rId3"/>
              </a:rPr>
              <a:t>FoS Webinar of Estimands</a:t>
            </a:r>
            <a:endParaRPr lang="en-GB" sz="1000">
              <a:hlinkClick r:id="rId4"/>
            </a:endParaRPr>
          </a:p>
          <a:p>
            <a:r>
              <a:rPr lang="en-GB" sz="1000">
                <a:hlinkClick r:id="rId4"/>
              </a:rPr>
              <a:t>GSK White paper on estimands 25 Oct 2018.pdf (gsk.com)</a:t>
            </a:r>
            <a:endParaRPr lang="en-GB" sz="1000"/>
          </a:p>
          <a:p>
            <a:r>
              <a:rPr lang="en-GB" sz="1000">
                <a:hlinkClick r:id="rId5"/>
              </a:rPr>
              <a:t>Estimand Framework (R1 Addendum to ICH E9)</a:t>
            </a:r>
            <a:endParaRPr lang="en-GB" sz="1000"/>
          </a:p>
        </p:txBody>
      </p:sp>
      <p:sp>
        <p:nvSpPr>
          <p:cNvPr id="9" name="Oval 8">
            <a:extLst>
              <a:ext uri="{FF2B5EF4-FFF2-40B4-BE49-F238E27FC236}">
                <a16:creationId xmlns:a16="http://schemas.microsoft.com/office/drawing/2014/main" id="{660711B2-A083-429F-9679-2329DF50F031}"/>
              </a:ext>
            </a:extLst>
          </p:cNvPr>
          <p:cNvSpPr/>
          <p:nvPr/>
        </p:nvSpPr>
        <p:spPr bwMode="auto">
          <a:xfrm>
            <a:off x="5895568" y="2120761"/>
            <a:ext cx="1400175" cy="1035297"/>
          </a:xfrm>
          <a:prstGeom prst="ellipse">
            <a:avLst/>
          </a:prstGeom>
          <a:solidFill>
            <a:srgbClr val="40488D"/>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rgbClr val="FFFFFF"/>
                </a:solidFill>
                <a:latin typeface="Arial"/>
              </a:rPr>
              <a:t>Target Patient Population</a:t>
            </a:r>
          </a:p>
        </p:txBody>
      </p:sp>
      <p:sp>
        <p:nvSpPr>
          <p:cNvPr id="12" name="Oval 11">
            <a:extLst>
              <a:ext uri="{FF2B5EF4-FFF2-40B4-BE49-F238E27FC236}">
                <a16:creationId xmlns:a16="http://schemas.microsoft.com/office/drawing/2014/main" id="{0CC889BD-AA54-44ED-B3E3-BA9FE76A4C7B}"/>
              </a:ext>
            </a:extLst>
          </p:cNvPr>
          <p:cNvSpPr/>
          <p:nvPr/>
        </p:nvSpPr>
        <p:spPr bwMode="auto">
          <a:xfrm>
            <a:off x="7022883" y="2539320"/>
            <a:ext cx="1400175" cy="1035297"/>
          </a:xfrm>
          <a:prstGeom prst="ellipse">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rgbClr val="FFFFFF"/>
                </a:solidFill>
                <a:latin typeface="Arial"/>
              </a:rPr>
              <a:t>Treatment</a:t>
            </a:r>
          </a:p>
        </p:txBody>
      </p:sp>
      <p:sp>
        <p:nvSpPr>
          <p:cNvPr id="13" name="Oval 12">
            <a:extLst>
              <a:ext uri="{FF2B5EF4-FFF2-40B4-BE49-F238E27FC236}">
                <a16:creationId xmlns:a16="http://schemas.microsoft.com/office/drawing/2014/main" id="{7E4188F2-B889-43D1-8491-751127C75B4A}"/>
              </a:ext>
            </a:extLst>
          </p:cNvPr>
          <p:cNvSpPr/>
          <p:nvPr/>
        </p:nvSpPr>
        <p:spPr bwMode="auto">
          <a:xfrm>
            <a:off x="6493612" y="3332810"/>
            <a:ext cx="1489538" cy="1035297"/>
          </a:xfrm>
          <a:prstGeom prst="ellipse">
            <a:avLst/>
          </a:prstGeom>
          <a:solidFill>
            <a:srgbClr val="40488D"/>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rgbClr val="FFFFFF"/>
                </a:solidFill>
                <a:latin typeface="Arial"/>
              </a:rPr>
              <a:t>Strategy for Intercurrent Events</a:t>
            </a:r>
          </a:p>
        </p:txBody>
      </p:sp>
      <p:sp>
        <p:nvSpPr>
          <p:cNvPr id="15" name="Oval 14">
            <a:extLst>
              <a:ext uri="{FF2B5EF4-FFF2-40B4-BE49-F238E27FC236}">
                <a16:creationId xmlns:a16="http://schemas.microsoft.com/office/drawing/2014/main" id="{87F67864-0080-4D71-B1CE-A3082B15C545}"/>
              </a:ext>
            </a:extLst>
          </p:cNvPr>
          <p:cNvSpPr/>
          <p:nvPr/>
        </p:nvSpPr>
        <p:spPr bwMode="auto">
          <a:xfrm>
            <a:off x="4757364" y="2493471"/>
            <a:ext cx="1400175" cy="1035297"/>
          </a:xfrm>
          <a:prstGeom prst="ellipse">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rgbClr val="FFFFFF"/>
                </a:solidFill>
                <a:latin typeface="Arial"/>
              </a:rPr>
              <a:t>Endpoint of Interest</a:t>
            </a:r>
          </a:p>
        </p:txBody>
      </p:sp>
      <p:sp>
        <p:nvSpPr>
          <p:cNvPr id="14" name="Oval 13">
            <a:extLst>
              <a:ext uri="{FF2B5EF4-FFF2-40B4-BE49-F238E27FC236}">
                <a16:creationId xmlns:a16="http://schemas.microsoft.com/office/drawing/2014/main" id="{C07B38A7-6E06-4A56-8C9C-3FCF2F5E9C65}"/>
              </a:ext>
            </a:extLst>
          </p:cNvPr>
          <p:cNvSpPr/>
          <p:nvPr/>
        </p:nvSpPr>
        <p:spPr bwMode="auto">
          <a:xfrm>
            <a:off x="5182375" y="3316691"/>
            <a:ext cx="1458703" cy="1035297"/>
          </a:xfrm>
          <a:prstGeom prst="ellipse">
            <a:avLst/>
          </a:prstGeom>
          <a:solidFill>
            <a:srgbClr val="40488D"/>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eaLnBrk="0" fontAlgn="auto" hangingPunct="0">
              <a:spcBef>
                <a:spcPts val="0"/>
              </a:spcBef>
              <a:spcAft>
                <a:spcPts val="0"/>
              </a:spcAft>
              <a:buClr>
                <a:schemeClr val="bg1"/>
              </a:buClr>
            </a:pPr>
            <a:r>
              <a:rPr lang="en-GB" sz="1200" b="1" kern="0">
                <a:solidFill>
                  <a:srgbClr val="FFFFFF"/>
                </a:solidFill>
                <a:latin typeface="Arial"/>
              </a:rPr>
              <a:t>Summary Measure</a:t>
            </a:r>
          </a:p>
        </p:txBody>
      </p:sp>
      <p:sp>
        <p:nvSpPr>
          <p:cNvPr id="16" name="Date Placeholder 6">
            <a:extLst>
              <a:ext uri="{FF2B5EF4-FFF2-40B4-BE49-F238E27FC236}">
                <a16:creationId xmlns:a16="http://schemas.microsoft.com/office/drawing/2014/main" id="{76CC3223-9952-4452-94BF-F4A28A5B6F20}"/>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4027539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15"/>
                                        </p:tgtEl>
                                      </p:cBhvr>
                                    </p:animEffect>
                                    <p:animScale>
                                      <p:cBhvr>
                                        <p:cTn id="12" dur="250" autoRev="1" fill="hold"/>
                                        <p:tgtEl>
                                          <p:spTgt spid="15"/>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14"/>
                                        </p:tgtEl>
                                      </p:cBhvr>
                                    </p:animEffect>
                                    <p:animScale>
                                      <p:cBhvr>
                                        <p:cTn id="17" dur="250" autoRev="1" fill="hold"/>
                                        <p:tgtEl>
                                          <p:spTgt spid="14"/>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12"/>
                                        </p:tgtEl>
                                      </p:cBhvr>
                                    </p:animEffect>
                                    <p:animScale>
                                      <p:cBhvr>
                                        <p:cTn id="22" dur="250" autoRev="1" fill="hold"/>
                                        <p:tgtEl>
                                          <p:spTgt spid="12"/>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grpId="0" nodeType="clickEffect">
                                  <p:stCondLst>
                                    <p:cond delay="0"/>
                                  </p:stCondLst>
                                  <p:childTnLst>
                                    <p:animEffect transition="out" filter="fade">
                                      <p:cBhvr>
                                        <p:cTn id="26" dur="500" tmFilter="0, 0; .2, .5; .8, .5; 1, 0"/>
                                        <p:tgtEl>
                                          <p:spTgt spid="13"/>
                                        </p:tgtEl>
                                      </p:cBhvr>
                                    </p:animEffect>
                                    <p:animScale>
                                      <p:cBhvr>
                                        <p:cTn id="27" dur="250"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5"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66010EC-AD24-4A98-BAED-80E15AFBB9E5}"/>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607C444A-1956-4B85-8EE3-D37FFFD82961}"/>
              </a:ext>
            </a:extLst>
          </p:cNvPr>
          <p:cNvSpPr>
            <a:spLocks noGrp="1"/>
          </p:cNvSpPr>
          <p:nvPr>
            <p:ph type="title"/>
          </p:nvPr>
        </p:nvSpPr>
        <p:spPr/>
        <p:txBody>
          <a:bodyPr/>
          <a:lstStyle/>
          <a:p>
            <a:r>
              <a:rPr lang="en-GB"/>
              <a:t>Estimand example: INTREPID STUDY</a:t>
            </a:r>
          </a:p>
        </p:txBody>
      </p:sp>
      <p:graphicFrame>
        <p:nvGraphicFramePr>
          <p:cNvPr id="5" name="Table 8">
            <a:extLst>
              <a:ext uri="{FF2B5EF4-FFF2-40B4-BE49-F238E27FC236}">
                <a16:creationId xmlns:a16="http://schemas.microsoft.com/office/drawing/2014/main" id="{05D4039B-85EB-4019-96EE-2FB4684EBF3D}"/>
              </a:ext>
            </a:extLst>
          </p:cNvPr>
          <p:cNvGraphicFramePr>
            <a:graphicFrameLocks/>
          </p:cNvGraphicFramePr>
          <p:nvPr>
            <p:extLst>
              <p:ext uri="{D42A27DB-BD31-4B8C-83A1-F6EECF244321}">
                <p14:modId xmlns:p14="http://schemas.microsoft.com/office/powerpoint/2010/main" val="1955053010"/>
              </p:ext>
            </p:extLst>
          </p:nvPr>
        </p:nvGraphicFramePr>
        <p:xfrm>
          <a:off x="73991" y="832052"/>
          <a:ext cx="5223873" cy="4081404"/>
        </p:xfrm>
        <a:graphic>
          <a:graphicData uri="http://schemas.openxmlformats.org/drawingml/2006/table">
            <a:tbl>
              <a:tblPr firstRow="1" bandRow="1">
                <a:tableStyleId>{5C22544A-7EE6-4342-B048-85BDC9FD1C3A}</a:tableStyleId>
              </a:tblPr>
              <a:tblGrid>
                <a:gridCol w="1773663">
                  <a:extLst>
                    <a:ext uri="{9D8B030D-6E8A-4147-A177-3AD203B41FA5}">
                      <a16:colId xmlns:a16="http://schemas.microsoft.com/office/drawing/2014/main" val="1644270319"/>
                    </a:ext>
                  </a:extLst>
                </a:gridCol>
                <a:gridCol w="3450210">
                  <a:extLst>
                    <a:ext uri="{9D8B030D-6E8A-4147-A177-3AD203B41FA5}">
                      <a16:colId xmlns:a16="http://schemas.microsoft.com/office/drawing/2014/main" val="19030306"/>
                    </a:ext>
                  </a:extLst>
                </a:gridCol>
              </a:tblGrid>
              <a:tr h="226488">
                <a:tc>
                  <a:txBody>
                    <a:bodyPr/>
                    <a:lstStyle/>
                    <a:p>
                      <a:pPr marL="0" algn="ctr" defTabSz="914400" rtl="0" eaLnBrk="1" latinLnBrk="0" hangingPunct="1">
                        <a:spcAft>
                          <a:spcPts val="0"/>
                        </a:spcAft>
                      </a:pPr>
                      <a:endParaRPr lang="en-GB" sz="1100" b="1" kern="1200">
                        <a:solidFill>
                          <a:srgbClr val="001A54"/>
                        </a:solidFill>
                        <a:effectLst/>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b="1" kern="1200">
                          <a:effectLst/>
                        </a:rPr>
                        <a:t>Primary Estimand</a:t>
                      </a:r>
                      <a:endParaRPr lang="en-GB" sz="1100" b="1" kern="1200">
                        <a:solidFill>
                          <a:srgbClr val="001A54"/>
                        </a:solidFill>
                        <a:effectLst/>
                        <a:latin typeface="+mn-lt"/>
                        <a:ea typeface="+mn-ea"/>
                        <a:cs typeface="+mn-cs"/>
                      </a:endParaRPr>
                    </a:p>
                  </a:txBody>
                  <a:tcPr marL="25400" marR="25400" marT="25400" marB="25400"/>
                </a:tc>
                <a:extLst>
                  <a:ext uri="{0D108BD9-81ED-4DB2-BD59-A6C34878D82A}">
                    <a16:rowId xmlns:a16="http://schemas.microsoft.com/office/drawing/2014/main" val="3662599127"/>
                  </a:ext>
                </a:extLst>
              </a:tr>
              <a:tr h="316029">
                <a:tc>
                  <a:txBody>
                    <a:bodyPr/>
                    <a:lstStyle/>
                    <a:p>
                      <a:pPr marL="0" indent="0">
                        <a:buFont typeface="Arial" panose="020B0604020202020204" pitchFamily="34" charset="0"/>
                        <a:buNone/>
                      </a:pPr>
                      <a:r>
                        <a:rPr lang="en-GB" sz="1400"/>
                        <a:t>Population</a:t>
                      </a:r>
                    </a:p>
                  </a:txBody>
                  <a:tcPr/>
                </a:tc>
                <a:tc>
                  <a:txBody>
                    <a:bodyPr/>
                    <a:lstStyle/>
                    <a:p>
                      <a:pPr marL="0" indent="0">
                        <a:buFont typeface="Arial" panose="020B0604020202020204" pitchFamily="34" charset="0"/>
                        <a:buNone/>
                      </a:pPr>
                      <a:r>
                        <a:rPr lang="en-GB" sz="1400" kern="1200">
                          <a:solidFill>
                            <a:schemeClr val="dk1"/>
                          </a:solidFill>
                          <a:latin typeface="+mn-lt"/>
                          <a:ea typeface="+mn-ea"/>
                          <a:cs typeface="+mn-cs"/>
                        </a:rPr>
                        <a:t>ITT</a:t>
                      </a:r>
                    </a:p>
                  </a:txBody>
                  <a:tcPr/>
                </a:tc>
                <a:extLst>
                  <a:ext uri="{0D108BD9-81ED-4DB2-BD59-A6C34878D82A}">
                    <a16:rowId xmlns:a16="http://schemas.microsoft.com/office/drawing/2014/main" val="2472459762"/>
                  </a:ext>
                </a:extLst>
              </a:tr>
              <a:tr h="316029">
                <a:tc>
                  <a:txBody>
                    <a:bodyPr/>
                    <a:lstStyle/>
                    <a:p>
                      <a:pPr marL="0" indent="0">
                        <a:buFont typeface="Arial" panose="020B0604020202020204" pitchFamily="34" charset="0"/>
                        <a:buNone/>
                      </a:pPr>
                      <a:r>
                        <a:rPr lang="en-GB" sz="1400"/>
                        <a:t>Treatment</a:t>
                      </a:r>
                    </a:p>
                  </a:txBody>
                  <a:tcPr/>
                </a:tc>
                <a:tc>
                  <a:txBody>
                    <a:bodyPr/>
                    <a:lstStyle/>
                    <a:p>
                      <a:pPr marL="0" algn="l" defTabSz="914400" rtl="0" eaLnBrk="1" latinLnBrk="0" hangingPunct="1">
                        <a:spcAft>
                          <a:spcPts val="0"/>
                        </a:spcAft>
                      </a:pPr>
                      <a:r>
                        <a:rPr lang="en-GB" sz="1400" kern="1200">
                          <a:solidFill>
                            <a:schemeClr val="dk1"/>
                          </a:solidFill>
                          <a:latin typeface="+mn-lt"/>
                          <a:ea typeface="+mn-ea"/>
                          <a:cs typeface="+mn-cs"/>
                        </a:rPr>
                        <a:t>FF/UMEC/VI vs Non-Ellipta MITT </a:t>
                      </a:r>
                    </a:p>
                  </a:txBody>
                  <a:tcPr marL="25400" marR="25400" marT="25400" marB="25400"/>
                </a:tc>
                <a:extLst>
                  <a:ext uri="{0D108BD9-81ED-4DB2-BD59-A6C34878D82A}">
                    <a16:rowId xmlns:a16="http://schemas.microsoft.com/office/drawing/2014/main" val="1394089863"/>
                  </a:ext>
                </a:extLst>
              </a:tr>
              <a:tr h="316029">
                <a:tc>
                  <a:txBody>
                    <a:bodyPr/>
                    <a:lstStyle/>
                    <a:p>
                      <a:pPr marL="0" indent="0">
                        <a:buFont typeface="Arial" panose="020B0604020202020204" pitchFamily="34" charset="0"/>
                        <a:buNone/>
                      </a:pPr>
                      <a:r>
                        <a:rPr lang="en-GB" sz="1400"/>
                        <a:t>Endpoint</a:t>
                      </a:r>
                    </a:p>
                  </a:txBody>
                  <a:tcPr/>
                </a:tc>
                <a:tc>
                  <a:txBody>
                    <a:bodyPr/>
                    <a:lstStyle/>
                    <a:p>
                      <a:pPr marL="0" indent="0">
                        <a:buFont typeface="Arial" panose="020B0604020202020204" pitchFamily="34" charset="0"/>
                        <a:buNone/>
                      </a:pPr>
                      <a:r>
                        <a:rPr lang="en-GB" sz="1400" kern="1200">
                          <a:solidFill>
                            <a:schemeClr val="dk1"/>
                          </a:solidFill>
                          <a:latin typeface="+mn-lt"/>
                          <a:ea typeface="+mn-ea"/>
                          <a:cs typeface="+mn-cs"/>
                        </a:rPr>
                        <a:t>CAT response status</a:t>
                      </a:r>
                    </a:p>
                  </a:txBody>
                  <a:tcPr/>
                </a:tc>
                <a:extLst>
                  <a:ext uri="{0D108BD9-81ED-4DB2-BD59-A6C34878D82A}">
                    <a16:rowId xmlns:a16="http://schemas.microsoft.com/office/drawing/2014/main" val="2986887222"/>
                  </a:ext>
                </a:extLst>
              </a:tr>
              <a:tr h="316029">
                <a:tc>
                  <a:txBody>
                    <a:bodyPr/>
                    <a:lstStyle/>
                    <a:p>
                      <a:pPr marL="0" indent="0">
                        <a:buFont typeface="Arial" panose="020B0604020202020204" pitchFamily="34" charset="0"/>
                        <a:buNone/>
                      </a:pPr>
                      <a:r>
                        <a:rPr lang="en-GB" sz="1400"/>
                        <a:t>Summary measure</a:t>
                      </a:r>
                    </a:p>
                  </a:txBody>
                  <a:tcPr/>
                </a:tc>
                <a:tc>
                  <a:txBody>
                    <a:bodyPr/>
                    <a:lstStyle/>
                    <a:p>
                      <a:pPr marL="0" indent="0">
                        <a:buFont typeface="Arial" panose="020B0604020202020204" pitchFamily="34" charset="0"/>
                        <a:buNone/>
                      </a:pPr>
                      <a:r>
                        <a:rPr lang="en-GB" sz="1400"/>
                        <a:t>Odds Ratio</a:t>
                      </a:r>
                    </a:p>
                  </a:txBody>
                  <a:tcPr/>
                </a:tc>
                <a:extLst>
                  <a:ext uri="{0D108BD9-81ED-4DB2-BD59-A6C34878D82A}">
                    <a16:rowId xmlns:a16="http://schemas.microsoft.com/office/drawing/2014/main" val="1420709500"/>
                  </a:ext>
                </a:extLst>
              </a:tr>
              <a:tr h="2275415">
                <a:tc>
                  <a:txBody>
                    <a:bodyPr/>
                    <a:lstStyle/>
                    <a:p>
                      <a:pPr marL="0" indent="0">
                        <a:buFont typeface="Arial" panose="020B0604020202020204" pitchFamily="34" charset="0"/>
                        <a:buNone/>
                      </a:pPr>
                      <a:r>
                        <a:rPr lang="en-GB" sz="1400"/>
                        <a:t>Intercurrent events</a:t>
                      </a:r>
                    </a:p>
                  </a:txBody>
                  <a:tcPr/>
                </a:tc>
                <a:tc>
                  <a:txBody>
                    <a:bodyPr/>
                    <a:lstStyle/>
                    <a:p>
                      <a:pPr marL="342900" indent="-342900">
                        <a:buFont typeface="+mj-lt"/>
                        <a:buAutoNum type="alphaLcPeriod"/>
                      </a:pPr>
                      <a:r>
                        <a:rPr lang="en-GB" sz="1400"/>
                        <a:t>Discontinued randomised treatment.</a:t>
                      </a:r>
                    </a:p>
                    <a:p>
                      <a:pPr marL="342900" indent="-342900">
                        <a:buFont typeface="+mj-lt"/>
                        <a:buAutoNum type="alphaLcPeriod"/>
                      </a:pPr>
                      <a:r>
                        <a:rPr lang="en-GB" sz="1400"/>
                        <a:t>Modified randomised treatment regime.</a:t>
                      </a:r>
                    </a:p>
                    <a:p>
                      <a:pPr marL="342900" indent="-342900">
                        <a:buFont typeface="+mj-lt"/>
                        <a:buAutoNum type="alphaLcPeriod"/>
                      </a:pPr>
                      <a:r>
                        <a:rPr lang="en-GB" sz="1400"/>
                        <a:t>Changed pulmonary rehab status.</a:t>
                      </a:r>
                    </a:p>
                    <a:p>
                      <a:pPr marL="342900" indent="-342900">
                        <a:buFont typeface="+mj-lt"/>
                        <a:buAutoNum type="alphaLcPeriod"/>
                      </a:pPr>
                      <a:r>
                        <a:rPr lang="en-GB" sz="1400"/>
                        <a:t>Started oxygen therapy</a:t>
                      </a:r>
                      <a:endParaRPr lang="en-GB" sz="600"/>
                    </a:p>
                    <a:p>
                      <a:pPr marL="0" indent="0">
                        <a:buFont typeface="+mj-lt"/>
                        <a:buNone/>
                      </a:pPr>
                      <a:endParaRPr lang="en-GB" sz="1400"/>
                    </a:p>
                    <a:p>
                      <a:pPr marL="0" indent="0">
                        <a:buFont typeface="+mj-lt"/>
                        <a:buNone/>
                      </a:pPr>
                      <a:r>
                        <a:rPr lang="en-GB" sz="1200"/>
                        <a:t>For </a:t>
                      </a:r>
                      <a:r>
                        <a:rPr lang="en-GB" sz="1200" i="1" u="sng"/>
                        <a:t>a</a:t>
                      </a:r>
                      <a:r>
                        <a:rPr lang="en-GB" sz="1200"/>
                        <a:t> data was used if available.  For </a:t>
                      </a:r>
                      <a:r>
                        <a:rPr lang="en-GB" sz="1200" i="1" u="sng"/>
                        <a:t>b</a:t>
                      </a:r>
                      <a:r>
                        <a:rPr lang="en-GB" sz="1200"/>
                        <a:t>, </a:t>
                      </a:r>
                      <a:r>
                        <a:rPr lang="en-GB" sz="1200" i="1" u="sng"/>
                        <a:t>c</a:t>
                      </a:r>
                      <a:r>
                        <a:rPr lang="en-GB" sz="1200"/>
                        <a:t> and </a:t>
                      </a:r>
                      <a:r>
                        <a:rPr lang="en-GB" sz="1200" i="1" u="sng"/>
                        <a:t>d</a:t>
                      </a:r>
                      <a:r>
                        <a:rPr lang="en-GB" sz="1200"/>
                        <a:t> the patient was set as a non-responder.</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400" b="1"/>
                        <a:t>Missing data was imputed using multiple imputation assuming a MAR assumption.</a:t>
                      </a:r>
                    </a:p>
                    <a:p>
                      <a:pPr marL="0" indent="0">
                        <a:buFont typeface="+mj-lt"/>
                        <a:buNone/>
                      </a:pPr>
                      <a:endParaRPr lang="en-GB" sz="1400"/>
                    </a:p>
                  </a:txBody>
                  <a:tcPr marL="36000" marR="36000"/>
                </a:tc>
                <a:extLst>
                  <a:ext uri="{0D108BD9-81ED-4DB2-BD59-A6C34878D82A}">
                    <a16:rowId xmlns:a16="http://schemas.microsoft.com/office/drawing/2014/main" val="4078431317"/>
                  </a:ext>
                </a:extLst>
              </a:tr>
            </a:tbl>
          </a:graphicData>
        </a:graphic>
      </p:graphicFrame>
      <p:graphicFrame>
        <p:nvGraphicFramePr>
          <p:cNvPr id="9" name="Table 8">
            <a:extLst>
              <a:ext uri="{FF2B5EF4-FFF2-40B4-BE49-F238E27FC236}">
                <a16:creationId xmlns:a16="http://schemas.microsoft.com/office/drawing/2014/main" id="{4CAFF4FE-1B15-4ECE-A31B-FE5B04C24C20}"/>
              </a:ext>
            </a:extLst>
          </p:cNvPr>
          <p:cNvGraphicFramePr>
            <a:graphicFrameLocks/>
          </p:cNvGraphicFramePr>
          <p:nvPr>
            <p:extLst>
              <p:ext uri="{D42A27DB-BD31-4B8C-83A1-F6EECF244321}">
                <p14:modId xmlns:p14="http://schemas.microsoft.com/office/powerpoint/2010/main" val="628009638"/>
              </p:ext>
            </p:extLst>
          </p:nvPr>
        </p:nvGraphicFramePr>
        <p:xfrm>
          <a:off x="73992" y="832052"/>
          <a:ext cx="8996017" cy="4233804"/>
        </p:xfrm>
        <a:graphic>
          <a:graphicData uri="http://schemas.openxmlformats.org/drawingml/2006/table">
            <a:tbl>
              <a:tblPr firstRow="1" bandRow="1">
                <a:tableStyleId>{5C22544A-7EE6-4342-B048-85BDC9FD1C3A}</a:tableStyleId>
              </a:tblPr>
              <a:tblGrid>
                <a:gridCol w="1773663">
                  <a:extLst>
                    <a:ext uri="{9D8B030D-6E8A-4147-A177-3AD203B41FA5}">
                      <a16:colId xmlns:a16="http://schemas.microsoft.com/office/drawing/2014/main" val="1644270319"/>
                    </a:ext>
                  </a:extLst>
                </a:gridCol>
                <a:gridCol w="3450210">
                  <a:extLst>
                    <a:ext uri="{9D8B030D-6E8A-4147-A177-3AD203B41FA5}">
                      <a16:colId xmlns:a16="http://schemas.microsoft.com/office/drawing/2014/main" val="19030306"/>
                    </a:ext>
                  </a:extLst>
                </a:gridCol>
                <a:gridCol w="3772144">
                  <a:extLst>
                    <a:ext uri="{9D8B030D-6E8A-4147-A177-3AD203B41FA5}">
                      <a16:colId xmlns:a16="http://schemas.microsoft.com/office/drawing/2014/main" val="1130890994"/>
                    </a:ext>
                  </a:extLst>
                </a:gridCol>
              </a:tblGrid>
              <a:tr h="226488">
                <a:tc>
                  <a:txBody>
                    <a:bodyPr/>
                    <a:lstStyle/>
                    <a:p>
                      <a:pPr marL="0" algn="ctr" defTabSz="914400" rtl="0" eaLnBrk="1" latinLnBrk="0" hangingPunct="1">
                        <a:spcAft>
                          <a:spcPts val="0"/>
                        </a:spcAft>
                      </a:pPr>
                      <a:endParaRPr lang="en-GB" sz="1100" b="1" kern="1200">
                        <a:solidFill>
                          <a:srgbClr val="001A54"/>
                        </a:solidFill>
                        <a:effectLst/>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b="1" kern="1200">
                          <a:effectLst/>
                        </a:rPr>
                        <a:t>Primary Estimand</a:t>
                      </a:r>
                      <a:endParaRPr lang="en-GB" sz="1100" b="1" kern="1200">
                        <a:solidFill>
                          <a:srgbClr val="001A54"/>
                        </a:solidFill>
                        <a:effectLst/>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b="1" kern="1200">
                          <a:effectLst/>
                        </a:rPr>
                        <a:t>Supportive Estimand</a:t>
                      </a:r>
                      <a:endParaRPr lang="en-GB" sz="1100" b="1" kern="1200">
                        <a:solidFill>
                          <a:srgbClr val="001A54"/>
                        </a:solidFill>
                        <a:effectLst/>
                        <a:latin typeface="+mn-lt"/>
                        <a:ea typeface="+mn-ea"/>
                        <a:cs typeface="+mn-cs"/>
                      </a:endParaRPr>
                    </a:p>
                  </a:txBody>
                  <a:tcPr marL="25400" marR="25400" marT="25400" marB="25400">
                    <a:solidFill>
                      <a:schemeClr val="accent5"/>
                    </a:solidFill>
                  </a:tcPr>
                </a:tc>
                <a:extLst>
                  <a:ext uri="{0D108BD9-81ED-4DB2-BD59-A6C34878D82A}">
                    <a16:rowId xmlns:a16="http://schemas.microsoft.com/office/drawing/2014/main" val="3662599127"/>
                  </a:ext>
                </a:extLst>
              </a:tr>
              <a:tr h="316029">
                <a:tc>
                  <a:txBody>
                    <a:bodyPr/>
                    <a:lstStyle/>
                    <a:p>
                      <a:pPr marL="0" indent="0">
                        <a:buFont typeface="Arial" panose="020B0604020202020204" pitchFamily="34" charset="0"/>
                        <a:buNone/>
                      </a:pPr>
                      <a:r>
                        <a:rPr lang="en-GB" sz="1400"/>
                        <a:t>Population</a:t>
                      </a:r>
                    </a:p>
                  </a:txBody>
                  <a:tcPr/>
                </a:tc>
                <a:tc>
                  <a:txBody>
                    <a:bodyPr/>
                    <a:lstStyle/>
                    <a:p>
                      <a:pPr marL="0" indent="0">
                        <a:buFont typeface="Arial" panose="020B0604020202020204" pitchFamily="34" charset="0"/>
                        <a:buNone/>
                      </a:pPr>
                      <a:r>
                        <a:rPr lang="en-GB" sz="1400" kern="1200">
                          <a:solidFill>
                            <a:schemeClr val="dk1"/>
                          </a:solidFill>
                          <a:latin typeface="+mn-lt"/>
                          <a:ea typeface="+mn-ea"/>
                          <a:cs typeface="+mn-cs"/>
                        </a:rPr>
                        <a:t>ITT</a:t>
                      </a:r>
                    </a:p>
                  </a:txBody>
                  <a:tcPr/>
                </a:tc>
                <a:tc>
                  <a:txBody>
                    <a:bodyPr/>
                    <a:lstStyle/>
                    <a:p>
                      <a:pPr marL="0" indent="0">
                        <a:buFont typeface="Arial" panose="020B0604020202020204" pitchFamily="34" charset="0"/>
                        <a:buNone/>
                      </a:pPr>
                      <a:r>
                        <a:rPr lang="en-GB" sz="1400" kern="1200">
                          <a:solidFill>
                            <a:schemeClr val="dk1"/>
                          </a:solidFill>
                          <a:latin typeface="+mn-lt"/>
                          <a:ea typeface="+mn-ea"/>
                          <a:cs typeface="+mn-cs"/>
                        </a:rPr>
                        <a:t>ITT</a:t>
                      </a:r>
                    </a:p>
                  </a:txBody>
                  <a:tcPr>
                    <a:solidFill>
                      <a:schemeClr val="accent5">
                        <a:lumMod val="20000"/>
                        <a:lumOff val="80000"/>
                      </a:schemeClr>
                    </a:solidFill>
                  </a:tcPr>
                </a:tc>
                <a:extLst>
                  <a:ext uri="{0D108BD9-81ED-4DB2-BD59-A6C34878D82A}">
                    <a16:rowId xmlns:a16="http://schemas.microsoft.com/office/drawing/2014/main" val="2472459762"/>
                  </a:ext>
                </a:extLst>
              </a:tr>
              <a:tr h="316029">
                <a:tc>
                  <a:txBody>
                    <a:bodyPr/>
                    <a:lstStyle/>
                    <a:p>
                      <a:pPr marL="0" indent="0">
                        <a:buFont typeface="Arial" panose="020B0604020202020204" pitchFamily="34" charset="0"/>
                        <a:buNone/>
                      </a:pPr>
                      <a:r>
                        <a:rPr lang="en-GB" sz="1400"/>
                        <a:t>Treatment</a:t>
                      </a:r>
                    </a:p>
                  </a:txBody>
                  <a:tcPr/>
                </a:tc>
                <a:tc>
                  <a:txBody>
                    <a:bodyPr/>
                    <a:lstStyle/>
                    <a:p>
                      <a:pPr marL="0" algn="l" defTabSz="914400" rtl="0" eaLnBrk="1" latinLnBrk="0" hangingPunct="1">
                        <a:spcAft>
                          <a:spcPts val="0"/>
                        </a:spcAft>
                      </a:pPr>
                      <a:r>
                        <a:rPr lang="en-GB" sz="1400" kern="1200">
                          <a:solidFill>
                            <a:schemeClr val="dk1"/>
                          </a:solidFill>
                          <a:latin typeface="+mn-lt"/>
                          <a:ea typeface="+mn-ea"/>
                          <a:cs typeface="+mn-cs"/>
                        </a:rPr>
                        <a:t>FF/UMEC/VI vs Non-Ellipta MITT </a:t>
                      </a:r>
                    </a:p>
                  </a:txBody>
                  <a:tcPr marL="25400" marR="25400" marT="25400" marB="25400"/>
                </a:tc>
                <a:tc>
                  <a:txBody>
                    <a:bodyPr/>
                    <a:lstStyle/>
                    <a:p>
                      <a:pPr marL="0" algn="l" defTabSz="914400" rtl="0" eaLnBrk="1" latinLnBrk="0" hangingPunct="1">
                        <a:spcAft>
                          <a:spcPts val="0"/>
                        </a:spcAft>
                      </a:pPr>
                      <a:r>
                        <a:rPr lang="en-GB" sz="1400" kern="1200">
                          <a:solidFill>
                            <a:schemeClr val="dk1"/>
                          </a:solidFill>
                          <a:latin typeface="+mn-lt"/>
                          <a:ea typeface="+mn-ea"/>
                          <a:cs typeface="+mn-cs"/>
                        </a:rPr>
                        <a:t>FF/UMEC/VI vs Non-Ellipta MITT </a:t>
                      </a:r>
                    </a:p>
                  </a:txBody>
                  <a:tcPr marL="25400" marR="25400" marT="25400" marB="25400">
                    <a:solidFill>
                      <a:schemeClr val="accent5">
                        <a:lumMod val="20000"/>
                        <a:lumOff val="80000"/>
                      </a:schemeClr>
                    </a:solidFill>
                  </a:tcPr>
                </a:tc>
                <a:extLst>
                  <a:ext uri="{0D108BD9-81ED-4DB2-BD59-A6C34878D82A}">
                    <a16:rowId xmlns:a16="http://schemas.microsoft.com/office/drawing/2014/main" val="1394089863"/>
                  </a:ext>
                </a:extLst>
              </a:tr>
              <a:tr h="316029">
                <a:tc>
                  <a:txBody>
                    <a:bodyPr/>
                    <a:lstStyle/>
                    <a:p>
                      <a:pPr marL="0" indent="0">
                        <a:buFont typeface="Arial" panose="020B0604020202020204" pitchFamily="34" charset="0"/>
                        <a:buNone/>
                      </a:pPr>
                      <a:r>
                        <a:rPr lang="en-GB" sz="1400"/>
                        <a:t>Endpoint</a:t>
                      </a:r>
                    </a:p>
                  </a:txBody>
                  <a:tcPr/>
                </a:tc>
                <a:tc>
                  <a:txBody>
                    <a:bodyPr/>
                    <a:lstStyle/>
                    <a:p>
                      <a:pPr marL="0" indent="0">
                        <a:buFont typeface="Arial" panose="020B0604020202020204" pitchFamily="34" charset="0"/>
                        <a:buNone/>
                      </a:pPr>
                      <a:r>
                        <a:rPr lang="en-GB" sz="1400" kern="1200">
                          <a:solidFill>
                            <a:schemeClr val="dk1"/>
                          </a:solidFill>
                          <a:latin typeface="+mn-lt"/>
                          <a:ea typeface="+mn-ea"/>
                          <a:cs typeface="+mn-cs"/>
                        </a:rPr>
                        <a:t>CAT response status</a:t>
                      </a:r>
                    </a:p>
                  </a:txBody>
                  <a:tcPr/>
                </a:tc>
                <a:tc>
                  <a:txBody>
                    <a:bodyPr/>
                    <a:lstStyle/>
                    <a:p>
                      <a:pPr marL="0" indent="0">
                        <a:buFont typeface="Arial" panose="020B0604020202020204" pitchFamily="34" charset="0"/>
                        <a:buNone/>
                      </a:pPr>
                      <a:r>
                        <a:rPr lang="en-GB" sz="1400" kern="1200">
                          <a:solidFill>
                            <a:schemeClr val="dk1"/>
                          </a:solidFill>
                          <a:latin typeface="+mn-lt"/>
                          <a:ea typeface="+mn-ea"/>
                          <a:cs typeface="+mn-cs"/>
                        </a:rPr>
                        <a:t>CAT response status</a:t>
                      </a:r>
                    </a:p>
                  </a:txBody>
                  <a:tcPr>
                    <a:solidFill>
                      <a:schemeClr val="accent5">
                        <a:lumMod val="20000"/>
                        <a:lumOff val="80000"/>
                      </a:schemeClr>
                    </a:solidFill>
                  </a:tcPr>
                </a:tc>
                <a:extLst>
                  <a:ext uri="{0D108BD9-81ED-4DB2-BD59-A6C34878D82A}">
                    <a16:rowId xmlns:a16="http://schemas.microsoft.com/office/drawing/2014/main" val="2986887222"/>
                  </a:ext>
                </a:extLst>
              </a:tr>
              <a:tr h="316029">
                <a:tc>
                  <a:txBody>
                    <a:bodyPr/>
                    <a:lstStyle/>
                    <a:p>
                      <a:pPr marL="0" indent="0">
                        <a:buFont typeface="Arial" panose="020B0604020202020204" pitchFamily="34" charset="0"/>
                        <a:buNone/>
                      </a:pPr>
                      <a:r>
                        <a:rPr lang="en-GB" sz="1400"/>
                        <a:t>Summary measure</a:t>
                      </a:r>
                    </a:p>
                  </a:txBody>
                  <a:tcPr/>
                </a:tc>
                <a:tc>
                  <a:txBody>
                    <a:bodyPr/>
                    <a:lstStyle/>
                    <a:p>
                      <a:pPr marL="0" indent="0">
                        <a:buFont typeface="Arial" panose="020B0604020202020204" pitchFamily="34" charset="0"/>
                        <a:buNone/>
                      </a:pPr>
                      <a:r>
                        <a:rPr lang="en-GB" sz="1400"/>
                        <a:t>Odds Ratio</a:t>
                      </a:r>
                    </a:p>
                  </a:txBody>
                  <a:tcPr/>
                </a:tc>
                <a:tc>
                  <a:txBody>
                    <a:bodyPr/>
                    <a:lstStyle/>
                    <a:p>
                      <a:pPr marL="0" indent="0">
                        <a:buFont typeface="Arial" panose="020B0604020202020204" pitchFamily="34" charset="0"/>
                        <a:buNone/>
                      </a:pPr>
                      <a:r>
                        <a:rPr lang="en-GB" sz="1400"/>
                        <a:t>Odds Ratio</a:t>
                      </a:r>
                    </a:p>
                  </a:txBody>
                  <a:tcPr>
                    <a:solidFill>
                      <a:schemeClr val="accent5">
                        <a:lumMod val="20000"/>
                        <a:lumOff val="80000"/>
                      </a:schemeClr>
                    </a:solidFill>
                  </a:tcPr>
                </a:tc>
                <a:extLst>
                  <a:ext uri="{0D108BD9-81ED-4DB2-BD59-A6C34878D82A}">
                    <a16:rowId xmlns:a16="http://schemas.microsoft.com/office/drawing/2014/main" val="1420709500"/>
                  </a:ext>
                </a:extLst>
              </a:tr>
              <a:tr h="2275415">
                <a:tc>
                  <a:txBody>
                    <a:bodyPr/>
                    <a:lstStyle/>
                    <a:p>
                      <a:pPr marL="0" indent="0">
                        <a:buFont typeface="Arial" panose="020B0604020202020204" pitchFamily="34" charset="0"/>
                        <a:buNone/>
                      </a:pPr>
                      <a:r>
                        <a:rPr lang="en-GB" sz="1400"/>
                        <a:t>Intercurrent events</a:t>
                      </a:r>
                    </a:p>
                  </a:txBody>
                  <a:tcPr/>
                </a:tc>
                <a:tc>
                  <a:txBody>
                    <a:bodyPr/>
                    <a:lstStyle/>
                    <a:p>
                      <a:pPr marL="342900" indent="-342900">
                        <a:buFont typeface="+mj-lt"/>
                        <a:buAutoNum type="alphaLcPeriod"/>
                      </a:pPr>
                      <a:r>
                        <a:rPr lang="en-GB" sz="1400"/>
                        <a:t>Discontinued randomised treatment.</a:t>
                      </a:r>
                    </a:p>
                    <a:p>
                      <a:pPr marL="342900" indent="-342900">
                        <a:buFont typeface="+mj-lt"/>
                        <a:buAutoNum type="alphaLcPeriod"/>
                      </a:pPr>
                      <a:r>
                        <a:rPr lang="en-GB" sz="1400"/>
                        <a:t>Modified randomised treatment regime.</a:t>
                      </a:r>
                    </a:p>
                    <a:p>
                      <a:pPr marL="342900" indent="-342900">
                        <a:buFont typeface="+mj-lt"/>
                        <a:buAutoNum type="alphaLcPeriod"/>
                      </a:pPr>
                      <a:r>
                        <a:rPr lang="en-GB" sz="1400"/>
                        <a:t>Changed pulmonary rehab status.</a:t>
                      </a:r>
                    </a:p>
                    <a:p>
                      <a:pPr marL="342900" indent="-342900">
                        <a:buFont typeface="+mj-lt"/>
                        <a:buAutoNum type="alphaLcPeriod"/>
                      </a:pPr>
                      <a:r>
                        <a:rPr lang="en-GB" sz="1400"/>
                        <a:t>Started oxygen therapy</a:t>
                      </a:r>
                      <a:endParaRPr lang="en-GB" sz="600"/>
                    </a:p>
                    <a:p>
                      <a:pPr marL="0" indent="0">
                        <a:buFont typeface="+mj-lt"/>
                        <a:buNone/>
                      </a:pPr>
                      <a:endParaRPr lang="en-GB" sz="1400"/>
                    </a:p>
                    <a:p>
                      <a:pPr marL="0" indent="0">
                        <a:buFont typeface="+mj-lt"/>
                        <a:buNone/>
                      </a:pPr>
                      <a:r>
                        <a:rPr lang="en-GB" sz="1200"/>
                        <a:t>For </a:t>
                      </a:r>
                      <a:r>
                        <a:rPr lang="en-GB" sz="1200" i="1" u="sng"/>
                        <a:t>a</a:t>
                      </a:r>
                      <a:r>
                        <a:rPr lang="en-GB" sz="1200"/>
                        <a:t> data was used if available.  For </a:t>
                      </a:r>
                      <a:r>
                        <a:rPr lang="en-GB" sz="1200" i="1" u="sng"/>
                        <a:t>b</a:t>
                      </a:r>
                      <a:r>
                        <a:rPr lang="en-GB" sz="1200"/>
                        <a:t>, </a:t>
                      </a:r>
                      <a:r>
                        <a:rPr lang="en-GB" sz="1200" i="1" u="sng"/>
                        <a:t>c</a:t>
                      </a:r>
                      <a:r>
                        <a:rPr lang="en-GB" sz="1200"/>
                        <a:t> and </a:t>
                      </a:r>
                      <a:r>
                        <a:rPr lang="en-GB" sz="1200" i="1" u="sng"/>
                        <a:t>d</a:t>
                      </a:r>
                      <a:r>
                        <a:rPr lang="en-GB" sz="1200"/>
                        <a:t> the patient was set as a non-responder.</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400" b="1"/>
                        <a:t>Missing data was imputed using multiple imputation assuming a MAR assumption.</a:t>
                      </a:r>
                    </a:p>
                    <a:p>
                      <a:pPr marL="0" indent="0">
                        <a:buFont typeface="+mj-lt"/>
                        <a:buNone/>
                      </a:pPr>
                      <a:endParaRPr lang="en-GB" sz="1400"/>
                    </a:p>
                  </a:txBody>
                  <a:tcPr marL="36000" marR="36000"/>
                </a:tc>
                <a:tc>
                  <a:txBody>
                    <a:bodyPr/>
                    <a:lstStyle/>
                    <a:p>
                      <a:pPr marL="342900" indent="-342900">
                        <a:buFont typeface="+mj-lt"/>
                        <a:buAutoNum type="alphaLcPeriod"/>
                      </a:pPr>
                      <a:r>
                        <a:rPr lang="en-GB" sz="1400"/>
                        <a:t>Discontinued randomised treatment.</a:t>
                      </a:r>
                    </a:p>
                    <a:p>
                      <a:pPr marL="342900" indent="-342900">
                        <a:buFont typeface="+mj-lt"/>
                        <a:buAutoNum type="alphaLcPeriod"/>
                      </a:pPr>
                      <a:r>
                        <a:rPr lang="en-GB" sz="1400"/>
                        <a:t>Modified randomised treatment regime</a:t>
                      </a:r>
                    </a:p>
                    <a:p>
                      <a:pPr marL="342900" indent="-342900">
                        <a:buFont typeface="+mj-lt"/>
                        <a:buAutoNum type="alphaLcPeriod"/>
                      </a:pPr>
                      <a:r>
                        <a:rPr lang="en-GB" sz="1400"/>
                        <a:t>Changed pulmonary rehab status.</a:t>
                      </a:r>
                    </a:p>
                    <a:p>
                      <a:pPr marL="342900" indent="-342900">
                        <a:buFont typeface="+mj-lt"/>
                        <a:buAutoNum type="alphaLcPeriod"/>
                      </a:pPr>
                      <a:r>
                        <a:rPr lang="en-GB" sz="1400"/>
                        <a:t>Started oxygen therapy, their CAT data was used if available. </a:t>
                      </a:r>
                    </a:p>
                    <a:p>
                      <a:pPr marL="342900" indent="-342900">
                        <a:buFont typeface="+mj-lt"/>
                        <a:buAutoNum type="alphaLcPeriod"/>
                      </a:pPr>
                      <a:r>
                        <a:rPr lang="en-GB" sz="1400"/>
                        <a:t>Premature discontinuation from the study (resulting in missing data).</a:t>
                      </a:r>
                    </a:p>
                    <a:p>
                      <a:pPr marL="342900" indent="-342900">
                        <a:buFont typeface="+mj-lt"/>
                        <a:buAutoNum type="alphaLcPeriod"/>
                      </a:pPr>
                      <a:endParaRPr lang="en-GB" sz="120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200"/>
                        <a:t>For </a:t>
                      </a:r>
                      <a:r>
                        <a:rPr lang="en-GB" sz="1200" i="1" u="sng"/>
                        <a:t>a</a:t>
                      </a:r>
                      <a:r>
                        <a:rPr lang="en-GB" sz="1200" i="1" u="none"/>
                        <a:t>, </a:t>
                      </a:r>
                      <a:r>
                        <a:rPr lang="en-GB" sz="1200" i="1" u="sng"/>
                        <a:t>b</a:t>
                      </a:r>
                      <a:r>
                        <a:rPr lang="en-GB" sz="1200" i="1" u="none"/>
                        <a:t>, </a:t>
                      </a:r>
                      <a:r>
                        <a:rPr lang="en-GB" sz="1200" i="1" u="sng"/>
                        <a:t>c</a:t>
                      </a:r>
                      <a:r>
                        <a:rPr lang="en-GB" sz="1200" i="1" u="none"/>
                        <a:t> </a:t>
                      </a:r>
                      <a:r>
                        <a:rPr lang="en-GB" sz="1200" i="0" u="none"/>
                        <a:t>and </a:t>
                      </a:r>
                      <a:r>
                        <a:rPr lang="en-GB" sz="1200" i="1" u="sng"/>
                        <a:t>d</a:t>
                      </a:r>
                      <a:r>
                        <a:rPr lang="en-GB" sz="1200"/>
                        <a:t> data was used if available.  For </a:t>
                      </a:r>
                      <a:r>
                        <a:rPr lang="en-GB" sz="1200" i="1" u="sng"/>
                        <a:t>e</a:t>
                      </a:r>
                      <a:r>
                        <a:rPr lang="en-GB" sz="1200"/>
                        <a:t> the patient data was missing due to no further collection of data when withdrawing from the study.</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400" b="1"/>
                        <a:t>Missing data were considered as non-responders.</a:t>
                      </a:r>
                    </a:p>
                  </a:txBody>
                  <a:tcPr>
                    <a:solidFill>
                      <a:schemeClr val="accent5">
                        <a:lumMod val="20000"/>
                        <a:lumOff val="80000"/>
                      </a:schemeClr>
                    </a:solidFill>
                  </a:tcPr>
                </a:tc>
                <a:extLst>
                  <a:ext uri="{0D108BD9-81ED-4DB2-BD59-A6C34878D82A}">
                    <a16:rowId xmlns:a16="http://schemas.microsoft.com/office/drawing/2014/main" val="4078431317"/>
                  </a:ext>
                </a:extLst>
              </a:tr>
            </a:tbl>
          </a:graphicData>
        </a:graphic>
      </p:graphicFrame>
    </p:spTree>
    <p:extLst>
      <p:ext uri="{BB962C8B-B14F-4D97-AF65-F5344CB8AC3E}">
        <p14:creationId xmlns:p14="http://schemas.microsoft.com/office/powerpoint/2010/main" val="183905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59152" y="294295"/>
            <a:ext cx="7975223" cy="307777"/>
          </a:xfrm>
        </p:spPr>
        <p:txBody>
          <a:bodyPr/>
          <a:lstStyle/>
          <a:p>
            <a:r>
              <a:rPr lang="en-GB" sz="2000"/>
              <a:t>Estimand example: INTREPID STUDY</a:t>
            </a:r>
            <a:endParaRPr lang="en-US" sz="2000"/>
          </a:p>
        </p:txBody>
      </p:sp>
      <p:sp>
        <p:nvSpPr>
          <p:cNvPr id="7" name="Slide Number Placeholder 6"/>
          <p:cNvSpPr>
            <a:spLocks noGrp="1"/>
          </p:cNvSpPr>
          <p:nvPr>
            <p:ph type="sldNum" sz="quarter" idx="21"/>
          </p:nvPr>
        </p:nvSpPr>
        <p:spPr/>
        <p:txBody>
          <a:bodyPr/>
          <a:lstStyle/>
          <a:p>
            <a:fld id="{9F9F533D-B52E-4A2F-BF72-0ADD2D94BD75}" type="slidenum">
              <a:rPr lang="en-GB" smtClean="0"/>
              <a:pPr/>
              <a:t>17</a:t>
            </a:fld>
            <a:endParaRPr lang="en-GB"/>
          </a:p>
        </p:txBody>
      </p:sp>
      <p:graphicFrame>
        <p:nvGraphicFramePr>
          <p:cNvPr id="8" name="Content Placeholder 7"/>
          <p:cNvGraphicFramePr>
            <a:graphicFrameLocks noGrp="1"/>
          </p:cNvGraphicFramePr>
          <p:nvPr>
            <p:ph sz="quarter" idx="12"/>
            <p:extLst>
              <p:ext uri="{D42A27DB-BD31-4B8C-83A1-F6EECF244321}">
                <p14:modId xmlns:p14="http://schemas.microsoft.com/office/powerpoint/2010/main" val="36636640"/>
              </p:ext>
            </p:extLst>
          </p:nvPr>
        </p:nvGraphicFramePr>
        <p:xfrm>
          <a:off x="359152" y="1133475"/>
          <a:ext cx="8518151" cy="2639553"/>
        </p:xfrm>
        <a:graphic>
          <a:graphicData uri="http://schemas.openxmlformats.org/drawingml/2006/table">
            <a:tbl>
              <a:tblPr firstRow="1" bandRow="1">
                <a:tableStyleId>{5940675A-B579-460E-94D1-54222C63F5DA}</a:tableStyleId>
              </a:tblPr>
              <a:tblGrid>
                <a:gridCol w="2374523">
                  <a:extLst>
                    <a:ext uri="{9D8B030D-6E8A-4147-A177-3AD203B41FA5}">
                      <a16:colId xmlns:a16="http://schemas.microsoft.com/office/drawing/2014/main" val="306960293"/>
                    </a:ext>
                  </a:extLst>
                </a:gridCol>
                <a:gridCol w="1535907">
                  <a:extLst>
                    <a:ext uri="{9D8B030D-6E8A-4147-A177-3AD203B41FA5}">
                      <a16:colId xmlns:a16="http://schemas.microsoft.com/office/drawing/2014/main" val="860496557"/>
                    </a:ext>
                  </a:extLst>
                </a:gridCol>
                <a:gridCol w="1535907">
                  <a:extLst>
                    <a:ext uri="{9D8B030D-6E8A-4147-A177-3AD203B41FA5}">
                      <a16:colId xmlns:a16="http://schemas.microsoft.com/office/drawing/2014/main" val="3635829633"/>
                    </a:ext>
                  </a:extLst>
                </a:gridCol>
                <a:gridCol w="1535907">
                  <a:extLst>
                    <a:ext uri="{9D8B030D-6E8A-4147-A177-3AD203B41FA5}">
                      <a16:colId xmlns:a16="http://schemas.microsoft.com/office/drawing/2014/main" val="166413107"/>
                    </a:ext>
                  </a:extLst>
                </a:gridCol>
                <a:gridCol w="1535907">
                  <a:extLst>
                    <a:ext uri="{9D8B030D-6E8A-4147-A177-3AD203B41FA5}">
                      <a16:colId xmlns:a16="http://schemas.microsoft.com/office/drawing/2014/main" val="3662648747"/>
                    </a:ext>
                  </a:extLst>
                </a:gridCol>
              </a:tblGrid>
              <a:tr h="262167">
                <a:tc>
                  <a:txBody>
                    <a:bodyPr/>
                    <a:lstStyle/>
                    <a:p>
                      <a:endParaRPr lang="en-US" sz="1100" b="0"/>
                    </a:p>
                  </a:txBody>
                  <a:tcPr>
                    <a:solidFill>
                      <a:schemeClr val="bg1">
                        <a:lumMod val="95000"/>
                      </a:schemeClr>
                    </a:solidFill>
                  </a:tcPr>
                </a:tc>
                <a:tc gridSpan="2">
                  <a:txBody>
                    <a:bodyPr/>
                    <a:lstStyle/>
                    <a:p>
                      <a:pPr marL="0" algn="ctr" defTabSz="914400" rtl="0" eaLnBrk="1" latinLnBrk="0" hangingPunct="1">
                        <a:spcAft>
                          <a:spcPts val="0"/>
                        </a:spcAft>
                      </a:pPr>
                      <a:r>
                        <a:rPr lang="en-GB" sz="1100" b="1" kern="1200">
                          <a:solidFill>
                            <a:schemeClr val="bg1"/>
                          </a:solidFill>
                          <a:effectLst/>
                        </a:rPr>
                        <a:t>Primary Estimand</a:t>
                      </a:r>
                      <a:endParaRPr lang="en-GB" sz="1100" b="1" kern="1200">
                        <a:solidFill>
                          <a:schemeClr val="bg1"/>
                        </a:solidFill>
                        <a:effectLst/>
                        <a:latin typeface="+mn-lt"/>
                        <a:ea typeface="+mn-ea"/>
                        <a:cs typeface="+mn-cs"/>
                      </a:endParaRPr>
                    </a:p>
                  </a:txBody>
                  <a:tcPr marL="25400" marR="25400" marT="25400" marB="25400">
                    <a:solidFill>
                      <a:schemeClr val="bg2"/>
                    </a:solidFill>
                  </a:tcPr>
                </a:tc>
                <a:tc hMerge="1">
                  <a:txBody>
                    <a:bodyPr/>
                    <a:lstStyle/>
                    <a:p>
                      <a:pPr marL="0" algn="ctr" defTabSz="914400" rtl="0" eaLnBrk="1" latinLnBrk="0" hangingPunct="1">
                        <a:spcAft>
                          <a:spcPts val="0"/>
                        </a:spcAft>
                      </a:pPr>
                      <a:endParaRPr lang="en-GB" sz="1100" b="0" kern="1200">
                        <a:solidFill>
                          <a:srgbClr val="001A54"/>
                        </a:solidFill>
                        <a:effectLst/>
                        <a:latin typeface="+mn-lt"/>
                        <a:ea typeface="+mn-ea"/>
                        <a:cs typeface="+mn-cs"/>
                      </a:endParaRPr>
                    </a:p>
                  </a:txBody>
                  <a:tcPr marL="25400" marR="25400" marT="25400" marB="25400"/>
                </a:tc>
                <a:tc gridSpan="2">
                  <a:txBody>
                    <a:bodyPr/>
                    <a:lstStyle/>
                    <a:p>
                      <a:pPr marL="0" algn="ctr" defTabSz="914400" rtl="0" eaLnBrk="1" latinLnBrk="0" hangingPunct="1">
                        <a:spcAft>
                          <a:spcPts val="0"/>
                        </a:spcAft>
                      </a:pPr>
                      <a:r>
                        <a:rPr lang="en-GB" sz="1100" b="1" kern="1200">
                          <a:solidFill>
                            <a:schemeClr val="bg1"/>
                          </a:solidFill>
                          <a:effectLst/>
                        </a:rPr>
                        <a:t>Supportive Estimand</a:t>
                      </a:r>
                      <a:endParaRPr lang="en-GB" sz="1100" b="1" kern="1200">
                        <a:solidFill>
                          <a:schemeClr val="bg1"/>
                        </a:solidFill>
                        <a:effectLst/>
                        <a:latin typeface="+mn-lt"/>
                        <a:ea typeface="+mn-ea"/>
                        <a:cs typeface="+mn-cs"/>
                      </a:endParaRPr>
                    </a:p>
                  </a:txBody>
                  <a:tcPr marL="25400" marR="25400" marT="25400" marB="25400">
                    <a:solidFill>
                      <a:schemeClr val="accent5"/>
                    </a:solidFill>
                  </a:tcPr>
                </a:tc>
                <a:tc hMerge="1">
                  <a:txBody>
                    <a:bodyPr/>
                    <a:lstStyle/>
                    <a:p>
                      <a:pPr marL="0" algn="ctr" defTabSz="914400" rtl="0" eaLnBrk="1" latinLnBrk="0" hangingPunct="1">
                        <a:spcAft>
                          <a:spcPts val="0"/>
                        </a:spcAft>
                      </a:pPr>
                      <a:endParaRPr lang="en-GB" sz="1100" b="0" kern="1200">
                        <a:solidFill>
                          <a:srgbClr val="001A54"/>
                        </a:solidFill>
                        <a:effectLst/>
                        <a:latin typeface="+mn-lt"/>
                        <a:ea typeface="+mn-ea"/>
                        <a:cs typeface="+mn-cs"/>
                      </a:endParaRPr>
                    </a:p>
                  </a:txBody>
                  <a:tcPr marL="25400" marR="25400" marT="25400" marB="25400"/>
                </a:tc>
                <a:extLst>
                  <a:ext uri="{0D108BD9-81ED-4DB2-BD59-A6C34878D82A}">
                    <a16:rowId xmlns:a16="http://schemas.microsoft.com/office/drawing/2014/main" val="1017908236"/>
                  </a:ext>
                </a:extLst>
              </a:tr>
              <a:tr h="304746">
                <a:tc>
                  <a:txBody>
                    <a:bodyPr/>
                    <a:lstStyle/>
                    <a:p>
                      <a:endParaRPr lang="en-US" sz="1100" b="0"/>
                    </a:p>
                  </a:txBody>
                  <a:tcPr>
                    <a:solidFill>
                      <a:schemeClr val="bg1">
                        <a:lumMod val="95000"/>
                      </a:schemeClr>
                    </a:solidFill>
                  </a:tcPr>
                </a:tc>
                <a:tc>
                  <a:txBody>
                    <a:bodyPr/>
                    <a:lstStyle/>
                    <a:p>
                      <a:pPr marL="0" algn="ctr" defTabSz="914400" rtl="0" eaLnBrk="1" latinLnBrk="0" hangingPunct="1">
                        <a:spcAft>
                          <a:spcPts val="0"/>
                        </a:spcAft>
                      </a:pPr>
                      <a:r>
                        <a:rPr lang="en-GB" sz="900" b="1" kern="1200">
                          <a:effectLst/>
                        </a:rPr>
                        <a:t>FF/UMEC/VI (N=1545)</a:t>
                      </a:r>
                      <a:endParaRPr lang="en-GB" sz="900" b="1" kern="1200">
                        <a:solidFill>
                          <a:srgbClr val="001A54"/>
                        </a:solidFill>
                        <a:effectLst/>
                        <a:latin typeface="+mn-lt"/>
                        <a:ea typeface="+mn-ea"/>
                        <a:cs typeface="+mn-cs"/>
                      </a:endParaRPr>
                    </a:p>
                  </a:txBody>
                  <a:tcPr marL="25400" marR="25400" marT="25400" marB="25400">
                    <a:solidFill>
                      <a:schemeClr val="bg2">
                        <a:lumMod val="20000"/>
                        <a:lumOff val="80000"/>
                      </a:schemeClr>
                    </a:solidFill>
                  </a:tcPr>
                </a:tc>
                <a:tc>
                  <a:txBody>
                    <a:bodyPr/>
                    <a:lstStyle/>
                    <a:p>
                      <a:pPr marL="0" algn="ctr" defTabSz="914400" rtl="0" eaLnBrk="1" latinLnBrk="0" hangingPunct="1">
                        <a:spcAft>
                          <a:spcPts val="0"/>
                        </a:spcAft>
                      </a:pPr>
                      <a:r>
                        <a:rPr lang="en-GB" sz="900" b="1" kern="1200">
                          <a:effectLst/>
                        </a:rPr>
                        <a:t>Non-Ellipta MITT (N=1547)</a:t>
                      </a:r>
                      <a:endParaRPr lang="en-GB" sz="900" b="1" kern="1200">
                        <a:solidFill>
                          <a:srgbClr val="001A54"/>
                        </a:solidFill>
                        <a:effectLst/>
                        <a:latin typeface="+mn-lt"/>
                        <a:ea typeface="+mn-ea"/>
                        <a:cs typeface="+mn-cs"/>
                      </a:endParaRPr>
                    </a:p>
                  </a:txBody>
                  <a:tcPr marL="25400" marR="25400" marT="25400" marB="25400">
                    <a:solidFill>
                      <a:schemeClr val="bg2">
                        <a:lumMod val="20000"/>
                        <a:lumOff val="80000"/>
                      </a:schemeClr>
                    </a:solidFill>
                  </a:tcPr>
                </a:tc>
                <a:tc>
                  <a:txBody>
                    <a:bodyPr/>
                    <a:lstStyle/>
                    <a:p>
                      <a:pPr marL="0" algn="ctr" defTabSz="914400" rtl="0" eaLnBrk="1" latinLnBrk="0" hangingPunct="1">
                        <a:spcAft>
                          <a:spcPts val="0"/>
                        </a:spcAft>
                      </a:pPr>
                      <a:r>
                        <a:rPr lang="en-GB" sz="900" b="1" kern="1200">
                          <a:effectLst/>
                        </a:rPr>
                        <a:t>FF/UMEC/VI (N=1545)</a:t>
                      </a:r>
                      <a:endParaRPr lang="en-GB" sz="900" b="1" kern="1200">
                        <a:solidFill>
                          <a:srgbClr val="001A54"/>
                        </a:solidFill>
                        <a:effectLst/>
                        <a:latin typeface="+mn-lt"/>
                        <a:ea typeface="+mn-ea"/>
                        <a:cs typeface="+mn-cs"/>
                      </a:endParaRPr>
                    </a:p>
                  </a:txBody>
                  <a:tcPr marL="25400" marR="25400" marT="25400" marB="25400">
                    <a:solidFill>
                      <a:schemeClr val="accent5">
                        <a:lumMod val="20000"/>
                        <a:lumOff val="80000"/>
                      </a:schemeClr>
                    </a:solidFill>
                  </a:tcPr>
                </a:tc>
                <a:tc>
                  <a:txBody>
                    <a:bodyPr/>
                    <a:lstStyle/>
                    <a:p>
                      <a:pPr marL="0" algn="ctr" defTabSz="914400" rtl="0" eaLnBrk="1" latinLnBrk="0" hangingPunct="1">
                        <a:spcAft>
                          <a:spcPts val="0"/>
                        </a:spcAft>
                      </a:pPr>
                      <a:r>
                        <a:rPr lang="en-GB" sz="900" b="1" kern="1200">
                          <a:effectLst/>
                        </a:rPr>
                        <a:t>Non-Ellipta MITT (N=1547)</a:t>
                      </a:r>
                      <a:endParaRPr lang="en-GB" sz="900" b="1" kern="1200">
                        <a:solidFill>
                          <a:srgbClr val="001A54"/>
                        </a:solidFill>
                        <a:effectLst/>
                        <a:latin typeface="+mn-lt"/>
                        <a:ea typeface="+mn-ea"/>
                        <a:cs typeface="+mn-cs"/>
                      </a:endParaRPr>
                    </a:p>
                  </a:txBody>
                  <a:tcPr marL="25400" marR="25400" marT="25400" marB="25400">
                    <a:solidFill>
                      <a:schemeClr val="accent5">
                        <a:lumMod val="20000"/>
                        <a:lumOff val="80000"/>
                      </a:schemeClr>
                    </a:solidFill>
                  </a:tcPr>
                </a:tc>
                <a:extLst>
                  <a:ext uri="{0D108BD9-81ED-4DB2-BD59-A6C34878D82A}">
                    <a16:rowId xmlns:a16="http://schemas.microsoft.com/office/drawing/2014/main" val="2834708748"/>
                  </a:ext>
                </a:extLst>
              </a:tr>
              <a:tr h="222030">
                <a:tc>
                  <a:txBody>
                    <a:bodyPr/>
                    <a:lstStyle/>
                    <a:p>
                      <a:pPr marL="0" algn="l" defTabSz="914400" rtl="0" eaLnBrk="1" latinLnBrk="0" hangingPunct="1">
                        <a:spcAft>
                          <a:spcPts val="0"/>
                        </a:spcAft>
                      </a:pPr>
                      <a:r>
                        <a:rPr lang="en-US" sz="1100" kern="1200"/>
                        <a:t>n</a:t>
                      </a:r>
                      <a:endParaRPr lang="en-US" sz="1100" b="0" kern="1200">
                        <a:solidFill>
                          <a:schemeClr val="tx1">
                            <a:lumMod val="50000"/>
                          </a:schemeClr>
                        </a:solidFill>
                        <a:latin typeface="+mn-lt"/>
                        <a:ea typeface="+mn-ea"/>
                        <a:cs typeface="+mn-cs"/>
                      </a:endParaRPr>
                    </a:p>
                  </a:txBody>
                  <a:tcPr/>
                </a:tc>
                <a:tc>
                  <a:txBody>
                    <a:bodyPr/>
                    <a:lstStyle/>
                    <a:p>
                      <a:pPr marL="0" algn="ctr" defTabSz="914400" rtl="0" eaLnBrk="1" latinLnBrk="0" hangingPunct="1">
                        <a:spcAft>
                          <a:spcPts val="0"/>
                        </a:spcAft>
                      </a:pPr>
                      <a:r>
                        <a:rPr lang="en-GB" sz="1100" kern="1200"/>
                        <a:t>1539</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kern="1200"/>
                        <a:t>1543</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kern="1200"/>
                        <a:t>1539</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kern="1200"/>
                        <a:t>1543</a:t>
                      </a:r>
                      <a:endParaRPr lang="en-GB" sz="1100" b="0" kern="1200">
                        <a:solidFill>
                          <a:schemeClr val="tx1">
                            <a:lumMod val="50000"/>
                          </a:schemeClr>
                        </a:solidFill>
                        <a:latin typeface="+mn-lt"/>
                        <a:ea typeface="+mn-ea"/>
                        <a:cs typeface="+mn-cs"/>
                      </a:endParaRPr>
                    </a:p>
                  </a:txBody>
                  <a:tcPr marL="25400" marR="25400" marT="25400" marB="25400"/>
                </a:tc>
                <a:extLst>
                  <a:ext uri="{0D108BD9-81ED-4DB2-BD59-A6C34878D82A}">
                    <a16:rowId xmlns:a16="http://schemas.microsoft.com/office/drawing/2014/main" val="284080342"/>
                  </a:ext>
                </a:extLst>
              </a:tr>
              <a:tr h="222030">
                <a:tc>
                  <a:txBody>
                    <a:bodyPr/>
                    <a:lstStyle/>
                    <a:p>
                      <a:pPr marL="0" algn="l" defTabSz="914400" rtl="0" eaLnBrk="1" latinLnBrk="0" hangingPunct="1">
                        <a:spcAft>
                          <a:spcPts val="0"/>
                        </a:spcAft>
                      </a:pPr>
                      <a:r>
                        <a:rPr lang="en-US" sz="1100" kern="1200"/>
                        <a:t>Responder</a:t>
                      </a:r>
                      <a:endParaRPr lang="en-US" sz="1100" b="0" kern="1200">
                        <a:solidFill>
                          <a:schemeClr val="tx1">
                            <a:lumMod val="50000"/>
                          </a:schemeClr>
                        </a:solidFill>
                        <a:latin typeface="+mn-lt"/>
                        <a:ea typeface="+mn-ea"/>
                        <a:cs typeface="+mn-cs"/>
                      </a:endParaRPr>
                    </a:p>
                  </a:txBody>
                  <a:tcPr/>
                </a:tc>
                <a:tc>
                  <a:txBody>
                    <a:bodyPr/>
                    <a:lstStyle/>
                    <a:p>
                      <a:pPr marL="0" algn="ctr" defTabSz="914400" rtl="0" eaLnBrk="1" latinLnBrk="0" hangingPunct="1">
                        <a:spcAft>
                          <a:spcPts val="0"/>
                        </a:spcAft>
                      </a:pPr>
                      <a:r>
                        <a:rPr lang="en-GB" sz="1100" kern="1200"/>
                        <a:t>731 (47%)</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kern="1200"/>
                        <a:t>616 (40%)</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kern="1200"/>
                        <a:t>847 (55%)</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kern="1200"/>
                        <a:t>683 (44%)</a:t>
                      </a:r>
                      <a:endParaRPr lang="en-GB" sz="1100" b="0" kern="1200">
                        <a:solidFill>
                          <a:schemeClr val="tx1">
                            <a:lumMod val="50000"/>
                          </a:schemeClr>
                        </a:solidFill>
                        <a:latin typeface="+mn-lt"/>
                        <a:ea typeface="+mn-ea"/>
                        <a:cs typeface="+mn-cs"/>
                      </a:endParaRPr>
                    </a:p>
                  </a:txBody>
                  <a:tcPr marL="25400" marR="25400" marT="25400" marB="25400"/>
                </a:tc>
                <a:extLst>
                  <a:ext uri="{0D108BD9-81ED-4DB2-BD59-A6C34878D82A}">
                    <a16:rowId xmlns:a16="http://schemas.microsoft.com/office/drawing/2014/main" val="3526317136"/>
                  </a:ext>
                </a:extLst>
              </a:tr>
              <a:tr h="222030">
                <a:tc>
                  <a:txBody>
                    <a:bodyPr/>
                    <a:lstStyle/>
                    <a:p>
                      <a:pPr marL="0" algn="l" defTabSz="914400" rtl="0" eaLnBrk="1" latinLnBrk="0" hangingPunct="1">
                        <a:spcAft>
                          <a:spcPts val="0"/>
                        </a:spcAft>
                      </a:pPr>
                      <a:r>
                        <a:rPr lang="en-US" sz="1100" kern="1200"/>
                        <a:t>Non-responder</a:t>
                      </a:r>
                      <a:endParaRPr lang="en-US" sz="1100" b="0" kern="1200">
                        <a:solidFill>
                          <a:schemeClr val="tx1">
                            <a:lumMod val="50000"/>
                          </a:schemeClr>
                        </a:solidFill>
                        <a:latin typeface="+mn-lt"/>
                        <a:ea typeface="+mn-ea"/>
                        <a:cs typeface="+mn-cs"/>
                      </a:endParaRPr>
                    </a:p>
                  </a:txBody>
                  <a:tcPr/>
                </a:tc>
                <a:tc>
                  <a:txBody>
                    <a:bodyPr/>
                    <a:lstStyle/>
                    <a:p>
                      <a:pPr marL="0" algn="ctr" defTabSz="914400" rtl="0" eaLnBrk="1" latinLnBrk="0" hangingPunct="1">
                        <a:spcAft>
                          <a:spcPts val="0"/>
                        </a:spcAft>
                      </a:pPr>
                      <a:r>
                        <a:rPr lang="en-GB" sz="1100" kern="1200"/>
                        <a:t>756 (49%)</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kern="1200"/>
                        <a:t>835 (54%)</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kern="1200"/>
                        <a:t>692 (45%)</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kern="1200"/>
                        <a:t>860 (56%)</a:t>
                      </a:r>
                      <a:endParaRPr lang="en-GB" sz="1100" b="0" kern="1200">
                        <a:solidFill>
                          <a:schemeClr val="tx1">
                            <a:lumMod val="50000"/>
                          </a:schemeClr>
                        </a:solidFill>
                        <a:latin typeface="+mn-lt"/>
                        <a:ea typeface="+mn-ea"/>
                        <a:cs typeface="+mn-cs"/>
                      </a:endParaRPr>
                    </a:p>
                  </a:txBody>
                  <a:tcPr marL="25400" marR="25400" marT="25400" marB="25400"/>
                </a:tc>
                <a:extLst>
                  <a:ext uri="{0D108BD9-81ED-4DB2-BD59-A6C34878D82A}">
                    <a16:rowId xmlns:a16="http://schemas.microsoft.com/office/drawing/2014/main" val="1444567050"/>
                  </a:ext>
                </a:extLst>
              </a:tr>
              <a:tr h="222030">
                <a:tc>
                  <a:txBody>
                    <a:bodyPr/>
                    <a:lstStyle/>
                    <a:p>
                      <a:pPr marL="0" algn="l" defTabSz="914400" rtl="0" eaLnBrk="1" latinLnBrk="0" hangingPunct="1">
                        <a:spcAft>
                          <a:spcPts val="0"/>
                        </a:spcAft>
                      </a:pPr>
                      <a:r>
                        <a:rPr lang="en-US" sz="1100" kern="1200"/>
                        <a:t>Number with imputed CAT score</a:t>
                      </a:r>
                      <a:endParaRPr lang="en-US" sz="1100" b="0" kern="1200">
                        <a:solidFill>
                          <a:schemeClr val="tx1">
                            <a:lumMod val="50000"/>
                          </a:schemeClr>
                        </a:solidFill>
                        <a:latin typeface="+mn-lt"/>
                        <a:ea typeface="+mn-ea"/>
                        <a:cs typeface="+mn-cs"/>
                      </a:endParaRPr>
                    </a:p>
                  </a:txBody>
                  <a:tcPr/>
                </a:tc>
                <a:tc>
                  <a:txBody>
                    <a:bodyPr/>
                    <a:lstStyle/>
                    <a:p>
                      <a:pPr marL="0" algn="ctr" defTabSz="914400" rtl="0" eaLnBrk="1" latinLnBrk="0" hangingPunct="1">
                        <a:spcAft>
                          <a:spcPts val="0"/>
                        </a:spcAft>
                      </a:pPr>
                      <a:r>
                        <a:rPr lang="en-GB" sz="1100" kern="1200"/>
                        <a:t>52 (3%)</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GB" sz="1100" kern="1200"/>
                        <a:t>92 (6%)</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r>
                        <a:rPr lang="en-US" sz="1100" kern="1200"/>
                        <a:t>NA</a:t>
                      </a:r>
                      <a:endParaRPr lang="en-US" sz="1100" b="0" kern="1200">
                        <a:solidFill>
                          <a:schemeClr val="tx1">
                            <a:lumMod val="50000"/>
                          </a:schemeClr>
                        </a:solidFill>
                        <a:latin typeface="+mn-lt"/>
                        <a:ea typeface="+mn-ea"/>
                        <a:cs typeface="+mn-cs"/>
                      </a:endParaRPr>
                    </a:p>
                  </a:txBody>
                  <a:tcPr/>
                </a:tc>
                <a:tc>
                  <a:txBody>
                    <a:bodyPr/>
                    <a:lstStyle/>
                    <a:p>
                      <a:pPr marL="0" algn="ctr" defTabSz="914400" rtl="0" eaLnBrk="1" latinLnBrk="0" hangingPunct="1">
                        <a:spcAft>
                          <a:spcPts val="0"/>
                        </a:spcAft>
                      </a:pPr>
                      <a:r>
                        <a:rPr lang="en-US" sz="1100" kern="1200"/>
                        <a:t>NA</a:t>
                      </a:r>
                      <a:endParaRPr lang="en-US" sz="1100" b="0" kern="1200">
                        <a:solidFill>
                          <a:schemeClr val="tx1">
                            <a:lumMod val="50000"/>
                          </a:schemeClr>
                        </a:solidFill>
                        <a:latin typeface="+mn-lt"/>
                        <a:ea typeface="+mn-ea"/>
                        <a:cs typeface="+mn-cs"/>
                      </a:endParaRPr>
                    </a:p>
                  </a:txBody>
                  <a:tcPr/>
                </a:tc>
                <a:extLst>
                  <a:ext uri="{0D108BD9-81ED-4DB2-BD59-A6C34878D82A}">
                    <a16:rowId xmlns:a16="http://schemas.microsoft.com/office/drawing/2014/main" val="4107521551"/>
                  </a:ext>
                </a:extLst>
              </a:tr>
              <a:tr h="222030">
                <a:tc>
                  <a:txBody>
                    <a:bodyPr/>
                    <a:lstStyle/>
                    <a:p>
                      <a:r>
                        <a:rPr lang="da-DK" sz="1100" b="1"/>
                        <a:t>FF/UMEC/VI vs. Non-Ellipta MITT</a:t>
                      </a:r>
                      <a:endParaRPr lang="en-US" sz="1100" b="1">
                        <a:solidFill>
                          <a:schemeClr val="tx1">
                            <a:lumMod val="50000"/>
                          </a:schemeClr>
                        </a:solidFill>
                      </a:endParaRPr>
                    </a:p>
                  </a:txBody>
                  <a:tcPr/>
                </a:tc>
                <a:tc>
                  <a:txBody>
                    <a:bodyPr/>
                    <a:lstStyle/>
                    <a:p>
                      <a:pPr marL="0" algn="ctr" defTabSz="914400" rtl="0" eaLnBrk="1" latinLnBrk="0" hangingPunct="1">
                        <a:spcAft>
                          <a:spcPts val="0"/>
                        </a:spcAft>
                      </a:pPr>
                      <a:endParaRPr lang="en-US" sz="1100" b="0" kern="1200">
                        <a:solidFill>
                          <a:schemeClr val="tx1">
                            <a:lumMod val="50000"/>
                          </a:schemeClr>
                        </a:solidFill>
                        <a:latin typeface="+mn-lt"/>
                        <a:ea typeface="+mn-ea"/>
                        <a:cs typeface="+mn-cs"/>
                      </a:endParaRPr>
                    </a:p>
                  </a:txBody>
                  <a:tcPr/>
                </a:tc>
                <a:tc>
                  <a:txBody>
                    <a:bodyPr/>
                    <a:lstStyle/>
                    <a:p>
                      <a:pPr marL="0" algn="ctr" defTabSz="914400" rtl="0" eaLnBrk="1" latinLnBrk="0" hangingPunct="1">
                        <a:spcAft>
                          <a:spcPts val="0"/>
                        </a:spcAft>
                      </a:pPr>
                      <a:endParaRPr lang="en-US" sz="1100" b="0" kern="1200">
                        <a:solidFill>
                          <a:schemeClr val="tx1">
                            <a:lumMod val="50000"/>
                          </a:schemeClr>
                        </a:solidFill>
                        <a:latin typeface="+mn-lt"/>
                        <a:ea typeface="+mn-ea"/>
                        <a:cs typeface="+mn-cs"/>
                      </a:endParaRPr>
                    </a:p>
                  </a:txBody>
                  <a:tcPr/>
                </a:tc>
                <a:tc>
                  <a:txBody>
                    <a:bodyPr/>
                    <a:lstStyle/>
                    <a:p>
                      <a:pPr marL="0" algn="ctr" defTabSz="914400" rtl="0" eaLnBrk="1" latinLnBrk="0" hangingPunct="1">
                        <a:spcAft>
                          <a:spcPts val="0"/>
                        </a:spcAft>
                      </a:pP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endParaRPr lang="en-GB" sz="1100" b="0" kern="1200">
                        <a:solidFill>
                          <a:schemeClr val="tx1">
                            <a:lumMod val="50000"/>
                          </a:schemeClr>
                        </a:solidFill>
                        <a:latin typeface="+mn-lt"/>
                        <a:ea typeface="+mn-ea"/>
                        <a:cs typeface="+mn-cs"/>
                      </a:endParaRPr>
                    </a:p>
                  </a:txBody>
                  <a:tcPr marL="38100" marR="38100" marT="38100" marB="38100"/>
                </a:tc>
                <a:extLst>
                  <a:ext uri="{0D108BD9-81ED-4DB2-BD59-A6C34878D82A}">
                    <a16:rowId xmlns:a16="http://schemas.microsoft.com/office/drawing/2014/main" val="102019489"/>
                  </a:ext>
                </a:extLst>
              </a:tr>
              <a:tr h="222030">
                <a:tc>
                  <a:txBody>
                    <a:bodyPr/>
                    <a:lstStyle/>
                    <a:p>
                      <a:pPr lvl="1"/>
                      <a:r>
                        <a:rPr lang="en-US" sz="1100"/>
                        <a:t>Odds Ratio</a:t>
                      </a:r>
                      <a:endParaRPr lang="en-US" sz="1100" b="0">
                        <a:solidFill>
                          <a:schemeClr val="tx1">
                            <a:lumMod val="50000"/>
                          </a:schemeClr>
                        </a:solidFill>
                      </a:endParaRPr>
                    </a:p>
                  </a:txBody>
                  <a:tcPr/>
                </a:tc>
                <a:tc>
                  <a:txBody>
                    <a:bodyPr/>
                    <a:lstStyle/>
                    <a:p>
                      <a:pPr marL="0" algn="ctr" defTabSz="914400" rtl="0" eaLnBrk="1" latinLnBrk="0" hangingPunct="1">
                        <a:spcAft>
                          <a:spcPts val="0"/>
                        </a:spcAft>
                      </a:pPr>
                      <a:r>
                        <a:rPr lang="en-GB" sz="1100" kern="1200"/>
                        <a:t>1.31</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endParaRPr lang="en-GB" sz="1100" b="0" kern="1200">
                        <a:solidFill>
                          <a:schemeClr val="tx1">
                            <a:lumMod val="50000"/>
                          </a:schemeClr>
                        </a:solidFill>
                        <a:latin typeface="+mn-lt"/>
                        <a:ea typeface="+mn-ea"/>
                        <a:cs typeface="+mn-cs"/>
                      </a:endParaRPr>
                    </a:p>
                  </a:txBody>
                  <a:tcPr marL="38100" marR="38100" marT="38100" marB="38100"/>
                </a:tc>
                <a:tc>
                  <a:txBody>
                    <a:bodyPr/>
                    <a:lstStyle/>
                    <a:p>
                      <a:pPr marL="0" algn="ctr" defTabSz="914400" rtl="0" eaLnBrk="1" latinLnBrk="0" hangingPunct="1">
                        <a:spcAft>
                          <a:spcPts val="0"/>
                        </a:spcAft>
                      </a:pPr>
                      <a:r>
                        <a:rPr lang="en-GB" sz="1100" kern="1200"/>
                        <a:t>1.54</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endParaRPr lang="en-GB" sz="1100" b="0" kern="1200">
                        <a:solidFill>
                          <a:schemeClr val="tx1">
                            <a:lumMod val="50000"/>
                          </a:schemeClr>
                        </a:solidFill>
                        <a:latin typeface="+mn-lt"/>
                        <a:ea typeface="+mn-ea"/>
                        <a:cs typeface="+mn-cs"/>
                      </a:endParaRPr>
                    </a:p>
                  </a:txBody>
                  <a:tcPr marL="38100" marR="38100" marT="38100" marB="38100"/>
                </a:tc>
                <a:extLst>
                  <a:ext uri="{0D108BD9-81ED-4DB2-BD59-A6C34878D82A}">
                    <a16:rowId xmlns:a16="http://schemas.microsoft.com/office/drawing/2014/main" val="3252143938"/>
                  </a:ext>
                </a:extLst>
              </a:tr>
              <a:tr h="222030">
                <a:tc>
                  <a:txBody>
                    <a:bodyPr/>
                    <a:lstStyle/>
                    <a:p>
                      <a:pPr lvl="1"/>
                      <a:r>
                        <a:rPr lang="en-US" sz="1100"/>
                        <a:t>95% C.I.</a:t>
                      </a:r>
                      <a:endParaRPr lang="en-US" sz="1100" b="0">
                        <a:solidFill>
                          <a:schemeClr val="tx1">
                            <a:lumMod val="50000"/>
                          </a:schemeClr>
                        </a:solidFill>
                      </a:endParaRPr>
                    </a:p>
                  </a:txBody>
                  <a:tcPr/>
                </a:tc>
                <a:tc>
                  <a:txBody>
                    <a:bodyPr/>
                    <a:lstStyle/>
                    <a:p>
                      <a:pPr marL="0" algn="ctr" defTabSz="914400" rtl="0" eaLnBrk="1" latinLnBrk="0" hangingPunct="1">
                        <a:spcAft>
                          <a:spcPts val="0"/>
                        </a:spcAft>
                      </a:pPr>
                      <a:r>
                        <a:rPr lang="en-GB" sz="1100" kern="1200"/>
                        <a:t>(1.13, 1.51)</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endParaRPr lang="en-GB" sz="1100" b="0" kern="1200">
                        <a:solidFill>
                          <a:schemeClr val="tx1">
                            <a:lumMod val="50000"/>
                          </a:schemeClr>
                        </a:solidFill>
                        <a:latin typeface="+mn-lt"/>
                        <a:ea typeface="+mn-ea"/>
                        <a:cs typeface="+mn-cs"/>
                      </a:endParaRPr>
                    </a:p>
                  </a:txBody>
                  <a:tcPr marL="38100" marR="38100" marT="38100" marB="38100"/>
                </a:tc>
                <a:tc>
                  <a:txBody>
                    <a:bodyPr/>
                    <a:lstStyle/>
                    <a:p>
                      <a:pPr marL="0" algn="ctr" defTabSz="914400" rtl="0" eaLnBrk="1" latinLnBrk="0" hangingPunct="1">
                        <a:spcAft>
                          <a:spcPts val="0"/>
                        </a:spcAft>
                      </a:pPr>
                      <a:r>
                        <a:rPr lang="en-GB" sz="1100" kern="1200"/>
                        <a:t>(1.33, 1.78)</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endParaRPr lang="en-GB" sz="1100" b="0" kern="1200">
                        <a:solidFill>
                          <a:schemeClr val="tx1">
                            <a:lumMod val="50000"/>
                          </a:schemeClr>
                        </a:solidFill>
                        <a:latin typeface="+mn-lt"/>
                        <a:ea typeface="+mn-ea"/>
                        <a:cs typeface="+mn-cs"/>
                      </a:endParaRPr>
                    </a:p>
                  </a:txBody>
                  <a:tcPr marL="38100" marR="38100" marT="38100" marB="38100"/>
                </a:tc>
                <a:extLst>
                  <a:ext uri="{0D108BD9-81ED-4DB2-BD59-A6C34878D82A}">
                    <a16:rowId xmlns:a16="http://schemas.microsoft.com/office/drawing/2014/main" val="2157104169"/>
                  </a:ext>
                </a:extLst>
              </a:tr>
              <a:tr h="222030">
                <a:tc>
                  <a:txBody>
                    <a:bodyPr/>
                    <a:lstStyle/>
                    <a:p>
                      <a:pPr lvl="1"/>
                      <a:r>
                        <a:rPr lang="en-US" sz="1100"/>
                        <a:t>p-value</a:t>
                      </a:r>
                      <a:endParaRPr lang="en-US" sz="1100" b="0">
                        <a:solidFill>
                          <a:schemeClr val="tx1">
                            <a:lumMod val="50000"/>
                          </a:schemeClr>
                        </a:solidFill>
                      </a:endParaRPr>
                    </a:p>
                  </a:txBody>
                  <a:tcPr/>
                </a:tc>
                <a:tc>
                  <a:txBody>
                    <a:bodyPr/>
                    <a:lstStyle/>
                    <a:p>
                      <a:pPr marL="0" algn="ctr" defTabSz="914400" rtl="0" eaLnBrk="1" latinLnBrk="0" hangingPunct="1">
                        <a:spcAft>
                          <a:spcPts val="0"/>
                        </a:spcAft>
                      </a:pPr>
                      <a:r>
                        <a:rPr lang="en-GB" sz="1100" kern="1200"/>
                        <a:t>&lt;0.001</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endParaRPr lang="en-GB" sz="1100" b="0" kern="1200">
                        <a:solidFill>
                          <a:schemeClr val="tx1">
                            <a:lumMod val="50000"/>
                          </a:schemeClr>
                        </a:solidFill>
                        <a:latin typeface="+mn-lt"/>
                        <a:ea typeface="+mn-ea"/>
                        <a:cs typeface="+mn-cs"/>
                      </a:endParaRPr>
                    </a:p>
                  </a:txBody>
                  <a:tcPr marL="38100" marR="38100" marT="38100" marB="38100"/>
                </a:tc>
                <a:tc>
                  <a:txBody>
                    <a:bodyPr/>
                    <a:lstStyle/>
                    <a:p>
                      <a:pPr marL="0" algn="ctr" defTabSz="914400" rtl="0" eaLnBrk="1" latinLnBrk="0" hangingPunct="1">
                        <a:spcAft>
                          <a:spcPts val="0"/>
                        </a:spcAft>
                      </a:pPr>
                      <a:r>
                        <a:rPr lang="en-GB" sz="1100" kern="1200"/>
                        <a:t>&lt;0.001</a:t>
                      </a:r>
                      <a:endParaRPr lang="en-GB" sz="1100" b="0" kern="1200">
                        <a:solidFill>
                          <a:schemeClr val="tx1">
                            <a:lumMod val="50000"/>
                          </a:schemeClr>
                        </a:solidFill>
                        <a:latin typeface="+mn-lt"/>
                        <a:ea typeface="+mn-ea"/>
                        <a:cs typeface="+mn-cs"/>
                      </a:endParaRPr>
                    </a:p>
                  </a:txBody>
                  <a:tcPr marL="25400" marR="25400" marT="25400" marB="25400"/>
                </a:tc>
                <a:tc>
                  <a:txBody>
                    <a:bodyPr/>
                    <a:lstStyle/>
                    <a:p>
                      <a:pPr marL="0" algn="ctr" defTabSz="914400" rtl="0" eaLnBrk="1" latinLnBrk="0" hangingPunct="1">
                        <a:spcAft>
                          <a:spcPts val="0"/>
                        </a:spcAft>
                      </a:pPr>
                      <a:endParaRPr lang="en-GB" sz="1100" b="0" kern="1200">
                        <a:solidFill>
                          <a:schemeClr val="tx1">
                            <a:lumMod val="50000"/>
                          </a:schemeClr>
                        </a:solidFill>
                        <a:latin typeface="+mn-lt"/>
                        <a:ea typeface="+mn-ea"/>
                        <a:cs typeface="+mn-cs"/>
                      </a:endParaRPr>
                    </a:p>
                  </a:txBody>
                  <a:tcPr marL="38100" marR="38100" marT="38100" marB="38100"/>
                </a:tc>
                <a:extLst>
                  <a:ext uri="{0D108BD9-81ED-4DB2-BD59-A6C34878D82A}">
                    <a16:rowId xmlns:a16="http://schemas.microsoft.com/office/drawing/2014/main" val="299769987"/>
                  </a:ext>
                </a:extLst>
              </a:tr>
            </a:tbl>
          </a:graphicData>
        </a:graphic>
      </p:graphicFrame>
      <p:sp>
        <p:nvSpPr>
          <p:cNvPr id="6" name="Text Placeholder 2">
            <a:extLst>
              <a:ext uri="{FF2B5EF4-FFF2-40B4-BE49-F238E27FC236}">
                <a16:creationId xmlns:a16="http://schemas.microsoft.com/office/drawing/2014/main" id="{B0A62A7B-0CB1-4956-B4DC-3AB5024A2B7F}"/>
              </a:ext>
            </a:extLst>
          </p:cNvPr>
          <p:cNvSpPr>
            <a:spLocks noGrp="1"/>
          </p:cNvSpPr>
          <p:nvPr>
            <p:ph type="body" sz="quarter" idx="14"/>
          </p:nvPr>
        </p:nvSpPr>
        <p:spPr>
          <a:xfrm>
            <a:off x="359152" y="693553"/>
            <a:ext cx="7578000" cy="276999"/>
          </a:xfrm>
        </p:spPr>
        <p:txBody>
          <a:bodyPr/>
          <a:lstStyle/>
          <a:p>
            <a:r>
              <a:rPr lang="en-GB"/>
              <a:t>Primary Effectiveness Endpoint (ITT Population)</a:t>
            </a:r>
          </a:p>
        </p:txBody>
      </p:sp>
      <p:sp>
        <p:nvSpPr>
          <p:cNvPr id="4" name="Rectangle 3">
            <a:extLst>
              <a:ext uri="{FF2B5EF4-FFF2-40B4-BE49-F238E27FC236}">
                <a16:creationId xmlns:a16="http://schemas.microsoft.com/office/drawing/2014/main" id="{AC3EB874-915C-4F8E-A91B-D1EB503F3E53}"/>
              </a:ext>
            </a:extLst>
          </p:cNvPr>
          <p:cNvSpPr/>
          <p:nvPr/>
        </p:nvSpPr>
        <p:spPr bwMode="auto">
          <a:xfrm>
            <a:off x="5822832" y="1100933"/>
            <a:ext cx="3148640" cy="2793975"/>
          </a:xfrm>
          <a:prstGeom prst="rect">
            <a:avLst/>
          </a:prstGeom>
          <a:ln>
            <a:solidFill>
              <a:schemeClr val="bg1"/>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sp>
        <p:nvSpPr>
          <p:cNvPr id="10" name="Date Placeholder 6">
            <a:extLst>
              <a:ext uri="{FF2B5EF4-FFF2-40B4-BE49-F238E27FC236}">
                <a16:creationId xmlns:a16="http://schemas.microsoft.com/office/drawing/2014/main" id="{6488CB78-44BA-4985-9AF4-14C66164B3A2}"/>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
        <p:nvSpPr>
          <p:cNvPr id="2" name="Rectangle 1">
            <a:extLst>
              <a:ext uri="{FF2B5EF4-FFF2-40B4-BE49-F238E27FC236}">
                <a16:creationId xmlns:a16="http://schemas.microsoft.com/office/drawing/2014/main" id="{9D465037-CC79-4E01-BA5A-DD1336631C3F}"/>
              </a:ext>
            </a:extLst>
          </p:cNvPr>
          <p:cNvSpPr/>
          <p:nvPr/>
        </p:nvSpPr>
        <p:spPr bwMode="auto">
          <a:xfrm>
            <a:off x="292231" y="2403835"/>
            <a:ext cx="5646656" cy="377072"/>
          </a:xfrm>
          <a:prstGeom prst="rect">
            <a:avLst/>
          </a:prstGeom>
          <a:noFill/>
          <a:ln w="38100">
            <a:solidFill>
              <a:schemeClr val="accent3">
                <a:lumMod val="60000"/>
                <a:lumOff val="40000"/>
              </a:schemeClr>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GB" sz="1200" b="1" kern="0" err="1">
              <a:solidFill>
                <a:srgbClr val="FFFFFF"/>
              </a:solidFill>
              <a:latin typeface="Arial"/>
            </a:endParaRPr>
          </a:p>
        </p:txBody>
      </p:sp>
      <p:cxnSp>
        <p:nvCxnSpPr>
          <p:cNvPr id="9" name="Straight Arrow Connector 8">
            <a:extLst>
              <a:ext uri="{FF2B5EF4-FFF2-40B4-BE49-F238E27FC236}">
                <a16:creationId xmlns:a16="http://schemas.microsoft.com/office/drawing/2014/main" id="{E11C4258-C350-4C6A-8598-F7B2A61B6B8A}"/>
              </a:ext>
            </a:extLst>
          </p:cNvPr>
          <p:cNvCxnSpPr>
            <a:cxnSpLocks/>
          </p:cNvCxnSpPr>
          <p:nvPr/>
        </p:nvCxnSpPr>
        <p:spPr>
          <a:xfrm flipV="1">
            <a:off x="3864990" y="2316736"/>
            <a:ext cx="2284987" cy="304151"/>
          </a:xfrm>
          <a:prstGeom prst="straightConnector1">
            <a:avLst/>
          </a:prstGeom>
          <a:ln w="28575">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D99B15C-3DB9-4F74-8485-21D81B96D91B}"/>
              </a:ext>
            </a:extLst>
          </p:cNvPr>
          <p:cNvCxnSpPr>
            <a:cxnSpLocks/>
          </p:cNvCxnSpPr>
          <p:nvPr/>
        </p:nvCxnSpPr>
        <p:spPr>
          <a:xfrm flipV="1">
            <a:off x="5410986" y="2316735"/>
            <a:ext cx="2165232" cy="275636"/>
          </a:xfrm>
          <a:prstGeom prst="straightConnector1">
            <a:avLst/>
          </a:prstGeom>
          <a:ln w="28575">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8778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2" fill="hold" grpId="0" nodeType="clickEffect">
                                  <p:stCondLst>
                                    <p:cond delay="0"/>
                                  </p:stCondLst>
                                  <p:childTnLst>
                                    <p:anim calcmode="lin" valueType="num">
                                      <p:cBhvr additive="base">
                                        <p:cTn id="10" dur="500"/>
                                        <p:tgtEl>
                                          <p:spTgt spid="4"/>
                                        </p:tgtEl>
                                        <p:attrNameLst>
                                          <p:attrName>ppt_x</p:attrName>
                                        </p:attrNameLst>
                                      </p:cBhvr>
                                      <p:tavLst>
                                        <p:tav tm="0">
                                          <p:val>
                                            <p:strVal val="ppt_x"/>
                                          </p:val>
                                        </p:tav>
                                        <p:tav tm="100000">
                                          <p:val>
                                            <p:strVal val="1+ppt_w/2"/>
                                          </p:val>
                                        </p:tav>
                                      </p:tavLst>
                                    </p:anim>
                                    <p:anim calcmode="lin" valueType="num">
                                      <p:cBhvr additive="base">
                                        <p:cTn id="11" dur="500"/>
                                        <p:tgtEl>
                                          <p:spTgt spid="4"/>
                                        </p:tgtEl>
                                        <p:attrNameLst>
                                          <p:attrName>ppt_y</p:attrName>
                                        </p:attrNameLst>
                                      </p:cBhvr>
                                      <p:tavLst>
                                        <p:tav tm="0">
                                          <p:val>
                                            <p:strVal val="ppt_y"/>
                                          </p:val>
                                        </p:tav>
                                        <p:tav tm="100000">
                                          <p:val>
                                            <p:strVal val="ppt_y"/>
                                          </p:val>
                                        </p:tav>
                                      </p:tavLst>
                                    </p:anim>
                                    <p:set>
                                      <p:cBhvr>
                                        <p:cTn id="12" dur="1" fill="hold">
                                          <p:stCondLst>
                                            <p:cond delay="499"/>
                                          </p:stCondLst>
                                        </p:cTn>
                                        <p:tgtEl>
                                          <p:spTgt spid="4"/>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59152" y="294295"/>
            <a:ext cx="7975223" cy="307777"/>
          </a:xfrm>
        </p:spPr>
        <p:txBody>
          <a:bodyPr/>
          <a:lstStyle/>
          <a:p>
            <a:r>
              <a:rPr lang="en-GB" sz="2000"/>
              <a:t>Estimand example: INTREPID STUDY</a:t>
            </a:r>
            <a:endParaRPr lang="en-US" sz="2000"/>
          </a:p>
        </p:txBody>
      </p:sp>
      <p:sp>
        <p:nvSpPr>
          <p:cNvPr id="7" name="Slide Number Placeholder 6"/>
          <p:cNvSpPr>
            <a:spLocks noGrp="1"/>
          </p:cNvSpPr>
          <p:nvPr>
            <p:ph type="sldNum" sz="quarter" idx="21"/>
          </p:nvPr>
        </p:nvSpPr>
        <p:spPr/>
        <p:txBody>
          <a:bodyPr/>
          <a:lstStyle/>
          <a:p>
            <a:fld id="{9F9F533D-B52E-4A2F-BF72-0ADD2D94BD75}" type="slidenum">
              <a:rPr lang="en-GB" smtClean="0"/>
              <a:pPr/>
              <a:t>18</a:t>
            </a:fld>
            <a:endParaRPr lang="en-GB"/>
          </a:p>
        </p:txBody>
      </p:sp>
      <p:sp>
        <p:nvSpPr>
          <p:cNvPr id="6" name="Text Placeholder 2">
            <a:extLst>
              <a:ext uri="{FF2B5EF4-FFF2-40B4-BE49-F238E27FC236}">
                <a16:creationId xmlns:a16="http://schemas.microsoft.com/office/drawing/2014/main" id="{B0A62A7B-0CB1-4956-B4DC-3AB5024A2B7F}"/>
              </a:ext>
            </a:extLst>
          </p:cNvPr>
          <p:cNvSpPr>
            <a:spLocks noGrp="1"/>
          </p:cNvSpPr>
          <p:nvPr>
            <p:ph type="body" sz="quarter" idx="14"/>
          </p:nvPr>
        </p:nvSpPr>
        <p:spPr>
          <a:xfrm>
            <a:off x="359152" y="693553"/>
            <a:ext cx="7578000" cy="276999"/>
          </a:xfrm>
        </p:spPr>
        <p:txBody>
          <a:bodyPr/>
          <a:lstStyle/>
          <a:p>
            <a:r>
              <a:rPr lang="en-GB"/>
              <a:t>Primary Effectiveness Endpoint (ITT Population)</a:t>
            </a:r>
          </a:p>
        </p:txBody>
      </p:sp>
      <p:pic>
        <p:nvPicPr>
          <p:cNvPr id="2" name="Picture 1">
            <a:extLst>
              <a:ext uri="{FF2B5EF4-FFF2-40B4-BE49-F238E27FC236}">
                <a16:creationId xmlns:a16="http://schemas.microsoft.com/office/drawing/2014/main" id="{62A6C5F9-C24B-4DDE-8058-FE33A2649268}"/>
              </a:ext>
            </a:extLst>
          </p:cNvPr>
          <p:cNvPicPr>
            <a:picLocks noChangeAspect="1"/>
          </p:cNvPicPr>
          <p:nvPr/>
        </p:nvPicPr>
        <p:blipFill>
          <a:blip r:embed="rId3"/>
          <a:stretch>
            <a:fillRect/>
          </a:stretch>
        </p:blipFill>
        <p:spPr>
          <a:xfrm>
            <a:off x="359152" y="1167259"/>
            <a:ext cx="5354954" cy="1685424"/>
          </a:xfrm>
          <a:prstGeom prst="rect">
            <a:avLst/>
          </a:prstGeom>
        </p:spPr>
      </p:pic>
      <p:sp>
        <p:nvSpPr>
          <p:cNvPr id="3" name="Rectangle 2">
            <a:extLst>
              <a:ext uri="{FF2B5EF4-FFF2-40B4-BE49-F238E27FC236}">
                <a16:creationId xmlns:a16="http://schemas.microsoft.com/office/drawing/2014/main" id="{3E2ACA44-A385-4540-9197-6163F5EBFBD6}"/>
              </a:ext>
            </a:extLst>
          </p:cNvPr>
          <p:cNvSpPr/>
          <p:nvPr/>
        </p:nvSpPr>
        <p:spPr bwMode="auto">
          <a:xfrm>
            <a:off x="2234240" y="2484203"/>
            <a:ext cx="6383548" cy="196574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lang="en-GB" sz="1400"/>
              <a:t>The amount of missing data can have a big impact on the results, prevention is critical. </a:t>
            </a:r>
          </a:p>
          <a:p>
            <a:pPr marL="285750" indent="-285750">
              <a:buFont typeface="Arial" panose="020B0604020202020204" pitchFamily="34" charset="0"/>
              <a:buChar char="‒"/>
            </a:pPr>
            <a:endParaRPr lang="en-GB" sz="800"/>
          </a:p>
          <a:p>
            <a:pPr marL="285750" indent="-285750">
              <a:buFont typeface="Arial" panose="020B0604020202020204" pitchFamily="34" charset="0"/>
              <a:buChar char="‒"/>
            </a:pPr>
            <a:r>
              <a:rPr lang="en-GB" sz="1400"/>
              <a:t>The choice of missing data approach can have a large impact on the treatment effect reported. In this analysis, the NRI went in our favour, however it could have equally counted against us. </a:t>
            </a:r>
          </a:p>
          <a:p>
            <a:pPr marL="285750" indent="-285750">
              <a:buFont typeface="Arial" panose="020B0604020202020204" pitchFamily="34" charset="0"/>
              <a:buChar char="‒"/>
            </a:pPr>
            <a:endParaRPr lang="en-GB" sz="800"/>
          </a:p>
          <a:p>
            <a:pPr marL="285750" indent="-285750">
              <a:buFont typeface="Arial" panose="020B0604020202020204" pitchFamily="34" charset="0"/>
              <a:buChar char="‒"/>
            </a:pPr>
            <a:r>
              <a:rPr lang="en-GB" sz="1400"/>
              <a:t>Are the competitors presenting their Primary </a:t>
            </a:r>
            <a:r>
              <a:rPr lang="en-GB" sz="1400" err="1"/>
              <a:t>estimand</a:t>
            </a:r>
            <a:r>
              <a:rPr lang="en-GB" sz="1400"/>
              <a:t> or are they presenting the most favourable? </a:t>
            </a:r>
          </a:p>
        </p:txBody>
      </p:sp>
      <p:sp>
        <p:nvSpPr>
          <p:cNvPr id="8" name="Date Placeholder 6">
            <a:extLst>
              <a:ext uri="{FF2B5EF4-FFF2-40B4-BE49-F238E27FC236}">
                <a16:creationId xmlns:a16="http://schemas.microsoft.com/office/drawing/2014/main" id="{20AEEF95-7F4D-4547-AC21-F24AEB3B1DAE}"/>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341686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103CD5-2067-4A95-AB93-9059B374434E}"/>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D2D9E890-485F-49B1-B52C-1F206A030E76}"/>
              </a:ext>
            </a:extLst>
          </p:cNvPr>
          <p:cNvSpPr>
            <a:spLocks noGrp="1"/>
          </p:cNvSpPr>
          <p:nvPr>
            <p:ph type="title"/>
          </p:nvPr>
        </p:nvSpPr>
        <p:spPr/>
        <p:txBody>
          <a:bodyPr>
            <a:normAutofit/>
          </a:bodyPr>
          <a:lstStyle/>
          <a:p>
            <a:r>
              <a:rPr lang="en-GB"/>
              <a:t>Types of Missing Data</a:t>
            </a:r>
          </a:p>
        </p:txBody>
      </p:sp>
      <p:sp>
        <p:nvSpPr>
          <p:cNvPr id="5" name="Slide Number Placeholder 4">
            <a:extLst>
              <a:ext uri="{FF2B5EF4-FFF2-40B4-BE49-F238E27FC236}">
                <a16:creationId xmlns:a16="http://schemas.microsoft.com/office/drawing/2014/main" id="{29A7FEA6-F8BD-44DE-BC93-AE87AE35BECA}"/>
              </a:ext>
            </a:extLst>
          </p:cNvPr>
          <p:cNvSpPr>
            <a:spLocks noGrp="1"/>
          </p:cNvSpPr>
          <p:nvPr>
            <p:ph type="sldNum" sz="quarter" idx="21"/>
          </p:nvPr>
        </p:nvSpPr>
        <p:spPr/>
        <p:txBody>
          <a:bodyPr/>
          <a:lstStyle/>
          <a:p>
            <a:fld id="{9F9F533D-B52E-4A2F-BF72-0ADD2D94BD75}" type="slidenum">
              <a:rPr lang="en-GB" smtClean="0"/>
              <a:pPr/>
              <a:t>19</a:t>
            </a:fld>
            <a:endParaRPr lang="en-GB"/>
          </a:p>
        </p:txBody>
      </p:sp>
      <p:sp>
        <p:nvSpPr>
          <p:cNvPr id="6" name="Date Placeholder 1">
            <a:extLst>
              <a:ext uri="{FF2B5EF4-FFF2-40B4-BE49-F238E27FC236}">
                <a16:creationId xmlns:a16="http://schemas.microsoft.com/office/drawing/2014/main" id="{2BBD23A4-4FD2-4364-9050-DBA479A72F3A}"/>
              </a:ext>
            </a:extLst>
          </p:cNvPr>
          <p:cNvSpPr txBox="1">
            <a:spLocks/>
          </p:cNvSpPr>
          <p:nvPr/>
        </p:nvSpPr>
        <p:spPr>
          <a:xfrm>
            <a:off x="2985247" y="4704002"/>
            <a:ext cx="3604964" cy="273844"/>
          </a:xfrm>
          <a:prstGeom prst="rect">
            <a:avLst/>
          </a:prstGeom>
        </p:spPr>
        <p:txBody>
          <a:bodyPr vert="horz" lIns="72000" tIns="0" rIns="0" bIns="0" rtlCol="0" anchor="t" anchorCtr="0"/>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graphicFrame>
        <p:nvGraphicFramePr>
          <p:cNvPr id="2" name="Table 1">
            <a:extLst>
              <a:ext uri="{FF2B5EF4-FFF2-40B4-BE49-F238E27FC236}">
                <a16:creationId xmlns:a16="http://schemas.microsoft.com/office/drawing/2014/main" id="{B6C3C499-889B-4958-BC08-84495C3511E7}"/>
              </a:ext>
            </a:extLst>
          </p:cNvPr>
          <p:cNvGraphicFramePr>
            <a:graphicFrameLocks noGrp="1"/>
          </p:cNvGraphicFramePr>
          <p:nvPr>
            <p:extLst>
              <p:ext uri="{D42A27DB-BD31-4B8C-83A1-F6EECF244321}">
                <p14:modId xmlns:p14="http://schemas.microsoft.com/office/powerpoint/2010/main" val="2367949083"/>
              </p:ext>
            </p:extLst>
          </p:nvPr>
        </p:nvGraphicFramePr>
        <p:xfrm>
          <a:off x="620758" y="1249481"/>
          <a:ext cx="7798662" cy="3132627"/>
        </p:xfrm>
        <a:graphic>
          <a:graphicData uri="http://schemas.openxmlformats.org/drawingml/2006/table">
            <a:tbl>
              <a:tblPr/>
              <a:tblGrid>
                <a:gridCol w="2599554">
                  <a:extLst>
                    <a:ext uri="{9D8B030D-6E8A-4147-A177-3AD203B41FA5}">
                      <a16:colId xmlns:a16="http://schemas.microsoft.com/office/drawing/2014/main" val="2312769641"/>
                    </a:ext>
                  </a:extLst>
                </a:gridCol>
                <a:gridCol w="2599554">
                  <a:extLst>
                    <a:ext uri="{9D8B030D-6E8A-4147-A177-3AD203B41FA5}">
                      <a16:colId xmlns:a16="http://schemas.microsoft.com/office/drawing/2014/main" val="331368264"/>
                    </a:ext>
                  </a:extLst>
                </a:gridCol>
                <a:gridCol w="2599554">
                  <a:extLst>
                    <a:ext uri="{9D8B030D-6E8A-4147-A177-3AD203B41FA5}">
                      <a16:colId xmlns:a16="http://schemas.microsoft.com/office/drawing/2014/main" val="323319304"/>
                    </a:ext>
                  </a:extLst>
                </a:gridCol>
              </a:tblGrid>
              <a:tr h="860534">
                <a:tc>
                  <a:txBody>
                    <a:bodyPr/>
                    <a:lstStyle/>
                    <a:p>
                      <a:pPr algn="ctr" fontAlgn="base"/>
                      <a:r>
                        <a:rPr lang="en-GB" sz="1400" b="1" i="0">
                          <a:solidFill>
                            <a:srgbClr val="FFFFFF"/>
                          </a:solidFill>
                          <a:effectLst/>
                          <a:latin typeface="Arial" panose="020B0604020202020204" pitchFamily="34" charset="0"/>
                        </a:rPr>
                        <a:t>Missing Completely at Random​</a:t>
                      </a:r>
                      <a:endParaRPr lang="en-GB" sz="1400" b="1" i="0">
                        <a:solidFill>
                          <a:srgbClr val="FFFFFF"/>
                        </a:solidFill>
                        <a:effectLst/>
                      </a:endParaRPr>
                    </a:p>
                    <a:p>
                      <a:pPr algn="ctr" fontAlgn="base"/>
                      <a:r>
                        <a:rPr lang="en-GB" sz="1400" b="1" i="0">
                          <a:solidFill>
                            <a:srgbClr val="FFFFFF"/>
                          </a:solidFill>
                          <a:effectLst/>
                          <a:latin typeface="Arial" panose="020B0604020202020204" pitchFamily="34" charset="0"/>
                        </a:rPr>
                        <a:t>(MCAR)​</a:t>
                      </a:r>
                      <a:endParaRPr lang="en-GB" sz="1400" b="1" i="0">
                        <a:solidFill>
                          <a:srgbClr val="FFFFFF"/>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39624" cap="flat" cmpd="sng" algn="ctr">
                      <a:solidFill>
                        <a:srgbClr val="FFFFFF"/>
                      </a:solidFill>
                      <a:prstDash val="solid"/>
                      <a:round/>
                      <a:headEnd type="none" w="med" len="med"/>
                      <a:tailEnd type="none" w="med" len="med"/>
                    </a:lnB>
                    <a:solidFill>
                      <a:srgbClr val="40488D"/>
                    </a:solidFill>
                  </a:tcPr>
                </a:tc>
                <a:tc>
                  <a:txBody>
                    <a:bodyPr/>
                    <a:lstStyle/>
                    <a:p>
                      <a:pPr algn="ctr" fontAlgn="base"/>
                      <a:r>
                        <a:rPr lang="en-GB" sz="1400" b="1" i="0">
                          <a:solidFill>
                            <a:srgbClr val="FFFFFF"/>
                          </a:solidFill>
                          <a:effectLst/>
                          <a:latin typeface="Arial" panose="020B0604020202020204" pitchFamily="34" charset="0"/>
                        </a:rPr>
                        <a:t>Missing at Random​</a:t>
                      </a:r>
                      <a:endParaRPr lang="en-GB" sz="1400" b="1" i="0">
                        <a:solidFill>
                          <a:srgbClr val="FFFFFF"/>
                        </a:solidFill>
                        <a:effectLst/>
                      </a:endParaRPr>
                    </a:p>
                    <a:p>
                      <a:pPr algn="ctr" fontAlgn="base"/>
                      <a:r>
                        <a:rPr lang="en-GB" sz="1400" b="1" i="0">
                          <a:solidFill>
                            <a:srgbClr val="FFFFFF"/>
                          </a:solidFill>
                          <a:effectLst/>
                          <a:latin typeface="Arial" panose="020B0604020202020204" pitchFamily="34" charset="0"/>
                        </a:rPr>
                        <a:t>(MAR)​</a:t>
                      </a:r>
                      <a:endParaRPr lang="en-GB" sz="1400" b="1" i="0">
                        <a:solidFill>
                          <a:srgbClr val="FFFFFF"/>
                        </a:solidFill>
                        <a:effectLst/>
                      </a:endParaRPr>
                    </a:p>
                    <a:p>
                      <a:pPr algn="ctr" fontAlgn="base"/>
                      <a:r>
                        <a:rPr lang="en-GB" sz="1400" b="1" i="0">
                          <a:solidFill>
                            <a:srgbClr val="FFFFFF"/>
                          </a:solidFill>
                          <a:effectLst/>
                          <a:latin typeface="Arial" panose="020B0604020202020204" pitchFamily="34" charset="0"/>
                        </a:rPr>
                        <a:t>​</a:t>
                      </a:r>
                      <a:endParaRPr lang="en-GB" sz="1400" b="1" i="0">
                        <a:solidFill>
                          <a:srgbClr val="FFFFFF"/>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39624" cap="flat" cmpd="sng" algn="ctr">
                      <a:solidFill>
                        <a:srgbClr val="FFFFFF"/>
                      </a:solidFill>
                      <a:prstDash val="solid"/>
                      <a:round/>
                      <a:headEnd type="none" w="med" len="med"/>
                      <a:tailEnd type="none" w="med" len="med"/>
                    </a:lnB>
                    <a:solidFill>
                      <a:srgbClr val="40488D"/>
                    </a:solidFill>
                  </a:tcPr>
                </a:tc>
                <a:tc>
                  <a:txBody>
                    <a:bodyPr/>
                    <a:lstStyle/>
                    <a:p>
                      <a:pPr algn="ctr" fontAlgn="base"/>
                      <a:r>
                        <a:rPr lang="en-GB" sz="1400" b="1" i="0">
                          <a:solidFill>
                            <a:srgbClr val="FFFFFF"/>
                          </a:solidFill>
                          <a:effectLst/>
                          <a:latin typeface="Arial" panose="020B0604020202020204" pitchFamily="34" charset="0"/>
                        </a:rPr>
                        <a:t>Missing Not at Random​</a:t>
                      </a:r>
                      <a:endParaRPr lang="en-GB" sz="1400" b="1" i="0">
                        <a:solidFill>
                          <a:srgbClr val="FFFFFF"/>
                        </a:solidFill>
                        <a:effectLst/>
                      </a:endParaRPr>
                    </a:p>
                    <a:p>
                      <a:pPr algn="ctr" fontAlgn="base"/>
                      <a:r>
                        <a:rPr lang="en-GB" sz="1400" b="1" i="0">
                          <a:solidFill>
                            <a:srgbClr val="FFFFFF"/>
                          </a:solidFill>
                          <a:effectLst/>
                          <a:latin typeface="Arial" panose="020B0604020202020204" pitchFamily="34" charset="0"/>
                        </a:rPr>
                        <a:t>(MNAR)​</a:t>
                      </a:r>
                      <a:endParaRPr lang="en-GB" sz="1400" b="1" i="0">
                        <a:solidFill>
                          <a:srgbClr val="FFFFFF"/>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39624" cap="flat" cmpd="sng" algn="ctr">
                      <a:solidFill>
                        <a:srgbClr val="FFFFFF"/>
                      </a:solidFill>
                      <a:prstDash val="solid"/>
                      <a:round/>
                      <a:headEnd type="none" w="med" len="med"/>
                      <a:tailEnd type="none" w="med" len="med"/>
                    </a:lnB>
                    <a:solidFill>
                      <a:srgbClr val="40488D"/>
                    </a:solidFill>
                  </a:tcPr>
                </a:tc>
                <a:extLst>
                  <a:ext uri="{0D108BD9-81ED-4DB2-BD59-A6C34878D82A}">
                    <a16:rowId xmlns:a16="http://schemas.microsoft.com/office/drawing/2014/main" val="1261300227"/>
                  </a:ext>
                </a:extLst>
              </a:tr>
              <a:tr h="595754">
                <a:tc>
                  <a:txBody>
                    <a:bodyPr/>
                    <a:lstStyle/>
                    <a:p>
                      <a:pPr algn="ctr" fontAlgn="base"/>
                      <a:r>
                        <a:rPr lang="en-GB" sz="1200" b="0" i="1">
                          <a:solidFill>
                            <a:srgbClr val="544F40"/>
                          </a:solidFill>
                          <a:effectLst/>
                          <a:latin typeface="Arial" panose="020B0604020202020204" pitchFamily="34" charset="0"/>
                        </a:rPr>
                        <a:t>Dog eats the students homework at random</a:t>
                      </a:r>
                      <a:r>
                        <a:rPr lang="en-GB" sz="1200" b="0" i="0">
                          <a:solidFill>
                            <a:srgbClr val="544F40"/>
                          </a:solidFill>
                          <a:effectLst/>
                          <a:latin typeface="Arial" panose="020B0604020202020204" pitchFamily="34" charset="0"/>
                        </a:rPr>
                        <a:t>​</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39624"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CECFDB"/>
                    </a:solidFill>
                  </a:tcPr>
                </a:tc>
                <a:tc>
                  <a:txBody>
                    <a:bodyPr/>
                    <a:lstStyle/>
                    <a:p>
                      <a:pPr algn="ctr" fontAlgn="base"/>
                      <a:r>
                        <a:rPr lang="en-GB" sz="1200" b="0" i="1">
                          <a:solidFill>
                            <a:srgbClr val="544F40"/>
                          </a:solidFill>
                          <a:effectLst/>
                          <a:latin typeface="Arial" panose="020B0604020202020204" pitchFamily="34" charset="0"/>
                        </a:rPr>
                        <a:t>Dog eats the students homework closest to him</a:t>
                      </a:r>
                      <a:r>
                        <a:rPr lang="en-GB" sz="1200" b="0" i="0">
                          <a:solidFill>
                            <a:srgbClr val="544F40"/>
                          </a:solidFill>
                          <a:effectLst/>
                          <a:latin typeface="Arial" panose="020B0604020202020204" pitchFamily="34" charset="0"/>
                        </a:rPr>
                        <a:t>​</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39624"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CECFDB"/>
                    </a:solidFill>
                  </a:tcPr>
                </a:tc>
                <a:tc>
                  <a:txBody>
                    <a:bodyPr/>
                    <a:lstStyle/>
                    <a:p>
                      <a:pPr algn="ctr" fontAlgn="base"/>
                      <a:r>
                        <a:rPr lang="en-GB" sz="1200" b="0" i="1">
                          <a:solidFill>
                            <a:srgbClr val="544F40"/>
                          </a:solidFill>
                          <a:effectLst/>
                          <a:latin typeface="Arial" panose="020B0604020202020204" pitchFamily="34" charset="0"/>
                        </a:rPr>
                        <a:t>Dog eats the students homework with the highest grade</a:t>
                      </a:r>
                      <a:r>
                        <a:rPr lang="en-GB" sz="1200" b="0" i="0">
                          <a:solidFill>
                            <a:srgbClr val="544F40"/>
                          </a:solidFill>
                          <a:effectLst/>
                          <a:latin typeface="Arial" panose="020B0604020202020204" pitchFamily="34" charset="0"/>
                        </a:rPr>
                        <a:t>​</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39624"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CECFDB"/>
                    </a:solidFill>
                  </a:tcPr>
                </a:tc>
                <a:extLst>
                  <a:ext uri="{0D108BD9-81ED-4DB2-BD59-A6C34878D82A}">
                    <a16:rowId xmlns:a16="http://schemas.microsoft.com/office/drawing/2014/main" val="2210331987"/>
                  </a:ext>
                </a:extLst>
              </a:tr>
              <a:tr h="1654873">
                <a:tc>
                  <a:txBody>
                    <a:bodyPr/>
                    <a:lstStyle/>
                    <a:p>
                      <a:pPr algn="ctr" fontAlgn="base"/>
                      <a:r>
                        <a:rPr lang="en-GB" sz="1400" b="0" i="0">
                          <a:solidFill>
                            <a:srgbClr val="544F40"/>
                          </a:solidFill>
                          <a:effectLst/>
                          <a:latin typeface="Arial" panose="020B0604020202020204" pitchFamily="34" charset="0"/>
                        </a:rPr>
                        <a:t>Missingness is not dependent on the value that is missing ​</a:t>
                      </a:r>
                      <a:endParaRPr lang="en-GB" sz="1400" b="0" i="0">
                        <a:solidFill>
                          <a:srgbClr val="544F40"/>
                        </a:solidFill>
                        <a:effectLst/>
                      </a:endParaRPr>
                    </a:p>
                    <a:p>
                      <a:pPr algn="ctr" fontAlgn="base"/>
                      <a:r>
                        <a:rPr lang="en-GB" sz="1400" b="0" i="0">
                          <a:solidFill>
                            <a:srgbClr val="544F40"/>
                          </a:solidFill>
                          <a:effectLst/>
                          <a:latin typeface="Arial" panose="020B0604020202020204" pitchFamily="34" charset="0"/>
                        </a:rPr>
                        <a:t>nor on other data collected​</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E8E9EE"/>
                    </a:solidFill>
                  </a:tcPr>
                </a:tc>
                <a:tc>
                  <a:txBody>
                    <a:bodyPr/>
                    <a:lstStyle/>
                    <a:p>
                      <a:pPr algn="ctr" fontAlgn="base"/>
                      <a:r>
                        <a:rPr lang="en-GB" sz="1400" b="0" i="0">
                          <a:solidFill>
                            <a:srgbClr val="544F40"/>
                          </a:solidFill>
                          <a:effectLst/>
                          <a:latin typeface="Arial" panose="020B0604020202020204" pitchFamily="34" charset="0"/>
                        </a:rPr>
                        <a:t>Missingness is not dependent on the value that is missing, ​</a:t>
                      </a:r>
                      <a:endParaRPr lang="en-GB" sz="1400" b="0" i="0">
                        <a:solidFill>
                          <a:srgbClr val="544F40"/>
                        </a:solidFill>
                        <a:effectLst/>
                      </a:endParaRPr>
                    </a:p>
                    <a:p>
                      <a:pPr algn="ctr" fontAlgn="base"/>
                      <a:r>
                        <a:rPr lang="en-GB" sz="1400" b="0" i="0">
                          <a:solidFill>
                            <a:srgbClr val="544F40"/>
                          </a:solidFill>
                          <a:effectLst/>
                          <a:latin typeface="Arial" panose="020B0604020202020204" pitchFamily="34" charset="0"/>
                        </a:rPr>
                        <a:t>but is dependent on other data collected​</a:t>
                      </a:r>
                      <a:endParaRPr lang="en-GB" sz="1400" b="0" i="0">
                        <a:solidFill>
                          <a:srgbClr val="544F40"/>
                        </a:solidFill>
                        <a:effectLst/>
                      </a:endParaRPr>
                    </a:p>
                    <a:p>
                      <a:pPr algn="ctr" fontAlgn="base"/>
                      <a:r>
                        <a:rPr lang="en-GB" sz="1400" b="0" i="0">
                          <a:solidFill>
                            <a:srgbClr val="544F40"/>
                          </a:solidFill>
                          <a:effectLst/>
                          <a:latin typeface="Arial" panose="020B0604020202020204" pitchFamily="34" charset="0"/>
                        </a:rPr>
                        <a:t>​</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E8E9EE"/>
                    </a:solidFill>
                  </a:tcPr>
                </a:tc>
                <a:tc>
                  <a:txBody>
                    <a:bodyPr/>
                    <a:lstStyle/>
                    <a:p>
                      <a:pPr algn="ctr" fontAlgn="base"/>
                      <a:r>
                        <a:rPr lang="en-GB" sz="1400" b="0" i="0">
                          <a:solidFill>
                            <a:srgbClr val="544F40"/>
                          </a:solidFill>
                          <a:effectLst/>
                          <a:latin typeface="Arial" panose="020B0604020202020204" pitchFamily="34" charset="0"/>
                        </a:rPr>
                        <a:t>Missingness is dependent on the value that is missing​</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E8E9EE"/>
                    </a:solidFill>
                  </a:tcPr>
                </a:tc>
                <a:extLst>
                  <a:ext uri="{0D108BD9-81ED-4DB2-BD59-A6C34878D82A}">
                    <a16:rowId xmlns:a16="http://schemas.microsoft.com/office/drawing/2014/main" val="804743518"/>
                  </a:ext>
                </a:extLst>
              </a:tr>
            </a:tbl>
          </a:graphicData>
        </a:graphic>
      </p:graphicFrame>
      <p:graphicFrame>
        <p:nvGraphicFramePr>
          <p:cNvPr id="15" name="Table 14">
            <a:extLst>
              <a:ext uri="{FF2B5EF4-FFF2-40B4-BE49-F238E27FC236}">
                <a16:creationId xmlns:a16="http://schemas.microsoft.com/office/drawing/2014/main" id="{514C2D77-7B4D-47A3-9B70-42B283F15009}"/>
              </a:ext>
            </a:extLst>
          </p:cNvPr>
          <p:cNvGraphicFramePr>
            <a:graphicFrameLocks noGrp="1"/>
          </p:cNvGraphicFramePr>
          <p:nvPr>
            <p:extLst>
              <p:ext uri="{D42A27DB-BD31-4B8C-83A1-F6EECF244321}">
                <p14:modId xmlns:p14="http://schemas.microsoft.com/office/powerpoint/2010/main" val="512219262"/>
              </p:ext>
            </p:extLst>
          </p:nvPr>
        </p:nvGraphicFramePr>
        <p:xfrm>
          <a:off x="620759" y="1249481"/>
          <a:ext cx="5205006" cy="3111161"/>
        </p:xfrm>
        <a:graphic>
          <a:graphicData uri="http://schemas.openxmlformats.org/drawingml/2006/table">
            <a:tbl>
              <a:tblPr/>
              <a:tblGrid>
                <a:gridCol w="2602503">
                  <a:extLst>
                    <a:ext uri="{9D8B030D-6E8A-4147-A177-3AD203B41FA5}">
                      <a16:colId xmlns:a16="http://schemas.microsoft.com/office/drawing/2014/main" val="128027713"/>
                    </a:ext>
                  </a:extLst>
                </a:gridCol>
                <a:gridCol w="2602503">
                  <a:extLst>
                    <a:ext uri="{9D8B030D-6E8A-4147-A177-3AD203B41FA5}">
                      <a16:colId xmlns:a16="http://schemas.microsoft.com/office/drawing/2014/main" val="4177657519"/>
                    </a:ext>
                  </a:extLst>
                </a:gridCol>
              </a:tblGrid>
              <a:tr h="860534">
                <a:tc>
                  <a:txBody>
                    <a:bodyPr/>
                    <a:lstStyle/>
                    <a:p>
                      <a:pPr algn="ctr" fontAlgn="base"/>
                      <a:r>
                        <a:rPr lang="en-GB" sz="1400" b="1" i="0">
                          <a:solidFill>
                            <a:srgbClr val="FFFFFF"/>
                          </a:solidFill>
                          <a:effectLst/>
                          <a:latin typeface="Arial" panose="020B0604020202020204" pitchFamily="34" charset="0"/>
                        </a:rPr>
                        <a:t>Missing Completely at Random​</a:t>
                      </a:r>
                      <a:endParaRPr lang="en-GB" sz="1400" b="1" i="0">
                        <a:solidFill>
                          <a:srgbClr val="FFFFFF"/>
                        </a:solidFill>
                        <a:effectLst/>
                      </a:endParaRPr>
                    </a:p>
                    <a:p>
                      <a:pPr algn="ctr" fontAlgn="base"/>
                      <a:r>
                        <a:rPr lang="en-GB" sz="1400" b="1" i="0">
                          <a:solidFill>
                            <a:srgbClr val="FFFFFF"/>
                          </a:solidFill>
                          <a:effectLst/>
                          <a:latin typeface="Arial" panose="020B0604020202020204" pitchFamily="34" charset="0"/>
                        </a:rPr>
                        <a:t>(MCAR)​</a:t>
                      </a:r>
                      <a:endParaRPr lang="en-GB" sz="1400" b="1" i="0">
                        <a:solidFill>
                          <a:srgbClr val="FFFFFF"/>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39624" cap="flat" cmpd="sng" algn="ctr">
                      <a:solidFill>
                        <a:srgbClr val="FFFFFF"/>
                      </a:solidFill>
                      <a:prstDash val="solid"/>
                      <a:round/>
                      <a:headEnd type="none" w="med" len="med"/>
                      <a:tailEnd type="none" w="med" len="med"/>
                    </a:lnB>
                    <a:solidFill>
                      <a:srgbClr val="40488D"/>
                    </a:solidFill>
                  </a:tcPr>
                </a:tc>
                <a:tc>
                  <a:txBody>
                    <a:bodyPr/>
                    <a:lstStyle/>
                    <a:p>
                      <a:pPr algn="ctr" fontAlgn="base"/>
                      <a:r>
                        <a:rPr lang="en-GB" sz="1400" b="1" i="0">
                          <a:solidFill>
                            <a:srgbClr val="FFFFFF"/>
                          </a:solidFill>
                          <a:effectLst/>
                          <a:latin typeface="Arial" panose="020B0604020202020204" pitchFamily="34" charset="0"/>
                        </a:rPr>
                        <a:t>Missing at Random​</a:t>
                      </a:r>
                      <a:endParaRPr lang="en-GB" sz="1400" b="1" i="0">
                        <a:solidFill>
                          <a:srgbClr val="FFFFFF"/>
                        </a:solidFill>
                        <a:effectLst/>
                      </a:endParaRPr>
                    </a:p>
                    <a:p>
                      <a:pPr algn="ctr" fontAlgn="base"/>
                      <a:r>
                        <a:rPr lang="en-GB" sz="1400" b="1" i="0">
                          <a:solidFill>
                            <a:srgbClr val="FFFFFF"/>
                          </a:solidFill>
                          <a:effectLst/>
                          <a:latin typeface="Arial" panose="020B0604020202020204" pitchFamily="34" charset="0"/>
                        </a:rPr>
                        <a:t>(MAR)​</a:t>
                      </a:r>
                      <a:endParaRPr lang="en-GB" sz="1400" b="1" i="0">
                        <a:solidFill>
                          <a:srgbClr val="FFFFFF"/>
                        </a:solidFill>
                        <a:effectLst/>
                      </a:endParaRPr>
                    </a:p>
                    <a:p>
                      <a:pPr algn="ctr" fontAlgn="base"/>
                      <a:r>
                        <a:rPr lang="en-GB" sz="1400" b="1" i="0">
                          <a:solidFill>
                            <a:srgbClr val="FFFFFF"/>
                          </a:solidFill>
                          <a:effectLst/>
                          <a:latin typeface="Arial" panose="020B0604020202020204" pitchFamily="34" charset="0"/>
                        </a:rPr>
                        <a:t>​</a:t>
                      </a:r>
                      <a:endParaRPr lang="en-GB" sz="1400" b="1" i="0">
                        <a:solidFill>
                          <a:srgbClr val="FFFFFF"/>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39624" cap="flat" cmpd="sng" algn="ctr">
                      <a:solidFill>
                        <a:srgbClr val="FFFFFF"/>
                      </a:solidFill>
                      <a:prstDash val="solid"/>
                      <a:round/>
                      <a:headEnd type="none" w="med" len="med"/>
                      <a:tailEnd type="none" w="med" len="med"/>
                    </a:lnB>
                    <a:solidFill>
                      <a:srgbClr val="40488D"/>
                    </a:solidFill>
                  </a:tcPr>
                </a:tc>
                <a:extLst>
                  <a:ext uri="{0D108BD9-81ED-4DB2-BD59-A6C34878D82A}">
                    <a16:rowId xmlns:a16="http://schemas.microsoft.com/office/drawing/2014/main" val="1100806357"/>
                  </a:ext>
                </a:extLst>
              </a:tr>
              <a:tr h="595754">
                <a:tc>
                  <a:txBody>
                    <a:bodyPr/>
                    <a:lstStyle/>
                    <a:p>
                      <a:pPr algn="ctr" fontAlgn="base"/>
                      <a:r>
                        <a:rPr lang="en-GB" sz="1200" b="0" i="1">
                          <a:solidFill>
                            <a:srgbClr val="544F40"/>
                          </a:solidFill>
                          <a:effectLst/>
                          <a:latin typeface="Arial" panose="020B0604020202020204" pitchFamily="34" charset="0"/>
                        </a:rPr>
                        <a:t>Dog eats the students homework at random</a:t>
                      </a:r>
                      <a:r>
                        <a:rPr lang="en-GB" sz="1200" b="0" i="0">
                          <a:solidFill>
                            <a:srgbClr val="544F40"/>
                          </a:solidFill>
                          <a:effectLst/>
                          <a:latin typeface="Arial" panose="020B0604020202020204" pitchFamily="34" charset="0"/>
                        </a:rPr>
                        <a:t>​</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39624"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CECFDB"/>
                    </a:solidFill>
                  </a:tcPr>
                </a:tc>
                <a:tc>
                  <a:txBody>
                    <a:bodyPr/>
                    <a:lstStyle/>
                    <a:p>
                      <a:pPr algn="ctr" fontAlgn="base"/>
                      <a:r>
                        <a:rPr lang="en-GB" sz="1200" b="0" i="1" u="none" strike="noStrike">
                          <a:solidFill>
                            <a:srgbClr val="544F40"/>
                          </a:solidFill>
                          <a:effectLst/>
                          <a:latin typeface="Arial" panose="020B0604020202020204" pitchFamily="34" charset="0"/>
                        </a:rPr>
                        <a:t>Dog eats the students homework closest to him</a:t>
                      </a:r>
                      <a:r>
                        <a:rPr lang="en-GB" sz="1200" b="0" i="0">
                          <a:solidFill>
                            <a:srgbClr val="544F40"/>
                          </a:solidFill>
                          <a:effectLst/>
                          <a:latin typeface="Arial" panose="020B0604020202020204" pitchFamily="34" charset="0"/>
                        </a:rPr>
                        <a:t>​</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39624"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CECFDB"/>
                    </a:solidFill>
                  </a:tcPr>
                </a:tc>
                <a:extLst>
                  <a:ext uri="{0D108BD9-81ED-4DB2-BD59-A6C34878D82A}">
                    <a16:rowId xmlns:a16="http://schemas.microsoft.com/office/drawing/2014/main" val="2477080777"/>
                  </a:ext>
                </a:extLst>
              </a:tr>
              <a:tr h="1654873">
                <a:tc>
                  <a:txBody>
                    <a:bodyPr/>
                    <a:lstStyle/>
                    <a:p>
                      <a:pPr algn="ctr" fontAlgn="base"/>
                      <a:r>
                        <a:rPr lang="en-GB" sz="1400" b="0" i="0">
                          <a:solidFill>
                            <a:srgbClr val="544F40"/>
                          </a:solidFill>
                          <a:effectLst/>
                          <a:latin typeface="Arial" panose="020B0604020202020204" pitchFamily="34" charset="0"/>
                        </a:rPr>
                        <a:t>Missingness is not dependent on the value that is missing ​</a:t>
                      </a:r>
                      <a:endParaRPr lang="en-GB" sz="1400" b="0" i="0">
                        <a:solidFill>
                          <a:srgbClr val="544F40"/>
                        </a:solidFill>
                        <a:effectLst/>
                      </a:endParaRPr>
                    </a:p>
                    <a:p>
                      <a:pPr algn="ctr" fontAlgn="base"/>
                      <a:r>
                        <a:rPr lang="en-GB" sz="1400" b="0" i="0">
                          <a:solidFill>
                            <a:srgbClr val="544F40"/>
                          </a:solidFill>
                          <a:effectLst/>
                          <a:latin typeface="Arial" panose="020B0604020202020204" pitchFamily="34" charset="0"/>
                        </a:rPr>
                        <a:t>nor on other data collected​</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E8E9EE"/>
                    </a:solidFill>
                  </a:tcPr>
                </a:tc>
                <a:tc>
                  <a:txBody>
                    <a:bodyPr/>
                    <a:lstStyle/>
                    <a:p>
                      <a:pPr algn="ctr" fontAlgn="base"/>
                      <a:r>
                        <a:rPr lang="en-GB" sz="1400" b="0" i="0">
                          <a:solidFill>
                            <a:srgbClr val="544F40"/>
                          </a:solidFill>
                          <a:effectLst/>
                          <a:latin typeface="Arial" panose="020B0604020202020204" pitchFamily="34" charset="0"/>
                        </a:rPr>
                        <a:t>Missingness is not dependent on the value that is missing, ​</a:t>
                      </a:r>
                      <a:endParaRPr lang="en-GB" sz="1400" b="0" i="0">
                        <a:solidFill>
                          <a:srgbClr val="544F40"/>
                        </a:solidFill>
                        <a:effectLst/>
                      </a:endParaRPr>
                    </a:p>
                    <a:p>
                      <a:pPr algn="ctr" fontAlgn="base"/>
                      <a:r>
                        <a:rPr lang="en-GB" sz="1400" b="0" i="0">
                          <a:solidFill>
                            <a:srgbClr val="544F40"/>
                          </a:solidFill>
                          <a:effectLst/>
                          <a:latin typeface="Arial" panose="020B0604020202020204" pitchFamily="34" charset="0"/>
                        </a:rPr>
                        <a:t>but is dependent on other data collected​</a:t>
                      </a:r>
                      <a:endParaRPr lang="en-GB" sz="1400" b="0" i="0">
                        <a:solidFill>
                          <a:srgbClr val="544F40"/>
                        </a:solidFill>
                        <a:effectLst/>
                      </a:endParaRPr>
                    </a:p>
                    <a:p>
                      <a:pPr algn="ctr" fontAlgn="base"/>
                      <a:r>
                        <a:rPr lang="en-GB" sz="1400" b="0" i="0">
                          <a:solidFill>
                            <a:srgbClr val="544F40"/>
                          </a:solidFill>
                          <a:effectLst/>
                          <a:latin typeface="Arial" panose="020B0604020202020204" pitchFamily="34" charset="0"/>
                        </a:rPr>
                        <a:t>​</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E8E9EE"/>
                    </a:solidFill>
                  </a:tcPr>
                </a:tc>
                <a:extLst>
                  <a:ext uri="{0D108BD9-81ED-4DB2-BD59-A6C34878D82A}">
                    <a16:rowId xmlns:a16="http://schemas.microsoft.com/office/drawing/2014/main" val="708184059"/>
                  </a:ext>
                </a:extLst>
              </a:tr>
            </a:tbl>
          </a:graphicData>
        </a:graphic>
      </p:graphicFrame>
      <p:graphicFrame>
        <p:nvGraphicFramePr>
          <p:cNvPr id="16" name="Table 15">
            <a:extLst>
              <a:ext uri="{FF2B5EF4-FFF2-40B4-BE49-F238E27FC236}">
                <a16:creationId xmlns:a16="http://schemas.microsoft.com/office/drawing/2014/main" id="{0550977D-50BE-4DEF-80F4-050F4731B052}"/>
              </a:ext>
            </a:extLst>
          </p:cNvPr>
          <p:cNvGraphicFramePr>
            <a:graphicFrameLocks noGrp="1"/>
          </p:cNvGraphicFramePr>
          <p:nvPr>
            <p:extLst>
              <p:ext uri="{D42A27DB-BD31-4B8C-83A1-F6EECF244321}">
                <p14:modId xmlns:p14="http://schemas.microsoft.com/office/powerpoint/2010/main" val="317482510"/>
              </p:ext>
            </p:extLst>
          </p:nvPr>
        </p:nvGraphicFramePr>
        <p:xfrm>
          <a:off x="620758" y="1249481"/>
          <a:ext cx="2593782" cy="3111161"/>
        </p:xfrm>
        <a:graphic>
          <a:graphicData uri="http://schemas.openxmlformats.org/drawingml/2006/table">
            <a:tbl>
              <a:tblPr/>
              <a:tblGrid>
                <a:gridCol w="2593782">
                  <a:extLst>
                    <a:ext uri="{9D8B030D-6E8A-4147-A177-3AD203B41FA5}">
                      <a16:colId xmlns:a16="http://schemas.microsoft.com/office/drawing/2014/main" val="3653916321"/>
                    </a:ext>
                  </a:extLst>
                </a:gridCol>
              </a:tblGrid>
              <a:tr h="860534">
                <a:tc>
                  <a:txBody>
                    <a:bodyPr/>
                    <a:lstStyle/>
                    <a:p>
                      <a:pPr algn="ctr" fontAlgn="base"/>
                      <a:r>
                        <a:rPr lang="en-GB" sz="1400" b="1" i="0">
                          <a:solidFill>
                            <a:srgbClr val="FFFFFF"/>
                          </a:solidFill>
                          <a:effectLst/>
                          <a:latin typeface="Arial" panose="020B0604020202020204" pitchFamily="34" charset="0"/>
                        </a:rPr>
                        <a:t>Missing Completely at Random​</a:t>
                      </a:r>
                      <a:endParaRPr lang="en-GB" sz="1400" b="1" i="0">
                        <a:solidFill>
                          <a:srgbClr val="FFFFFF"/>
                        </a:solidFill>
                        <a:effectLst/>
                      </a:endParaRPr>
                    </a:p>
                    <a:p>
                      <a:pPr algn="ctr" fontAlgn="base"/>
                      <a:r>
                        <a:rPr lang="en-GB" sz="1400" b="1" i="0">
                          <a:solidFill>
                            <a:srgbClr val="FFFFFF"/>
                          </a:solidFill>
                          <a:effectLst/>
                          <a:latin typeface="Arial" panose="020B0604020202020204" pitchFamily="34" charset="0"/>
                        </a:rPr>
                        <a:t>(MCAR)​</a:t>
                      </a:r>
                      <a:endParaRPr lang="en-GB" sz="1400" b="1" i="0">
                        <a:solidFill>
                          <a:srgbClr val="FFFFFF"/>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39624" cap="flat" cmpd="sng" algn="ctr">
                      <a:solidFill>
                        <a:srgbClr val="FFFFFF"/>
                      </a:solidFill>
                      <a:prstDash val="solid"/>
                      <a:round/>
                      <a:headEnd type="none" w="med" len="med"/>
                      <a:tailEnd type="none" w="med" len="med"/>
                    </a:lnB>
                    <a:solidFill>
                      <a:srgbClr val="40488D"/>
                    </a:solidFill>
                  </a:tcPr>
                </a:tc>
                <a:extLst>
                  <a:ext uri="{0D108BD9-81ED-4DB2-BD59-A6C34878D82A}">
                    <a16:rowId xmlns:a16="http://schemas.microsoft.com/office/drawing/2014/main" val="1298764713"/>
                  </a:ext>
                </a:extLst>
              </a:tr>
              <a:tr h="595754">
                <a:tc>
                  <a:txBody>
                    <a:bodyPr/>
                    <a:lstStyle/>
                    <a:p>
                      <a:pPr algn="ctr" fontAlgn="base"/>
                      <a:r>
                        <a:rPr lang="en-GB" sz="1200" b="0" i="1">
                          <a:solidFill>
                            <a:srgbClr val="544F40"/>
                          </a:solidFill>
                          <a:effectLst/>
                          <a:latin typeface="Arial" panose="020B0604020202020204" pitchFamily="34" charset="0"/>
                        </a:rPr>
                        <a:t>Dog eats the students homework at random</a:t>
                      </a:r>
                      <a:r>
                        <a:rPr lang="en-GB" sz="1200" b="0" i="0">
                          <a:solidFill>
                            <a:srgbClr val="544F40"/>
                          </a:solidFill>
                          <a:effectLst/>
                          <a:latin typeface="Arial" panose="020B0604020202020204" pitchFamily="34" charset="0"/>
                        </a:rPr>
                        <a:t>​</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39624"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CECFDB"/>
                    </a:solidFill>
                  </a:tcPr>
                </a:tc>
                <a:extLst>
                  <a:ext uri="{0D108BD9-81ED-4DB2-BD59-A6C34878D82A}">
                    <a16:rowId xmlns:a16="http://schemas.microsoft.com/office/drawing/2014/main" val="3223306407"/>
                  </a:ext>
                </a:extLst>
              </a:tr>
              <a:tr h="1654873">
                <a:tc>
                  <a:txBody>
                    <a:bodyPr/>
                    <a:lstStyle/>
                    <a:p>
                      <a:pPr algn="ctr" fontAlgn="base"/>
                      <a:r>
                        <a:rPr lang="en-GB" sz="1400" b="0" i="0">
                          <a:solidFill>
                            <a:srgbClr val="544F40"/>
                          </a:solidFill>
                          <a:effectLst/>
                          <a:latin typeface="Arial" panose="020B0604020202020204" pitchFamily="34" charset="0"/>
                        </a:rPr>
                        <a:t>Missingness is not dependent on the value that is missing ​</a:t>
                      </a:r>
                      <a:endParaRPr lang="en-GB" sz="1400" b="0" i="0">
                        <a:solidFill>
                          <a:srgbClr val="544F40"/>
                        </a:solidFill>
                        <a:effectLst/>
                      </a:endParaRPr>
                    </a:p>
                    <a:p>
                      <a:pPr algn="ctr" fontAlgn="base"/>
                      <a:r>
                        <a:rPr lang="en-GB" sz="1400" b="0" i="0">
                          <a:solidFill>
                            <a:srgbClr val="544F40"/>
                          </a:solidFill>
                          <a:effectLst/>
                          <a:latin typeface="Arial" panose="020B0604020202020204" pitchFamily="34" charset="0"/>
                        </a:rPr>
                        <a:t>nor on other data collected​</a:t>
                      </a:r>
                    </a:p>
                    <a:p>
                      <a:pPr algn="ctr" fontAlgn="base"/>
                      <a:endParaRPr lang="en-GB" sz="1400" b="0" i="0">
                        <a:solidFill>
                          <a:srgbClr val="544F40"/>
                        </a:solidFill>
                        <a:effectLst/>
                      </a:endParaRPr>
                    </a:p>
                    <a:p>
                      <a:pPr algn="ctr" fontAlgn="base"/>
                      <a:r>
                        <a:rPr lang="en-GB" sz="1400" b="0" i="0">
                          <a:solidFill>
                            <a:srgbClr val="544F40"/>
                          </a:solidFill>
                          <a:effectLst/>
                          <a:latin typeface="Arial" panose="020B0604020202020204" pitchFamily="34" charset="0"/>
                        </a:rPr>
                        <a:t>​</a:t>
                      </a:r>
                      <a:endParaRPr lang="en-GB" sz="1400" b="0" i="0">
                        <a:solidFill>
                          <a:srgbClr val="544F40"/>
                        </a:solidFill>
                        <a:effectLst/>
                      </a:endParaRPr>
                    </a:p>
                  </a:txBody>
                  <a:tcPr marL="68580" marR="68580" marT="34290" marB="34290">
                    <a:lnL w="13205" cap="flat" cmpd="sng" algn="ctr">
                      <a:solidFill>
                        <a:srgbClr val="FFFFFF"/>
                      </a:solidFill>
                      <a:prstDash val="solid"/>
                      <a:round/>
                      <a:headEnd type="none" w="med" len="med"/>
                      <a:tailEnd type="none" w="med" len="med"/>
                    </a:lnL>
                    <a:lnR w="13205" cap="flat" cmpd="sng" algn="ctr">
                      <a:solidFill>
                        <a:srgbClr val="FFFFFF"/>
                      </a:solidFill>
                      <a:prstDash val="solid"/>
                      <a:round/>
                      <a:headEnd type="none" w="med" len="med"/>
                      <a:tailEnd type="none" w="med" len="med"/>
                    </a:lnR>
                    <a:lnT w="13205" cap="flat" cmpd="sng" algn="ctr">
                      <a:solidFill>
                        <a:srgbClr val="FFFFFF"/>
                      </a:solidFill>
                      <a:prstDash val="solid"/>
                      <a:round/>
                      <a:headEnd type="none" w="med" len="med"/>
                      <a:tailEnd type="none" w="med" len="med"/>
                    </a:lnT>
                    <a:lnB w="13205" cap="flat" cmpd="sng" algn="ctr">
                      <a:solidFill>
                        <a:srgbClr val="FFFFFF"/>
                      </a:solidFill>
                      <a:prstDash val="solid"/>
                      <a:round/>
                      <a:headEnd type="none" w="med" len="med"/>
                      <a:tailEnd type="none" w="med" len="med"/>
                    </a:lnB>
                    <a:solidFill>
                      <a:srgbClr val="E8E9EE"/>
                    </a:solidFill>
                  </a:tcPr>
                </a:tc>
                <a:extLst>
                  <a:ext uri="{0D108BD9-81ED-4DB2-BD59-A6C34878D82A}">
                    <a16:rowId xmlns:a16="http://schemas.microsoft.com/office/drawing/2014/main" val="1128703719"/>
                  </a:ext>
                </a:extLst>
              </a:tr>
            </a:tbl>
          </a:graphicData>
        </a:graphic>
      </p:graphicFrame>
      <p:sp>
        <p:nvSpPr>
          <p:cNvPr id="17" name="Rectangle 3">
            <a:extLst>
              <a:ext uri="{FF2B5EF4-FFF2-40B4-BE49-F238E27FC236}">
                <a16:creationId xmlns:a16="http://schemas.microsoft.com/office/drawing/2014/main" id="{4957624B-62A4-4EA6-9BCB-C2A83FA53177}"/>
              </a:ext>
            </a:extLst>
          </p:cNvPr>
          <p:cNvSpPr>
            <a:spLocks noChangeArrowheads="1"/>
          </p:cNvSpPr>
          <p:nvPr/>
        </p:nvSpPr>
        <p:spPr bwMode="auto">
          <a:xfrm>
            <a:off x="3835004" y="1249481"/>
            <a:ext cx="9144000"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en-US" altLang="en-US" sz="1350">
                <a:solidFill>
                  <a:srgbClr val="000000"/>
                </a:solidFill>
                <a:latin typeface="Times New Roman" panose="02020603050405020304" pitchFamily="18" charset="0"/>
                <a:cs typeface="Times New Roman" panose="02020603050405020304" pitchFamily="18" charset="0"/>
              </a:rPr>
              <a:t> </a:t>
            </a:r>
            <a:endParaRPr lang="en-US" altLang="en-US" sz="1350"/>
          </a:p>
          <a:p>
            <a:pPr defTabSz="685800"/>
            <a:endParaRPr lang="en-US" altLang="en-US" sz="1350"/>
          </a:p>
        </p:txBody>
      </p:sp>
    </p:spTree>
    <p:extLst>
      <p:ext uri="{BB962C8B-B14F-4D97-AF65-F5344CB8AC3E}">
        <p14:creationId xmlns:p14="http://schemas.microsoft.com/office/powerpoint/2010/main" val="379355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64D507-2D90-4EDE-8761-CB027C3CAE0E}"/>
              </a:ext>
            </a:extLst>
          </p:cNvPr>
          <p:cNvSpPr>
            <a:spLocks noGrp="1"/>
          </p:cNvSpPr>
          <p:nvPr>
            <p:ph sz="quarter" idx="12"/>
          </p:nvPr>
        </p:nvSpPr>
        <p:spPr/>
        <p:txBody>
          <a:bodyPr/>
          <a:lstStyle/>
          <a:p>
            <a:pPr marL="0" indent="0">
              <a:buNone/>
            </a:pPr>
            <a:r>
              <a:rPr lang="en-GB"/>
              <a:t>Why is missing data an issue in Clinical studies?</a:t>
            </a:r>
          </a:p>
          <a:p>
            <a:endParaRPr lang="en-GB"/>
          </a:p>
          <a:p>
            <a:pPr marL="611063" lvl="1" indent="-342900">
              <a:buFont typeface="+mj-lt"/>
              <a:buAutoNum type="alphaLcParenR"/>
            </a:pPr>
            <a:r>
              <a:rPr lang="en-GB" sz="1600"/>
              <a:t>It’s not, we are only interested in what happens whilst a subject is on treatment so we can ignore what happens when they stop taking treatment</a:t>
            </a:r>
          </a:p>
          <a:p>
            <a:pPr marL="611063" lvl="1" indent="-342900">
              <a:buFont typeface="+mj-lt"/>
              <a:buAutoNum type="alphaLcParenR"/>
            </a:pPr>
            <a:r>
              <a:rPr lang="en-GB" sz="1600"/>
              <a:t>It may be missing for a reason associated with the subject</a:t>
            </a:r>
          </a:p>
          <a:p>
            <a:pPr marL="611063" lvl="1" indent="-342900">
              <a:buFont typeface="+mj-lt"/>
              <a:buAutoNum type="alphaLcParenR"/>
            </a:pPr>
            <a:r>
              <a:rPr lang="en-GB" sz="1600"/>
              <a:t>It may be missing for a reason associated with the treatment or intervention</a:t>
            </a:r>
          </a:p>
          <a:p>
            <a:pPr marL="611063" lvl="1" indent="-342900">
              <a:buFont typeface="+mj-lt"/>
              <a:buAutoNum type="alphaLcParenR"/>
            </a:pPr>
            <a:r>
              <a:rPr lang="en-GB" sz="1600"/>
              <a:t>b &amp; c</a:t>
            </a:r>
          </a:p>
          <a:p>
            <a:pPr marL="342900" indent="-342900">
              <a:buAutoNum type="alphaLcParenR"/>
            </a:pPr>
            <a:endParaRPr lang="en-GB"/>
          </a:p>
        </p:txBody>
      </p:sp>
      <p:sp>
        <p:nvSpPr>
          <p:cNvPr id="3" name="Text Placeholder 2">
            <a:extLst>
              <a:ext uri="{FF2B5EF4-FFF2-40B4-BE49-F238E27FC236}">
                <a16:creationId xmlns:a16="http://schemas.microsoft.com/office/drawing/2014/main" id="{8C381744-0E74-417C-A88E-EBA6F89CC8DF}"/>
              </a:ext>
            </a:extLst>
          </p:cNvPr>
          <p:cNvSpPr>
            <a:spLocks noGrp="1"/>
          </p:cNvSpPr>
          <p:nvPr>
            <p:ph type="body" sz="quarter" idx="14"/>
          </p:nvPr>
        </p:nvSpPr>
        <p:spPr/>
        <p:txBody>
          <a:bodyPr/>
          <a:lstStyle/>
          <a:p>
            <a:endParaRPr lang="en-GB"/>
          </a:p>
        </p:txBody>
      </p:sp>
      <p:sp>
        <p:nvSpPr>
          <p:cNvPr id="5" name="Title 4">
            <a:extLst>
              <a:ext uri="{FF2B5EF4-FFF2-40B4-BE49-F238E27FC236}">
                <a16:creationId xmlns:a16="http://schemas.microsoft.com/office/drawing/2014/main" id="{64A1C5C8-1513-4C34-AE0F-150A57FC1C90}"/>
              </a:ext>
            </a:extLst>
          </p:cNvPr>
          <p:cNvSpPr>
            <a:spLocks noGrp="1"/>
          </p:cNvSpPr>
          <p:nvPr>
            <p:ph type="title"/>
          </p:nvPr>
        </p:nvSpPr>
        <p:spPr/>
        <p:txBody>
          <a:bodyPr/>
          <a:lstStyle/>
          <a:p>
            <a:r>
              <a:rPr lang="en-GB"/>
              <a:t>Knowledge Check </a:t>
            </a:r>
          </a:p>
        </p:txBody>
      </p:sp>
      <p:sp>
        <p:nvSpPr>
          <p:cNvPr id="8" name="Slide Number Placeholder 7">
            <a:extLst>
              <a:ext uri="{FF2B5EF4-FFF2-40B4-BE49-F238E27FC236}">
                <a16:creationId xmlns:a16="http://schemas.microsoft.com/office/drawing/2014/main" id="{50A1C1CC-8CE5-4079-90FF-89D8C2A8A0DF}"/>
              </a:ext>
            </a:extLst>
          </p:cNvPr>
          <p:cNvSpPr>
            <a:spLocks noGrp="1"/>
          </p:cNvSpPr>
          <p:nvPr>
            <p:ph type="sldNum" sz="quarter" idx="21"/>
          </p:nvPr>
        </p:nvSpPr>
        <p:spPr/>
        <p:txBody>
          <a:bodyPr/>
          <a:lstStyle/>
          <a:p>
            <a:fld id="{9F9F533D-B52E-4A2F-BF72-0ADD2D94BD75}" type="slidenum">
              <a:rPr lang="en-GB" smtClean="0"/>
              <a:pPr/>
              <a:t>20</a:t>
            </a:fld>
            <a:endParaRPr lang="en-GB"/>
          </a:p>
        </p:txBody>
      </p:sp>
      <p:pic>
        <p:nvPicPr>
          <p:cNvPr id="11" name="Graphic 10" descr="Head with gears">
            <a:extLst>
              <a:ext uri="{FF2B5EF4-FFF2-40B4-BE49-F238E27FC236}">
                <a16:creationId xmlns:a16="http://schemas.microsoft.com/office/drawing/2014/main" id="{29035009-F827-481B-85C5-7D9931A8094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5003" y="232497"/>
            <a:ext cx="789392" cy="789392"/>
          </a:xfrm>
          <a:prstGeom prst="rect">
            <a:avLst/>
          </a:prstGeom>
        </p:spPr>
      </p:pic>
      <p:sp>
        <p:nvSpPr>
          <p:cNvPr id="10" name="Date Placeholder 6">
            <a:extLst>
              <a:ext uri="{FF2B5EF4-FFF2-40B4-BE49-F238E27FC236}">
                <a16:creationId xmlns:a16="http://schemas.microsoft.com/office/drawing/2014/main" id="{1006B936-83C0-4999-8579-68687362AB2E}"/>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4005867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lt">
                                    <p:tmAbs val="0"/>
                                  </p:iterate>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8" presetClass="emph" presetSubtype="0" fill="hold" nodeType="clickEffect">
                                  <p:stCondLst>
                                    <p:cond delay="0"/>
                                  </p:stCondLst>
                                  <p:iterate type="lt">
                                    <p:tmPct val="4000"/>
                                  </p:iterate>
                                  <p:childTnLst>
                                    <p:set>
                                      <p:cBhvr override="childStyle">
                                        <p:cTn id="22" dur="500" fill="hold"/>
                                        <p:tgtEl>
                                          <p:spTgt spid="2">
                                            <p:txEl>
                                              <p:pRg st="4" end="4"/>
                                            </p:txEl>
                                          </p:spTgt>
                                        </p:tgtEl>
                                        <p:attrNameLst>
                                          <p:attrName>style.textDecorationUnderline</p:attrName>
                                        </p:attrNameLst>
                                      </p:cBhvr>
                                      <p:to>
                                        <p:strVal val="true"/>
                                      </p:to>
                                    </p:set>
                                  </p:childTnLst>
                                </p:cTn>
                              </p:par>
                              <p:par>
                                <p:cTn id="23" presetID="3" presetClass="emph" presetSubtype="2" fill="hold" nodeType="withEffect">
                                  <p:stCondLst>
                                    <p:cond delay="0"/>
                                  </p:stCondLst>
                                  <p:iterate type="lt">
                                    <p:tmPct val="0"/>
                                  </p:iterate>
                                  <p:childTnLst>
                                    <p:animClr clrSpc="rgb" dir="cw">
                                      <p:cBhvr override="childStyle">
                                        <p:cTn id="24" dur="2000" fill="hold"/>
                                        <p:tgtEl>
                                          <p:spTgt spid="2">
                                            <p:txEl>
                                              <p:pRg st="4" end="4"/>
                                            </p:txEl>
                                          </p:spTgt>
                                        </p:tgtEl>
                                        <p:attrNameLst>
                                          <p:attrName>style.color</p:attrName>
                                        </p:attrNameLst>
                                      </p:cBhvr>
                                      <p:to>
                                        <a:srgbClr val="40488D"/>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64D507-2D90-4EDE-8761-CB027C3CAE0E}"/>
              </a:ext>
            </a:extLst>
          </p:cNvPr>
          <p:cNvSpPr>
            <a:spLocks noGrp="1"/>
          </p:cNvSpPr>
          <p:nvPr>
            <p:ph sz="quarter" idx="12"/>
          </p:nvPr>
        </p:nvSpPr>
        <p:spPr/>
        <p:txBody>
          <a:bodyPr/>
          <a:lstStyle/>
          <a:p>
            <a:pPr marL="0" indent="0">
              <a:buNone/>
            </a:pPr>
            <a:r>
              <a:rPr lang="en-GB"/>
              <a:t>Which of these causes of missing data is least likely to introduce bias?</a:t>
            </a:r>
          </a:p>
          <a:p>
            <a:endParaRPr lang="en-GB"/>
          </a:p>
          <a:p>
            <a:pPr marL="611063" lvl="1" indent="-342900">
              <a:buFont typeface="+mj-lt"/>
              <a:buAutoNum type="alphaLcParenR"/>
            </a:pPr>
            <a:r>
              <a:rPr lang="en-GB" sz="1600"/>
              <a:t>A subject moves house and can no longer attend the clinic</a:t>
            </a:r>
          </a:p>
          <a:p>
            <a:pPr marL="611063" lvl="1" indent="-342900">
              <a:buFont typeface="+mj-lt"/>
              <a:buAutoNum type="alphaLcParenR"/>
            </a:pPr>
            <a:r>
              <a:rPr lang="en-GB" sz="1600"/>
              <a:t>A subject dies</a:t>
            </a:r>
          </a:p>
          <a:p>
            <a:pPr marL="611063" lvl="1" indent="-342900">
              <a:buFont typeface="+mj-lt"/>
              <a:buAutoNum type="alphaLcParenR"/>
            </a:pPr>
            <a:r>
              <a:rPr lang="en-GB" sz="1600"/>
              <a:t>A subject withdraws due to lack of efficacy</a:t>
            </a:r>
          </a:p>
          <a:p>
            <a:pPr marL="611063" lvl="1" indent="-342900">
              <a:buFont typeface="+mj-lt"/>
              <a:buAutoNum type="alphaLcParenR"/>
            </a:pPr>
            <a:r>
              <a:rPr lang="en-GB" sz="1600"/>
              <a:t>A subject withdraws due to an adverse event</a:t>
            </a:r>
          </a:p>
          <a:p>
            <a:pPr marL="611063" lvl="1" indent="-342900">
              <a:buFont typeface="+mj-lt"/>
              <a:buAutoNum type="alphaLcParenR"/>
            </a:pPr>
            <a:endParaRPr lang="en-GB" sz="1600"/>
          </a:p>
        </p:txBody>
      </p:sp>
      <p:sp>
        <p:nvSpPr>
          <p:cNvPr id="3" name="Text Placeholder 2">
            <a:extLst>
              <a:ext uri="{FF2B5EF4-FFF2-40B4-BE49-F238E27FC236}">
                <a16:creationId xmlns:a16="http://schemas.microsoft.com/office/drawing/2014/main" id="{8C381744-0E74-417C-A88E-EBA6F89CC8DF}"/>
              </a:ext>
            </a:extLst>
          </p:cNvPr>
          <p:cNvSpPr>
            <a:spLocks noGrp="1"/>
          </p:cNvSpPr>
          <p:nvPr>
            <p:ph type="body" sz="quarter" idx="14"/>
          </p:nvPr>
        </p:nvSpPr>
        <p:spPr/>
        <p:txBody>
          <a:bodyPr/>
          <a:lstStyle/>
          <a:p>
            <a:endParaRPr lang="en-GB"/>
          </a:p>
        </p:txBody>
      </p:sp>
      <p:sp>
        <p:nvSpPr>
          <p:cNvPr id="4" name="Text Placeholder 3">
            <a:extLst>
              <a:ext uri="{FF2B5EF4-FFF2-40B4-BE49-F238E27FC236}">
                <a16:creationId xmlns:a16="http://schemas.microsoft.com/office/drawing/2014/main" id="{FCB1E256-2C98-4119-BE33-825844184CE7}"/>
              </a:ext>
            </a:extLst>
          </p:cNvPr>
          <p:cNvSpPr>
            <a:spLocks noGrp="1"/>
          </p:cNvSpPr>
          <p:nvPr>
            <p:ph type="body" sz="quarter" idx="18"/>
          </p:nvPr>
        </p:nvSpPr>
        <p:spPr/>
        <p:txBody>
          <a:bodyPr/>
          <a:lstStyle/>
          <a:p>
            <a:endParaRPr lang="en-GB"/>
          </a:p>
        </p:txBody>
      </p:sp>
      <p:sp>
        <p:nvSpPr>
          <p:cNvPr id="5" name="Title 4">
            <a:extLst>
              <a:ext uri="{FF2B5EF4-FFF2-40B4-BE49-F238E27FC236}">
                <a16:creationId xmlns:a16="http://schemas.microsoft.com/office/drawing/2014/main" id="{64A1C5C8-1513-4C34-AE0F-150A57FC1C90}"/>
              </a:ext>
            </a:extLst>
          </p:cNvPr>
          <p:cNvSpPr>
            <a:spLocks noGrp="1"/>
          </p:cNvSpPr>
          <p:nvPr>
            <p:ph type="title"/>
          </p:nvPr>
        </p:nvSpPr>
        <p:spPr/>
        <p:txBody>
          <a:bodyPr/>
          <a:lstStyle/>
          <a:p>
            <a:r>
              <a:rPr lang="en-GB"/>
              <a:t>Knowledge Check </a:t>
            </a:r>
          </a:p>
        </p:txBody>
      </p:sp>
      <p:sp>
        <p:nvSpPr>
          <p:cNvPr id="8" name="Slide Number Placeholder 7">
            <a:extLst>
              <a:ext uri="{FF2B5EF4-FFF2-40B4-BE49-F238E27FC236}">
                <a16:creationId xmlns:a16="http://schemas.microsoft.com/office/drawing/2014/main" id="{50A1C1CC-8CE5-4079-90FF-89D8C2A8A0DF}"/>
              </a:ext>
            </a:extLst>
          </p:cNvPr>
          <p:cNvSpPr>
            <a:spLocks noGrp="1"/>
          </p:cNvSpPr>
          <p:nvPr>
            <p:ph type="sldNum" sz="quarter" idx="21"/>
          </p:nvPr>
        </p:nvSpPr>
        <p:spPr/>
        <p:txBody>
          <a:bodyPr/>
          <a:lstStyle/>
          <a:p>
            <a:fld id="{9F9F533D-B52E-4A2F-BF72-0ADD2D94BD75}" type="slidenum">
              <a:rPr lang="en-GB" smtClean="0"/>
              <a:pPr/>
              <a:t>21</a:t>
            </a:fld>
            <a:endParaRPr lang="en-GB"/>
          </a:p>
        </p:txBody>
      </p:sp>
      <p:pic>
        <p:nvPicPr>
          <p:cNvPr id="10" name="Graphic 9" descr="Head with gears">
            <a:extLst>
              <a:ext uri="{FF2B5EF4-FFF2-40B4-BE49-F238E27FC236}">
                <a16:creationId xmlns:a16="http://schemas.microsoft.com/office/drawing/2014/main" id="{00A2F78E-91B7-4F75-8035-C50D43F1764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5003" y="232497"/>
            <a:ext cx="789392" cy="789392"/>
          </a:xfrm>
          <a:prstGeom prst="rect">
            <a:avLst/>
          </a:prstGeom>
        </p:spPr>
      </p:pic>
      <p:sp>
        <p:nvSpPr>
          <p:cNvPr id="11" name="Date Placeholder 6">
            <a:extLst>
              <a:ext uri="{FF2B5EF4-FFF2-40B4-BE49-F238E27FC236}">
                <a16:creationId xmlns:a16="http://schemas.microsoft.com/office/drawing/2014/main" id="{DF565497-C04E-49EF-8490-A2C3A68B55B7}"/>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383572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mph" presetSubtype="1" nodeType="clickEffect">
                                  <p:stCondLst>
                                    <p:cond delay="0"/>
                                  </p:stCondLst>
                                  <p:childTnLst>
                                    <p:set>
                                      <p:cBhvr override="childStyle">
                                        <p:cTn id="22" dur="indefinite"/>
                                        <p:tgtEl>
                                          <p:spTgt spid="2">
                                            <p:txEl>
                                              <p:pRg st="2" end="2"/>
                                            </p:txEl>
                                          </p:spTgt>
                                        </p:tgtEl>
                                        <p:attrNameLst>
                                          <p:attrName>style.color</p:attrName>
                                        </p:attrNameLst>
                                      </p:cBhvr>
                                      <p:to>
                                        <p:clrVal>
                                          <a:srgbClr val="40488D"/>
                                        </p:clrVal>
                                      </p:to>
                                    </p:set>
                                  </p:childTnLst>
                                </p:cTn>
                              </p:par>
                              <p:par>
                                <p:cTn id="23" presetID="18" presetClass="emph" presetSubtype="0" fill="hold" nodeType="withEffect">
                                  <p:stCondLst>
                                    <p:cond delay="0"/>
                                  </p:stCondLst>
                                  <p:childTnLst>
                                    <p:set>
                                      <p:cBhvr override="childStyle">
                                        <p:cTn id="24" dur="500" fill="hold"/>
                                        <p:tgtEl>
                                          <p:spTgt spid="2">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8EDAA7-6E0C-4CA7-9569-3EF5D1F462CC}"/>
              </a:ext>
            </a:extLst>
          </p:cNvPr>
          <p:cNvSpPr>
            <a:spLocks noGrp="1"/>
          </p:cNvSpPr>
          <p:nvPr>
            <p:ph sz="quarter" idx="12"/>
          </p:nvPr>
        </p:nvSpPr>
        <p:spPr>
          <a:xfrm>
            <a:off x="359877" y="1166641"/>
            <a:ext cx="8423275" cy="3070050"/>
          </a:xfrm>
        </p:spPr>
        <p:txBody>
          <a:bodyPr/>
          <a:lstStyle/>
          <a:p>
            <a:pPr marL="214313" indent="-214313">
              <a:spcAft>
                <a:spcPts val="0"/>
              </a:spcAft>
              <a:buClr>
                <a:schemeClr val="tx1"/>
              </a:buClr>
              <a:buFontTx/>
              <a:buChar char="-"/>
            </a:pPr>
            <a:endParaRPr lang="en-GB"/>
          </a:p>
          <a:p>
            <a:pPr marL="214313" indent="-214313">
              <a:spcAft>
                <a:spcPts val="0"/>
              </a:spcAft>
              <a:buClr>
                <a:schemeClr val="tx1"/>
              </a:buClr>
              <a:buFontTx/>
              <a:buChar char="-"/>
            </a:pPr>
            <a:endParaRPr lang="en-GB"/>
          </a:p>
          <a:p>
            <a:pPr marL="214313" indent="-214313">
              <a:spcAft>
                <a:spcPts val="0"/>
              </a:spcAft>
              <a:buClr>
                <a:schemeClr val="tx1"/>
              </a:buClr>
              <a:buFontTx/>
              <a:buChar char="-"/>
            </a:pPr>
            <a:endParaRPr lang="en-GB"/>
          </a:p>
          <a:p>
            <a:pPr marL="342900" lvl="1" indent="0">
              <a:spcAft>
                <a:spcPts val="0"/>
              </a:spcAft>
              <a:buClr>
                <a:schemeClr val="tx1"/>
              </a:buClr>
              <a:buNone/>
            </a:pPr>
            <a:endParaRPr lang="en-GB" sz="1200"/>
          </a:p>
          <a:p>
            <a:pPr marL="214313" indent="-214313">
              <a:spcAft>
                <a:spcPts val="0"/>
              </a:spcAft>
              <a:buClr>
                <a:schemeClr val="tx1"/>
              </a:buClr>
              <a:buFontTx/>
              <a:buChar char="-"/>
            </a:pPr>
            <a:endParaRPr lang="en-GB" sz="1200"/>
          </a:p>
          <a:p>
            <a:pPr>
              <a:spcAft>
                <a:spcPts val="0"/>
              </a:spcAft>
            </a:pPr>
            <a:endParaRPr lang="en-GB" sz="1200"/>
          </a:p>
        </p:txBody>
      </p:sp>
      <p:sp>
        <p:nvSpPr>
          <p:cNvPr id="6" name="Text Placeholder 5">
            <a:extLst>
              <a:ext uri="{FF2B5EF4-FFF2-40B4-BE49-F238E27FC236}">
                <a16:creationId xmlns:a16="http://schemas.microsoft.com/office/drawing/2014/main" id="{4A53A730-F806-4FB5-B28B-77D508CAEDC0}"/>
              </a:ext>
            </a:extLst>
          </p:cNvPr>
          <p:cNvSpPr>
            <a:spLocks noGrp="1"/>
          </p:cNvSpPr>
          <p:nvPr>
            <p:ph type="body" sz="quarter" idx="14"/>
          </p:nvPr>
        </p:nvSpPr>
        <p:spPr/>
        <p:txBody>
          <a:bodyPr/>
          <a:lstStyle/>
          <a:p>
            <a:endParaRPr lang="en-GB"/>
          </a:p>
        </p:txBody>
      </p:sp>
      <p:sp>
        <p:nvSpPr>
          <p:cNvPr id="5" name="Title 4">
            <a:extLst>
              <a:ext uri="{FF2B5EF4-FFF2-40B4-BE49-F238E27FC236}">
                <a16:creationId xmlns:a16="http://schemas.microsoft.com/office/drawing/2014/main" id="{18509DCA-8E0D-4B8A-B3FC-963E422DFE19}"/>
              </a:ext>
            </a:extLst>
          </p:cNvPr>
          <p:cNvSpPr>
            <a:spLocks noGrp="1"/>
          </p:cNvSpPr>
          <p:nvPr>
            <p:ph type="title"/>
          </p:nvPr>
        </p:nvSpPr>
        <p:spPr>
          <a:xfrm>
            <a:off x="359152" y="288639"/>
            <a:ext cx="7577139" cy="338554"/>
          </a:xfrm>
        </p:spPr>
        <p:txBody>
          <a:bodyPr/>
          <a:lstStyle/>
          <a:p>
            <a:r>
              <a:rPr lang="en-GB">
                <a:solidFill>
                  <a:schemeClr val="accent1"/>
                </a:solidFill>
              </a:rPr>
              <a:t>Key Messages</a:t>
            </a:r>
            <a:endParaRPr lang="en-GB" sz="1350" b="0"/>
          </a:p>
        </p:txBody>
      </p:sp>
      <p:sp>
        <p:nvSpPr>
          <p:cNvPr id="4" name="Slide Number Placeholder 3">
            <a:extLst>
              <a:ext uri="{FF2B5EF4-FFF2-40B4-BE49-F238E27FC236}">
                <a16:creationId xmlns:a16="http://schemas.microsoft.com/office/drawing/2014/main" id="{385ECA1E-6832-4A7D-B480-E41B1BDE5742}"/>
              </a:ext>
            </a:extLst>
          </p:cNvPr>
          <p:cNvSpPr>
            <a:spLocks noGrp="1"/>
          </p:cNvSpPr>
          <p:nvPr>
            <p:ph type="sldNum" sz="quarter" idx="21"/>
          </p:nvPr>
        </p:nvSpPr>
        <p:spPr/>
        <p:txBody>
          <a:bodyPr/>
          <a:lstStyle/>
          <a:p>
            <a:fld id="{9F9F533D-B52E-4A2F-BF72-0ADD2D94BD75}" type="slidenum">
              <a:rPr lang="en-GB" smtClean="0"/>
              <a:pPr/>
              <a:t>22</a:t>
            </a:fld>
            <a:endParaRPr lang="en-GB"/>
          </a:p>
        </p:txBody>
      </p:sp>
      <p:graphicFrame>
        <p:nvGraphicFramePr>
          <p:cNvPr id="9" name="Content Placeholder 9">
            <a:extLst>
              <a:ext uri="{FF2B5EF4-FFF2-40B4-BE49-F238E27FC236}">
                <a16:creationId xmlns:a16="http://schemas.microsoft.com/office/drawing/2014/main" id="{2D854843-4113-4A7A-817D-20DCCE0E379C}"/>
              </a:ext>
            </a:extLst>
          </p:cNvPr>
          <p:cNvGraphicFramePr>
            <a:graphicFrameLocks/>
          </p:cNvGraphicFramePr>
          <p:nvPr>
            <p:extLst>
              <p:ext uri="{D42A27DB-BD31-4B8C-83A1-F6EECF244321}">
                <p14:modId xmlns:p14="http://schemas.microsoft.com/office/powerpoint/2010/main" val="2747940100"/>
              </p:ext>
            </p:extLst>
          </p:nvPr>
        </p:nvGraphicFramePr>
        <p:xfrm>
          <a:off x="358775" y="1192213"/>
          <a:ext cx="8423275" cy="35117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Date Placeholder 6">
            <a:extLst>
              <a:ext uri="{FF2B5EF4-FFF2-40B4-BE49-F238E27FC236}">
                <a16:creationId xmlns:a16="http://schemas.microsoft.com/office/drawing/2014/main" id="{967F6FB1-39ED-4299-97E7-8EE0FB254C4C}"/>
              </a:ext>
            </a:extLst>
          </p:cNvPr>
          <p:cNvSpPr txBox="1">
            <a:spLocks/>
          </p:cNvSpPr>
          <p:nvPr/>
        </p:nvSpPr>
        <p:spPr>
          <a:xfrm>
            <a:off x="2985247" y="4704001"/>
            <a:ext cx="3164730" cy="273844"/>
          </a:xfrm>
          <a:prstGeom prst="rect">
            <a:avLst/>
          </a:prstGeom>
        </p:spPr>
        <p:txBody>
          <a:bodyPr vert="horz" lIns="72000" tIns="0" rIns="72000" bIns="0" rtlCol="0" anchor="t" anchorCtr="1"/>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FoS: Medical Affairs training </a:t>
            </a:r>
            <a:endParaRPr lang="en-GB"/>
          </a:p>
        </p:txBody>
      </p:sp>
    </p:spTree>
    <p:extLst>
      <p:ext uri="{BB962C8B-B14F-4D97-AF65-F5344CB8AC3E}">
        <p14:creationId xmlns:p14="http://schemas.microsoft.com/office/powerpoint/2010/main" val="1926465393"/>
      </p:ext>
    </p:extLst>
  </p:cSld>
  <p:clrMapOvr>
    <a:masterClrMapping/>
  </p:clrMapOvr>
</p:sld>
</file>

<file path=ppt/theme/theme1.xml><?xml version="1.0" encoding="utf-8"?>
<a:theme xmlns:a="http://schemas.openxmlformats.org/drawingml/2006/main" name="GSK ">
  <a:themeElements>
    <a:clrScheme name="GSK 2017 4">
      <a:dk1>
        <a:srgbClr val="544F40"/>
      </a:dk1>
      <a:lt1>
        <a:srgbClr val="FFFFFF"/>
      </a:lt1>
      <a:dk2>
        <a:srgbClr val="15717D"/>
      </a:dk2>
      <a:lt2>
        <a:srgbClr val="F36633"/>
      </a:lt2>
      <a:accent1>
        <a:srgbClr val="F36633"/>
      </a:accent1>
      <a:accent2>
        <a:srgbClr val="544F40"/>
      </a:accent2>
      <a:accent3>
        <a:srgbClr val="008A00"/>
      </a:accent3>
      <a:accent4>
        <a:srgbClr val="BC1077"/>
      </a:accent4>
      <a:accent5>
        <a:srgbClr val="40488D"/>
      </a:accent5>
      <a:accent6>
        <a:srgbClr val="ED003C"/>
      </a:accent6>
      <a:hlink>
        <a:srgbClr val="F36633"/>
      </a:hlink>
      <a:folHlink>
        <a:srgbClr val="F36633"/>
      </a:folHlink>
    </a:clrScheme>
    <a:fontScheme name="GS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a:noFill/>
          <a:headEnd/>
          <a:tailEnd/>
        </a:ln>
        <a:effectLst/>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marL="180975" indent="-180975" eaLnBrk="0" fontAlgn="auto" hangingPunct="0">
          <a:spcBef>
            <a:spcPts val="0"/>
          </a:spcBef>
          <a:spcAft>
            <a:spcPts val="0"/>
          </a:spcAft>
          <a:buClr>
            <a:schemeClr val="bg1"/>
          </a:buClr>
          <a:buFont typeface="Arial" pitchFamily="34" charset="0"/>
          <a:buChar char="–"/>
          <a:defRPr sz="1200" b="1" kern="0" dirty="0" err="1" smtClean="0">
            <a:solidFill>
              <a:srgbClr val="FFFFFF"/>
            </a:solidFill>
            <a:latin typeface="Arial"/>
          </a:defRPr>
        </a:defPPr>
      </a:lstStyle>
      <a:style>
        <a:lnRef idx="1">
          <a:schemeClr val="accent1"/>
        </a:lnRef>
        <a:fillRef idx="3">
          <a:schemeClr val="accent1"/>
        </a:fillRef>
        <a:effectRef idx="2">
          <a:schemeClr val="accent1"/>
        </a:effectRef>
        <a:fontRef idx="minor">
          <a:schemeClr val="lt1"/>
        </a:fontRef>
      </a:style>
    </a:spDef>
    <a:txDef>
      <a:spPr>
        <a:noFill/>
      </a:spPr>
      <a:bodyPr wrap="square" rtlCol="0">
        <a:spAutoFit/>
      </a:bodyPr>
      <a:lstStyle>
        <a:defPPr marL="171450" indent="-171450">
          <a:buClr>
            <a:schemeClr val="tx1"/>
          </a:buClr>
          <a:buFont typeface="Arial" pitchFamily="34" charset="0"/>
          <a:buChar char="–"/>
          <a:defRPr sz="1200" dirty="0" err="1" smtClean="0"/>
        </a:defPPr>
      </a:lstStyle>
    </a:txDef>
  </a:objectDefaults>
  <a:extraClrSchemeLst/>
  <a:extLst>
    <a:ext uri="{05A4C25C-085E-4340-85A3-A5531E510DB2}">
      <thm15:themeFamily xmlns:thm15="http://schemas.microsoft.com/office/thememl/2012/main" name="GSK_16x9 PowerPoint_V1_20170629" id="{B8F049B3-8A91-4FD3-B156-B44F80C0BC27}" vid="{B103CDC2-14D8-4A5C-86DD-96EA2A18BF3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2f27799-0169-4b70-93d7-49e0001469b7">
      <UserInfo>
        <DisplayName>Raj Sharma</DisplayName>
        <AccountId>32</AccountId>
        <AccountType/>
      </UserInfo>
      <UserInfo>
        <DisplayName>David Leather</DisplayName>
        <AccountId>24</AccountId>
        <AccountType/>
      </UserInfo>
      <UserInfo>
        <DisplayName>Jon Robertson</DisplayName>
        <AccountId>10</AccountId>
        <AccountType/>
      </UserInfo>
      <UserInfo>
        <DisplayName>Nigel Dallow</DisplayName>
        <AccountId>20</AccountId>
        <AccountType/>
      </UserInfo>
      <UserInfo>
        <DisplayName>Emily Jarvis</DisplayName>
        <AccountId>13</AccountId>
        <AccountType/>
      </UserInfo>
      <UserInfo>
        <DisplayName>Agne Zarankaite</DisplayName>
        <AccountId>21</AccountId>
        <AccountType/>
      </UserInfo>
      <UserInfo>
        <DisplayName>Dawn Midwinter</DisplayName>
        <AccountId>25</AccountId>
        <AccountType/>
      </UserInfo>
      <UserInfo>
        <DisplayName>Zelie Bailes</DisplayName>
        <AccountId>33</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BDE2C101F8FE24EAE9C8B3E64B68458" ma:contentTypeVersion="8" ma:contentTypeDescription="Create a new document." ma:contentTypeScope="" ma:versionID="f13d9be91b28acf62ccaa10e213e4c8a">
  <xsd:schema xmlns:xsd="http://www.w3.org/2001/XMLSchema" xmlns:xs="http://www.w3.org/2001/XMLSchema" xmlns:p="http://schemas.microsoft.com/office/2006/metadata/properties" xmlns:ns2="b065ee36-be87-4344-8b29-f2acbb5bc7a3" xmlns:ns3="d2f27799-0169-4b70-93d7-49e0001469b7" targetNamespace="http://schemas.microsoft.com/office/2006/metadata/properties" ma:root="true" ma:fieldsID="cdeb94149ca64a908789746a34144e05" ns2:_="" ns3:_="">
    <xsd:import namespace="b065ee36-be87-4344-8b29-f2acbb5bc7a3"/>
    <xsd:import namespace="d2f27799-0169-4b70-93d7-49e0001469b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65ee36-be87-4344-8b29-f2acbb5bc7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f27799-0169-4b70-93d7-49e0001469b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7F6992-6940-4143-AC62-96142C4EF750}">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d2f27799-0169-4b70-93d7-49e0001469b7"/>
    <ds:schemaRef ds:uri="b065ee36-be87-4344-8b29-f2acbb5bc7a3"/>
    <ds:schemaRef ds:uri="http://www.w3.org/XML/1998/namespace"/>
    <ds:schemaRef ds:uri="http://purl.org/dc/dcmitype/"/>
  </ds:schemaRefs>
</ds:datastoreItem>
</file>

<file path=customXml/itemProps2.xml><?xml version="1.0" encoding="utf-8"?>
<ds:datastoreItem xmlns:ds="http://schemas.openxmlformats.org/officeDocument/2006/customXml" ds:itemID="{A3FF14A3-0B79-4250-A823-8E178C64B25C}">
  <ds:schemaRefs>
    <ds:schemaRef ds:uri="b065ee36-be87-4344-8b29-f2acbb5bc7a3"/>
    <ds:schemaRef ds:uri="d2f27799-0169-4b70-93d7-49e0001469b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AD869F-BABB-40CE-B3FC-3DDCF75BCDE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232</TotalTime>
  <Words>1988</Words>
  <Application>Microsoft Office PowerPoint</Application>
  <PresentationFormat>On-screen Show (16:9)</PresentationFormat>
  <Paragraphs>343</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GSK </vt:lpstr>
      <vt:lpstr>PowerPoint Presentation</vt:lpstr>
      <vt:lpstr>What is the problem?</vt:lpstr>
      <vt:lpstr>Why do we need to do something about it?</vt:lpstr>
      <vt:lpstr>Can we not just ignore the missing data?</vt:lpstr>
      <vt:lpstr>Motivating example</vt:lpstr>
      <vt:lpstr>Types of Missing Data</vt:lpstr>
      <vt:lpstr>Types of Missing Data</vt:lpstr>
      <vt:lpstr>Types of Missing Data</vt:lpstr>
      <vt:lpstr>Types of Missing Data</vt:lpstr>
      <vt:lpstr>Knowledge Check</vt:lpstr>
      <vt:lpstr>Knowledge Check</vt:lpstr>
      <vt:lpstr>Methods for Handling Missing Data</vt:lpstr>
      <vt:lpstr>Tipping Point Analysis</vt:lpstr>
      <vt:lpstr>Tipping Point Analysis Example: IMPACT</vt:lpstr>
      <vt:lpstr>A piece of the puzzle: Linking to Estimands</vt:lpstr>
      <vt:lpstr>Estimand example: INTREPID STUDY</vt:lpstr>
      <vt:lpstr>Estimand example: INTREPID STUDY</vt:lpstr>
      <vt:lpstr>Estimand example: INTREPID STUDY</vt:lpstr>
      <vt:lpstr>Types of Missing Data</vt:lpstr>
      <vt:lpstr>Knowledge Check </vt:lpstr>
      <vt:lpstr>Knowledge Check </vt:lpstr>
      <vt:lpstr>Key Messages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Affairs Statistical Training</dc:title>
  <dc:creator>Zelie Bailes</dc:creator>
  <cp:lastModifiedBy>Steve Mallett</cp:lastModifiedBy>
  <cp:revision>4</cp:revision>
  <cp:lastPrinted>2022-01-06T16:10:08Z</cp:lastPrinted>
  <dcterms:created xsi:type="dcterms:W3CDTF">2021-08-16T16:14:15Z</dcterms:created>
  <dcterms:modified xsi:type="dcterms:W3CDTF">2025-11-27T15:25:14Z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0x0101001BDE2C101F8FE24EAE9C8B3E64B68458</vt:lpwstr>
  </property>
</Properties>
</file>