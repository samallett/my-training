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306" r:id="rId5"/>
    <p:sldId id="2145708115" r:id="rId6"/>
    <p:sldId id="2145708099" r:id="rId7"/>
    <p:sldId id="2145708119" r:id="rId8"/>
    <p:sldId id="2145708103" r:id="rId9"/>
    <p:sldId id="2145708116" r:id="rId10"/>
    <p:sldId id="278" r:id="rId11"/>
    <p:sldId id="2145708120" r:id="rId12"/>
    <p:sldId id="2145708181" r:id="rId13"/>
    <p:sldId id="2145708090" r:id="rId14"/>
    <p:sldId id="2145708121" r:id="rId15"/>
    <p:sldId id="2145708100" r:id="rId16"/>
    <p:sldId id="2145708102" r:id="rId17"/>
    <p:sldId id="2145708183" r:id="rId18"/>
    <p:sldId id="2145708123" r:id="rId19"/>
    <p:sldId id="2145708184" r:id="rId20"/>
    <p:sldId id="2145708182" r:id="rId21"/>
    <p:sldId id="2145708101" r:id="rId22"/>
    <p:sldId id="2145708124" r:id="rId23"/>
    <p:sldId id="2145708104" r:id="rId24"/>
    <p:sldId id="2145708117" r:id="rId25"/>
  </p:sldIdLst>
  <p:sldSz cx="9144000" cy="5143500" type="screen16x9"/>
  <p:notesSz cx="6865938" cy="90471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y 1 Intro (5min)" id="{3FD90219-2FB5-4A0C-888B-736C3637EBF0}">
          <p14:sldIdLst/>
        </p14:section>
        <p14:section name="Data types (22min)" id="{2559A92C-2BAD-4220-B869-651668A45C9E}">
          <p14:sldIdLst>
            <p14:sldId id="306"/>
            <p14:sldId id="2145708115"/>
            <p14:sldId id="2145708099"/>
            <p14:sldId id="2145708119"/>
            <p14:sldId id="2145708103"/>
            <p14:sldId id="2145708116"/>
            <p14:sldId id="278"/>
            <p14:sldId id="2145708120"/>
            <p14:sldId id="2145708181"/>
            <p14:sldId id="2145708090"/>
            <p14:sldId id="2145708121"/>
            <p14:sldId id="2145708100"/>
            <p14:sldId id="2145708102"/>
            <p14:sldId id="2145708183"/>
            <p14:sldId id="2145708123"/>
            <p14:sldId id="2145708184"/>
            <p14:sldId id="2145708182"/>
            <p14:sldId id="2145708101"/>
            <p14:sldId id="2145708124"/>
            <p14:sldId id="2145708104"/>
            <p14:sldId id="21457081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52">
          <p15:clr>
            <a:srgbClr val="A4A3A4"/>
          </p15:clr>
        </p15:guide>
        <p15:guide id="2" orient="horz" pos="2685">
          <p15:clr>
            <a:srgbClr val="A4A3A4"/>
          </p15:clr>
        </p15:guide>
        <p15:guide id="3" pos="2879">
          <p15:clr>
            <a:srgbClr val="A4A3A4"/>
          </p15:clr>
        </p15:guide>
        <p15:guide id="4" pos="3027">
          <p15:clr>
            <a:srgbClr val="A4A3A4"/>
          </p15:clr>
        </p15:guide>
        <p15:guide id="5" pos="5533">
          <p15:clr>
            <a:srgbClr val="A4A3A4"/>
          </p15:clr>
        </p15:guide>
        <p15:guide id="6" pos="2733">
          <p15:clr>
            <a:srgbClr val="A4A3A4"/>
          </p15:clr>
        </p15:guide>
        <p15:guide id="7" pos="22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ich Davies" initials="RD" lastIdx="5" clrIdx="6">
    <p:extLst>
      <p:ext uri="{19B8F6BF-5375-455C-9EA6-DF929625EA0E}">
        <p15:presenceInfo xmlns:p15="http://schemas.microsoft.com/office/powerpoint/2012/main" userId="S::richard.y.davies@gsk.com::8b5f16ec-b0bb-430c-9137-91526ccc0ab4" providerId="AD"/>
      </p:ext>
    </p:extLst>
  </p:cmAuthor>
  <p:cmAuthor id="1" name="Zelie Bailes" initials="ZB" lastIdx="119" clrIdx="0">
    <p:extLst>
      <p:ext uri="{19B8F6BF-5375-455C-9EA6-DF929625EA0E}">
        <p15:presenceInfo xmlns:p15="http://schemas.microsoft.com/office/powerpoint/2012/main" userId="Zelie Bailes" providerId="None"/>
      </p:ext>
    </p:extLst>
  </p:cmAuthor>
  <p:cmAuthor id="8" name="Nigel Dallow" initials="ND" lastIdx="6" clrIdx="7">
    <p:extLst>
      <p:ext uri="{19B8F6BF-5375-455C-9EA6-DF929625EA0E}">
        <p15:presenceInfo xmlns:p15="http://schemas.microsoft.com/office/powerpoint/2012/main" userId="S::nigel.s.dallow@gsk.com::22126230-7899-40dc-9c70-c90d97679fcc" providerId="AD"/>
      </p:ext>
    </p:extLst>
  </p:cmAuthor>
  <p:cmAuthor id="2" name="Zelie Bailes" initials="ZB [2]" lastIdx="4" clrIdx="1">
    <p:extLst>
      <p:ext uri="{19B8F6BF-5375-455C-9EA6-DF929625EA0E}">
        <p15:presenceInfo xmlns:p15="http://schemas.microsoft.com/office/powerpoint/2012/main" userId="S::zelie.a.bailes@gsk.com::016fc419-2509-4044-b219-254c2702790b" providerId="AD"/>
      </p:ext>
    </p:extLst>
  </p:cmAuthor>
  <p:cmAuthor id="9" name="Nigel Dallow" initials="ND [2]" lastIdx="5" clrIdx="8">
    <p:extLst>
      <p:ext uri="{19B8F6BF-5375-455C-9EA6-DF929625EA0E}">
        <p15:presenceInfo xmlns:p15="http://schemas.microsoft.com/office/powerpoint/2012/main" userId="Nigel Dallow" providerId="None"/>
      </p:ext>
    </p:extLst>
  </p:cmAuthor>
  <p:cmAuthor id="3" name="Katie Thorn" initials="KT" lastIdx="126" clrIdx="2">
    <p:extLst>
      <p:ext uri="{19B8F6BF-5375-455C-9EA6-DF929625EA0E}">
        <p15:presenceInfo xmlns:p15="http://schemas.microsoft.com/office/powerpoint/2012/main" userId="Katie Thorn" providerId="None"/>
      </p:ext>
    </p:extLst>
  </p:cmAuthor>
  <p:cmAuthor id="10" name="Dawn Midwinter" initials="DM [2]" lastIdx="21" clrIdx="9">
    <p:extLst>
      <p:ext uri="{19B8F6BF-5375-455C-9EA6-DF929625EA0E}">
        <p15:presenceInfo xmlns:p15="http://schemas.microsoft.com/office/powerpoint/2012/main" userId="Dawn Midwinter" providerId="None"/>
      </p:ext>
    </p:extLst>
  </p:cmAuthor>
  <p:cmAuthor id="4" name="Agne Zarankaite" initials="AZ" lastIdx="129" clrIdx="3">
    <p:extLst>
      <p:ext uri="{19B8F6BF-5375-455C-9EA6-DF929625EA0E}">
        <p15:presenceInfo xmlns:p15="http://schemas.microsoft.com/office/powerpoint/2012/main" userId="Agne Zarankaite" providerId="None"/>
      </p:ext>
    </p:extLst>
  </p:cmAuthor>
  <p:cmAuthor id="11" name="Alisa Urbano" initials="AU" lastIdx="6" clrIdx="10">
    <p:extLst>
      <p:ext uri="{19B8F6BF-5375-455C-9EA6-DF929625EA0E}">
        <p15:presenceInfo xmlns:p15="http://schemas.microsoft.com/office/powerpoint/2012/main" userId="Alisa Urbano" providerId="None"/>
      </p:ext>
    </p:extLst>
  </p:cmAuthor>
  <p:cmAuthor id="5" name="Dawn Midwinter" initials="DM" lastIdx="18" clrIdx="4">
    <p:extLst>
      <p:ext uri="{19B8F6BF-5375-455C-9EA6-DF929625EA0E}">
        <p15:presenceInfo xmlns:p15="http://schemas.microsoft.com/office/powerpoint/2012/main" userId="S::dawn.a.midwinter@gsk.com::12e9609d-3428-473d-a14d-db946382f5a8" providerId="AD"/>
      </p:ext>
    </p:extLst>
  </p:cmAuthor>
  <p:cmAuthor id="12" name="Zoe Guy" initials="ZG" lastIdx="7" clrIdx="11">
    <p:extLst>
      <p:ext uri="{19B8F6BF-5375-455C-9EA6-DF929625EA0E}">
        <p15:presenceInfo xmlns:p15="http://schemas.microsoft.com/office/powerpoint/2012/main" userId="Zoe Guy" providerId="None"/>
      </p:ext>
    </p:extLst>
  </p:cmAuthor>
  <p:cmAuthor id="6" name="Anny Stari" initials="AS" lastIdx="1" clrIdx="5">
    <p:extLst>
      <p:ext uri="{19B8F6BF-5375-455C-9EA6-DF929625EA0E}">
        <p15:presenceInfo xmlns:p15="http://schemas.microsoft.com/office/powerpoint/2012/main" userId="S::anny.x.stari@gsk.com::db1607f0-112a-4109-a9d7-c266bb6f20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152C56"/>
    <a:srgbClr val="2F81A6"/>
    <a:srgbClr val="0F2842"/>
    <a:srgbClr val="163E51"/>
    <a:srgbClr val="D5D7EC"/>
    <a:srgbClr val="F9C6BE"/>
    <a:srgbClr val="BC1077"/>
    <a:srgbClr val="9E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326" autoAdjust="0"/>
    <p:restoredTop sz="67215" autoAdjust="0"/>
  </p:normalViewPr>
  <p:slideViewPr>
    <p:cSldViewPr snapToGrid="0">
      <p:cViewPr varScale="1">
        <p:scale>
          <a:sx n="96" d="100"/>
          <a:sy n="96" d="100"/>
        </p:scale>
        <p:origin x="732" y="78"/>
      </p:cViewPr>
      <p:guideLst>
        <p:guide orient="horz" pos="752"/>
        <p:guide orient="horz" pos="2685"/>
        <p:guide pos="2879"/>
        <p:guide pos="3027"/>
        <p:guide pos="5533"/>
        <p:guide pos="2733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A8971-52B8-4C5A-99D8-986A596F2912}" type="datetimeFigureOut">
              <a:rPr lang="en-GB" smtClean="0"/>
              <a:pPr/>
              <a:t>27/11/2025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677863"/>
            <a:ext cx="6034088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6594" y="4297403"/>
            <a:ext cx="5492750" cy="4071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93235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9109" y="8593235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B53C8-14E4-49A7-A1A5-3BF810B81EB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032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972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49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184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833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512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523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135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560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903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627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05013" y="20638"/>
            <a:ext cx="4711700" cy="26495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698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05013" y="20638"/>
            <a:ext cx="4711700" cy="26495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191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5782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34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594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6923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0889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857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822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17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667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4"/>
          <a:stretch/>
        </p:blipFill>
        <p:spPr>
          <a:xfrm>
            <a:off x="0" y="1065924"/>
            <a:ext cx="4102298" cy="3827396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296521" y="2068940"/>
            <a:ext cx="2876985" cy="1000274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2600"/>
              </a:lnSpc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6521" y="3427589"/>
            <a:ext cx="2554256" cy="49244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Aft>
                <a:spcPts val="0"/>
              </a:spcAft>
              <a:buNone/>
              <a:defRPr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subheading</a:t>
            </a:r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038" y="237109"/>
            <a:ext cx="1464646" cy="72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1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96520" y="2402365"/>
            <a:ext cx="5042395" cy="666849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2600"/>
              </a:lnSpc>
              <a:defRPr sz="2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heading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6520" y="3427590"/>
            <a:ext cx="5042395" cy="338554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 algn="l">
              <a:spcAft>
                <a:spcPts val="0"/>
              </a:spcAft>
              <a:buNone/>
              <a:defRPr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subheading</a:t>
            </a:r>
          </a:p>
        </p:txBody>
      </p:sp>
    </p:spTree>
    <p:extLst>
      <p:ext uri="{BB962C8B-B14F-4D97-AF65-F5344CB8AC3E}">
        <p14:creationId xmlns:p14="http://schemas.microsoft.com/office/powerpoint/2010/main" val="203222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x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ctrTitle" hasCustomPrompt="1"/>
          </p:nvPr>
        </p:nvSpPr>
        <p:spPr>
          <a:xfrm>
            <a:off x="296521" y="1109709"/>
            <a:ext cx="5042394" cy="666849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2600"/>
              </a:lnSpc>
              <a:defRPr sz="2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heading style</a:t>
            </a:r>
            <a:endParaRPr lang="en-GB"/>
          </a:p>
        </p:txBody>
      </p:sp>
      <p:sp>
        <p:nvSpPr>
          <p:cNvPr id="2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6520" y="2134932"/>
            <a:ext cx="5009911" cy="338554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 algn="l">
              <a:spcAft>
                <a:spcPts val="0"/>
              </a:spcAft>
              <a:buNone/>
              <a:defRPr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subheading</a:t>
            </a:r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038" y="237109"/>
            <a:ext cx="1464646" cy="722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 noChangeAspect="1"/>
          </p:cNvSpPr>
          <p:nvPr>
            <p:ph sz="quarter" idx="12"/>
          </p:nvPr>
        </p:nvSpPr>
        <p:spPr>
          <a:xfrm>
            <a:off x="359152" y="1192388"/>
            <a:ext cx="8423275" cy="307005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59152" y="4322020"/>
            <a:ext cx="8424000" cy="12311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05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 noChangeAspect="1"/>
          </p:cNvSpPr>
          <p:nvPr>
            <p:ph sz="quarter" idx="19"/>
          </p:nvPr>
        </p:nvSpPr>
        <p:spPr>
          <a:xfrm>
            <a:off x="360000" y="1539685"/>
            <a:ext cx="8418513" cy="2729104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59152" y="1191711"/>
            <a:ext cx="8418513" cy="338554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lvl="0"/>
            <a:r>
              <a:rPr lang="en-US"/>
              <a:t>Subheading here if required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59152" y="4322020"/>
            <a:ext cx="8424000" cy="12311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332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4229687"/>
            <a:ext cx="8424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 hasCustomPrompt="1"/>
          </p:nvPr>
        </p:nvSpPr>
        <p:spPr>
          <a:xfrm>
            <a:off x="360000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12"/>
          <p:cNvSpPr>
            <a:spLocks noGrp="1" noChangeAspect="1"/>
          </p:cNvSpPr>
          <p:nvPr>
            <p:ph sz="quarter" idx="17"/>
          </p:nvPr>
        </p:nvSpPr>
        <p:spPr>
          <a:xfrm>
            <a:off x="360000" y="1192389"/>
            <a:ext cx="8423275" cy="3076400"/>
          </a:xfrm>
          <a:prstGeom prst="rect">
            <a:avLst/>
          </a:prstGeom>
        </p:spPr>
        <p:txBody>
          <a:bodyPr lIns="0"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225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 noChangeAspect="1"/>
          </p:cNvSpPr>
          <p:nvPr>
            <p:ph sz="quarter" idx="18"/>
          </p:nvPr>
        </p:nvSpPr>
        <p:spPr>
          <a:xfrm>
            <a:off x="4805363" y="1193800"/>
            <a:ext cx="3978275" cy="3065463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59152" y="4229687"/>
            <a:ext cx="3979486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797217" y="4229687"/>
            <a:ext cx="3996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1"/>
          <p:cNvSpPr>
            <a:spLocks noGrp="1" noChangeAspect="1"/>
          </p:cNvSpPr>
          <p:nvPr>
            <p:ph sz="quarter" idx="17"/>
          </p:nvPr>
        </p:nvSpPr>
        <p:spPr>
          <a:xfrm>
            <a:off x="360000" y="1193800"/>
            <a:ext cx="3973875" cy="3065463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052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"/>
          <p:cNvSpPr>
            <a:spLocks noGrp="1"/>
          </p:cNvSpPr>
          <p:nvPr>
            <p:ph type="body" idx="19" hasCustomPrompt="1"/>
          </p:nvPr>
        </p:nvSpPr>
        <p:spPr>
          <a:xfrm>
            <a:off x="360000" y="1194204"/>
            <a:ext cx="3973875" cy="338554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 here if required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4805363" y="1194204"/>
            <a:ext cx="3978275" cy="24622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 here if required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7" name="Content Placeholder 11"/>
          <p:cNvSpPr>
            <a:spLocks noGrp="1" noChangeAspect="1"/>
          </p:cNvSpPr>
          <p:nvPr>
            <p:ph sz="quarter" idx="17"/>
          </p:nvPr>
        </p:nvSpPr>
        <p:spPr>
          <a:xfrm>
            <a:off x="360000" y="1516484"/>
            <a:ext cx="3973875" cy="2742779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Content Placeholder 13"/>
          <p:cNvSpPr>
            <a:spLocks noGrp="1" noChangeAspect="1"/>
          </p:cNvSpPr>
          <p:nvPr>
            <p:ph sz="quarter" idx="18"/>
          </p:nvPr>
        </p:nvSpPr>
        <p:spPr>
          <a:xfrm>
            <a:off x="4805363" y="1516484"/>
            <a:ext cx="3978275" cy="2745954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360000" y="4229687"/>
            <a:ext cx="3973875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798800" y="4229687"/>
            <a:ext cx="3984838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03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tandard (4x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 noChangeAspect="1"/>
          </p:cNvSpPr>
          <p:nvPr>
            <p:ph type="media" sz="quarter" idx="12" hasCustomPrompt="1"/>
          </p:nvPr>
        </p:nvSpPr>
        <p:spPr>
          <a:xfrm>
            <a:off x="2363400" y="1193800"/>
            <a:ext cx="4417200" cy="3311525"/>
          </a:xfrm>
          <a:prstGeom prst="rect">
            <a:avLst/>
          </a:prstGeom>
        </p:spPr>
        <p:txBody>
          <a:bodyPr lIns="108000" tIns="108000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on the film icon to insert your Standard (4x3 video)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5134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descreen (16x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5"/>
          <p:cNvSpPr>
            <a:spLocks noGrp="1" noChangeAspect="1"/>
          </p:cNvSpPr>
          <p:nvPr>
            <p:ph type="media" sz="quarter" idx="12" hasCustomPrompt="1"/>
          </p:nvPr>
        </p:nvSpPr>
        <p:spPr>
          <a:xfrm>
            <a:off x="1627200" y="1193800"/>
            <a:ext cx="5889600" cy="3312000"/>
          </a:xfrm>
          <a:prstGeom prst="rect">
            <a:avLst/>
          </a:prstGeom>
        </p:spPr>
        <p:txBody>
          <a:bodyPr lIns="108000" tIns="108000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on the film icon to insert your widescreen (16x9) video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59932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Non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59153" y="1193239"/>
            <a:ext cx="3979484" cy="331012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798800" y="1193799"/>
            <a:ext cx="3982697" cy="3309567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</p:spTree>
    <p:extLst>
      <p:ext uri="{BB962C8B-B14F-4D97-AF65-F5344CB8AC3E}">
        <p14:creationId xmlns:p14="http://schemas.microsoft.com/office/powerpoint/2010/main" val="41240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798800" y="1193799"/>
            <a:ext cx="3982697" cy="3309567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59152" y="1190625"/>
            <a:ext cx="3986213" cy="3312741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162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59152" y="1190625"/>
            <a:ext cx="3986213" cy="3312741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Picture Placeholder 8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98800" y="1190626"/>
            <a:ext cx="3996794" cy="1228724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4798800" y="2517776"/>
            <a:ext cx="3996266" cy="253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268163" indent="0">
              <a:buNone/>
              <a:defRPr sz="800">
                <a:solidFill>
                  <a:schemeClr val="bg2"/>
                </a:solidFill>
              </a:defRPr>
            </a:lvl2pPr>
            <a:lvl3pPr marL="540000" indent="0">
              <a:buNone/>
              <a:defRPr sz="800">
                <a:solidFill>
                  <a:schemeClr val="bg2"/>
                </a:solidFill>
              </a:defRPr>
            </a:lvl3pPr>
            <a:lvl4pPr marL="811088" indent="0">
              <a:buNone/>
              <a:defRPr sz="800">
                <a:solidFill>
                  <a:schemeClr val="bg2"/>
                </a:solidFill>
              </a:defRPr>
            </a:lvl4pPr>
            <a:lvl5pPr marL="1080000" indent="0">
              <a:buNone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Enter your image caption text here</a:t>
            </a:r>
          </a:p>
        </p:txBody>
      </p:sp>
      <p:sp>
        <p:nvSpPr>
          <p:cNvPr id="35" name="Picture Placeholder 8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4798800" y="2922217"/>
            <a:ext cx="3996794" cy="1228724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4798800" y="4249367"/>
            <a:ext cx="3996266" cy="253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268163" indent="0">
              <a:buNone/>
              <a:defRPr sz="800">
                <a:solidFill>
                  <a:schemeClr val="bg2"/>
                </a:solidFill>
              </a:defRPr>
            </a:lvl2pPr>
            <a:lvl3pPr marL="540000" indent="0">
              <a:buNone/>
              <a:defRPr sz="800">
                <a:solidFill>
                  <a:schemeClr val="bg2"/>
                </a:solidFill>
              </a:defRPr>
            </a:lvl3pPr>
            <a:lvl4pPr marL="811088" indent="0">
              <a:buNone/>
              <a:defRPr sz="800">
                <a:solidFill>
                  <a:schemeClr val="bg2"/>
                </a:solidFill>
              </a:defRPr>
            </a:lvl4pPr>
            <a:lvl5pPr marL="1080000" indent="0">
              <a:buNone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Enter your image caption text here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212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190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359152" y="4599183"/>
            <a:ext cx="842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223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HITE with ORAN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3743011"/>
            <a:ext cx="8193024" cy="400110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2200" i="0">
                <a:solidFill>
                  <a:schemeClr val="bg2"/>
                </a:solidFill>
                <a:latin typeface="+mn-lt"/>
              </a:defRPr>
            </a:lvl1pPr>
            <a:lvl2pPr marL="271463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5334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3pPr>
            <a:lvl4pPr marL="815975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 marL="11049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840385"/>
            <a:ext cx="8196702" cy="823302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lnSpc>
                <a:spcPts val="5700"/>
              </a:lnSpc>
              <a:spcAft>
                <a:spcPts val="0"/>
              </a:spcAft>
              <a:buNone/>
              <a:defRPr sz="5500" b="1">
                <a:solidFill>
                  <a:schemeClr val="bg2"/>
                </a:solidFill>
              </a:defRPr>
            </a:lvl1pPr>
            <a:lvl2pPr marL="271463" indent="0"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buNone/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Heading title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HITE with GRE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3743011"/>
            <a:ext cx="8193024" cy="400110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2200" i="0">
                <a:solidFill>
                  <a:schemeClr val="tx1"/>
                </a:solidFill>
                <a:latin typeface="+mn-lt"/>
              </a:defRPr>
            </a:lvl1pPr>
            <a:lvl2pPr marL="271463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5334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3pPr>
            <a:lvl4pPr marL="815975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 marL="11049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840385"/>
            <a:ext cx="8196702" cy="823302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lnSpc>
                <a:spcPts val="5700"/>
              </a:lnSpc>
              <a:spcAft>
                <a:spcPts val="0"/>
              </a:spcAft>
              <a:buNone/>
              <a:defRPr sz="5500" b="1">
                <a:solidFill>
                  <a:schemeClr val="tx1"/>
                </a:solidFill>
              </a:defRPr>
            </a:lvl1pPr>
            <a:lvl2pPr marL="271463" indent="0"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buNone/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Heading title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61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INNOVA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356840" y="2753758"/>
            <a:ext cx="7872760" cy="9233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None/>
              <a:tabLst/>
              <a:defRPr sz="7000" b="1" baseline="0">
                <a:solidFill>
                  <a:schemeClr val="bg1"/>
                </a:solidFill>
              </a:defRPr>
            </a:lvl1pPr>
            <a:lvl2pPr marL="271463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5pPr>
            <a:lvl6pPr marL="162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6pPr>
            <a:lvl7pPr marL="180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7pPr>
            <a:lvl8pPr marL="207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8pPr>
            <a:lvl9pPr marL="234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9pPr>
          </a:lstStyle>
          <a:p>
            <a:pPr lvl="0"/>
            <a:r>
              <a:rPr lang="en-US">
                <a:solidFill>
                  <a:schemeClr val="accent5"/>
                </a:solidFill>
              </a:rPr>
              <a:t>Innovation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975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ERFORMANC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356840" y="2753758"/>
            <a:ext cx="7872760" cy="9233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None/>
              <a:tabLst/>
              <a:defRPr sz="7000" b="1" baseline="0">
                <a:solidFill>
                  <a:schemeClr val="bg1"/>
                </a:solidFill>
              </a:defRPr>
            </a:lvl1pPr>
            <a:lvl2pPr marL="271463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5pPr>
            <a:lvl6pPr marL="162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6pPr>
            <a:lvl7pPr marL="180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7pPr>
            <a:lvl8pPr marL="207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8pPr>
            <a:lvl9pPr marL="234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9pPr>
          </a:lstStyle>
          <a:p>
            <a:pPr marL="0" marR="0" lvl="0" indent="0" algn="l" defTabSz="91440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US">
                <a:solidFill>
                  <a:schemeClr val="accent4"/>
                </a:solidFill>
              </a:rPr>
              <a:t>Pe</a:t>
            </a:r>
            <a:r>
              <a:rPr lang="en-US" spc="500" baseline="0">
                <a:solidFill>
                  <a:schemeClr val="accent4"/>
                </a:solidFill>
              </a:rPr>
              <a:t>r</a:t>
            </a:r>
            <a:r>
              <a:rPr lang="en-US">
                <a:solidFill>
                  <a:schemeClr val="accent4"/>
                </a:solidFill>
              </a:rPr>
              <a:t>formance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6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TRUS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356840" y="2753758"/>
            <a:ext cx="7872760" cy="9233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None/>
              <a:tabLst/>
              <a:defRPr sz="7000" b="1" baseline="0">
                <a:solidFill>
                  <a:schemeClr val="bg1"/>
                </a:solidFill>
              </a:defRPr>
            </a:lvl1pPr>
            <a:lvl2pPr marL="271463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5pPr>
            <a:lvl6pPr marL="162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6pPr>
            <a:lvl7pPr marL="180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7pPr>
            <a:lvl8pPr marL="207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8pPr>
            <a:lvl9pPr marL="234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9pPr>
          </a:lstStyle>
          <a:p>
            <a:pPr lvl="0"/>
            <a:r>
              <a:rPr lang="en-US">
                <a:solidFill>
                  <a:schemeClr val="accent3"/>
                </a:solidFill>
              </a:rPr>
              <a:t>Trust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774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 noChangeAspect="1"/>
          </p:cNvSpPr>
          <p:nvPr>
            <p:ph sz="quarter" idx="12"/>
          </p:nvPr>
        </p:nvSpPr>
        <p:spPr>
          <a:xfrm>
            <a:off x="359152" y="1192387"/>
            <a:ext cx="8423275" cy="325755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7299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rge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 hasCustomPrompt="1"/>
          </p:nvPr>
        </p:nvSpPr>
        <p:spPr>
          <a:xfrm>
            <a:off x="360000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12"/>
          <p:cNvSpPr>
            <a:spLocks noGrp="1" noChangeAspect="1"/>
          </p:cNvSpPr>
          <p:nvPr>
            <p:ph sz="quarter" idx="17"/>
          </p:nvPr>
        </p:nvSpPr>
        <p:spPr>
          <a:xfrm>
            <a:off x="360000" y="1192389"/>
            <a:ext cx="8423275" cy="3257558"/>
          </a:xfrm>
          <a:prstGeom prst="rect">
            <a:avLst/>
          </a:prstGeom>
        </p:spPr>
        <p:txBody>
          <a:bodyPr lIns="0"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507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9152" y="4704001"/>
            <a:ext cx="2565024" cy="27384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59152" y="288639"/>
            <a:ext cx="7577139" cy="33855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59152" y="4599183"/>
            <a:ext cx="842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59152" y="1078541"/>
            <a:ext cx="8424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5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1" r:id="rId2"/>
    <p:sldLayoutId id="2147483759" r:id="rId3"/>
    <p:sldLayoutId id="2147483663" r:id="rId4"/>
    <p:sldLayoutId id="2147483665" r:id="rId5"/>
    <p:sldLayoutId id="2147483664" r:id="rId6"/>
    <p:sldLayoutId id="2147483668" r:id="rId7"/>
    <p:sldLayoutId id="2147483669" r:id="rId8"/>
    <p:sldLayoutId id="2147483670" r:id="rId9"/>
    <p:sldLayoutId id="2147483671" r:id="rId10"/>
    <p:sldLayoutId id="2147483730" r:id="rId11"/>
    <p:sldLayoutId id="2147483728" r:id="rId12"/>
    <p:sldLayoutId id="2147483673" r:id="rId13"/>
    <p:sldLayoutId id="2147483674" r:id="rId14"/>
    <p:sldLayoutId id="2147483675" r:id="rId15"/>
    <p:sldLayoutId id="2147483747" r:id="rId16"/>
    <p:sldLayoutId id="2147483760" r:id="rId17"/>
    <p:sldLayoutId id="2147483723" r:id="rId18"/>
    <p:sldLayoutId id="2147483724" r:id="rId19"/>
    <p:sldLayoutId id="2147483725" r:id="rId20"/>
    <p:sldLayoutId id="2147483761" r:id="rId21"/>
    <p:sldLayoutId id="2147483762" r:id="rId2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spcBef>
          <a:spcPts val="0"/>
        </a:spcBef>
        <a:spcAft>
          <a:spcPts val="600"/>
        </a:spcAft>
        <a:buClr>
          <a:schemeClr val="tx1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81088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62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0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7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34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0000" y="2760872"/>
            <a:ext cx="8555400" cy="823302"/>
          </a:xfrm>
        </p:spPr>
        <p:txBody>
          <a:bodyPr/>
          <a:lstStyle/>
          <a:p>
            <a:r>
              <a:rPr lang="en-GB">
                <a:solidFill>
                  <a:schemeClr val="bg2"/>
                </a:solidFill>
              </a:rPr>
              <a:t>Data types</a:t>
            </a:r>
          </a:p>
        </p:txBody>
      </p:sp>
    </p:spTree>
    <p:extLst>
      <p:ext uri="{BB962C8B-B14F-4D97-AF65-F5344CB8AC3E}">
        <p14:creationId xmlns:p14="http://schemas.microsoft.com/office/powerpoint/2010/main" val="2519204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1FBD39-F7B1-43AE-AFC2-FDFA25BA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it matters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3C36C8-78EC-4933-8B65-841AB027D79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09463-6DB4-4269-AB28-757E1A5266C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3B0B69-E1C8-48E1-8116-02DDB43B50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4" t="2247" r="986" b="3355"/>
          <a:stretch/>
        </p:blipFill>
        <p:spPr>
          <a:xfrm>
            <a:off x="1655286" y="1284237"/>
            <a:ext cx="5824652" cy="276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C7BFF5-A185-4DE0-9EA3-89A68FF9FFC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152" y="1192387"/>
            <a:ext cx="8423275" cy="1630641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Continuous data are measured on a continuous scale and can take any value within a specific range</a:t>
            </a:r>
          </a:p>
          <a:p>
            <a:pPr lvl="1"/>
            <a:r>
              <a:rPr lang="en-GB" sz="1600"/>
              <a:t>Weight</a:t>
            </a:r>
          </a:p>
          <a:p>
            <a:pPr lvl="1"/>
            <a:r>
              <a:rPr lang="en-GB" sz="1600"/>
              <a:t>Race time</a:t>
            </a:r>
          </a:p>
          <a:p>
            <a:pPr lvl="1"/>
            <a:endParaRPr lang="en-GB" sz="1600"/>
          </a:p>
          <a:p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62ADD-7621-46A5-A10C-4F0ABC86A7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9152" y="693553"/>
            <a:ext cx="637135" cy="239965"/>
          </a:xfrm>
        </p:spPr>
        <p:txBody>
          <a:bodyPr/>
          <a:lstStyle/>
          <a:p>
            <a:r>
              <a:rPr lang="en-GB"/>
              <a:t>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E473C-62D2-4F43-AE1C-7C280FBDCC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31911D-33B6-4EDA-A66E-397C5155B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Continuous data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0852E6-2131-4DFE-85A3-6B1BAEC58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65" y="2007707"/>
            <a:ext cx="1663071" cy="18423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1EEDB6-2067-4BD7-8368-E7804BFC6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564" y="1875613"/>
            <a:ext cx="2554413" cy="2187537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E073BFA-79B2-419C-903B-5D4EBA48DBA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24243EB-989F-47C8-8FB1-52FAE9A620B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A5A70-6976-432C-BB64-9E7528BF98FD}"/>
              </a:ext>
            </a:extLst>
          </p:cNvPr>
          <p:cNvSpPr txBox="1"/>
          <p:nvPr/>
        </p:nvSpPr>
        <p:spPr>
          <a:xfrm>
            <a:off x="5637007" y="2140772"/>
            <a:ext cx="2807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endParaRPr lang="en-GB" sz="1200" err="1"/>
          </a:p>
        </p:txBody>
      </p:sp>
    </p:spTree>
    <p:extLst>
      <p:ext uri="{BB962C8B-B14F-4D97-AF65-F5344CB8AC3E}">
        <p14:creationId xmlns:p14="http://schemas.microsoft.com/office/powerpoint/2010/main" val="320598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C7BFF5-A185-4DE0-9EA3-89A68FF9FFC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152" y="1192387"/>
            <a:ext cx="8423275" cy="1630641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Continuous data are measured on a continuous scale and can take any value within a specific range</a:t>
            </a:r>
          </a:p>
          <a:p>
            <a:pPr lvl="1"/>
            <a:endParaRPr lang="en-GB" sz="1600"/>
          </a:p>
          <a:p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62ADD-7621-46A5-A10C-4F0ABC86A7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9153" y="693553"/>
            <a:ext cx="2626094" cy="399184"/>
          </a:xfrm>
        </p:spPr>
        <p:txBody>
          <a:bodyPr/>
          <a:lstStyle/>
          <a:p>
            <a:r>
              <a:rPr lang="en-GB"/>
              <a:t>Most common statistics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E473C-62D2-4F43-AE1C-7C280FBDCC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31911D-33B6-4EDA-A66E-397C5155B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Continuous data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E073BFA-79B2-419C-903B-5D4EBA48DBA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24243EB-989F-47C8-8FB1-52FAE9A620B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A5A70-6976-432C-BB64-9E7528BF98FD}"/>
              </a:ext>
            </a:extLst>
          </p:cNvPr>
          <p:cNvSpPr txBox="1"/>
          <p:nvPr/>
        </p:nvSpPr>
        <p:spPr>
          <a:xfrm>
            <a:off x="5637007" y="2140772"/>
            <a:ext cx="2807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endParaRPr lang="en-GB" sz="120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F174BF-B0D7-48DB-B47F-D8BF29800FB3}"/>
              </a:ext>
            </a:extLst>
          </p:cNvPr>
          <p:cNvSpPr txBox="1"/>
          <p:nvPr/>
        </p:nvSpPr>
        <p:spPr>
          <a:xfrm>
            <a:off x="1631256" y="2469179"/>
            <a:ext cx="118465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Mean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4B2B06-EA96-461F-B0C2-93BFF3821536}"/>
              </a:ext>
            </a:extLst>
          </p:cNvPr>
          <p:cNvSpPr txBox="1"/>
          <p:nvPr/>
        </p:nvSpPr>
        <p:spPr>
          <a:xfrm>
            <a:off x="3112984" y="2483209"/>
            <a:ext cx="280774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Difference in means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DD8C48-B9C5-44CF-8AC1-177B4C36DF18}"/>
              </a:ext>
            </a:extLst>
          </p:cNvPr>
          <p:cNvSpPr txBox="1"/>
          <p:nvPr/>
        </p:nvSpPr>
        <p:spPr>
          <a:xfrm>
            <a:off x="309048" y="2045005"/>
            <a:ext cx="313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600" i="1"/>
              <a:t>Most common statistics</a:t>
            </a:r>
            <a:r>
              <a:rPr lang="en-GB" sz="1200"/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BD5096-20A3-45C8-935E-C0731BBA8123}"/>
              </a:ext>
            </a:extLst>
          </p:cNvPr>
          <p:cNvSpPr txBox="1"/>
          <p:nvPr/>
        </p:nvSpPr>
        <p:spPr>
          <a:xfrm>
            <a:off x="1631256" y="3231719"/>
            <a:ext cx="118465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Median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0B93BA-DF54-4F4A-A3A0-6D8025218CC6}"/>
              </a:ext>
            </a:extLst>
          </p:cNvPr>
          <p:cNvSpPr txBox="1"/>
          <p:nvPr/>
        </p:nvSpPr>
        <p:spPr>
          <a:xfrm>
            <a:off x="3112004" y="3221781"/>
            <a:ext cx="280774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Difference in medians</a:t>
            </a:r>
          </a:p>
        </p:txBody>
      </p:sp>
    </p:spTree>
    <p:extLst>
      <p:ext uri="{BB962C8B-B14F-4D97-AF65-F5344CB8AC3E}">
        <p14:creationId xmlns:p14="http://schemas.microsoft.com/office/powerpoint/2010/main" val="44105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A721754-102B-4010-9728-B99F8EE9C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20" y="1453013"/>
            <a:ext cx="5611938" cy="223473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CCF4FD-BAAE-416A-9340-575A0B3C59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9977" y="1453012"/>
            <a:ext cx="2745403" cy="2820541"/>
          </a:xfrm>
        </p:spPr>
        <p:txBody>
          <a:bodyPr/>
          <a:lstStyle/>
          <a:p>
            <a:r>
              <a:rPr lang="en-GB"/>
              <a:t>Language to describe the results</a:t>
            </a:r>
          </a:p>
          <a:p>
            <a:r>
              <a:rPr lang="en-GB"/>
              <a:t>Is it a difference in means or medians?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A5132-5E5D-4DE1-9A43-CDCD2FB5FB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i="1"/>
              <a:t>Putting it into practice</a:t>
            </a:r>
            <a:r>
              <a:rPr lang="en-GB"/>
              <a:t>: </a:t>
            </a:r>
            <a:r>
              <a:rPr lang="en-GB" err="1"/>
              <a:t>Otilimab</a:t>
            </a:r>
            <a:r>
              <a:rPr lang="en-GB"/>
              <a:t> Ph2 study in rheumatoid arthritis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65791-A1E6-429A-8BEC-E514FE93A2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ADFCEA-FB0F-44AA-A299-61A4934C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Continuous data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46FA77-7442-4E9C-A795-ECB6174114D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0C0CE-73D1-4792-AD2A-4CC33B966A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00DC5C-A514-42C3-B568-68BE05C1837B}"/>
              </a:ext>
            </a:extLst>
          </p:cNvPr>
          <p:cNvSpPr/>
          <p:nvPr/>
        </p:nvSpPr>
        <p:spPr bwMode="auto">
          <a:xfrm>
            <a:off x="359152" y="1664207"/>
            <a:ext cx="5438398" cy="652007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94F2ED-8D91-4FA5-9474-B37BA11F05A0}"/>
              </a:ext>
            </a:extLst>
          </p:cNvPr>
          <p:cNvSpPr/>
          <p:nvPr/>
        </p:nvSpPr>
        <p:spPr bwMode="auto">
          <a:xfrm>
            <a:off x="248620" y="2984187"/>
            <a:ext cx="5390874" cy="678158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BD2EAB-4479-447E-885D-4871D334DA1B}"/>
              </a:ext>
            </a:extLst>
          </p:cNvPr>
          <p:cNvSpPr/>
          <p:nvPr/>
        </p:nvSpPr>
        <p:spPr bwMode="auto">
          <a:xfrm>
            <a:off x="3809516" y="2810547"/>
            <a:ext cx="2095334" cy="173636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43F60B-A138-428E-A3C4-9E4ECB5DFFE3}"/>
              </a:ext>
            </a:extLst>
          </p:cNvPr>
          <p:cNvSpPr/>
          <p:nvPr/>
        </p:nvSpPr>
        <p:spPr bwMode="auto">
          <a:xfrm>
            <a:off x="248620" y="2388519"/>
            <a:ext cx="5548930" cy="564994"/>
          </a:xfrm>
          <a:prstGeom prst="rect">
            <a:avLst/>
          </a:prstGeom>
          <a:noFill/>
          <a:ln w="28575">
            <a:solidFill>
              <a:schemeClr val="accent1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36633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31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A5132-5E5D-4DE1-9A43-CDCD2FB5FB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i="1"/>
              <a:t>Putting it into practice</a:t>
            </a:r>
            <a:r>
              <a:rPr lang="en-GB"/>
              <a:t>:</a:t>
            </a:r>
            <a:r>
              <a:rPr lang="en-GB" i="1"/>
              <a:t> </a:t>
            </a:r>
            <a:r>
              <a:rPr lang="en-GB" err="1"/>
              <a:t>Otilimab</a:t>
            </a:r>
            <a:r>
              <a:rPr lang="en-GB"/>
              <a:t> Ph2 study in rheumatoid arthritis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65791-A1E6-429A-8BEC-E514FE93A2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ADFCEA-FB0F-44AA-A299-61A4934C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Continuous data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46FA77-7442-4E9C-A795-ECB6174114D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3006789" y="4769892"/>
            <a:ext cx="3164730" cy="273844"/>
          </a:xfrm>
        </p:spPr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0C0CE-73D1-4792-AD2A-4CC33B966A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6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1C72F0-6832-4D01-9914-E5DFB74F6231}"/>
              </a:ext>
            </a:extLst>
          </p:cNvPr>
          <p:cNvGrpSpPr/>
          <p:nvPr/>
        </p:nvGrpSpPr>
        <p:grpSpPr>
          <a:xfrm>
            <a:off x="255930" y="1178635"/>
            <a:ext cx="2925578" cy="1980646"/>
            <a:chOff x="944861" y="360367"/>
            <a:chExt cx="3441845" cy="228591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24FB142-A72D-48EA-A207-45994B5621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3500" b="82252"/>
            <a:stretch/>
          </p:blipFill>
          <p:spPr>
            <a:xfrm>
              <a:off x="944861" y="365055"/>
              <a:ext cx="2554038" cy="91285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0563BC7-7703-41FA-BD4C-0A1BAA7A1F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7312" b="82702"/>
            <a:stretch/>
          </p:blipFill>
          <p:spPr>
            <a:xfrm>
              <a:off x="3498899" y="360367"/>
              <a:ext cx="887807" cy="88971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C0D718F-3D26-46B6-81AE-F88C287F05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1205" r="63500" b="483"/>
            <a:stretch/>
          </p:blipFill>
          <p:spPr>
            <a:xfrm>
              <a:off x="944861" y="1190064"/>
              <a:ext cx="2554038" cy="145622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A028113-FCB0-4336-B217-6010CD941C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6411" t="71317" b="484"/>
            <a:stretch/>
          </p:blipFill>
          <p:spPr>
            <a:xfrm>
              <a:off x="3452686" y="1192961"/>
              <a:ext cx="934017" cy="1450426"/>
            </a:xfrm>
            <a:prstGeom prst="rect">
              <a:avLst/>
            </a:prstGeom>
          </p:spPr>
        </p:pic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0B6764-33DB-4747-9CD9-446E28D74736}"/>
              </a:ext>
            </a:extLst>
          </p:cNvPr>
          <p:cNvCxnSpPr/>
          <p:nvPr/>
        </p:nvCxnSpPr>
        <p:spPr>
          <a:xfrm>
            <a:off x="359152" y="2445530"/>
            <a:ext cx="512217" cy="0"/>
          </a:xfrm>
          <a:prstGeom prst="line">
            <a:avLst/>
          </a:prstGeom>
          <a:ln w="28575">
            <a:solidFill>
              <a:srgbClr val="F366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B136C3-70B3-487B-9C06-D10B7A4C8F6F}"/>
              </a:ext>
            </a:extLst>
          </p:cNvPr>
          <p:cNvCxnSpPr>
            <a:cxnSpLocks/>
          </p:cNvCxnSpPr>
          <p:nvPr/>
        </p:nvCxnSpPr>
        <p:spPr>
          <a:xfrm>
            <a:off x="292530" y="2807701"/>
            <a:ext cx="5788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990E924-B61E-4BA6-BD76-B018D9BB2DE0}"/>
              </a:ext>
            </a:extLst>
          </p:cNvPr>
          <p:cNvSpPr/>
          <p:nvPr/>
        </p:nvSpPr>
        <p:spPr bwMode="auto">
          <a:xfrm>
            <a:off x="2544210" y="2593288"/>
            <a:ext cx="458817" cy="214413"/>
          </a:xfrm>
          <a:prstGeom prst="rect">
            <a:avLst/>
          </a:prstGeom>
          <a:noFill/>
          <a:ln w="28575">
            <a:solidFill>
              <a:schemeClr val="bg2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07A7C2-CA1A-40F9-9839-E10C94EE46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94" t="4843" r="2138" b="4935"/>
          <a:stretch/>
        </p:blipFill>
        <p:spPr>
          <a:xfrm>
            <a:off x="3358341" y="1295313"/>
            <a:ext cx="5602779" cy="276783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C3AABCA-735E-440D-8AE3-48DF1DEAF1E3}"/>
              </a:ext>
            </a:extLst>
          </p:cNvPr>
          <p:cNvCxnSpPr/>
          <p:nvPr/>
        </p:nvCxnSpPr>
        <p:spPr>
          <a:xfrm>
            <a:off x="3497824" y="1973645"/>
            <a:ext cx="0" cy="34424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05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ED22A0-DC73-40E7-A318-17C4F588432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152" y="1192388"/>
            <a:ext cx="7789621" cy="3070050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Binary data has two options for response, e.g. “Yes” or “No”</a:t>
            </a:r>
          </a:p>
          <a:p>
            <a:pPr lvl="1"/>
            <a:r>
              <a:rPr lang="en-GB"/>
              <a:t>Death or AE occurrence</a:t>
            </a:r>
          </a:p>
          <a:p>
            <a:pPr lvl="1"/>
            <a:r>
              <a:rPr lang="en-GB"/>
              <a:t>Dichotomised continuous variable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GB" sz="1400"/>
              <a:t>Responder/non-responder status</a:t>
            </a:r>
          </a:p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3F30C-1C0A-4768-A0E8-2A9E6F7C8E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AAF1C-023F-477E-8EC1-9C894D16C9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3E57AA-A94B-4BB5-B509-EE512A84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Binary data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20F059F-B6D9-4671-8D29-337A5450704C}"/>
              </a:ext>
            </a:extLst>
          </p:cNvPr>
          <p:cNvGrpSpPr/>
          <p:nvPr/>
        </p:nvGrpSpPr>
        <p:grpSpPr>
          <a:xfrm>
            <a:off x="4458122" y="2143691"/>
            <a:ext cx="3573514" cy="2148538"/>
            <a:chOff x="5191491" y="2207781"/>
            <a:chExt cx="2761538" cy="1463348"/>
          </a:xfrm>
        </p:grpSpPr>
        <p:grpSp>
          <p:nvGrpSpPr>
            <p:cNvPr id="11" name="Group 287">
              <a:extLst>
                <a:ext uri="{FF2B5EF4-FFF2-40B4-BE49-F238E27FC236}">
                  <a16:creationId xmlns:a16="http://schemas.microsoft.com/office/drawing/2014/main" id="{DF4D30BA-AA63-480A-A129-73EFBF9DF3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68542" y="2696479"/>
              <a:ext cx="268246" cy="793876"/>
              <a:chOff x="1738" y="919"/>
              <a:chExt cx="1104" cy="3363"/>
            </a:xfrm>
            <a:solidFill>
              <a:schemeClr val="bg2"/>
            </a:solidFill>
          </p:grpSpPr>
          <p:sp>
            <p:nvSpPr>
              <p:cNvPr id="12" name="Freeform 290">
                <a:extLst>
                  <a:ext uri="{FF2B5EF4-FFF2-40B4-BE49-F238E27FC236}">
                    <a16:creationId xmlns:a16="http://schemas.microsoft.com/office/drawing/2014/main" id="{9C3967D6-9E4B-4EED-9697-7FFDEC4414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3" y="919"/>
                <a:ext cx="755" cy="879"/>
              </a:xfrm>
              <a:custGeom>
                <a:avLst/>
                <a:gdLst>
                  <a:gd name="T0" fmla="*/ 30 w 494"/>
                  <a:gd name="T1" fmla="*/ 284 h 575"/>
                  <a:gd name="T2" fmla="*/ 23 w 494"/>
                  <a:gd name="T3" fmla="*/ 315 h 575"/>
                  <a:gd name="T4" fmla="*/ 39 w 494"/>
                  <a:gd name="T5" fmla="*/ 342 h 575"/>
                  <a:gd name="T6" fmla="*/ 38 w 494"/>
                  <a:gd name="T7" fmla="*/ 357 h 575"/>
                  <a:gd name="T8" fmla="*/ 65 w 494"/>
                  <a:gd name="T9" fmla="*/ 385 h 575"/>
                  <a:gd name="T10" fmla="*/ 65 w 494"/>
                  <a:gd name="T11" fmla="*/ 392 h 575"/>
                  <a:gd name="T12" fmla="*/ 249 w 494"/>
                  <a:gd name="T13" fmla="*/ 575 h 575"/>
                  <a:gd name="T14" fmla="*/ 432 w 494"/>
                  <a:gd name="T15" fmla="*/ 394 h 575"/>
                  <a:gd name="T16" fmla="*/ 446 w 494"/>
                  <a:gd name="T17" fmla="*/ 367 h 575"/>
                  <a:gd name="T18" fmla="*/ 445 w 494"/>
                  <a:gd name="T19" fmla="*/ 363 h 575"/>
                  <a:gd name="T20" fmla="*/ 480 w 494"/>
                  <a:gd name="T21" fmla="*/ 329 h 575"/>
                  <a:gd name="T22" fmla="*/ 471 w 494"/>
                  <a:gd name="T23" fmla="*/ 298 h 575"/>
                  <a:gd name="T24" fmla="*/ 480 w 494"/>
                  <a:gd name="T25" fmla="*/ 274 h 575"/>
                  <a:gd name="T26" fmla="*/ 469 w 494"/>
                  <a:gd name="T27" fmla="*/ 220 h 575"/>
                  <a:gd name="T28" fmla="*/ 485 w 494"/>
                  <a:gd name="T29" fmla="*/ 182 h 575"/>
                  <a:gd name="T30" fmla="*/ 430 w 494"/>
                  <a:gd name="T31" fmla="*/ 97 h 575"/>
                  <a:gd name="T32" fmla="*/ 415 w 494"/>
                  <a:gd name="T33" fmla="*/ 99 h 575"/>
                  <a:gd name="T34" fmla="*/ 361 w 494"/>
                  <a:gd name="T35" fmla="*/ 59 h 575"/>
                  <a:gd name="T36" fmla="*/ 345 w 494"/>
                  <a:gd name="T37" fmla="*/ 61 h 575"/>
                  <a:gd name="T38" fmla="*/ 279 w 494"/>
                  <a:gd name="T39" fmla="*/ 0 h 575"/>
                  <a:gd name="T40" fmla="*/ 216 w 494"/>
                  <a:gd name="T41" fmla="*/ 47 h 575"/>
                  <a:gd name="T42" fmla="*/ 157 w 494"/>
                  <a:gd name="T43" fmla="*/ 17 h 575"/>
                  <a:gd name="T44" fmla="*/ 87 w 494"/>
                  <a:gd name="T45" fmla="*/ 98 h 575"/>
                  <a:gd name="T46" fmla="*/ 82 w 494"/>
                  <a:gd name="T47" fmla="*/ 97 h 575"/>
                  <a:gd name="T48" fmla="*/ 27 w 494"/>
                  <a:gd name="T49" fmla="*/ 182 h 575"/>
                  <a:gd name="T50" fmla="*/ 29 w 494"/>
                  <a:gd name="T51" fmla="*/ 190 h 575"/>
                  <a:gd name="T52" fmla="*/ 6 w 494"/>
                  <a:gd name="T53" fmla="*/ 245 h 575"/>
                  <a:gd name="T54" fmla="*/ 30 w 494"/>
                  <a:gd name="T55" fmla="*/ 284 h 575"/>
                  <a:gd name="T56" fmla="*/ 106 w 494"/>
                  <a:gd name="T57" fmla="*/ 303 h 575"/>
                  <a:gd name="T58" fmla="*/ 111 w 494"/>
                  <a:gd name="T59" fmla="*/ 277 h 575"/>
                  <a:gd name="T60" fmla="*/ 115 w 494"/>
                  <a:gd name="T61" fmla="*/ 256 h 575"/>
                  <a:gd name="T62" fmla="*/ 158 w 494"/>
                  <a:gd name="T63" fmla="*/ 210 h 575"/>
                  <a:gd name="T64" fmla="*/ 171 w 494"/>
                  <a:gd name="T65" fmla="*/ 211 h 575"/>
                  <a:gd name="T66" fmla="*/ 233 w 494"/>
                  <a:gd name="T67" fmla="*/ 164 h 575"/>
                  <a:gd name="T68" fmla="*/ 275 w 494"/>
                  <a:gd name="T69" fmla="*/ 182 h 575"/>
                  <a:gd name="T70" fmla="*/ 292 w 494"/>
                  <a:gd name="T71" fmla="*/ 179 h 575"/>
                  <a:gd name="T72" fmla="*/ 347 w 494"/>
                  <a:gd name="T73" fmla="*/ 222 h 575"/>
                  <a:gd name="T74" fmla="*/ 358 w 494"/>
                  <a:gd name="T75" fmla="*/ 220 h 575"/>
                  <a:gd name="T76" fmla="*/ 387 w 494"/>
                  <a:gd name="T77" fmla="*/ 252 h 575"/>
                  <a:gd name="T78" fmla="*/ 392 w 494"/>
                  <a:gd name="T79" fmla="*/ 287 h 575"/>
                  <a:gd name="T80" fmla="*/ 392 w 494"/>
                  <a:gd name="T81" fmla="*/ 392 h 575"/>
                  <a:gd name="T82" fmla="*/ 249 w 494"/>
                  <a:gd name="T83" fmla="*/ 535 h 575"/>
                  <a:gd name="T84" fmla="*/ 106 w 494"/>
                  <a:gd name="T85" fmla="*/ 392 h 575"/>
                  <a:gd name="T86" fmla="*/ 106 w 494"/>
                  <a:gd name="T87" fmla="*/ 303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94" h="575">
                    <a:moveTo>
                      <a:pt x="30" y="284"/>
                    </a:moveTo>
                    <a:cubicBezTo>
                      <a:pt x="23" y="292"/>
                      <a:pt x="21" y="303"/>
                      <a:pt x="23" y="315"/>
                    </a:cubicBezTo>
                    <a:cubicBezTo>
                      <a:pt x="25" y="326"/>
                      <a:pt x="31" y="335"/>
                      <a:pt x="39" y="342"/>
                    </a:cubicBezTo>
                    <a:cubicBezTo>
                      <a:pt x="38" y="346"/>
                      <a:pt x="37" y="352"/>
                      <a:pt x="38" y="357"/>
                    </a:cubicBezTo>
                    <a:cubicBezTo>
                      <a:pt x="41" y="371"/>
                      <a:pt x="52" y="382"/>
                      <a:pt x="65" y="385"/>
                    </a:cubicBezTo>
                    <a:cubicBezTo>
                      <a:pt x="65" y="392"/>
                      <a:pt x="65" y="392"/>
                      <a:pt x="65" y="392"/>
                    </a:cubicBezTo>
                    <a:cubicBezTo>
                      <a:pt x="65" y="493"/>
                      <a:pt x="147" y="575"/>
                      <a:pt x="249" y="575"/>
                    </a:cubicBezTo>
                    <a:cubicBezTo>
                      <a:pt x="349" y="575"/>
                      <a:pt x="431" y="495"/>
                      <a:pt x="432" y="394"/>
                    </a:cubicBezTo>
                    <a:cubicBezTo>
                      <a:pt x="440" y="390"/>
                      <a:pt x="446" y="380"/>
                      <a:pt x="446" y="367"/>
                    </a:cubicBezTo>
                    <a:cubicBezTo>
                      <a:pt x="446" y="366"/>
                      <a:pt x="446" y="364"/>
                      <a:pt x="445" y="363"/>
                    </a:cubicBezTo>
                    <a:cubicBezTo>
                      <a:pt x="461" y="360"/>
                      <a:pt x="476" y="346"/>
                      <a:pt x="480" y="329"/>
                    </a:cubicBezTo>
                    <a:cubicBezTo>
                      <a:pt x="483" y="316"/>
                      <a:pt x="479" y="305"/>
                      <a:pt x="471" y="298"/>
                    </a:cubicBezTo>
                    <a:cubicBezTo>
                      <a:pt x="475" y="291"/>
                      <a:pt x="478" y="283"/>
                      <a:pt x="480" y="274"/>
                    </a:cubicBezTo>
                    <a:cubicBezTo>
                      <a:pt x="485" y="253"/>
                      <a:pt x="480" y="234"/>
                      <a:pt x="469" y="220"/>
                    </a:cubicBezTo>
                    <a:cubicBezTo>
                      <a:pt x="476" y="209"/>
                      <a:pt x="482" y="196"/>
                      <a:pt x="485" y="182"/>
                    </a:cubicBezTo>
                    <a:cubicBezTo>
                      <a:pt x="494" y="137"/>
                      <a:pt x="469" y="97"/>
                      <a:pt x="430" y="97"/>
                    </a:cubicBezTo>
                    <a:cubicBezTo>
                      <a:pt x="425" y="97"/>
                      <a:pt x="420" y="98"/>
                      <a:pt x="415" y="99"/>
                    </a:cubicBezTo>
                    <a:cubicBezTo>
                      <a:pt x="406" y="75"/>
                      <a:pt x="386" y="59"/>
                      <a:pt x="361" y="59"/>
                    </a:cubicBezTo>
                    <a:cubicBezTo>
                      <a:pt x="355" y="59"/>
                      <a:pt x="350" y="60"/>
                      <a:pt x="345" y="61"/>
                    </a:cubicBezTo>
                    <a:cubicBezTo>
                      <a:pt x="336" y="26"/>
                      <a:pt x="311" y="0"/>
                      <a:pt x="279" y="0"/>
                    </a:cubicBezTo>
                    <a:cubicBezTo>
                      <a:pt x="251" y="0"/>
                      <a:pt x="228" y="19"/>
                      <a:pt x="216" y="47"/>
                    </a:cubicBezTo>
                    <a:cubicBezTo>
                      <a:pt x="201" y="29"/>
                      <a:pt x="180" y="17"/>
                      <a:pt x="157" y="17"/>
                    </a:cubicBezTo>
                    <a:cubicBezTo>
                      <a:pt x="118" y="17"/>
                      <a:pt x="90" y="53"/>
                      <a:pt x="87" y="98"/>
                    </a:cubicBezTo>
                    <a:cubicBezTo>
                      <a:pt x="86" y="98"/>
                      <a:pt x="84" y="97"/>
                      <a:pt x="82" y="97"/>
                    </a:cubicBezTo>
                    <a:cubicBezTo>
                      <a:pt x="43" y="97"/>
                      <a:pt x="19" y="137"/>
                      <a:pt x="27" y="182"/>
                    </a:cubicBezTo>
                    <a:cubicBezTo>
                      <a:pt x="28" y="185"/>
                      <a:pt x="29" y="187"/>
                      <a:pt x="29" y="190"/>
                    </a:cubicBezTo>
                    <a:cubicBezTo>
                      <a:pt x="10" y="198"/>
                      <a:pt x="0" y="220"/>
                      <a:pt x="6" y="245"/>
                    </a:cubicBezTo>
                    <a:cubicBezTo>
                      <a:pt x="9" y="261"/>
                      <a:pt x="18" y="275"/>
                      <a:pt x="30" y="284"/>
                    </a:cubicBezTo>
                    <a:moveTo>
                      <a:pt x="106" y="303"/>
                    </a:moveTo>
                    <a:cubicBezTo>
                      <a:pt x="106" y="294"/>
                      <a:pt x="108" y="285"/>
                      <a:pt x="111" y="277"/>
                    </a:cubicBezTo>
                    <a:cubicBezTo>
                      <a:pt x="112" y="270"/>
                      <a:pt x="113" y="263"/>
                      <a:pt x="115" y="256"/>
                    </a:cubicBezTo>
                    <a:cubicBezTo>
                      <a:pt x="136" y="251"/>
                      <a:pt x="152" y="234"/>
                      <a:pt x="158" y="210"/>
                    </a:cubicBezTo>
                    <a:cubicBezTo>
                      <a:pt x="162" y="211"/>
                      <a:pt x="166" y="211"/>
                      <a:pt x="171" y="211"/>
                    </a:cubicBezTo>
                    <a:cubicBezTo>
                      <a:pt x="198" y="211"/>
                      <a:pt x="222" y="193"/>
                      <a:pt x="233" y="164"/>
                    </a:cubicBezTo>
                    <a:cubicBezTo>
                      <a:pt x="245" y="175"/>
                      <a:pt x="260" y="182"/>
                      <a:pt x="275" y="182"/>
                    </a:cubicBezTo>
                    <a:cubicBezTo>
                      <a:pt x="281" y="182"/>
                      <a:pt x="287" y="181"/>
                      <a:pt x="292" y="179"/>
                    </a:cubicBezTo>
                    <a:cubicBezTo>
                      <a:pt x="302" y="205"/>
                      <a:pt x="323" y="222"/>
                      <a:pt x="347" y="222"/>
                    </a:cubicBezTo>
                    <a:cubicBezTo>
                      <a:pt x="351" y="222"/>
                      <a:pt x="354" y="221"/>
                      <a:pt x="358" y="220"/>
                    </a:cubicBezTo>
                    <a:cubicBezTo>
                      <a:pt x="364" y="235"/>
                      <a:pt x="374" y="246"/>
                      <a:pt x="387" y="252"/>
                    </a:cubicBezTo>
                    <a:cubicBezTo>
                      <a:pt x="390" y="263"/>
                      <a:pt x="392" y="275"/>
                      <a:pt x="392" y="287"/>
                    </a:cubicBezTo>
                    <a:cubicBezTo>
                      <a:pt x="392" y="392"/>
                      <a:pt x="392" y="392"/>
                      <a:pt x="392" y="392"/>
                    </a:cubicBezTo>
                    <a:cubicBezTo>
                      <a:pt x="392" y="471"/>
                      <a:pt x="328" y="535"/>
                      <a:pt x="249" y="535"/>
                    </a:cubicBezTo>
                    <a:cubicBezTo>
                      <a:pt x="170" y="535"/>
                      <a:pt x="106" y="471"/>
                      <a:pt x="106" y="392"/>
                    </a:cubicBezTo>
                    <a:lnTo>
                      <a:pt x="106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" name="Freeform 291">
                <a:extLst>
                  <a:ext uri="{FF2B5EF4-FFF2-40B4-BE49-F238E27FC236}">
                    <a16:creationId xmlns:a16="http://schemas.microsoft.com/office/drawing/2014/main" id="{B9610381-91E8-4653-8BFD-A1F1BC0064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38" y="1772"/>
                <a:ext cx="1104" cy="2510"/>
              </a:xfrm>
              <a:custGeom>
                <a:avLst/>
                <a:gdLst>
                  <a:gd name="T0" fmla="*/ 717 w 722"/>
                  <a:gd name="T1" fmla="*/ 683 h 1642"/>
                  <a:gd name="T2" fmla="*/ 657 w 722"/>
                  <a:gd name="T3" fmla="*/ 113 h 1642"/>
                  <a:gd name="T4" fmla="*/ 616 w 722"/>
                  <a:gd name="T5" fmla="*/ 56 h 1642"/>
                  <a:gd name="T6" fmla="*/ 499 w 722"/>
                  <a:gd name="T7" fmla="*/ 1 h 1642"/>
                  <a:gd name="T8" fmla="*/ 499 w 722"/>
                  <a:gd name="T9" fmla="*/ 83 h 1642"/>
                  <a:gd name="T10" fmla="*/ 490 w 722"/>
                  <a:gd name="T11" fmla="*/ 100 h 1642"/>
                  <a:gd name="T12" fmla="*/ 478 w 722"/>
                  <a:gd name="T13" fmla="*/ 103 h 1642"/>
                  <a:gd name="T14" fmla="*/ 471 w 722"/>
                  <a:gd name="T15" fmla="*/ 102 h 1642"/>
                  <a:gd name="T16" fmla="*/ 421 w 722"/>
                  <a:gd name="T17" fmla="*/ 83 h 1642"/>
                  <a:gd name="T18" fmla="*/ 383 w 722"/>
                  <a:gd name="T19" fmla="*/ 212 h 1642"/>
                  <a:gd name="T20" fmla="*/ 364 w 722"/>
                  <a:gd name="T21" fmla="*/ 226 h 1642"/>
                  <a:gd name="T22" fmla="*/ 364 w 722"/>
                  <a:gd name="T23" fmla="*/ 226 h 1642"/>
                  <a:gd name="T24" fmla="*/ 344 w 722"/>
                  <a:gd name="T25" fmla="*/ 212 h 1642"/>
                  <a:gd name="T26" fmla="*/ 304 w 722"/>
                  <a:gd name="T27" fmla="*/ 82 h 1642"/>
                  <a:gd name="T28" fmla="*/ 251 w 722"/>
                  <a:gd name="T29" fmla="*/ 102 h 1642"/>
                  <a:gd name="T30" fmla="*/ 244 w 722"/>
                  <a:gd name="T31" fmla="*/ 103 h 1642"/>
                  <a:gd name="T32" fmla="*/ 233 w 722"/>
                  <a:gd name="T33" fmla="*/ 100 h 1642"/>
                  <a:gd name="T34" fmla="*/ 224 w 722"/>
                  <a:gd name="T35" fmla="*/ 83 h 1642"/>
                  <a:gd name="T36" fmla="*/ 224 w 722"/>
                  <a:gd name="T37" fmla="*/ 0 h 1642"/>
                  <a:gd name="T38" fmla="*/ 224 w 722"/>
                  <a:gd name="T39" fmla="*/ 0 h 1642"/>
                  <a:gd name="T40" fmla="*/ 106 w 722"/>
                  <a:gd name="T41" fmla="*/ 56 h 1642"/>
                  <a:gd name="T42" fmla="*/ 65 w 722"/>
                  <a:gd name="T43" fmla="*/ 113 h 1642"/>
                  <a:gd name="T44" fmla="*/ 5 w 722"/>
                  <a:gd name="T45" fmla="*/ 683 h 1642"/>
                  <a:gd name="T46" fmla="*/ 76 w 722"/>
                  <a:gd name="T47" fmla="*/ 815 h 1642"/>
                  <a:gd name="T48" fmla="*/ 122 w 722"/>
                  <a:gd name="T49" fmla="*/ 833 h 1642"/>
                  <a:gd name="T50" fmla="*/ 221 w 722"/>
                  <a:gd name="T51" fmla="*/ 1601 h 1642"/>
                  <a:gd name="T52" fmla="*/ 268 w 722"/>
                  <a:gd name="T53" fmla="*/ 1642 h 1642"/>
                  <a:gd name="T54" fmla="*/ 341 w 722"/>
                  <a:gd name="T55" fmla="*/ 1642 h 1642"/>
                  <a:gd name="T56" fmla="*/ 341 w 722"/>
                  <a:gd name="T57" fmla="*/ 856 h 1642"/>
                  <a:gd name="T58" fmla="*/ 361 w 722"/>
                  <a:gd name="T59" fmla="*/ 856 h 1642"/>
                  <a:gd name="T60" fmla="*/ 361 w 722"/>
                  <a:gd name="T61" fmla="*/ 856 h 1642"/>
                  <a:gd name="T62" fmla="*/ 382 w 722"/>
                  <a:gd name="T63" fmla="*/ 856 h 1642"/>
                  <a:gd name="T64" fmla="*/ 382 w 722"/>
                  <a:gd name="T65" fmla="*/ 1642 h 1642"/>
                  <a:gd name="T66" fmla="*/ 455 w 722"/>
                  <a:gd name="T67" fmla="*/ 1642 h 1642"/>
                  <a:gd name="T68" fmla="*/ 501 w 722"/>
                  <a:gd name="T69" fmla="*/ 1601 h 1642"/>
                  <a:gd name="T70" fmla="*/ 600 w 722"/>
                  <a:gd name="T71" fmla="*/ 833 h 1642"/>
                  <a:gd name="T72" fmla="*/ 647 w 722"/>
                  <a:gd name="T73" fmla="*/ 815 h 1642"/>
                  <a:gd name="T74" fmla="*/ 717 w 722"/>
                  <a:gd name="T75" fmla="*/ 683 h 1642"/>
                  <a:gd name="T76" fmla="*/ 161 w 722"/>
                  <a:gd name="T77" fmla="*/ 400 h 1642"/>
                  <a:gd name="T78" fmla="*/ 561 w 722"/>
                  <a:gd name="T79" fmla="*/ 400 h 1642"/>
                  <a:gd name="T80" fmla="*/ 561 w 722"/>
                  <a:gd name="T81" fmla="*/ 522 h 1642"/>
                  <a:gd name="T82" fmla="*/ 161 w 722"/>
                  <a:gd name="T83" fmla="*/ 522 h 1642"/>
                  <a:gd name="T84" fmla="*/ 161 w 722"/>
                  <a:gd name="T85" fmla="*/ 400 h 1642"/>
                  <a:gd name="T86" fmla="*/ 122 w 722"/>
                  <a:gd name="T87" fmla="*/ 790 h 1642"/>
                  <a:gd name="T88" fmla="*/ 71 w 722"/>
                  <a:gd name="T89" fmla="*/ 759 h 1642"/>
                  <a:gd name="T90" fmla="*/ 46 w 722"/>
                  <a:gd name="T91" fmla="*/ 688 h 1642"/>
                  <a:gd name="T92" fmla="*/ 55 w 722"/>
                  <a:gd name="T93" fmla="*/ 602 h 1642"/>
                  <a:gd name="T94" fmla="*/ 123 w 722"/>
                  <a:gd name="T95" fmla="*/ 602 h 1642"/>
                  <a:gd name="T96" fmla="*/ 122 w 722"/>
                  <a:gd name="T97" fmla="*/ 790 h 1642"/>
                  <a:gd name="T98" fmla="*/ 652 w 722"/>
                  <a:gd name="T99" fmla="*/ 759 h 1642"/>
                  <a:gd name="T100" fmla="*/ 600 w 722"/>
                  <a:gd name="T101" fmla="*/ 790 h 1642"/>
                  <a:gd name="T102" fmla="*/ 600 w 722"/>
                  <a:gd name="T103" fmla="*/ 602 h 1642"/>
                  <a:gd name="T104" fmla="*/ 668 w 722"/>
                  <a:gd name="T105" fmla="*/ 602 h 1642"/>
                  <a:gd name="T106" fmla="*/ 677 w 722"/>
                  <a:gd name="T107" fmla="*/ 688 h 1642"/>
                  <a:gd name="T108" fmla="*/ 652 w 722"/>
                  <a:gd name="T109" fmla="*/ 759 h 1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2" h="1642">
                    <a:moveTo>
                      <a:pt x="717" y="683"/>
                    </a:moveTo>
                    <a:cubicBezTo>
                      <a:pt x="657" y="113"/>
                      <a:pt x="657" y="113"/>
                      <a:pt x="657" y="113"/>
                    </a:cubicBezTo>
                    <a:cubicBezTo>
                      <a:pt x="653" y="79"/>
                      <a:pt x="636" y="65"/>
                      <a:pt x="616" y="56"/>
                    </a:cubicBezTo>
                    <a:cubicBezTo>
                      <a:pt x="499" y="1"/>
                      <a:pt x="499" y="1"/>
                      <a:pt x="499" y="1"/>
                    </a:cubicBezTo>
                    <a:cubicBezTo>
                      <a:pt x="499" y="83"/>
                      <a:pt x="499" y="83"/>
                      <a:pt x="499" y="83"/>
                    </a:cubicBezTo>
                    <a:cubicBezTo>
                      <a:pt x="499" y="90"/>
                      <a:pt x="495" y="96"/>
                      <a:pt x="490" y="100"/>
                    </a:cubicBezTo>
                    <a:cubicBezTo>
                      <a:pt x="487" y="102"/>
                      <a:pt x="482" y="103"/>
                      <a:pt x="478" y="103"/>
                    </a:cubicBezTo>
                    <a:cubicBezTo>
                      <a:pt x="476" y="103"/>
                      <a:pt x="474" y="103"/>
                      <a:pt x="471" y="102"/>
                    </a:cubicBezTo>
                    <a:cubicBezTo>
                      <a:pt x="421" y="83"/>
                      <a:pt x="421" y="83"/>
                      <a:pt x="421" y="83"/>
                    </a:cubicBezTo>
                    <a:cubicBezTo>
                      <a:pt x="383" y="212"/>
                      <a:pt x="383" y="212"/>
                      <a:pt x="383" y="212"/>
                    </a:cubicBezTo>
                    <a:cubicBezTo>
                      <a:pt x="381" y="220"/>
                      <a:pt x="373" y="226"/>
                      <a:pt x="364" y="226"/>
                    </a:cubicBezTo>
                    <a:cubicBezTo>
                      <a:pt x="364" y="226"/>
                      <a:pt x="364" y="226"/>
                      <a:pt x="364" y="226"/>
                    </a:cubicBezTo>
                    <a:cubicBezTo>
                      <a:pt x="355" y="226"/>
                      <a:pt x="347" y="220"/>
                      <a:pt x="344" y="212"/>
                    </a:cubicBezTo>
                    <a:cubicBezTo>
                      <a:pt x="304" y="82"/>
                      <a:pt x="304" y="82"/>
                      <a:pt x="304" y="82"/>
                    </a:cubicBezTo>
                    <a:cubicBezTo>
                      <a:pt x="251" y="102"/>
                      <a:pt x="251" y="102"/>
                      <a:pt x="251" y="102"/>
                    </a:cubicBezTo>
                    <a:cubicBezTo>
                      <a:pt x="249" y="103"/>
                      <a:pt x="247" y="103"/>
                      <a:pt x="244" y="103"/>
                    </a:cubicBezTo>
                    <a:cubicBezTo>
                      <a:pt x="240" y="103"/>
                      <a:pt x="236" y="102"/>
                      <a:pt x="233" y="100"/>
                    </a:cubicBezTo>
                    <a:cubicBezTo>
                      <a:pt x="227" y="96"/>
                      <a:pt x="224" y="90"/>
                      <a:pt x="224" y="83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86" y="65"/>
                      <a:pt x="68" y="81"/>
                      <a:pt x="65" y="113"/>
                    </a:cubicBezTo>
                    <a:cubicBezTo>
                      <a:pt x="5" y="683"/>
                      <a:pt x="5" y="683"/>
                      <a:pt x="5" y="683"/>
                    </a:cubicBezTo>
                    <a:cubicBezTo>
                      <a:pt x="0" y="739"/>
                      <a:pt x="34" y="790"/>
                      <a:pt x="76" y="815"/>
                    </a:cubicBezTo>
                    <a:cubicBezTo>
                      <a:pt x="97" y="827"/>
                      <a:pt x="122" y="833"/>
                      <a:pt x="122" y="833"/>
                    </a:cubicBezTo>
                    <a:cubicBezTo>
                      <a:pt x="221" y="1601"/>
                      <a:pt x="221" y="1601"/>
                      <a:pt x="221" y="1601"/>
                    </a:cubicBezTo>
                    <a:cubicBezTo>
                      <a:pt x="224" y="1623"/>
                      <a:pt x="245" y="1642"/>
                      <a:pt x="268" y="1642"/>
                    </a:cubicBezTo>
                    <a:cubicBezTo>
                      <a:pt x="341" y="1642"/>
                      <a:pt x="341" y="1642"/>
                      <a:pt x="341" y="1642"/>
                    </a:cubicBezTo>
                    <a:cubicBezTo>
                      <a:pt x="341" y="856"/>
                      <a:pt x="341" y="856"/>
                      <a:pt x="34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82" y="856"/>
                      <a:pt x="382" y="856"/>
                      <a:pt x="382" y="856"/>
                    </a:cubicBezTo>
                    <a:cubicBezTo>
                      <a:pt x="382" y="1642"/>
                      <a:pt x="382" y="1642"/>
                      <a:pt x="382" y="1642"/>
                    </a:cubicBezTo>
                    <a:cubicBezTo>
                      <a:pt x="455" y="1642"/>
                      <a:pt x="455" y="1642"/>
                      <a:pt x="455" y="1642"/>
                    </a:cubicBezTo>
                    <a:cubicBezTo>
                      <a:pt x="477" y="1642"/>
                      <a:pt x="498" y="1623"/>
                      <a:pt x="501" y="1601"/>
                    </a:cubicBezTo>
                    <a:cubicBezTo>
                      <a:pt x="600" y="833"/>
                      <a:pt x="600" y="833"/>
                      <a:pt x="600" y="833"/>
                    </a:cubicBezTo>
                    <a:cubicBezTo>
                      <a:pt x="600" y="833"/>
                      <a:pt x="625" y="827"/>
                      <a:pt x="647" y="815"/>
                    </a:cubicBezTo>
                    <a:cubicBezTo>
                      <a:pt x="689" y="790"/>
                      <a:pt x="722" y="739"/>
                      <a:pt x="717" y="683"/>
                    </a:cubicBezTo>
                    <a:moveTo>
                      <a:pt x="161" y="400"/>
                    </a:moveTo>
                    <a:cubicBezTo>
                      <a:pt x="561" y="400"/>
                      <a:pt x="561" y="400"/>
                      <a:pt x="561" y="400"/>
                    </a:cubicBezTo>
                    <a:cubicBezTo>
                      <a:pt x="561" y="522"/>
                      <a:pt x="561" y="522"/>
                      <a:pt x="561" y="522"/>
                    </a:cubicBezTo>
                    <a:cubicBezTo>
                      <a:pt x="161" y="522"/>
                      <a:pt x="161" y="522"/>
                      <a:pt x="161" y="522"/>
                    </a:cubicBezTo>
                    <a:lnTo>
                      <a:pt x="161" y="400"/>
                    </a:lnTo>
                    <a:close/>
                    <a:moveTo>
                      <a:pt x="122" y="790"/>
                    </a:moveTo>
                    <a:cubicBezTo>
                      <a:pt x="93" y="780"/>
                      <a:pt x="77" y="765"/>
                      <a:pt x="71" y="759"/>
                    </a:cubicBezTo>
                    <a:cubicBezTo>
                      <a:pt x="57" y="746"/>
                      <a:pt x="43" y="721"/>
                      <a:pt x="46" y="688"/>
                    </a:cubicBezTo>
                    <a:cubicBezTo>
                      <a:pt x="55" y="602"/>
                      <a:pt x="55" y="602"/>
                      <a:pt x="55" y="602"/>
                    </a:cubicBezTo>
                    <a:cubicBezTo>
                      <a:pt x="123" y="602"/>
                      <a:pt x="123" y="602"/>
                      <a:pt x="123" y="602"/>
                    </a:cubicBezTo>
                    <a:lnTo>
                      <a:pt x="122" y="790"/>
                    </a:lnTo>
                    <a:close/>
                    <a:moveTo>
                      <a:pt x="652" y="759"/>
                    </a:moveTo>
                    <a:cubicBezTo>
                      <a:pt x="646" y="765"/>
                      <a:pt x="629" y="780"/>
                      <a:pt x="600" y="790"/>
                    </a:cubicBezTo>
                    <a:cubicBezTo>
                      <a:pt x="600" y="602"/>
                      <a:pt x="600" y="602"/>
                      <a:pt x="600" y="602"/>
                    </a:cubicBezTo>
                    <a:cubicBezTo>
                      <a:pt x="668" y="602"/>
                      <a:pt x="668" y="602"/>
                      <a:pt x="668" y="602"/>
                    </a:cubicBezTo>
                    <a:cubicBezTo>
                      <a:pt x="677" y="688"/>
                      <a:pt x="677" y="688"/>
                      <a:pt x="677" y="688"/>
                    </a:cubicBezTo>
                    <a:cubicBezTo>
                      <a:pt x="680" y="721"/>
                      <a:pt x="665" y="746"/>
                      <a:pt x="652" y="75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14" name="Group 287">
              <a:extLst>
                <a:ext uri="{FF2B5EF4-FFF2-40B4-BE49-F238E27FC236}">
                  <a16:creationId xmlns:a16="http://schemas.microsoft.com/office/drawing/2014/main" id="{B17546FE-F963-40F3-9FAF-93B6C8DACD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632171" y="2696479"/>
              <a:ext cx="268246" cy="793876"/>
              <a:chOff x="1738" y="919"/>
              <a:chExt cx="1104" cy="3363"/>
            </a:xfrm>
            <a:solidFill>
              <a:schemeClr val="bg2"/>
            </a:solidFill>
          </p:grpSpPr>
          <p:sp>
            <p:nvSpPr>
              <p:cNvPr id="15" name="Freeform 290">
                <a:extLst>
                  <a:ext uri="{FF2B5EF4-FFF2-40B4-BE49-F238E27FC236}">
                    <a16:creationId xmlns:a16="http://schemas.microsoft.com/office/drawing/2014/main" id="{6F4CA8EB-09DC-4B9D-82E6-1997542563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3" y="919"/>
                <a:ext cx="755" cy="879"/>
              </a:xfrm>
              <a:custGeom>
                <a:avLst/>
                <a:gdLst>
                  <a:gd name="T0" fmla="*/ 30 w 494"/>
                  <a:gd name="T1" fmla="*/ 284 h 575"/>
                  <a:gd name="T2" fmla="*/ 23 w 494"/>
                  <a:gd name="T3" fmla="*/ 315 h 575"/>
                  <a:gd name="T4" fmla="*/ 39 w 494"/>
                  <a:gd name="T5" fmla="*/ 342 h 575"/>
                  <a:gd name="T6" fmla="*/ 38 w 494"/>
                  <a:gd name="T7" fmla="*/ 357 h 575"/>
                  <a:gd name="T8" fmla="*/ 65 w 494"/>
                  <a:gd name="T9" fmla="*/ 385 h 575"/>
                  <a:gd name="T10" fmla="*/ 65 w 494"/>
                  <a:gd name="T11" fmla="*/ 392 h 575"/>
                  <a:gd name="T12" fmla="*/ 249 w 494"/>
                  <a:gd name="T13" fmla="*/ 575 h 575"/>
                  <a:gd name="T14" fmla="*/ 432 w 494"/>
                  <a:gd name="T15" fmla="*/ 394 h 575"/>
                  <a:gd name="T16" fmla="*/ 446 w 494"/>
                  <a:gd name="T17" fmla="*/ 367 h 575"/>
                  <a:gd name="T18" fmla="*/ 445 w 494"/>
                  <a:gd name="T19" fmla="*/ 363 h 575"/>
                  <a:gd name="T20" fmla="*/ 480 w 494"/>
                  <a:gd name="T21" fmla="*/ 329 h 575"/>
                  <a:gd name="T22" fmla="*/ 471 w 494"/>
                  <a:gd name="T23" fmla="*/ 298 h 575"/>
                  <a:gd name="T24" fmla="*/ 480 w 494"/>
                  <a:gd name="T25" fmla="*/ 274 h 575"/>
                  <a:gd name="T26" fmla="*/ 469 w 494"/>
                  <a:gd name="T27" fmla="*/ 220 h 575"/>
                  <a:gd name="T28" fmla="*/ 485 w 494"/>
                  <a:gd name="T29" fmla="*/ 182 h 575"/>
                  <a:gd name="T30" fmla="*/ 430 w 494"/>
                  <a:gd name="T31" fmla="*/ 97 h 575"/>
                  <a:gd name="T32" fmla="*/ 415 w 494"/>
                  <a:gd name="T33" fmla="*/ 99 h 575"/>
                  <a:gd name="T34" fmla="*/ 361 w 494"/>
                  <a:gd name="T35" fmla="*/ 59 h 575"/>
                  <a:gd name="T36" fmla="*/ 345 w 494"/>
                  <a:gd name="T37" fmla="*/ 61 h 575"/>
                  <a:gd name="T38" fmla="*/ 279 w 494"/>
                  <a:gd name="T39" fmla="*/ 0 h 575"/>
                  <a:gd name="T40" fmla="*/ 216 w 494"/>
                  <a:gd name="T41" fmla="*/ 47 h 575"/>
                  <a:gd name="T42" fmla="*/ 157 w 494"/>
                  <a:gd name="T43" fmla="*/ 17 h 575"/>
                  <a:gd name="T44" fmla="*/ 87 w 494"/>
                  <a:gd name="T45" fmla="*/ 98 h 575"/>
                  <a:gd name="T46" fmla="*/ 82 w 494"/>
                  <a:gd name="T47" fmla="*/ 97 h 575"/>
                  <a:gd name="T48" fmla="*/ 27 w 494"/>
                  <a:gd name="T49" fmla="*/ 182 h 575"/>
                  <a:gd name="T50" fmla="*/ 29 w 494"/>
                  <a:gd name="T51" fmla="*/ 190 h 575"/>
                  <a:gd name="T52" fmla="*/ 6 w 494"/>
                  <a:gd name="T53" fmla="*/ 245 h 575"/>
                  <a:gd name="T54" fmla="*/ 30 w 494"/>
                  <a:gd name="T55" fmla="*/ 284 h 575"/>
                  <a:gd name="T56" fmla="*/ 106 w 494"/>
                  <a:gd name="T57" fmla="*/ 303 h 575"/>
                  <a:gd name="T58" fmla="*/ 111 w 494"/>
                  <a:gd name="T59" fmla="*/ 277 h 575"/>
                  <a:gd name="T60" fmla="*/ 115 w 494"/>
                  <a:gd name="T61" fmla="*/ 256 h 575"/>
                  <a:gd name="T62" fmla="*/ 158 w 494"/>
                  <a:gd name="T63" fmla="*/ 210 h 575"/>
                  <a:gd name="T64" fmla="*/ 171 w 494"/>
                  <a:gd name="T65" fmla="*/ 211 h 575"/>
                  <a:gd name="T66" fmla="*/ 233 w 494"/>
                  <a:gd name="T67" fmla="*/ 164 h 575"/>
                  <a:gd name="T68" fmla="*/ 275 w 494"/>
                  <a:gd name="T69" fmla="*/ 182 h 575"/>
                  <a:gd name="T70" fmla="*/ 292 w 494"/>
                  <a:gd name="T71" fmla="*/ 179 h 575"/>
                  <a:gd name="T72" fmla="*/ 347 w 494"/>
                  <a:gd name="T73" fmla="*/ 222 h 575"/>
                  <a:gd name="T74" fmla="*/ 358 w 494"/>
                  <a:gd name="T75" fmla="*/ 220 h 575"/>
                  <a:gd name="T76" fmla="*/ 387 w 494"/>
                  <a:gd name="T77" fmla="*/ 252 h 575"/>
                  <a:gd name="T78" fmla="*/ 392 w 494"/>
                  <a:gd name="T79" fmla="*/ 287 h 575"/>
                  <a:gd name="T80" fmla="*/ 392 w 494"/>
                  <a:gd name="T81" fmla="*/ 392 h 575"/>
                  <a:gd name="T82" fmla="*/ 249 w 494"/>
                  <a:gd name="T83" fmla="*/ 535 h 575"/>
                  <a:gd name="T84" fmla="*/ 106 w 494"/>
                  <a:gd name="T85" fmla="*/ 392 h 575"/>
                  <a:gd name="T86" fmla="*/ 106 w 494"/>
                  <a:gd name="T87" fmla="*/ 303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94" h="575">
                    <a:moveTo>
                      <a:pt x="30" y="284"/>
                    </a:moveTo>
                    <a:cubicBezTo>
                      <a:pt x="23" y="292"/>
                      <a:pt x="21" y="303"/>
                      <a:pt x="23" y="315"/>
                    </a:cubicBezTo>
                    <a:cubicBezTo>
                      <a:pt x="25" y="326"/>
                      <a:pt x="31" y="335"/>
                      <a:pt x="39" y="342"/>
                    </a:cubicBezTo>
                    <a:cubicBezTo>
                      <a:pt x="38" y="346"/>
                      <a:pt x="37" y="352"/>
                      <a:pt x="38" y="357"/>
                    </a:cubicBezTo>
                    <a:cubicBezTo>
                      <a:pt x="41" y="371"/>
                      <a:pt x="52" y="382"/>
                      <a:pt x="65" y="385"/>
                    </a:cubicBezTo>
                    <a:cubicBezTo>
                      <a:pt x="65" y="392"/>
                      <a:pt x="65" y="392"/>
                      <a:pt x="65" y="392"/>
                    </a:cubicBezTo>
                    <a:cubicBezTo>
                      <a:pt x="65" y="493"/>
                      <a:pt x="147" y="575"/>
                      <a:pt x="249" y="575"/>
                    </a:cubicBezTo>
                    <a:cubicBezTo>
                      <a:pt x="349" y="575"/>
                      <a:pt x="431" y="495"/>
                      <a:pt x="432" y="394"/>
                    </a:cubicBezTo>
                    <a:cubicBezTo>
                      <a:pt x="440" y="390"/>
                      <a:pt x="446" y="380"/>
                      <a:pt x="446" y="367"/>
                    </a:cubicBezTo>
                    <a:cubicBezTo>
                      <a:pt x="446" y="366"/>
                      <a:pt x="446" y="364"/>
                      <a:pt x="445" y="363"/>
                    </a:cubicBezTo>
                    <a:cubicBezTo>
                      <a:pt x="461" y="360"/>
                      <a:pt x="476" y="346"/>
                      <a:pt x="480" y="329"/>
                    </a:cubicBezTo>
                    <a:cubicBezTo>
                      <a:pt x="483" y="316"/>
                      <a:pt x="479" y="305"/>
                      <a:pt x="471" y="298"/>
                    </a:cubicBezTo>
                    <a:cubicBezTo>
                      <a:pt x="475" y="291"/>
                      <a:pt x="478" y="283"/>
                      <a:pt x="480" y="274"/>
                    </a:cubicBezTo>
                    <a:cubicBezTo>
                      <a:pt x="485" y="253"/>
                      <a:pt x="480" y="234"/>
                      <a:pt x="469" y="220"/>
                    </a:cubicBezTo>
                    <a:cubicBezTo>
                      <a:pt x="476" y="209"/>
                      <a:pt x="482" y="196"/>
                      <a:pt x="485" y="182"/>
                    </a:cubicBezTo>
                    <a:cubicBezTo>
                      <a:pt x="494" y="137"/>
                      <a:pt x="469" y="97"/>
                      <a:pt x="430" y="97"/>
                    </a:cubicBezTo>
                    <a:cubicBezTo>
                      <a:pt x="425" y="97"/>
                      <a:pt x="420" y="98"/>
                      <a:pt x="415" y="99"/>
                    </a:cubicBezTo>
                    <a:cubicBezTo>
                      <a:pt x="406" y="75"/>
                      <a:pt x="386" y="59"/>
                      <a:pt x="361" y="59"/>
                    </a:cubicBezTo>
                    <a:cubicBezTo>
                      <a:pt x="355" y="59"/>
                      <a:pt x="350" y="60"/>
                      <a:pt x="345" y="61"/>
                    </a:cubicBezTo>
                    <a:cubicBezTo>
                      <a:pt x="336" y="26"/>
                      <a:pt x="311" y="0"/>
                      <a:pt x="279" y="0"/>
                    </a:cubicBezTo>
                    <a:cubicBezTo>
                      <a:pt x="251" y="0"/>
                      <a:pt x="228" y="19"/>
                      <a:pt x="216" y="47"/>
                    </a:cubicBezTo>
                    <a:cubicBezTo>
                      <a:pt x="201" y="29"/>
                      <a:pt x="180" y="17"/>
                      <a:pt x="157" y="17"/>
                    </a:cubicBezTo>
                    <a:cubicBezTo>
                      <a:pt x="118" y="17"/>
                      <a:pt x="90" y="53"/>
                      <a:pt x="87" y="98"/>
                    </a:cubicBezTo>
                    <a:cubicBezTo>
                      <a:pt x="86" y="98"/>
                      <a:pt x="84" y="97"/>
                      <a:pt x="82" y="97"/>
                    </a:cubicBezTo>
                    <a:cubicBezTo>
                      <a:pt x="43" y="97"/>
                      <a:pt x="19" y="137"/>
                      <a:pt x="27" y="182"/>
                    </a:cubicBezTo>
                    <a:cubicBezTo>
                      <a:pt x="28" y="185"/>
                      <a:pt x="29" y="187"/>
                      <a:pt x="29" y="190"/>
                    </a:cubicBezTo>
                    <a:cubicBezTo>
                      <a:pt x="10" y="198"/>
                      <a:pt x="0" y="220"/>
                      <a:pt x="6" y="245"/>
                    </a:cubicBezTo>
                    <a:cubicBezTo>
                      <a:pt x="9" y="261"/>
                      <a:pt x="18" y="275"/>
                      <a:pt x="30" y="284"/>
                    </a:cubicBezTo>
                    <a:moveTo>
                      <a:pt x="106" y="303"/>
                    </a:moveTo>
                    <a:cubicBezTo>
                      <a:pt x="106" y="294"/>
                      <a:pt x="108" y="285"/>
                      <a:pt x="111" y="277"/>
                    </a:cubicBezTo>
                    <a:cubicBezTo>
                      <a:pt x="112" y="270"/>
                      <a:pt x="113" y="263"/>
                      <a:pt x="115" y="256"/>
                    </a:cubicBezTo>
                    <a:cubicBezTo>
                      <a:pt x="136" y="251"/>
                      <a:pt x="152" y="234"/>
                      <a:pt x="158" y="210"/>
                    </a:cubicBezTo>
                    <a:cubicBezTo>
                      <a:pt x="162" y="211"/>
                      <a:pt x="166" y="211"/>
                      <a:pt x="171" y="211"/>
                    </a:cubicBezTo>
                    <a:cubicBezTo>
                      <a:pt x="198" y="211"/>
                      <a:pt x="222" y="193"/>
                      <a:pt x="233" y="164"/>
                    </a:cubicBezTo>
                    <a:cubicBezTo>
                      <a:pt x="245" y="175"/>
                      <a:pt x="260" y="182"/>
                      <a:pt x="275" y="182"/>
                    </a:cubicBezTo>
                    <a:cubicBezTo>
                      <a:pt x="281" y="182"/>
                      <a:pt x="287" y="181"/>
                      <a:pt x="292" y="179"/>
                    </a:cubicBezTo>
                    <a:cubicBezTo>
                      <a:pt x="302" y="205"/>
                      <a:pt x="323" y="222"/>
                      <a:pt x="347" y="222"/>
                    </a:cubicBezTo>
                    <a:cubicBezTo>
                      <a:pt x="351" y="222"/>
                      <a:pt x="354" y="221"/>
                      <a:pt x="358" y="220"/>
                    </a:cubicBezTo>
                    <a:cubicBezTo>
                      <a:pt x="364" y="235"/>
                      <a:pt x="374" y="246"/>
                      <a:pt x="387" y="252"/>
                    </a:cubicBezTo>
                    <a:cubicBezTo>
                      <a:pt x="390" y="263"/>
                      <a:pt x="392" y="275"/>
                      <a:pt x="392" y="287"/>
                    </a:cubicBezTo>
                    <a:cubicBezTo>
                      <a:pt x="392" y="392"/>
                      <a:pt x="392" y="392"/>
                      <a:pt x="392" y="392"/>
                    </a:cubicBezTo>
                    <a:cubicBezTo>
                      <a:pt x="392" y="471"/>
                      <a:pt x="328" y="535"/>
                      <a:pt x="249" y="535"/>
                    </a:cubicBezTo>
                    <a:cubicBezTo>
                      <a:pt x="170" y="535"/>
                      <a:pt x="106" y="471"/>
                      <a:pt x="106" y="392"/>
                    </a:cubicBezTo>
                    <a:lnTo>
                      <a:pt x="106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" name="Freeform 291">
                <a:extLst>
                  <a:ext uri="{FF2B5EF4-FFF2-40B4-BE49-F238E27FC236}">
                    <a16:creationId xmlns:a16="http://schemas.microsoft.com/office/drawing/2014/main" id="{44DA0710-D4C3-4942-A37E-F0E8AE47E8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38" y="1772"/>
                <a:ext cx="1104" cy="2510"/>
              </a:xfrm>
              <a:custGeom>
                <a:avLst/>
                <a:gdLst>
                  <a:gd name="T0" fmla="*/ 717 w 722"/>
                  <a:gd name="T1" fmla="*/ 683 h 1642"/>
                  <a:gd name="T2" fmla="*/ 657 w 722"/>
                  <a:gd name="T3" fmla="*/ 113 h 1642"/>
                  <a:gd name="T4" fmla="*/ 616 w 722"/>
                  <a:gd name="T5" fmla="*/ 56 h 1642"/>
                  <a:gd name="T6" fmla="*/ 499 w 722"/>
                  <a:gd name="T7" fmla="*/ 1 h 1642"/>
                  <a:gd name="T8" fmla="*/ 499 w 722"/>
                  <a:gd name="T9" fmla="*/ 83 h 1642"/>
                  <a:gd name="T10" fmla="*/ 490 w 722"/>
                  <a:gd name="T11" fmla="*/ 100 h 1642"/>
                  <a:gd name="T12" fmla="*/ 478 w 722"/>
                  <a:gd name="T13" fmla="*/ 103 h 1642"/>
                  <a:gd name="T14" fmla="*/ 471 w 722"/>
                  <a:gd name="T15" fmla="*/ 102 h 1642"/>
                  <a:gd name="T16" fmla="*/ 421 w 722"/>
                  <a:gd name="T17" fmla="*/ 83 h 1642"/>
                  <a:gd name="T18" fmla="*/ 383 w 722"/>
                  <a:gd name="T19" fmla="*/ 212 h 1642"/>
                  <a:gd name="T20" fmla="*/ 364 w 722"/>
                  <a:gd name="T21" fmla="*/ 226 h 1642"/>
                  <a:gd name="T22" fmla="*/ 364 w 722"/>
                  <a:gd name="T23" fmla="*/ 226 h 1642"/>
                  <a:gd name="T24" fmla="*/ 344 w 722"/>
                  <a:gd name="T25" fmla="*/ 212 h 1642"/>
                  <a:gd name="T26" fmla="*/ 304 w 722"/>
                  <a:gd name="T27" fmla="*/ 82 h 1642"/>
                  <a:gd name="T28" fmla="*/ 251 w 722"/>
                  <a:gd name="T29" fmla="*/ 102 h 1642"/>
                  <a:gd name="T30" fmla="*/ 244 w 722"/>
                  <a:gd name="T31" fmla="*/ 103 h 1642"/>
                  <a:gd name="T32" fmla="*/ 233 w 722"/>
                  <a:gd name="T33" fmla="*/ 100 h 1642"/>
                  <a:gd name="T34" fmla="*/ 224 w 722"/>
                  <a:gd name="T35" fmla="*/ 83 h 1642"/>
                  <a:gd name="T36" fmla="*/ 224 w 722"/>
                  <a:gd name="T37" fmla="*/ 0 h 1642"/>
                  <a:gd name="T38" fmla="*/ 224 w 722"/>
                  <a:gd name="T39" fmla="*/ 0 h 1642"/>
                  <a:gd name="T40" fmla="*/ 106 w 722"/>
                  <a:gd name="T41" fmla="*/ 56 h 1642"/>
                  <a:gd name="T42" fmla="*/ 65 w 722"/>
                  <a:gd name="T43" fmla="*/ 113 h 1642"/>
                  <a:gd name="T44" fmla="*/ 5 w 722"/>
                  <a:gd name="T45" fmla="*/ 683 h 1642"/>
                  <a:gd name="T46" fmla="*/ 76 w 722"/>
                  <a:gd name="T47" fmla="*/ 815 h 1642"/>
                  <a:gd name="T48" fmla="*/ 122 w 722"/>
                  <a:gd name="T49" fmla="*/ 833 h 1642"/>
                  <a:gd name="T50" fmla="*/ 221 w 722"/>
                  <a:gd name="T51" fmla="*/ 1601 h 1642"/>
                  <a:gd name="T52" fmla="*/ 268 w 722"/>
                  <a:gd name="T53" fmla="*/ 1642 h 1642"/>
                  <a:gd name="T54" fmla="*/ 341 w 722"/>
                  <a:gd name="T55" fmla="*/ 1642 h 1642"/>
                  <a:gd name="T56" fmla="*/ 341 w 722"/>
                  <a:gd name="T57" fmla="*/ 856 h 1642"/>
                  <a:gd name="T58" fmla="*/ 361 w 722"/>
                  <a:gd name="T59" fmla="*/ 856 h 1642"/>
                  <a:gd name="T60" fmla="*/ 361 w 722"/>
                  <a:gd name="T61" fmla="*/ 856 h 1642"/>
                  <a:gd name="T62" fmla="*/ 382 w 722"/>
                  <a:gd name="T63" fmla="*/ 856 h 1642"/>
                  <a:gd name="T64" fmla="*/ 382 w 722"/>
                  <a:gd name="T65" fmla="*/ 1642 h 1642"/>
                  <a:gd name="T66" fmla="*/ 455 w 722"/>
                  <a:gd name="T67" fmla="*/ 1642 h 1642"/>
                  <a:gd name="T68" fmla="*/ 501 w 722"/>
                  <a:gd name="T69" fmla="*/ 1601 h 1642"/>
                  <a:gd name="T70" fmla="*/ 600 w 722"/>
                  <a:gd name="T71" fmla="*/ 833 h 1642"/>
                  <a:gd name="T72" fmla="*/ 647 w 722"/>
                  <a:gd name="T73" fmla="*/ 815 h 1642"/>
                  <a:gd name="T74" fmla="*/ 717 w 722"/>
                  <a:gd name="T75" fmla="*/ 683 h 1642"/>
                  <a:gd name="T76" fmla="*/ 161 w 722"/>
                  <a:gd name="T77" fmla="*/ 400 h 1642"/>
                  <a:gd name="T78" fmla="*/ 561 w 722"/>
                  <a:gd name="T79" fmla="*/ 400 h 1642"/>
                  <a:gd name="T80" fmla="*/ 561 w 722"/>
                  <a:gd name="T81" fmla="*/ 522 h 1642"/>
                  <a:gd name="T82" fmla="*/ 161 w 722"/>
                  <a:gd name="T83" fmla="*/ 522 h 1642"/>
                  <a:gd name="T84" fmla="*/ 161 w 722"/>
                  <a:gd name="T85" fmla="*/ 400 h 1642"/>
                  <a:gd name="T86" fmla="*/ 122 w 722"/>
                  <a:gd name="T87" fmla="*/ 790 h 1642"/>
                  <a:gd name="T88" fmla="*/ 71 w 722"/>
                  <a:gd name="T89" fmla="*/ 759 h 1642"/>
                  <a:gd name="T90" fmla="*/ 46 w 722"/>
                  <a:gd name="T91" fmla="*/ 688 h 1642"/>
                  <a:gd name="T92" fmla="*/ 55 w 722"/>
                  <a:gd name="T93" fmla="*/ 602 h 1642"/>
                  <a:gd name="T94" fmla="*/ 123 w 722"/>
                  <a:gd name="T95" fmla="*/ 602 h 1642"/>
                  <a:gd name="T96" fmla="*/ 122 w 722"/>
                  <a:gd name="T97" fmla="*/ 790 h 1642"/>
                  <a:gd name="T98" fmla="*/ 652 w 722"/>
                  <a:gd name="T99" fmla="*/ 759 h 1642"/>
                  <a:gd name="T100" fmla="*/ 600 w 722"/>
                  <a:gd name="T101" fmla="*/ 790 h 1642"/>
                  <a:gd name="T102" fmla="*/ 600 w 722"/>
                  <a:gd name="T103" fmla="*/ 602 h 1642"/>
                  <a:gd name="T104" fmla="*/ 668 w 722"/>
                  <a:gd name="T105" fmla="*/ 602 h 1642"/>
                  <a:gd name="T106" fmla="*/ 677 w 722"/>
                  <a:gd name="T107" fmla="*/ 688 h 1642"/>
                  <a:gd name="T108" fmla="*/ 652 w 722"/>
                  <a:gd name="T109" fmla="*/ 759 h 1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2" h="1642">
                    <a:moveTo>
                      <a:pt x="717" y="683"/>
                    </a:moveTo>
                    <a:cubicBezTo>
                      <a:pt x="657" y="113"/>
                      <a:pt x="657" y="113"/>
                      <a:pt x="657" y="113"/>
                    </a:cubicBezTo>
                    <a:cubicBezTo>
                      <a:pt x="653" y="79"/>
                      <a:pt x="636" y="65"/>
                      <a:pt x="616" y="56"/>
                    </a:cubicBezTo>
                    <a:cubicBezTo>
                      <a:pt x="499" y="1"/>
                      <a:pt x="499" y="1"/>
                      <a:pt x="499" y="1"/>
                    </a:cubicBezTo>
                    <a:cubicBezTo>
                      <a:pt x="499" y="83"/>
                      <a:pt x="499" y="83"/>
                      <a:pt x="499" y="83"/>
                    </a:cubicBezTo>
                    <a:cubicBezTo>
                      <a:pt x="499" y="90"/>
                      <a:pt x="495" y="96"/>
                      <a:pt x="490" y="100"/>
                    </a:cubicBezTo>
                    <a:cubicBezTo>
                      <a:pt x="487" y="102"/>
                      <a:pt x="482" y="103"/>
                      <a:pt x="478" y="103"/>
                    </a:cubicBezTo>
                    <a:cubicBezTo>
                      <a:pt x="476" y="103"/>
                      <a:pt x="474" y="103"/>
                      <a:pt x="471" y="102"/>
                    </a:cubicBezTo>
                    <a:cubicBezTo>
                      <a:pt x="421" y="83"/>
                      <a:pt x="421" y="83"/>
                      <a:pt x="421" y="83"/>
                    </a:cubicBezTo>
                    <a:cubicBezTo>
                      <a:pt x="383" y="212"/>
                      <a:pt x="383" y="212"/>
                      <a:pt x="383" y="212"/>
                    </a:cubicBezTo>
                    <a:cubicBezTo>
                      <a:pt x="381" y="220"/>
                      <a:pt x="373" y="226"/>
                      <a:pt x="364" y="226"/>
                    </a:cubicBezTo>
                    <a:cubicBezTo>
                      <a:pt x="364" y="226"/>
                      <a:pt x="364" y="226"/>
                      <a:pt x="364" y="226"/>
                    </a:cubicBezTo>
                    <a:cubicBezTo>
                      <a:pt x="355" y="226"/>
                      <a:pt x="347" y="220"/>
                      <a:pt x="344" y="212"/>
                    </a:cubicBezTo>
                    <a:cubicBezTo>
                      <a:pt x="304" y="82"/>
                      <a:pt x="304" y="82"/>
                      <a:pt x="304" y="82"/>
                    </a:cubicBezTo>
                    <a:cubicBezTo>
                      <a:pt x="251" y="102"/>
                      <a:pt x="251" y="102"/>
                      <a:pt x="251" y="102"/>
                    </a:cubicBezTo>
                    <a:cubicBezTo>
                      <a:pt x="249" y="103"/>
                      <a:pt x="247" y="103"/>
                      <a:pt x="244" y="103"/>
                    </a:cubicBezTo>
                    <a:cubicBezTo>
                      <a:pt x="240" y="103"/>
                      <a:pt x="236" y="102"/>
                      <a:pt x="233" y="100"/>
                    </a:cubicBezTo>
                    <a:cubicBezTo>
                      <a:pt x="227" y="96"/>
                      <a:pt x="224" y="90"/>
                      <a:pt x="224" y="83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86" y="65"/>
                      <a:pt x="68" y="81"/>
                      <a:pt x="65" y="113"/>
                    </a:cubicBezTo>
                    <a:cubicBezTo>
                      <a:pt x="5" y="683"/>
                      <a:pt x="5" y="683"/>
                      <a:pt x="5" y="683"/>
                    </a:cubicBezTo>
                    <a:cubicBezTo>
                      <a:pt x="0" y="739"/>
                      <a:pt x="34" y="790"/>
                      <a:pt x="76" y="815"/>
                    </a:cubicBezTo>
                    <a:cubicBezTo>
                      <a:pt x="97" y="827"/>
                      <a:pt x="122" y="833"/>
                      <a:pt x="122" y="833"/>
                    </a:cubicBezTo>
                    <a:cubicBezTo>
                      <a:pt x="221" y="1601"/>
                      <a:pt x="221" y="1601"/>
                      <a:pt x="221" y="1601"/>
                    </a:cubicBezTo>
                    <a:cubicBezTo>
                      <a:pt x="224" y="1623"/>
                      <a:pt x="245" y="1642"/>
                      <a:pt x="268" y="1642"/>
                    </a:cubicBezTo>
                    <a:cubicBezTo>
                      <a:pt x="341" y="1642"/>
                      <a:pt x="341" y="1642"/>
                      <a:pt x="341" y="1642"/>
                    </a:cubicBezTo>
                    <a:cubicBezTo>
                      <a:pt x="341" y="856"/>
                      <a:pt x="341" y="856"/>
                      <a:pt x="34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82" y="856"/>
                      <a:pt x="382" y="856"/>
                      <a:pt x="382" y="856"/>
                    </a:cubicBezTo>
                    <a:cubicBezTo>
                      <a:pt x="382" y="1642"/>
                      <a:pt x="382" y="1642"/>
                      <a:pt x="382" y="1642"/>
                    </a:cubicBezTo>
                    <a:cubicBezTo>
                      <a:pt x="455" y="1642"/>
                      <a:pt x="455" y="1642"/>
                      <a:pt x="455" y="1642"/>
                    </a:cubicBezTo>
                    <a:cubicBezTo>
                      <a:pt x="477" y="1642"/>
                      <a:pt x="498" y="1623"/>
                      <a:pt x="501" y="1601"/>
                    </a:cubicBezTo>
                    <a:cubicBezTo>
                      <a:pt x="600" y="833"/>
                      <a:pt x="600" y="833"/>
                      <a:pt x="600" y="833"/>
                    </a:cubicBezTo>
                    <a:cubicBezTo>
                      <a:pt x="600" y="833"/>
                      <a:pt x="625" y="827"/>
                      <a:pt x="647" y="815"/>
                    </a:cubicBezTo>
                    <a:cubicBezTo>
                      <a:pt x="689" y="790"/>
                      <a:pt x="722" y="739"/>
                      <a:pt x="717" y="683"/>
                    </a:cubicBezTo>
                    <a:moveTo>
                      <a:pt x="161" y="400"/>
                    </a:moveTo>
                    <a:cubicBezTo>
                      <a:pt x="561" y="400"/>
                      <a:pt x="561" y="400"/>
                      <a:pt x="561" y="400"/>
                    </a:cubicBezTo>
                    <a:cubicBezTo>
                      <a:pt x="561" y="522"/>
                      <a:pt x="561" y="522"/>
                      <a:pt x="561" y="522"/>
                    </a:cubicBezTo>
                    <a:cubicBezTo>
                      <a:pt x="161" y="522"/>
                      <a:pt x="161" y="522"/>
                      <a:pt x="161" y="522"/>
                    </a:cubicBezTo>
                    <a:lnTo>
                      <a:pt x="161" y="400"/>
                    </a:lnTo>
                    <a:close/>
                    <a:moveTo>
                      <a:pt x="122" y="790"/>
                    </a:moveTo>
                    <a:cubicBezTo>
                      <a:pt x="93" y="780"/>
                      <a:pt x="77" y="765"/>
                      <a:pt x="71" y="759"/>
                    </a:cubicBezTo>
                    <a:cubicBezTo>
                      <a:pt x="57" y="746"/>
                      <a:pt x="43" y="721"/>
                      <a:pt x="46" y="688"/>
                    </a:cubicBezTo>
                    <a:cubicBezTo>
                      <a:pt x="55" y="602"/>
                      <a:pt x="55" y="602"/>
                      <a:pt x="55" y="602"/>
                    </a:cubicBezTo>
                    <a:cubicBezTo>
                      <a:pt x="123" y="602"/>
                      <a:pt x="123" y="602"/>
                      <a:pt x="123" y="602"/>
                    </a:cubicBezTo>
                    <a:lnTo>
                      <a:pt x="122" y="790"/>
                    </a:lnTo>
                    <a:close/>
                    <a:moveTo>
                      <a:pt x="652" y="759"/>
                    </a:moveTo>
                    <a:cubicBezTo>
                      <a:pt x="646" y="765"/>
                      <a:pt x="629" y="780"/>
                      <a:pt x="600" y="790"/>
                    </a:cubicBezTo>
                    <a:cubicBezTo>
                      <a:pt x="600" y="602"/>
                      <a:pt x="600" y="602"/>
                      <a:pt x="600" y="602"/>
                    </a:cubicBezTo>
                    <a:cubicBezTo>
                      <a:pt x="668" y="602"/>
                      <a:pt x="668" y="602"/>
                      <a:pt x="668" y="602"/>
                    </a:cubicBezTo>
                    <a:cubicBezTo>
                      <a:pt x="677" y="688"/>
                      <a:pt x="677" y="688"/>
                      <a:pt x="677" y="688"/>
                    </a:cubicBezTo>
                    <a:cubicBezTo>
                      <a:pt x="680" y="721"/>
                      <a:pt x="665" y="746"/>
                      <a:pt x="652" y="75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17" name="Group 287">
              <a:extLst>
                <a:ext uri="{FF2B5EF4-FFF2-40B4-BE49-F238E27FC236}">
                  <a16:creationId xmlns:a16="http://schemas.microsoft.com/office/drawing/2014/main" id="{92A54EB1-90F4-4A82-B178-F84881CC86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95800" y="2696479"/>
              <a:ext cx="268246" cy="793876"/>
              <a:chOff x="1738" y="919"/>
              <a:chExt cx="1104" cy="3363"/>
            </a:xfrm>
            <a:solidFill>
              <a:schemeClr val="bg2"/>
            </a:solidFill>
          </p:grpSpPr>
          <p:sp>
            <p:nvSpPr>
              <p:cNvPr id="18" name="Freeform 290">
                <a:extLst>
                  <a:ext uri="{FF2B5EF4-FFF2-40B4-BE49-F238E27FC236}">
                    <a16:creationId xmlns:a16="http://schemas.microsoft.com/office/drawing/2014/main" id="{934A5FFB-4588-4272-A94E-750A63FE61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3" y="919"/>
                <a:ext cx="755" cy="879"/>
              </a:xfrm>
              <a:custGeom>
                <a:avLst/>
                <a:gdLst>
                  <a:gd name="T0" fmla="*/ 30 w 494"/>
                  <a:gd name="T1" fmla="*/ 284 h 575"/>
                  <a:gd name="T2" fmla="*/ 23 w 494"/>
                  <a:gd name="T3" fmla="*/ 315 h 575"/>
                  <a:gd name="T4" fmla="*/ 39 w 494"/>
                  <a:gd name="T5" fmla="*/ 342 h 575"/>
                  <a:gd name="T6" fmla="*/ 38 w 494"/>
                  <a:gd name="T7" fmla="*/ 357 h 575"/>
                  <a:gd name="T8" fmla="*/ 65 w 494"/>
                  <a:gd name="T9" fmla="*/ 385 h 575"/>
                  <a:gd name="T10" fmla="*/ 65 w 494"/>
                  <a:gd name="T11" fmla="*/ 392 h 575"/>
                  <a:gd name="T12" fmla="*/ 249 w 494"/>
                  <a:gd name="T13" fmla="*/ 575 h 575"/>
                  <a:gd name="T14" fmla="*/ 432 w 494"/>
                  <a:gd name="T15" fmla="*/ 394 h 575"/>
                  <a:gd name="T16" fmla="*/ 446 w 494"/>
                  <a:gd name="T17" fmla="*/ 367 h 575"/>
                  <a:gd name="T18" fmla="*/ 445 w 494"/>
                  <a:gd name="T19" fmla="*/ 363 h 575"/>
                  <a:gd name="T20" fmla="*/ 480 w 494"/>
                  <a:gd name="T21" fmla="*/ 329 h 575"/>
                  <a:gd name="T22" fmla="*/ 471 w 494"/>
                  <a:gd name="T23" fmla="*/ 298 h 575"/>
                  <a:gd name="T24" fmla="*/ 480 w 494"/>
                  <a:gd name="T25" fmla="*/ 274 h 575"/>
                  <a:gd name="T26" fmla="*/ 469 w 494"/>
                  <a:gd name="T27" fmla="*/ 220 h 575"/>
                  <a:gd name="T28" fmla="*/ 485 w 494"/>
                  <a:gd name="T29" fmla="*/ 182 h 575"/>
                  <a:gd name="T30" fmla="*/ 430 w 494"/>
                  <a:gd name="T31" fmla="*/ 97 h 575"/>
                  <a:gd name="T32" fmla="*/ 415 w 494"/>
                  <a:gd name="T33" fmla="*/ 99 h 575"/>
                  <a:gd name="T34" fmla="*/ 361 w 494"/>
                  <a:gd name="T35" fmla="*/ 59 h 575"/>
                  <a:gd name="T36" fmla="*/ 345 w 494"/>
                  <a:gd name="T37" fmla="*/ 61 h 575"/>
                  <a:gd name="T38" fmla="*/ 279 w 494"/>
                  <a:gd name="T39" fmla="*/ 0 h 575"/>
                  <a:gd name="T40" fmla="*/ 216 w 494"/>
                  <a:gd name="T41" fmla="*/ 47 h 575"/>
                  <a:gd name="T42" fmla="*/ 157 w 494"/>
                  <a:gd name="T43" fmla="*/ 17 h 575"/>
                  <a:gd name="T44" fmla="*/ 87 w 494"/>
                  <a:gd name="T45" fmla="*/ 98 h 575"/>
                  <a:gd name="T46" fmla="*/ 82 w 494"/>
                  <a:gd name="T47" fmla="*/ 97 h 575"/>
                  <a:gd name="T48" fmla="*/ 27 w 494"/>
                  <a:gd name="T49" fmla="*/ 182 h 575"/>
                  <a:gd name="T50" fmla="*/ 29 w 494"/>
                  <a:gd name="T51" fmla="*/ 190 h 575"/>
                  <a:gd name="T52" fmla="*/ 6 w 494"/>
                  <a:gd name="T53" fmla="*/ 245 h 575"/>
                  <a:gd name="T54" fmla="*/ 30 w 494"/>
                  <a:gd name="T55" fmla="*/ 284 h 575"/>
                  <a:gd name="T56" fmla="*/ 106 w 494"/>
                  <a:gd name="T57" fmla="*/ 303 h 575"/>
                  <a:gd name="T58" fmla="*/ 111 w 494"/>
                  <a:gd name="T59" fmla="*/ 277 h 575"/>
                  <a:gd name="T60" fmla="*/ 115 w 494"/>
                  <a:gd name="T61" fmla="*/ 256 h 575"/>
                  <a:gd name="T62" fmla="*/ 158 w 494"/>
                  <a:gd name="T63" fmla="*/ 210 h 575"/>
                  <a:gd name="T64" fmla="*/ 171 w 494"/>
                  <a:gd name="T65" fmla="*/ 211 h 575"/>
                  <a:gd name="T66" fmla="*/ 233 w 494"/>
                  <a:gd name="T67" fmla="*/ 164 h 575"/>
                  <a:gd name="T68" fmla="*/ 275 w 494"/>
                  <a:gd name="T69" fmla="*/ 182 h 575"/>
                  <a:gd name="T70" fmla="*/ 292 w 494"/>
                  <a:gd name="T71" fmla="*/ 179 h 575"/>
                  <a:gd name="T72" fmla="*/ 347 w 494"/>
                  <a:gd name="T73" fmla="*/ 222 h 575"/>
                  <a:gd name="T74" fmla="*/ 358 w 494"/>
                  <a:gd name="T75" fmla="*/ 220 h 575"/>
                  <a:gd name="T76" fmla="*/ 387 w 494"/>
                  <a:gd name="T77" fmla="*/ 252 h 575"/>
                  <a:gd name="T78" fmla="*/ 392 w 494"/>
                  <a:gd name="T79" fmla="*/ 287 h 575"/>
                  <a:gd name="T80" fmla="*/ 392 w 494"/>
                  <a:gd name="T81" fmla="*/ 392 h 575"/>
                  <a:gd name="T82" fmla="*/ 249 w 494"/>
                  <a:gd name="T83" fmla="*/ 535 h 575"/>
                  <a:gd name="T84" fmla="*/ 106 w 494"/>
                  <a:gd name="T85" fmla="*/ 392 h 575"/>
                  <a:gd name="T86" fmla="*/ 106 w 494"/>
                  <a:gd name="T87" fmla="*/ 303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94" h="575">
                    <a:moveTo>
                      <a:pt x="30" y="284"/>
                    </a:moveTo>
                    <a:cubicBezTo>
                      <a:pt x="23" y="292"/>
                      <a:pt x="21" y="303"/>
                      <a:pt x="23" y="315"/>
                    </a:cubicBezTo>
                    <a:cubicBezTo>
                      <a:pt x="25" y="326"/>
                      <a:pt x="31" y="335"/>
                      <a:pt x="39" y="342"/>
                    </a:cubicBezTo>
                    <a:cubicBezTo>
                      <a:pt x="38" y="346"/>
                      <a:pt x="37" y="352"/>
                      <a:pt x="38" y="357"/>
                    </a:cubicBezTo>
                    <a:cubicBezTo>
                      <a:pt x="41" y="371"/>
                      <a:pt x="52" y="382"/>
                      <a:pt x="65" y="385"/>
                    </a:cubicBezTo>
                    <a:cubicBezTo>
                      <a:pt x="65" y="392"/>
                      <a:pt x="65" y="392"/>
                      <a:pt x="65" y="392"/>
                    </a:cubicBezTo>
                    <a:cubicBezTo>
                      <a:pt x="65" y="493"/>
                      <a:pt x="147" y="575"/>
                      <a:pt x="249" y="575"/>
                    </a:cubicBezTo>
                    <a:cubicBezTo>
                      <a:pt x="349" y="575"/>
                      <a:pt x="431" y="495"/>
                      <a:pt x="432" y="394"/>
                    </a:cubicBezTo>
                    <a:cubicBezTo>
                      <a:pt x="440" y="390"/>
                      <a:pt x="446" y="380"/>
                      <a:pt x="446" y="367"/>
                    </a:cubicBezTo>
                    <a:cubicBezTo>
                      <a:pt x="446" y="366"/>
                      <a:pt x="446" y="364"/>
                      <a:pt x="445" y="363"/>
                    </a:cubicBezTo>
                    <a:cubicBezTo>
                      <a:pt x="461" y="360"/>
                      <a:pt x="476" y="346"/>
                      <a:pt x="480" y="329"/>
                    </a:cubicBezTo>
                    <a:cubicBezTo>
                      <a:pt x="483" y="316"/>
                      <a:pt x="479" y="305"/>
                      <a:pt x="471" y="298"/>
                    </a:cubicBezTo>
                    <a:cubicBezTo>
                      <a:pt x="475" y="291"/>
                      <a:pt x="478" y="283"/>
                      <a:pt x="480" y="274"/>
                    </a:cubicBezTo>
                    <a:cubicBezTo>
                      <a:pt x="485" y="253"/>
                      <a:pt x="480" y="234"/>
                      <a:pt x="469" y="220"/>
                    </a:cubicBezTo>
                    <a:cubicBezTo>
                      <a:pt x="476" y="209"/>
                      <a:pt x="482" y="196"/>
                      <a:pt x="485" y="182"/>
                    </a:cubicBezTo>
                    <a:cubicBezTo>
                      <a:pt x="494" y="137"/>
                      <a:pt x="469" y="97"/>
                      <a:pt x="430" y="97"/>
                    </a:cubicBezTo>
                    <a:cubicBezTo>
                      <a:pt x="425" y="97"/>
                      <a:pt x="420" y="98"/>
                      <a:pt x="415" y="99"/>
                    </a:cubicBezTo>
                    <a:cubicBezTo>
                      <a:pt x="406" y="75"/>
                      <a:pt x="386" y="59"/>
                      <a:pt x="361" y="59"/>
                    </a:cubicBezTo>
                    <a:cubicBezTo>
                      <a:pt x="355" y="59"/>
                      <a:pt x="350" y="60"/>
                      <a:pt x="345" y="61"/>
                    </a:cubicBezTo>
                    <a:cubicBezTo>
                      <a:pt x="336" y="26"/>
                      <a:pt x="311" y="0"/>
                      <a:pt x="279" y="0"/>
                    </a:cubicBezTo>
                    <a:cubicBezTo>
                      <a:pt x="251" y="0"/>
                      <a:pt x="228" y="19"/>
                      <a:pt x="216" y="47"/>
                    </a:cubicBezTo>
                    <a:cubicBezTo>
                      <a:pt x="201" y="29"/>
                      <a:pt x="180" y="17"/>
                      <a:pt x="157" y="17"/>
                    </a:cubicBezTo>
                    <a:cubicBezTo>
                      <a:pt x="118" y="17"/>
                      <a:pt x="90" y="53"/>
                      <a:pt x="87" y="98"/>
                    </a:cubicBezTo>
                    <a:cubicBezTo>
                      <a:pt x="86" y="98"/>
                      <a:pt x="84" y="97"/>
                      <a:pt x="82" y="97"/>
                    </a:cubicBezTo>
                    <a:cubicBezTo>
                      <a:pt x="43" y="97"/>
                      <a:pt x="19" y="137"/>
                      <a:pt x="27" y="182"/>
                    </a:cubicBezTo>
                    <a:cubicBezTo>
                      <a:pt x="28" y="185"/>
                      <a:pt x="29" y="187"/>
                      <a:pt x="29" y="190"/>
                    </a:cubicBezTo>
                    <a:cubicBezTo>
                      <a:pt x="10" y="198"/>
                      <a:pt x="0" y="220"/>
                      <a:pt x="6" y="245"/>
                    </a:cubicBezTo>
                    <a:cubicBezTo>
                      <a:pt x="9" y="261"/>
                      <a:pt x="18" y="275"/>
                      <a:pt x="30" y="284"/>
                    </a:cubicBezTo>
                    <a:moveTo>
                      <a:pt x="106" y="303"/>
                    </a:moveTo>
                    <a:cubicBezTo>
                      <a:pt x="106" y="294"/>
                      <a:pt x="108" y="285"/>
                      <a:pt x="111" y="277"/>
                    </a:cubicBezTo>
                    <a:cubicBezTo>
                      <a:pt x="112" y="270"/>
                      <a:pt x="113" y="263"/>
                      <a:pt x="115" y="256"/>
                    </a:cubicBezTo>
                    <a:cubicBezTo>
                      <a:pt x="136" y="251"/>
                      <a:pt x="152" y="234"/>
                      <a:pt x="158" y="210"/>
                    </a:cubicBezTo>
                    <a:cubicBezTo>
                      <a:pt x="162" y="211"/>
                      <a:pt x="166" y="211"/>
                      <a:pt x="171" y="211"/>
                    </a:cubicBezTo>
                    <a:cubicBezTo>
                      <a:pt x="198" y="211"/>
                      <a:pt x="222" y="193"/>
                      <a:pt x="233" y="164"/>
                    </a:cubicBezTo>
                    <a:cubicBezTo>
                      <a:pt x="245" y="175"/>
                      <a:pt x="260" y="182"/>
                      <a:pt x="275" y="182"/>
                    </a:cubicBezTo>
                    <a:cubicBezTo>
                      <a:pt x="281" y="182"/>
                      <a:pt x="287" y="181"/>
                      <a:pt x="292" y="179"/>
                    </a:cubicBezTo>
                    <a:cubicBezTo>
                      <a:pt x="302" y="205"/>
                      <a:pt x="323" y="222"/>
                      <a:pt x="347" y="222"/>
                    </a:cubicBezTo>
                    <a:cubicBezTo>
                      <a:pt x="351" y="222"/>
                      <a:pt x="354" y="221"/>
                      <a:pt x="358" y="220"/>
                    </a:cubicBezTo>
                    <a:cubicBezTo>
                      <a:pt x="364" y="235"/>
                      <a:pt x="374" y="246"/>
                      <a:pt x="387" y="252"/>
                    </a:cubicBezTo>
                    <a:cubicBezTo>
                      <a:pt x="390" y="263"/>
                      <a:pt x="392" y="275"/>
                      <a:pt x="392" y="287"/>
                    </a:cubicBezTo>
                    <a:cubicBezTo>
                      <a:pt x="392" y="392"/>
                      <a:pt x="392" y="392"/>
                      <a:pt x="392" y="392"/>
                    </a:cubicBezTo>
                    <a:cubicBezTo>
                      <a:pt x="392" y="471"/>
                      <a:pt x="328" y="535"/>
                      <a:pt x="249" y="535"/>
                    </a:cubicBezTo>
                    <a:cubicBezTo>
                      <a:pt x="170" y="535"/>
                      <a:pt x="106" y="471"/>
                      <a:pt x="106" y="392"/>
                    </a:cubicBezTo>
                    <a:lnTo>
                      <a:pt x="106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" name="Freeform 291">
                <a:extLst>
                  <a:ext uri="{FF2B5EF4-FFF2-40B4-BE49-F238E27FC236}">
                    <a16:creationId xmlns:a16="http://schemas.microsoft.com/office/drawing/2014/main" id="{DC2F5739-DDD1-4833-82DF-5CECB7CA3B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38" y="1772"/>
                <a:ext cx="1104" cy="2510"/>
              </a:xfrm>
              <a:custGeom>
                <a:avLst/>
                <a:gdLst>
                  <a:gd name="T0" fmla="*/ 717 w 722"/>
                  <a:gd name="T1" fmla="*/ 683 h 1642"/>
                  <a:gd name="T2" fmla="*/ 657 w 722"/>
                  <a:gd name="T3" fmla="*/ 113 h 1642"/>
                  <a:gd name="T4" fmla="*/ 616 w 722"/>
                  <a:gd name="T5" fmla="*/ 56 h 1642"/>
                  <a:gd name="T6" fmla="*/ 499 w 722"/>
                  <a:gd name="T7" fmla="*/ 1 h 1642"/>
                  <a:gd name="T8" fmla="*/ 499 w 722"/>
                  <a:gd name="T9" fmla="*/ 83 h 1642"/>
                  <a:gd name="T10" fmla="*/ 490 w 722"/>
                  <a:gd name="T11" fmla="*/ 100 h 1642"/>
                  <a:gd name="T12" fmla="*/ 478 w 722"/>
                  <a:gd name="T13" fmla="*/ 103 h 1642"/>
                  <a:gd name="T14" fmla="*/ 471 w 722"/>
                  <a:gd name="T15" fmla="*/ 102 h 1642"/>
                  <a:gd name="T16" fmla="*/ 421 w 722"/>
                  <a:gd name="T17" fmla="*/ 83 h 1642"/>
                  <a:gd name="T18" fmla="*/ 383 w 722"/>
                  <a:gd name="T19" fmla="*/ 212 h 1642"/>
                  <a:gd name="T20" fmla="*/ 364 w 722"/>
                  <a:gd name="T21" fmla="*/ 226 h 1642"/>
                  <a:gd name="T22" fmla="*/ 364 w 722"/>
                  <a:gd name="T23" fmla="*/ 226 h 1642"/>
                  <a:gd name="T24" fmla="*/ 344 w 722"/>
                  <a:gd name="T25" fmla="*/ 212 h 1642"/>
                  <a:gd name="T26" fmla="*/ 304 w 722"/>
                  <a:gd name="T27" fmla="*/ 82 h 1642"/>
                  <a:gd name="T28" fmla="*/ 251 w 722"/>
                  <a:gd name="T29" fmla="*/ 102 h 1642"/>
                  <a:gd name="T30" fmla="*/ 244 w 722"/>
                  <a:gd name="T31" fmla="*/ 103 h 1642"/>
                  <a:gd name="T32" fmla="*/ 233 w 722"/>
                  <a:gd name="T33" fmla="*/ 100 h 1642"/>
                  <a:gd name="T34" fmla="*/ 224 w 722"/>
                  <a:gd name="T35" fmla="*/ 83 h 1642"/>
                  <a:gd name="T36" fmla="*/ 224 w 722"/>
                  <a:gd name="T37" fmla="*/ 0 h 1642"/>
                  <a:gd name="T38" fmla="*/ 224 w 722"/>
                  <a:gd name="T39" fmla="*/ 0 h 1642"/>
                  <a:gd name="T40" fmla="*/ 106 w 722"/>
                  <a:gd name="T41" fmla="*/ 56 h 1642"/>
                  <a:gd name="T42" fmla="*/ 65 w 722"/>
                  <a:gd name="T43" fmla="*/ 113 h 1642"/>
                  <a:gd name="T44" fmla="*/ 5 w 722"/>
                  <a:gd name="T45" fmla="*/ 683 h 1642"/>
                  <a:gd name="T46" fmla="*/ 76 w 722"/>
                  <a:gd name="T47" fmla="*/ 815 h 1642"/>
                  <a:gd name="T48" fmla="*/ 122 w 722"/>
                  <a:gd name="T49" fmla="*/ 833 h 1642"/>
                  <a:gd name="T50" fmla="*/ 221 w 722"/>
                  <a:gd name="T51" fmla="*/ 1601 h 1642"/>
                  <a:gd name="T52" fmla="*/ 268 w 722"/>
                  <a:gd name="T53" fmla="*/ 1642 h 1642"/>
                  <a:gd name="T54" fmla="*/ 341 w 722"/>
                  <a:gd name="T55" fmla="*/ 1642 h 1642"/>
                  <a:gd name="T56" fmla="*/ 341 w 722"/>
                  <a:gd name="T57" fmla="*/ 856 h 1642"/>
                  <a:gd name="T58" fmla="*/ 361 w 722"/>
                  <a:gd name="T59" fmla="*/ 856 h 1642"/>
                  <a:gd name="T60" fmla="*/ 361 w 722"/>
                  <a:gd name="T61" fmla="*/ 856 h 1642"/>
                  <a:gd name="T62" fmla="*/ 382 w 722"/>
                  <a:gd name="T63" fmla="*/ 856 h 1642"/>
                  <a:gd name="T64" fmla="*/ 382 w 722"/>
                  <a:gd name="T65" fmla="*/ 1642 h 1642"/>
                  <a:gd name="T66" fmla="*/ 455 w 722"/>
                  <a:gd name="T67" fmla="*/ 1642 h 1642"/>
                  <a:gd name="T68" fmla="*/ 501 w 722"/>
                  <a:gd name="T69" fmla="*/ 1601 h 1642"/>
                  <a:gd name="T70" fmla="*/ 600 w 722"/>
                  <a:gd name="T71" fmla="*/ 833 h 1642"/>
                  <a:gd name="T72" fmla="*/ 647 w 722"/>
                  <a:gd name="T73" fmla="*/ 815 h 1642"/>
                  <a:gd name="T74" fmla="*/ 717 w 722"/>
                  <a:gd name="T75" fmla="*/ 683 h 1642"/>
                  <a:gd name="T76" fmla="*/ 161 w 722"/>
                  <a:gd name="T77" fmla="*/ 400 h 1642"/>
                  <a:gd name="T78" fmla="*/ 561 w 722"/>
                  <a:gd name="T79" fmla="*/ 400 h 1642"/>
                  <a:gd name="T80" fmla="*/ 561 w 722"/>
                  <a:gd name="T81" fmla="*/ 522 h 1642"/>
                  <a:gd name="T82" fmla="*/ 161 w 722"/>
                  <a:gd name="T83" fmla="*/ 522 h 1642"/>
                  <a:gd name="T84" fmla="*/ 161 w 722"/>
                  <a:gd name="T85" fmla="*/ 400 h 1642"/>
                  <a:gd name="T86" fmla="*/ 122 w 722"/>
                  <a:gd name="T87" fmla="*/ 790 h 1642"/>
                  <a:gd name="T88" fmla="*/ 71 w 722"/>
                  <a:gd name="T89" fmla="*/ 759 h 1642"/>
                  <a:gd name="T90" fmla="*/ 46 w 722"/>
                  <a:gd name="T91" fmla="*/ 688 h 1642"/>
                  <a:gd name="T92" fmla="*/ 55 w 722"/>
                  <a:gd name="T93" fmla="*/ 602 h 1642"/>
                  <a:gd name="T94" fmla="*/ 123 w 722"/>
                  <a:gd name="T95" fmla="*/ 602 h 1642"/>
                  <a:gd name="T96" fmla="*/ 122 w 722"/>
                  <a:gd name="T97" fmla="*/ 790 h 1642"/>
                  <a:gd name="T98" fmla="*/ 652 w 722"/>
                  <a:gd name="T99" fmla="*/ 759 h 1642"/>
                  <a:gd name="T100" fmla="*/ 600 w 722"/>
                  <a:gd name="T101" fmla="*/ 790 h 1642"/>
                  <a:gd name="T102" fmla="*/ 600 w 722"/>
                  <a:gd name="T103" fmla="*/ 602 h 1642"/>
                  <a:gd name="T104" fmla="*/ 668 w 722"/>
                  <a:gd name="T105" fmla="*/ 602 h 1642"/>
                  <a:gd name="T106" fmla="*/ 677 w 722"/>
                  <a:gd name="T107" fmla="*/ 688 h 1642"/>
                  <a:gd name="T108" fmla="*/ 652 w 722"/>
                  <a:gd name="T109" fmla="*/ 759 h 1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2" h="1642">
                    <a:moveTo>
                      <a:pt x="717" y="683"/>
                    </a:moveTo>
                    <a:cubicBezTo>
                      <a:pt x="657" y="113"/>
                      <a:pt x="657" y="113"/>
                      <a:pt x="657" y="113"/>
                    </a:cubicBezTo>
                    <a:cubicBezTo>
                      <a:pt x="653" y="79"/>
                      <a:pt x="636" y="65"/>
                      <a:pt x="616" y="56"/>
                    </a:cubicBezTo>
                    <a:cubicBezTo>
                      <a:pt x="499" y="1"/>
                      <a:pt x="499" y="1"/>
                      <a:pt x="499" y="1"/>
                    </a:cubicBezTo>
                    <a:cubicBezTo>
                      <a:pt x="499" y="83"/>
                      <a:pt x="499" y="83"/>
                      <a:pt x="499" y="83"/>
                    </a:cubicBezTo>
                    <a:cubicBezTo>
                      <a:pt x="499" y="90"/>
                      <a:pt x="495" y="96"/>
                      <a:pt x="490" y="100"/>
                    </a:cubicBezTo>
                    <a:cubicBezTo>
                      <a:pt x="487" y="102"/>
                      <a:pt x="482" y="103"/>
                      <a:pt x="478" y="103"/>
                    </a:cubicBezTo>
                    <a:cubicBezTo>
                      <a:pt x="476" y="103"/>
                      <a:pt x="474" y="103"/>
                      <a:pt x="471" y="102"/>
                    </a:cubicBezTo>
                    <a:cubicBezTo>
                      <a:pt x="421" y="83"/>
                      <a:pt x="421" y="83"/>
                      <a:pt x="421" y="83"/>
                    </a:cubicBezTo>
                    <a:cubicBezTo>
                      <a:pt x="383" y="212"/>
                      <a:pt x="383" y="212"/>
                      <a:pt x="383" y="212"/>
                    </a:cubicBezTo>
                    <a:cubicBezTo>
                      <a:pt x="381" y="220"/>
                      <a:pt x="373" y="226"/>
                      <a:pt x="364" y="226"/>
                    </a:cubicBezTo>
                    <a:cubicBezTo>
                      <a:pt x="364" y="226"/>
                      <a:pt x="364" y="226"/>
                      <a:pt x="364" y="226"/>
                    </a:cubicBezTo>
                    <a:cubicBezTo>
                      <a:pt x="355" y="226"/>
                      <a:pt x="347" y="220"/>
                      <a:pt x="344" y="212"/>
                    </a:cubicBezTo>
                    <a:cubicBezTo>
                      <a:pt x="304" y="82"/>
                      <a:pt x="304" y="82"/>
                      <a:pt x="304" y="82"/>
                    </a:cubicBezTo>
                    <a:cubicBezTo>
                      <a:pt x="251" y="102"/>
                      <a:pt x="251" y="102"/>
                      <a:pt x="251" y="102"/>
                    </a:cubicBezTo>
                    <a:cubicBezTo>
                      <a:pt x="249" y="103"/>
                      <a:pt x="247" y="103"/>
                      <a:pt x="244" y="103"/>
                    </a:cubicBezTo>
                    <a:cubicBezTo>
                      <a:pt x="240" y="103"/>
                      <a:pt x="236" y="102"/>
                      <a:pt x="233" y="100"/>
                    </a:cubicBezTo>
                    <a:cubicBezTo>
                      <a:pt x="227" y="96"/>
                      <a:pt x="224" y="90"/>
                      <a:pt x="224" y="83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86" y="65"/>
                      <a:pt x="68" y="81"/>
                      <a:pt x="65" y="113"/>
                    </a:cubicBezTo>
                    <a:cubicBezTo>
                      <a:pt x="5" y="683"/>
                      <a:pt x="5" y="683"/>
                      <a:pt x="5" y="683"/>
                    </a:cubicBezTo>
                    <a:cubicBezTo>
                      <a:pt x="0" y="739"/>
                      <a:pt x="34" y="790"/>
                      <a:pt x="76" y="815"/>
                    </a:cubicBezTo>
                    <a:cubicBezTo>
                      <a:pt x="97" y="827"/>
                      <a:pt x="122" y="833"/>
                      <a:pt x="122" y="833"/>
                    </a:cubicBezTo>
                    <a:cubicBezTo>
                      <a:pt x="221" y="1601"/>
                      <a:pt x="221" y="1601"/>
                      <a:pt x="221" y="1601"/>
                    </a:cubicBezTo>
                    <a:cubicBezTo>
                      <a:pt x="224" y="1623"/>
                      <a:pt x="245" y="1642"/>
                      <a:pt x="268" y="1642"/>
                    </a:cubicBezTo>
                    <a:cubicBezTo>
                      <a:pt x="341" y="1642"/>
                      <a:pt x="341" y="1642"/>
                      <a:pt x="341" y="1642"/>
                    </a:cubicBezTo>
                    <a:cubicBezTo>
                      <a:pt x="341" y="856"/>
                      <a:pt x="341" y="856"/>
                      <a:pt x="34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82" y="856"/>
                      <a:pt x="382" y="856"/>
                      <a:pt x="382" y="856"/>
                    </a:cubicBezTo>
                    <a:cubicBezTo>
                      <a:pt x="382" y="1642"/>
                      <a:pt x="382" y="1642"/>
                      <a:pt x="382" y="1642"/>
                    </a:cubicBezTo>
                    <a:cubicBezTo>
                      <a:pt x="455" y="1642"/>
                      <a:pt x="455" y="1642"/>
                      <a:pt x="455" y="1642"/>
                    </a:cubicBezTo>
                    <a:cubicBezTo>
                      <a:pt x="477" y="1642"/>
                      <a:pt x="498" y="1623"/>
                      <a:pt x="501" y="1601"/>
                    </a:cubicBezTo>
                    <a:cubicBezTo>
                      <a:pt x="600" y="833"/>
                      <a:pt x="600" y="833"/>
                      <a:pt x="600" y="833"/>
                    </a:cubicBezTo>
                    <a:cubicBezTo>
                      <a:pt x="600" y="833"/>
                      <a:pt x="625" y="827"/>
                      <a:pt x="647" y="815"/>
                    </a:cubicBezTo>
                    <a:cubicBezTo>
                      <a:pt x="689" y="790"/>
                      <a:pt x="722" y="739"/>
                      <a:pt x="717" y="683"/>
                    </a:cubicBezTo>
                    <a:moveTo>
                      <a:pt x="161" y="400"/>
                    </a:moveTo>
                    <a:cubicBezTo>
                      <a:pt x="561" y="400"/>
                      <a:pt x="561" y="400"/>
                      <a:pt x="561" y="400"/>
                    </a:cubicBezTo>
                    <a:cubicBezTo>
                      <a:pt x="561" y="522"/>
                      <a:pt x="561" y="522"/>
                      <a:pt x="561" y="522"/>
                    </a:cubicBezTo>
                    <a:cubicBezTo>
                      <a:pt x="161" y="522"/>
                      <a:pt x="161" y="522"/>
                      <a:pt x="161" y="522"/>
                    </a:cubicBezTo>
                    <a:lnTo>
                      <a:pt x="161" y="400"/>
                    </a:lnTo>
                    <a:close/>
                    <a:moveTo>
                      <a:pt x="122" y="790"/>
                    </a:moveTo>
                    <a:cubicBezTo>
                      <a:pt x="93" y="780"/>
                      <a:pt x="77" y="765"/>
                      <a:pt x="71" y="759"/>
                    </a:cubicBezTo>
                    <a:cubicBezTo>
                      <a:pt x="57" y="746"/>
                      <a:pt x="43" y="721"/>
                      <a:pt x="46" y="688"/>
                    </a:cubicBezTo>
                    <a:cubicBezTo>
                      <a:pt x="55" y="602"/>
                      <a:pt x="55" y="602"/>
                      <a:pt x="55" y="602"/>
                    </a:cubicBezTo>
                    <a:cubicBezTo>
                      <a:pt x="123" y="602"/>
                      <a:pt x="123" y="602"/>
                      <a:pt x="123" y="602"/>
                    </a:cubicBezTo>
                    <a:lnTo>
                      <a:pt x="122" y="790"/>
                    </a:lnTo>
                    <a:close/>
                    <a:moveTo>
                      <a:pt x="652" y="759"/>
                    </a:moveTo>
                    <a:cubicBezTo>
                      <a:pt x="646" y="765"/>
                      <a:pt x="629" y="780"/>
                      <a:pt x="600" y="790"/>
                    </a:cubicBezTo>
                    <a:cubicBezTo>
                      <a:pt x="600" y="602"/>
                      <a:pt x="600" y="602"/>
                      <a:pt x="600" y="602"/>
                    </a:cubicBezTo>
                    <a:cubicBezTo>
                      <a:pt x="668" y="602"/>
                      <a:pt x="668" y="602"/>
                      <a:pt x="668" y="602"/>
                    </a:cubicBezTo>
                    <a:cubicBezTo>
                      <a:pt x="677" y="688"/>
                      <a:pt x="677" y="688"/>
                      <a:pt x="677" y="688"/>
                    </a:cubicBezTo>
                    <a:cubicBezTo>
                      <a:pt x="680" y="721"/>
                      <a:pt x="665" y="746"/>
                      <a:pt x="652" y="75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3" name="Group 287">
              <a:extLst>
                <a:ext uri="{FF2B5EF4-FFF2-40B4-BE49-F238E27FC236}">
                  <a16:creationId xmlns:a16="http://schemas.microsoft.com/office/drawing/2014/main" id="{1527BB9D-A389-4DF5-B9F8-D8B33A7C54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12511" y="2738094"/>
              <a:ext cx="268246" cy="793876"/>
              <a:chOff x="1738" y="919"/>
              <a:chExt cx="1104" cy="3363"/>
            </a:xfrm>
            <a:solidFill>
              <a:schemeClr val="accent5"/>
            </a:solidFill>
          </p:grpSpPr>
          <p:sp>
            <p:nvSpPr>
              <p:cNvPr id="24" name="Freeform 290">
                <a:extLst>
                  <a:ext uri="{FF2B5EF4-FFF2-40B4-BE49-F238E27FC236}">
                    <a16:creationId xmlns:a16="http://schemas.microsoft.com/office/drawing/2014/main" id="{D593F45A-4641-40A5-96D8-E6A2ED5888B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3" y="919"/>
                <a:ext cx="755" cy="879"/>
              </a:xfrm>
              <a:custGeom>
                <a:avLst/>
                <a:gdLst>
                  <a:gd name="T0" fmla="*/ 30 w 494"/>
                  <a:gd name="T1" fmla="*/ 284 h 575"/>
                  <a:gd name="T2" fmla="*/ 23 w 494"/>
                  <a:gd name="T3" fmla="*/ 315 h 575"/>
                  <a:gd name="T4" fmla="*/ 39 w 494"/>
                  <a:gd name="T5" fmla="*/ 342 h 575"/>
                  <a:gd name="T6" fmla="*/ 38 w 494"/>
                  <a:gd name="T7" fmla="*/ 357 h 575"/>
                  <a:gd name="T8" fmla="*/ 65 w 494"/>
                  <a:gd name="T9" fmla="*/ 385 h 575"/>
                  <a:gd name="T10" fmla="*/ 65 w 494"/>
                  <a:gd name="T11" fmla="*/ 392 h 575"/>
                  <a:gd name="T12" fmla="*/ 249 w 494"/>
                  <a:gd name="T13" fmla="*/ 575 h 575"/>
                  <a:gd name="T14" fmla="*/ 432 w 494"/>
                  <a:gd name="T15" fmla="*/ 394 h 575"/>
                  <a:gd name="T16" fmla="*/ 446 w 494"/>
                  <a:gd name="T17" fmla="*/ 367 h 575"/>
                  <a:gd name="T18" fmla="*/ 445 w 494"/>
                  <a:gd name="T19" fmla="*/ 363 h 575"/>
                  <a:gd name="T20" fmla="*/ 480 w 494"/>
                  <a:gd name="T21" fmla="*/ 329 h 575"/>
                  <a:gd name="T22" fmla="*/ 471 w 494"/>
                  <a:gd name="T23" fmla="*/ 298 h 575"/>
                  <a:gd name="T24" fmla="*/ 480 w 494"/>
                  <a:gd name="T25" fmla="*/ 274 h 575"/>
                  <a:gd name="T26" fmla="*/ 469 w 494"/>
                  <a:gd name="T27" fmla="*/ 220 h 575"/>
                  <a:gd name="T28" fmla="*/ 485 w 494"/>
                  <a:gd name="T29" fmla="*/ 182 h 575"/>
                  <a:gd name="T30" fmla="*/ 430 w 494"/>
                  <a:gd name="T31" fmla="*/ 97 h 575"/>
                  <a:gd name="T32" fmla="*/ 415 w 494"/>
                  <a:gd name="T33" fmla="*/ 99 h 575"/>
                  <a:gd name="T34" fmla="*/ 361 w 494"/>
                  <a:gd name="T35" fmla="*/ 59 h 575"/>
                  <a:gd name="T36" fmla="*/ 345 w 494"/>
                  <a:gd name="T37" fmla="*/ 61 h 575"/>
                  <a:gd name="T38" fmla="*/ 279 w 494"/>
                  <a:gd name="T39" fmla="*/ 0 h 575"/>
                  <a:gd name="T40" fmla="*/ 216 w 494"/>
                  <a:gd name="T41" fmla="*/ 47 h 575"/>
                  <a:gd name="T42" fmla="*/ 157 w 494"/>
                  <a:gd name="T43" fmla="*/ 17 h 575"/>
                  <a:gd name="T44" fmla="*/ 87 w 494"/>
                  <a:gd name="T45" fmla="*/ 98 h 575"/>
                  <a:gd name="T46" fmla="*/ 82 w 494"/>
                  <a:gd name="T47" fmla="*/ 97 h 575"/>
                  <a:gd name="T48" fmla="*/ 27 w 494"/>
                  <a:gd name="T49" fmla="*/ 182 h 575"/>
                  <a:gd name="T50" fmla="*/ 29 w 494"/>
                  <a:gd name="T51" fmla="*/ 190 h 575"/>
                  <a:gd name="T52" fmla="*/ 6 w 494"/>
                  <a:gd name="T53" fmla="*/ 245 h 575"/>
                  <a:gd name="T54" fmla="*/ 30 w 494"/>
                  <a:gd name="T55" fmla="*/ 284 h 575"/>
                  <a:gd name="T56" fmla="*/ 106 w 494"/>
                  <a:gd name="T57" fmla="*/ 303 h 575"/>
                  <a:gd name="T58" fmla="*/ 111 w 494"/>
                  <a:gd name="T59" fmla="*/ 277 h 575"/>
                  <a:gd name="T60" fmla="*/ 115 w 494"/>
                  <a:gd name="T61" fmla="*/ 256 h 575"/>
                  <a:gd name="T62" fmla="*/ 158 w 494"/>
                  <a:gd name="T63" fmla="*/ 210 h 575"/>
                  <a:gd name="T64" fmla="*/ 171 w 494"/>
                  <a:gd name="T65" fmla="*/ 211 h 575"/>
                  <a:gd name="T66" fmla="*/ 233 w 494"/>
                  <a:gd name="T67" fmla="*/ 164 h 575"/>
                  <a:gd name="T68" fmla="*/ 275 w 494"/>
                  <a:gd name="T69" fmla="*/ 182 h 575"/>
                  <a:gd name="T70" fmla="*/ 292 w 494"/>
                  <a:gd name="T71" fmla="*/ 179 h 575"/>
                  <a:gd name="T72" fmla="*/ 347 w 494"/>
                  <a:gd name="T73" fmla="*/ 222 h 575"/>
                  <a:gd name="T74" fmla="*/ 358 w 494"/>
                  <a:gd name="T75" fmla="*/ 220 h 575"/>
                  <a:gd name="T76" fmla="*/ 387 w 494"/>
                  <a:gd name="T77" fmla="*/ 252 h 575"/>
                  <a:gd name="T78" fmla="*/ 392 w 494"/>
                  <a:gd name="T79" fmla="*/ 287 h 575"/>
                  <a:gd name="T80" fmla="*/ 392 w 494"/>
                  <a:gd name="T81" fmla="*/ 392 h 575"/>
                  <a:gd name="T82" fmla="*/ 249 w 494"/>
                  <a:gd name="T83" fmla="*/ 535 h 575"/>
                  <a:gd name="T84" fmla="*/ 106 w 494"/>
                  <a:gd name="T85" fmla="*/ 392 h 575"/>
                  <a:gd name="T86" fmla="*/ 106 w 494"/>
                  <a:gd name="T87" fmla="*/ 303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94" h="575">
                    <a:moveTo>
                      <a:pt x="30" y="284"/>
                    </a:moveTo>
                    <a:cubicBezTo>
                      <a:pt x="23" y="292"/>
                      <a:pt x="21" y="303"/>
                      <a:pt x="23" y="315"/>
                    </a:cubicBezTo>
                    <a:cubicBezTo>
                      <a:pt x="25" y="326"/>
                      <a:pt x="31" y="335"/>
                      <a:pt x="39" y="342"/>
                    </a:cubicBezTo>
                    <a:cubicBezTo>
                      <a:pt x="38" y="346"/>
                      <a:pt x="37" y="352"/>
                      <a:pt x="38" y="357"/>
                    </a:cubicBezTo>
                    <a:cubicBezTo>
                      <a:pt x="41" y="371"/>
                      <a:pt x="52" y="382"/>
                      <a:pt x="65" y="385"/>
                    </a:cubicBezTo>
                    <a:cubicBezTo>
                      <a:pt x="65" y="392"/>
                      <a:pt x="65" y="392"/>
                      <a:pt x="65" y="392"/>
                    </a:cubicBezTo>
                    <a:cubicBezTo>
                      <a:pt x="65" y="493"/>
                      <a:pt x="147" y="575"/>
                      <a:pt x="249" y="575"/>
                    </a:cubicBezTo>
                    <a:cubicBezTo>
                      <a:pt x="349" y="575"/>
                      <a:pt x="431" y="495"/>
                      <a:pt x="432" y="394"/>
                    </a:cubicBezTo>
                    <a:cubicBezTo>
                      <a:pt x="440" y="390"/>
                      <a:pt x="446" y="380"/>
                      <a:pt x="446" y="367"/>
                    </a:cubicBezTo>
                    <a:cubicBezTo>
                      <a:pt x="446" y="366"/>
                      <a:pt x="446" y="364"/>
                      <a:pt x="445" y="363"/>
                    </a:cubicBezTo>
                    <a:cubicBezTo>
                      <a:pt x="461" y="360"/>
                      <a:pt x="476" y="346"/>
                      <a:pt x="480" y="329"/>
                    </a:cubicBezTo>
                    <a:cubicBezTo>
                      <a:pt x="483" y="316"/>
                      <a:pt x="479" y="305"/>
                      <a:pt x="471" y="298"/>
                    </a:cubicBezTo>
                    <a:cubicBezTo>
                      <a:pt x="475" y="291"/>
                      <a:pt x="478" y="283"/>
                      <a:pt x="480" y="274"/>
                    </a:cubicBezTo>
                    <a:cubicBezTo>
                      <a:pt x="485" y="253"/>
                      <a:pt x="480" y="234"/>
                      <a:pt x="469" y="220"/>
                    </a:cubicBezTo>
                    <a:cubicBezTo>
                      <a:pt x="476" y="209"/>
                      <a:pt x="482" y="196"/>
                      <a:pt x="485" y="182"/>
                    </a:cubicBezTo>
                    <a:cubicBezTo>
                      <a:pt x="494" y="137"/>
                      <a:pt x="469" y="97"/>
                      <a:pt x="430" y="97"/>
                    </a:cubicBezTo>
                    <a:cubicBezTo>
                      <a:pt x="425" y="97"/>
                      <a:pt x="420" y="98"/>
                      <a:pt x="415" y="99"/>
                    </a:cubicBezTo>
                    <a:cubicBezTo>
                      <a:pt x="406" y="75"/>
                      <a:pt x="386" y="59"/>
                      <a:pt x="361" y="59"/>
                    </a:cubicBezTo>
                    <a:cubicBezTo>
                      <a:pt x="355" y="59"/>
                      <a:pt x="350" y="60"/>
                      <a:pt x="345" y="61"/>
                    </a:cubicBezTo>
                    <a:cubicBezTo>
                      <a:pt x="336" y="26"/>
                      <a:pt x="311" y="0"/>
                      <a:pt x="279" y="0"/>
                    </a:cubicBezTo>
                    <a:cubicBezTo>
                      <a:pt x="251" y="0"/>
                      <a:pt x="228" y="19"/>
                      <a:pt x="216" y="47"/>
                    </a:cubicBezTo>
                    <a:cubicBezTo>
                      <a:pt x="201" y="29"/>
                      <a:pt x="180" y="17"/>
                      <a:pt x="157" y="17"/>
                    </a:cubicBezTo>
                    <a:cubicBezTo>
                      <a:pt x="118" y="17"/>
                      <a:pt x="90" y="53"/>
                      <a:pt x="87" y="98"/>
                    </a:cubicBezTo>
                    <a:cubicBezTo>
                      <a:pt x="86" y="98"/>
                      <a:pt x="84" y="97"/>
                      <a:pt x="82" y="97"/>
                    </a:cubicBezTo>
                    <a:cubicBezTo>
                      <a:pt x="43" y="97"/>
                      <a:pt x="19" y="137"/>
                      <a:pt x="27" y="182"/>
                    </a:cubicBezTo>
                    <a:cubicBezTo>
                      <a:pt x="28" y="185"/>
                      <a:pt x="29" y="187"/>
                      <a:pt x="29" y="190"/>
                    </a:cubicBezTo>
                    <a:cubicBezTo>
                      <a:pt x="10" y="198"/>
                      <a:pt x="0" y="220"/>
                      <a:pt x="6" y="245"/>
                    </a:cubicBezTo>
                    <a:cubicBezTo>
                      <a:pt x="9" y="261"/>
                      <a:pt x="18" y="275"/>
                      <a:pt x="30" y="284"/>
                    </a:cubicBezTo>
                    <a:moveTo>
                      <a:pt x="106" y="303"/>
                    </a:moveTo>
                    <a:cubicBezTo>
                      <a:pt x="106" y="294"/>
                      <a:pt x="108" y="285"/>
                      <a:pt x="111" y="277"/>
                    </a:cubicBezTo>
                    <a:cubicBezTo>
                      <a:pt x="112" y="270"/>
                      <a:pt x="113" y="263"/>
                      <a:pt x="115" y="256"/>
                    </a:cubicBezTo>
                    <a:cubicBezTo>
                      <a:pt x="136" y="251"/>
                      <a:pt x="152" y="234"/>
                      <a:pt x="158" y="210"/>
                    </a:cubicBezTo>
                    <a:cubicBezTo>
                      <a:pt x="162" y="211"/>
                      <a:pt x="166" y="211"/>
                      <a:pt x="171" y="211"/>
                    </a:cubicBezTo>
                    <a:cubicBezTo>
                      <a:pt x="198" y="211"/>
                      <a:pt x="222" y="193"/>
                      <a:pt x="233" y="164"/>
                    </a:cubicBezTo>
                    <a:cubicBezTo>
                      <a:pt x="245" y="175"/>
                      <a:pt x="260" y="182"/>
                      <a:pt x="275" y="182"/>
                    </a:cubicBezTo>
                    <a:cubicBezTo>
                      <a:pt x="281" y="182"/>
                      <a:pt x="287" y="181"/>
                      <a:pt x="292" y="179"/>
                    </a:cubicBezTo>
                    <a:cubicBezTo>
                      <a:pt x="302" y="205"/>
                      <a:pt x="323" y="222"/>
                      <a:pt x="347" y="222"/>
                    </a:cubicBezTo>
                    <a:cubicBezTo>
                      <a:pt x="351" y="222"/>
                      <a:pt x="354" y="221"/>
                      <a:pt x="358" y="220"/>
                    </a:cubicBezTo>
                    <a:cubicBezTo>
                      <a:pt x="364" y="235"/>
                      <a:pt x="374" y="246"/>
                      <a:pt x="387" y="252"/>
                    </a:cubicBezTo>
                    <a:cubicBezTo>
                      <a:pt x="390" y="263"/>
                      <a:pt x="392" y="275"/>
                      <a:pt x="392" y="287"/>
                    </a:cubicBezTo>
                    <a:cubicBezTo>
                      <a:pt x="392" y="392"/>
                      <a:pt x="392" y="392"/>
                      <a:pt x="392" y="392"/>
                    </a:cubicBezTo>
                    <a:cubicBezTo>
                      <a:pt x="392" y="471"/>
                      <a:pt x="328" y="535"/>
                      <a:pt x="249" y="535"/>
                    </a:cubicBezTo>
                    <a:cubicBezTo>
                      <a:pt x="170" y="535"/>
                      <a:pt x="106" y="471"/>
                      <a:pt x="106" y="392"/>
                    </a:cubicBezTo>
                    <a:lnTo>
                      <a:pt x="106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" name="Freeform 291">
                <a:extLst>
                  <a:ext uri="{FF2B5EF4-FFF2-40B4-BE49-F238E27FC236}">
                    <a16:creationId xmlns:a16="http://schemas.microsoft.com/office/drawing/2014/main" id="{F22D5653-97CB-4828-B337-C3C5877BC5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38" y="1772"/>
                <a:ext cx="1104" cy="2510"/>
              </a:xfrm>
              <a:custGeom>
                <a:avLst/>
                <a:gdLst>
                  <a:gd name="T0" fmla="*/ 717 w 722"/>
                  <a:gd name="T1" fmla="*/ 683 h 1642"/>
                  <a:gd name="T2" fmla="*/ 657 w 722"/>
                  <a:gd name="T3" fmla="*/ 113 h 1642"/>
                  <a:gd name="T4" fmla="*/ 616 w 722"/>
                  <a:gd name="T5" fmla="*/ 56 h 1642"/>
                  <a:gd name="T6" fmla="*/ 499 w 722"/>
                  <a:gd name="T7" fmla="*/ 1 h 1642"/>
                  <a:gd name="T8" fmla="*/ 499 w 722"/>
                  <a:gd name="T9" fmla="*/ 83 h 1642"/>
                  <a:gd name="T10" fmla="*/ 490 w 722"/>
                  <a:gd name="T11" fmla="*/ 100 h 1642"/>
                  <a:gd name="T12" fmla="*/ 478 w 722"/>
                  <a:gd name="T13" fmla="*/ 103 h 1642"/>
                  <a:gd name="T14" fmla="*/ 471 w 722"/>
                  <a:gd name="T15" fmla="*/ 102 h 1642"/>
                  <a:gd name="T16" fmla="*/ 421 w 722"/>
                  <a:gd name="T17" fmla="*/ 83 h 1642"/>
                  <a:gd name="T18" fmla="*/ 383 w 722"/>
                  <a:gd name="T19" fmla="*/ 212 h 1642"/>
                  <a:gd name="T20" fmla="*/ 364 w 722"/>
                  <a:gd name="T21" fmla="*/ 226 h 1642"/>
                  <a:gd name="T22" fmla="*/ 364 w 722"/>
                  <a:gd name="T23" fmla="*/ 226 h 1642"/>
                  <a:gd name="T24" fmla="*/ 344 w 722"/>
                  <a:gd name="T25" fmla="*/ 212 h 1642"/>
                  <a:gd name="T26" fmla="*/ 304 w 722"/>
                  <a:gd name="T27" fmla="*/ 82 h 1642"/>
                  <a:gd name="T28" fmla="*/ 251 w 722"/>
                  <a:gd name="T29" fmla="*/ 102 h 1642"/>
                  <a:gd name="T30" fmla="*/ 244 w 722"/>
                  <a:gd name="T31" fmla="*/ 103 h 1642"/>
                  <a:gd name="T32" fmla="*/ 233 w 722"/>
                  <a:gd name="T33" fmla="*/ 100 h 1642"/>
                  <a:gd name="T34" fmla="*/ 224 w 722"/>
                  <a:gd name="T35" fmla="*/ 83 h 1642"/>
                  <a:gd name="T36" fmla="*/ 224 w 722"/>
                  <a:gd name="T37" fmla="*/ 0 h 1642"/>
                  <a:gd name="T38" fmla="*/ 224 w 722"/>
                  <a:gd name="T39" fmla="*/ 0 h 1642"/>
                  <a:gd name="T40" fmla="*/ 106 w 722"/>
                  <a:gd name="T41" fmla="*/ 56 h 1642"/>
                  <a:gd name="T42" fmla="*/ 65 w 722"/>
                  <a:gd name="T43" fmla="*/ 113 h 1642"/>
                  <a:gd name="T44" fmla="*/ 5 w 722"/>
                  <a:gd name="T45" fmla="*/ 683 h 1642"/>
                  <a:gd name="T46" fmla="*/ 76 w 722"/>
                  <a:gd name="T47" fmla="*/ 815 h 1642"/>
                  <a:gd name="T48" fmla="*/ 122 w 722"/>
                  <a:gd name="T49" fmla="*/ 833 h 1642"/>
                  <a:gd name="T50" fmla="*/ 221 w 722"/>
                  <a:gd name="T51" fmla="*/ 1601 h 1642"/>
                  <a:gd name="T52" fmla="*/ 268 w 722"/>
                  <a:gd name="T53" fmla="*/ 1642 h 1642"/>
                  <a:gd name="T54" fmla="*/ 341 w 722"/>
                  <a:gd name="T55" fmla="*/ 1642 h 1642"/>
                  <a:gd name="T56" fmla="*/ 341 w 722"/>
                  <a:gd name="T57" fmla="*/ 856 h 1642"/>
                  <a:gd name="T58" fmla="*/ 361 w 722"/>
                  <a:gd name="T59" fmla="*/ 856 h 1642"/>
                  <a:gd name="T60" fmla="*/ 361 w 722"/>
                  <a:gd name="T61" fmla="*/ 856 h 1642"/>
                  <a:gd name="T62" fmla="*/ 382 w 722"/>
                  <a:gd name="T63" fmla="*/ 856 h 1642"/>
                  <a:gd name="T64" fmla="*/ 382 w 722"/>
                  <a:gd name="T65" fmla="*/ 1642 h 1642"/>
                  <a:gd name="T66" fmla="*/ 455 w 722"/>
                  <a:gd name="T67" fmla="*/ 1642 h 1642"/>
                  <a:gd name="T68" fmla="*/ 501 w 722"/>
                  <a:gd name="T69" fmla="*/ 1601 h 1642"/>
                  <a:gd name="T70" fmla="*/ 600 w 722"/>
                  <a:gd name="T71" fmla="*/ 833 h 1642"/>
                  <a:gd name="T72" fmla="*/ 647 w 722"/>
                  <a:gd name="T73" fmla="*/ 815 h 1642"/>
                  <a:gd name="T74" fmla="*/ 717 w 722"/>
                  <a:gd name="T75" fmla="*/ 683 h 1642"/>
                  <a:gd name="T76" fmla="*/ 161 w 722"/>
                  <a:gd name="T77" fmla="*/ 400 h 1642"/>
                  <a:gd name="T78" fmla="*/ 561 w 722"/>
                  <a:gd name="T79" fmla="*/ 400 h 1642"/>
                  <a:gd name="T80" fmla="*/ 561 w 722"/>
                  <a:gd name="T81" fmla="*/ 522 h 1642"/>
                  <a:gd name="T82" fmla="*/ 161 w 722"/>
                  <a:gd name="T83" fmla="*/ 522 h 1642"/>
                  <a:gd name="T84" fmla="*/ 161 w 722"/>
                  <a:gd name="T85" fmla="*/ 400 h 1642"/>
                  <a:gd name="T86" fmla="*/ 122 w 722"/>
                  <a:gd name="T87" fmla="*/ 790 h 1642"/>
                  <a:gd name="T88" fmla="*/ 71 w 722"/>
                  <a:gd name="T89" fmla="*/ 759 h 1642"/>
                  <a:gd name="T90" fmla="*/ 46 w 722"/>
                  <a:gd name="T91" fmla="*/ 688 h 1642"/>
                  <a:gd name="T92" fmla="*/ 55 w 722"/>
                  <a:gd name="T93" fmla="*/ 602 h 1642"/>
                  <a:gd name="T94" fmla="*/ 123 w 722"/>
                  <a:gd name="T95" fmla="*/ 602 h 1642"/>
                  <a:gd name="T96" fmla="*/ 122 w 722"/>
                  <a:gd name="T97" fmla="*/ 790 h 1642"/>
                  <a:gd name="T98" fmla="*/ 652 w 722"/>
                  <a:gd name="T99" fmla="*/ 759 h 1642"/>
                  <a:gd name="T100" fmla="*/ 600 w 722"/>
                  <a:gd name="T101" fmla="*/ 790 h 1642"/>
                  <a:gd name="T102" fmla="*/ 600 w 722"/>
                  <a:gd name="T103" fmla="*/ 602 h 1642"/>
                  <a:gd name="T104" fmla="*/ 668 w 722"/>
                  <a:gd name="T105" fmla="*/ 602 h 1642"/>
                  <a:gd name="T106" fmla="*/ 677 w 722"/>
                  <a:gd name="T107" fmla="*/ 688 h 1642"/>
                  <a:gd name="T108" fmla="*/ 652 w 722"/>
                  <a:gd name="T109" fmla="*/ 759 h 1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2" h="1642">
                    <a:moveTo>
                      <a:pt x="717" y="683"/>
                    </a:moveTo>
                    <a:cubicBezTo>
                      <a:pt x="657" y="113"/>
                      <a:pt x="657" y="113"/>
                      <a:pt x="657" y="113"/>
                    </a:cubicBezTo>
                    <a:cubicBezTo>
                      <a:pt x="653" y="79"/>
                      <a:pt x="636" y="65"/>
                      <a:pt x="616" y="56"/>
                    </a:cubicBezTo>
                    <a:cubicBezTo>
                      <a:pt x="499" y="1"/>
                      <a:pt x="499" y="1"/>
                      <a:pt x="499" y="1"/>
                    </a:cubicBezTo>
                    <a:cubicBezTo>
                      <a:pt x="499" y="83"/>
                      <a:pt x="499" y="83"/>
                      <a:pt x="499" y="83"/>
                    </a:cubicBezTo>
                    <a:cubicBezTo>
                      <a:pt x="499" y="90"/>
                      <a:pt x="495" y="96"/>
                      <a:pt x="490" y="100"/>
                    </a:cubicBezTo>
                    <a:cubicBezTo>
                      <a:pt x="487" y="102"/>
                      <a:pt x="482" y="103"/>
                      <a:pt x="478" y="103"/>
                    </a:cubicBezTo>
                    <a:cubicBezTo>
                      <a:pt x="476" y="103"/>
                      <a:pt x="474" y="103"/>
                      <a:pt x="471" y="102"/>
                    </a:cubicBezTo>
                    <a:cubicBezTo>
                      <a:pt x="421" y="83"/>
                      <a:pt x="421" y="83"/>
                      <a:pt x="421" y="83"/>
                    </a:cubicBezTo>
                    <a:cubicBezTo>
                      <a:pt x="383" y="212"/>
                      <a:pt x="383" y="212"/>
                      <a:pt x="383" y="212"/>
                    </a:cubicBezTo>
                    <a:cubicBezTo>
                      <a:pt x="381" y="220"/>
                      <a:pt x="373" y="226"/>
                      <a:pt x="364" y="226"/>
                    </a:cubicBezTo>
                    <a:cubicBezTo>
                      <a:pt x="364" y="226"/>
                      <a:pt x="364" y="226"/>
                      <a:pt x="364" y="226"/>
                    </a:cubicBezTo>
                    <a:cubicBezTo>
                      <a:pt x="355" y="226"/>
                      <a:pt x="347" y="220"/>
                      <a:pt x="344" y="212"/>
                    </a:cubicBezTo>
                    <a:cubicBezTo>
                      <a:pt x="304" y="82"/>
                      <a:pt x="304" y="82"/>
                      <a:pt x="304" y="82"/>
                    </a:cubicBezTo>
                    <a:cubicBezTo>
                      <a:pt x="251" y="102"/>
                      <a:pt x="251" y="102"/>
                      <a:pt x="251" y="102"/>
                    </a:cubicBezTo>
                    <a:cubicBezTo>
                      <a:pt x="249" y="103"/>
                      <a:pt x="247" y="103"/>
                      <a:pt x="244" y="103"/>
                    </a:cubicBezTo>
                    <a:cubicBezTo>
                      <a:pt x="240" y="103"/>
                      <a:pt x="236" y="102"/>
                      <a:pt x="233" y="100"/>
                    </a:cubicBezTo>
                    <a:cubicBezTo>
                      <a:pt x="227" y="96"/>
                      <a:pt x="224" y="90"/>
                      <a:pt x="224" y="83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86" y="65"/>
                      <a:pt x="68" y="81"/>
                      <a:pt x="65" y="113"/>
                    </a:cubicBezTo>
                    <a:cubicBezTo>
                      <a:pt x="5" y="683"/>
                      <a:pt x="5" y="683"/>
                      <a:pt x="5" y="683"/>
                    </a:cubicBezTo>
                    <a:cubicBezTo>
                      <a:pt x="0" y="739"/>
                      <a:pt x="34" y="790"/>
                      <a:pt x="76" y="815"/>
                    </a:cubicBezTo>
                    <a:cubicBezTo>
                      <a:pt x="97" y="827"/>
                      <a:pt x="122" y="833"/>
                      <a:pt x="122" y="833"/>
                    </a:cubicBezTo>
                    <a:cubicBezTo>
                      <a:pt x="221" y="1601"/>
                      <a:pt x="221" y="1601"/>
                      <a:pt x="221" y="1601"/>
                    </a:cubicBezTo>
                    <a:cubicBezTo>
                      <a:pt x="224" y="1623"/>
                      <a:pt x="245" y="1642"/>
                      <a:pt x="268" y="1642"/>
                    </a:cubicBezTo>
                    <a:cubicBezTo>
                      <a:pt x="341" y="1642"/>
                      <a:pt x="341" y="1642"/>
                      <a:pt x="341" y="1642"/>
                    </a:cubicBezTo>
                    <a:cubicBezTo>
                      <a:pt x="341" y="856"/>
                      <a:pt x="341" y="856"/>
                      <a:pt x="34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82" y="856"/>
                      <a:pt x="382" y="856"/>
                      <a:pt x="382" y="856"/>
                    </a:cubicBezTo>
                    <a:cubicBezTo>
                      <a:pt x="382" y="1642"/>
                      <a:pt x="382" y="1642"/>
                      <a:pt x="382" y="1642"/>
                    </a:cubicBezTo>
                    <a:cubicBezTo>
                      <a:pt x="455" y="1642"/>
                      <a:pt x="455" y="1642"/>
                      <a:pt x="455" y="1642"/>
                    </a:cubicBezTo>
                    <a:cubicBezTo>
                      <a:pt x="477" y="1642"/>
                      <a:pt x="498" y="1623"/>
                      <a:pt x="501" y="1601"/>
                    </a:cubicBezTo>
                    <a:cubicBezTo>
                      <a:pt x="600" y="833"/>
                      <a:pt x="600" y="833"/>
                      <a:pt x="600" y="833"/>
                    </a:cubicBezTo>
                    <a:cubicBezTo>
                      <a:pt x="600" y="833"/>
                      <a:pt x="625" y="827"/>
                      <a:pt x="647" y="815"/>
                    </a:cubicBezTo>
                    <a:cubicBezTo>
                      <a:pt x="689" y="790"/>
                      <a:pt x="722" y="739"/>
                      <a:pt x="717" y="683"/>
                    </a:cubicBezTo>
                    <a:moveTo>
                      <a:pt x="161" y="400"/>
                    </a:moveTo>
                    <a:cubicBezTo>
                      <a:pt x="561" y="400"/>
                      <a:pt x="561" y="400"/>
                      <a:pt x="561" y="400"/>
                    </a:cubicBezTo>
                    <a:cubicBezTo>
                      <a:pt x="561" y="522"/>
                      <a:pt x="561" y="522"/>
                      <a:pt x="561" y="522"/>
                    </a:cubicBezTo>
                    <a:cubicBezTo>
                      <a:pt x="161" y="522"/>
                      <a:pt x="161" y="522"/>
                      <a:pt x="161" y="522"/>
                    </a:cubicBezTo>
                    <a:lnTo>
                      <a:pt x="161" y="400"/>
                    </a:lnTo>
                    <a:close/>
                    <a:moveTo>
                      <a:pt x="122" y="790"/>
                    </a:moveTo>
                    <a:cubicBezTo>
                      <a:pt x="93" y="780"/>
                      <a:pt x="77" y="765"/>
                      <a:pt x="71" y="759"/>
                    </a:cubicBezTo>
                    <a:cubicBezTo>
                      <a:pt x="57" y="746"/>
                      <a:pt x="43" y="721"/>
                      <a:pt x="46" y="688"/>
                    </a:cubicBezTo>
                    <a:cubicBezTo>
                      <a:pt x="55" y="602"/>
                      <a:pt x="55" y="602"/>
                      <a:pt x="55" y="602"/>
                    </a:cubicBezTo>
                    <a:cubicBezTo>
                      <a:pt x="123" y="602"/>
                      <a:pt x="123" y="602"/>
                      <a:pt x="123" y="602"/>
                    </a:cubicBezTo>
                    <a:lnTo>
                      <a:pt x="122" y="790"/>
                    </a:lnTo>
                    <a:close/>
                    <a:moveTo>
                      <a:pt x="652" y="759"/>
                    </a:moveTo>
                    <a:cubicBezTo>
                      <a:pt x="646" y="765"/>
                      <a:pt x="629" y="780"/>
                      <a:pt x="600" y="790"/>
                    </a:cubicBezTo>
                    <a:cubicBezTo>
                      <a:pt x="600" y="602"/>
                      <a:pt x="600" y="602"/>
                      <a:pt x="600" y="602"/>
                    </a:cubicBezTo>
                    <a:cubicBezTo>
                      <a:pt x="668" y="602"/>
                      <a:pt x="668" y="602"/>
                      <a:pt x="668" y="602"/>
                    </a:cubicBezTo>
                    <a:cubicBezTo>
                      <a:pt x="677" y="688"/>
                      <a:pt x="677" y="688"/>
                      <a:pt x="677" y="688"/>
                    </a:cubicBezTo>
                    <a:cubicBezTo>
                      <a:pt x="680" y="721"/>
                      <a:pt x="665" y="746"/>
                      <a:pt x="652" y="75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6" name="Group 287">
              <a:extLst>
                <a:ext uri="{FF2B5EF4-FFF2-40B4-BE49-F238E27FC236}">
                  <a16:creationId xmlns:a16="http://schemas.microsoft.com/office/drawing/2014/main" id="{0E4BC08E-81ED-4680-B14F-B2C7350C37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942536" y="2738094"/>
              <a:ext cx="268246" cy="793876"/>
              <a:chOff x="1738" y="919"/>
              <a:chExt cx="1104" cy="3363"/>
            </a:xfrm>
            <a:solidFill>
              <a:schemeClr val="accent5"/>
            </a:solidFill>
          </p:grpSpPr>
          <p:sp>
            <p:nvSpPr>
              <p:cNvPr id="27" name="Freeform 290">
                <a:extLst>
                  <a:ext uri="{FF2B5EF4-FFF2-40B4-BE49-F238E27FC236}">
                    <a16:creationId xmlns:a16="http://schemas.microsoft.com/office/drawing/2014/main" id="{74F680AD-5D7C-4157-A043-F3116FA6AF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3" y="919"/>
                <a:ext cx="755" cy="879"/>
              </a:xfrm>
              <a:custGeom>
                <a:avLst/>
                <a:gdLst>
                  <a:gd name="T0" fmla="*/ 30 w 494"/>
                  <a:gd name="T1" fmla="*/ 284 h 575"/>
                  <a:gd name="T2" fmla="*/ 23 w 494"/>
                  <a:gd name="T3" fmla="*/ 315 h 575"/>
                  <a:gd name="T4" fmla="*/ 39 w 494"/>
                  <a:gd name="T5" fmla="*/ 342 h 575"/>
                  <a:gd name="T6" fmla="*/ 38 w 494"/>
                  <a:gd name="T7" fmla="*/ 357 h 575"/>
                  <a:gd name="T8" fmla="*/ 65 w 494"/>
                  <a:gd name="T9" fmla="*/ 385 h 575"/>
                  <a:gd name="T10" fmla="*/ 65 w 494"/>
                  <a:gd name="T11" fmla="*/ 392 h 575"/>
                  <a:gd name="T12" fmla="*/ 249 w 494"/>
                  <a:gd name="T13" fmla="*/ 575 h 575"/>
                  <a:gd name="T14" fmla="*/ 432 w 494"/>
                  <a:gd name="T15" fmla="*/ 394 h 575"/>
                  <a:gd name="T16" fmla="*/ 446 w 494"/>
                  <a:gd name="T17" fmla="*/ 367 h 575"/>
                  <a:gd name="T18" fmla="*/ 445 w 494"/>
                  <a:gd name="T19" fmla="*/ 363 h 575"/>
                  <a:gd name="T20" fmla="*/ 480 w 494"/>
                  <a:gd name="T21" fmla="*/ 329 h 575"/>
                  <a:gd name="T22" fmla="*/ 471 w 494"/>
                  <a:gd name="T23" fmla="*/ 298 h 575"/>
                  <a:gd name="T24" fmla="*/ 480 w 494"/>
                  <a:gd name="T25" fmla="*/ 274 h 575"/>
                  <a:gd name="T26" fmla="*/ 469 w 494"/>
                  <a:gd name="T27" fmla="*/ 220 h 575"/>
                  <a:gd name="T28" fmla="*/ 485 w 494"/>
                  <a:gd name="T29" fmla="*/ 182 h 575"/>
                  <a:gd name="T30" fmla="*/ 430 w 494"/>
                  <a:gd name="T31" fmla="*/ 97 h 575"/>
                  <a:gd name="T32" fmla="*/ 415 w 494"/>
                  <a:gd name="T33" fmla="*/ 99 h 575"/>
                  <a:gd name="T34" fmla="*/ 361 w 494"/>
                  <a:gd name="T35" fmla="*/ 59 h 575"/>
                  <a:gd name="T36" fmla="*/ 345 w 494"/>
                  <a:gd name="T37" fmla="*/ 61 h 575"/>
                  <a:gd name="T38" fmla="*/ 279 w 494"/>
                  <a:gd name="T39" fmla="*/ 0 h 575"/>
                  <a:gd name="T40" fmla="*/ 216 w 494"/>
                  <a:gd name="T41" fmla="*/ 47 h 575"/>
                  <a:gd name="T42" fmla="*/ 157 w 494"/>
                  <a:gd name="T43" fmla="*/ 17 h 575"/>
                  <a:gd name="T44" fmla="*/ 87 w 494"/>
                  <a:gd name="T45" fmla="*/ 98 h 575"/>
                  <a:gd name="T46" fmla="*/ 82 w 494"/>
                  <a:gd name="T47" fmla="*/ 97 h 575"/>
                  <a:gd name="T48" fmla="*/ 27 w 494"/>
                  <a:gd name="T49" fmla="*/ 182 h 575"/>
                  <a:gd name="T50" fmla="*/ 29 w 494"/>
                  <a:gd name="T51" fmla="*/ 190 h 575"/>
                  <a:gd name="T52" fmla="*/ 6 w 494"/>
                  <a:gd name="T53" fmla="*/ 245 h 575"/>
                  <a:gd name="T54" fmla="*/ 30 w 494"/>
                  <a:gd name="T55" fmla="*/ 284 h 575"/>
                  <a:gd name="T56" fmla="*/ 106 w 494"/>
                  <a:gd name="T57" fmla="*/ 303 h 575"/>
                  <a:gd name="T58" fmla="*/ 111 w 494"/>
                  <a:gd name="T59" fmla="*/ 277 h 575"/>
                  <a:gd name="T60" fmla="*/ 115 w 494"/>
                  <a:gd name="T61" fmla="*/ 256 h 575"/>
                  <a:gd name="T62" fmla="*/ 158 w 494"/>
                  <a:gd name="T63" fmla="*/ 210 h 575"/>
                  <a:gd name="T64" fmla="*/ 171 w 494"/>
                  <a:gd name="T65" fmla="*/ 211 h 575"/>
                  <a:gd name="T66" fmla="*/ 233 w 494"/>
                  <a:gd name="T67" fmla="*/ 164 h 575"/>
                  <a:gd name="T68" fmla="*/ 275 w 494"/>
                  <a:gd name="T69" fmla="*/ 182 h 575"/>
                  <a:gd name="T70" fmla="*/ 292 w 494"/>
                  <a:gd name="T71" fmla="*/ 179 h 575"/>
                  <a:gd name="T72" fmla="*/ 347 w 494"/>
                  <a:gd name="T73" fmla="*/ 222 h 575"/>
                  <a:gd name="T74" fmla="*/ 358 w 494"/>
                  <a:gd name="T75" fmla="*/ 220 h 575"/>
                  <a:gd name="T76" fmla="*/ 387 w 494"/>
                  <a:gd name="T77" fmla="*/ 252 h 575"/>
                  <a:gd name="T78" fmla="*/ 392 w 494"/>
                  <a:gd name="T79" fmla="*/ 287 h 575"/>
                  <a:gd name="T80" fmla="*/ 392 w 494"/>
                  <a:gd name="T81" fmla="*/ 392 h 575"/>
                  <a:gd name="T82" fmla="*/ 249 w 494"/>
                  <a:gd name="T83" fmla="*/ 535 h 575"/>
                  <a:gd name="T84" fmla="*/ 106 w 494"/>
                  <a:gd name="T85" fmla="*/ 392 h 575"/>
                  <a:gd name="T86" fmla="*/ 106 w 494"/>
                  <a:gd name="T87" fmla="*/ 303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94" h="575">
                    <a:moveTo>
                      <a:pt x="30" y="284"/>
                    </a:moveTo>
                    <a:cubicBezTo>
                      <a:pt x="23" y="292"/>
                      <a:pt x="21" y="303"/>
                      <a:pt x="23" y="315"/>
                    </a:cubicBezTo>
                    <a:cubicBezTo>
                      <a:pt x="25" y="326"/>
                      <a:pt x="31" y="335"/>
                      <a:pt x="39" y="342"/>
                    </a:cubicBezTo>
                    <a:cubicBezTo>
                      <a:pt x="38" y="346"/>
                      <a:pt x="37" y="352"/>
                      <a:pt x="38" y="357"/>
                    </a:cubicBezTo>
                    <a:cubicBezTo>
                      <a:pt x="41" y="371"/>
                      <a:pt x="52" y="382"/>
                      <a:pt x="65" y="385"/>
                    </a:cubicBezTo>
                    <a:cubicBezTo>
                      <a:pt x="65" y="392"/>
                      <a:pt x="65" y="392"/>
                      <a:pt x="65" y="392"/>
                    </a:cubicBezTo>
                    <a:cubicBezTo>
                      <a:pt x="65" y="493"/>
                      <a:pt x="147" y="575"/>
                      <a:pt x="249" y="575"/>
                    </a:cubicBezTo>
                    <a:cubicBezTo>
                      <a:pt x="349" y="575"/>
                      <a:pt x="431" y="495"/>
                      <a:pt x="432" y="394"/>
                    </a:cubicBezTo>
                    <a:cubicBezTo>
                      <a:pt x="440" y="390"/>
                      <a:pt x="446" y="380"/>
                      <a:pt x="446" y="367"/>
                    </a:cubicBezTo>
                    <a:cubicBezTo>
                      <a:pt x="446" y="366"/>
                      <a:pt x="446" y="364"/>
                      <a:pt x="445" y="363"/>
                    </a:cubicBezTo>
                    <a:cubicBezTo>
                      <a:pt x="461" y="360"/>
                      <a:pt x="476" y="346"/>
                      <a:pt x="480" y="329"/>
                    </a:cubicBezTo>
                    <a:cubicBezTo>
                      <a:pt x="483" y="316"/>
                      <a:pt x="479" y="305"/>
                      <a:pt x="471" y="298"/>
                    </a:cubicBezTo>
                    <a:cubicBezTo>
                      <a:pt x="475" y="291"/>
                      <a:pt x="478" y="283"/>
                      <a:pt x="480" y="274"/>
                    </a:cubicBezTo>
                    <a:cubicBezTo>
                      <a:pt x="485" y="253"/>
                      <a:pt x="480" y="234"/>
                      <a:pt x="469" y="220"/>
                    </a:cubicBezTo>
                    <a:cubicBezTo>
                      <a:pt x="476" y="209"/>
                      <a:pt x="482" y="196"/>
                      <a:pt x="485" y="182"/>
                    </a:cubicBezTo>
                    <a:cubicBezTo>
                      <a:pt x="494" y="137"/>
                      <a:pt x="469" y="97"/>
                      <a:pt x="430" y="97"/>
                    </a:cubicBezTo>
                    <a:cubicBezTo>
                      <a:pt x="425" y="97"/>
                      <a:pt x="420" y="98"/>
                      <a:pt x="415" y="99"/>
                    </a:cubicBezTo>
                    <a:cubicBezTo>
                      <a:pt x="406" y="75"/>
                      <a:pt x="386" y="59"/>
                      <a:pt x="361" y="59"/>
                    </a:cubicBezTo>
                    <a:cubicBezTo>
                      <a:pt x="355" y="59"/>
                      <a:pt x="350" y="60"/>
                      <a:pt x="345" y="61"/>
                    </a:cubicBezTo>
                    <a:cubicBezTo>
                      <a:pt x="336" y="26"/>
                      <a:pt x="311" y="0"/>
                      <a:pt x="279" y="0"/>
                    </a:cubicBezTo>
                    <a:cubicBezTo>
                      <a:pt x="251" y="0"/>
                      <a:pt x="228" y="19"/>
                      <a:pt x="216" y="47"/>
                    </a:cubicBezTo>
                    <a:cubicBezTo>
                      <a:pt x="201" y="29"/>
                      <a:pt x="180" y="17"/>
                      <a:pt x="157" y="17"/>
                    </a:cubicBezTo>
                    <a:cubicBezTo>
                      <a:pt x="118" y="17"/>
                      <a:pt x="90" y="53"/>
                      <a:pt x="87" y="98"/>
                    </a:cubicBezTo>
                    <a:cubicBezTo>
                      <a:pt x="86" y="98"/>
                      <a:pt x="84" y="97"/>
                      <a:pt x="82" y="97"/>
                    </a:cubicBezTo>
                    <a:cubicBezTo>
                      <a:pt x="43" y="97"/>
                      <a:pt x="19" y="137"/>
                      <a:pt x="27" y="182"/>
                    </a:cubicBezTo>
                    <a:cubicBezTo>
                      <a:pt x="28" y="185"/>
                      <a:pt x="29" y="187"/>
                      <a:pt x="29" y="190"/>
                    </a:cubicBezTo>
                    <a:cubicBezTo>
                      <a:pt x="10" y="198"/>
                      <a:pt x="0" y="220"/>
                      <a:pt x="6" y="245"/>
                    </a:cubicBezTo>
                    <a:cubicBezTo>
                      <a:pt x="9" y="261"/>
                      <a:pt x="18" y="275"/>
                      <a:pt x="30" y="284"/>
                    </a:cubicBezTo>
                    <a:moveTo>
                      <a:pt x="106" y="303"/>
                    </a:moveTo>
                    <a:cubicBezTo>
                      <a:pt x="106" y="294"/>
                      <a:pt x="108" y="285"/>
                      <a:pt x="111" y="277"/>
                    </a:cubicBezTo>
                    <a:cubicBezTo>
                      <a:pt x="112" y="270"/>
                      <a:pt x="113" y="263"/>
                      <a:pt x="115" y="256"/>
                    </a:cubicBezTo>
                    <a:cubicBezTo>
                      <a:pt x="136" y="251"/>
                      <a:pt x="152" y="234"/>
                      <a:pt x="158" y="210"/>
                    </a:cubicBezTo>
                    <a:cubicBezTo>
                      <a:pt x="162" y="211"/>
                      <a:pt x="166" y="211"/>
                      <a:pt x="171" y="211"/>
                    </a:cubicBezTo>
                    <a:cubicBezTo>
                      <a:pt x="198" y="211"/>
                      <a:pt x="222" y="193"/>
                      <a:pt x="233" y="164"/>
                    </a:cubicBezTo>
                    <a:cubicBezTo>
                      <a:pt x="245" y="175"/>
                      <a:pt x="260" y="182"/>
                      <a:pt x="275" y="182"/>
                    </a:cubicBezTo>
                    <a:cubicBezTo>
                      <a:pt x="281" y="182"/>
                      <a:pt x="287" y="181"/>
                      <a:pt x="292" y="179"/>
                    </a:cubicBezTo>
                    <a:cubicBezTo>
                      <a:pt x="302" y="205"/>
                      <a:pt x="323" y="222"/>
                      <a:pt x="347" y="222"/>
                    </a:cubicBezTo>
                    <a:cubicBezTo>
                      <a:pt x="351" y="222"/>
                      <a:pt x="354" y="221"/>
                      <a:pt x="358" y="220"/>
                    </a:cubicBezTo>
                    <a:cubicBezTo>
                      <a:pt x="364" y="235"/>
                      <a:pt x="374" y="246"/>
                      <a:pt x="387" y="252"/>
                    </a:cubicBezTo>
                    <a:cubicBezTo>
                      <a:pt x="390" y="263"/>
                      <a:pt x="392" y="275"/>
                      <a:pt x="392" y="287"/>
                    </a:cubicBezTo>
                    <a:cubicBezTo>
                      <a:pt x="392" y="392"/>
                      <a:pt x="392" y="392"/>
                      <a:pt x="392" y="392"/>
                    </a:cubicBezTo>
                    <a:cubicBezTo>
                      <a:pt x="392" y="471"/>
                      <a:pt x="328" y="535"/>
                      <a:pt x="249" y="535"/>
                    </a:cubicBezTo>
                    <a:cubicBezTo>
                      <a:pt x="170" y="535"/>
                      <a:pt x="106" y="471"/>
                      <a:pt x="106" y="392"/>
                    </a:cubicBezTo>
                    <a:lnTo>
                      <a:pt x="106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" name="Freeform 291">
                <a:extLst>
                  <a:ext uri="{FF2B5EF4-FFF2-40B4-BE49-F238E27FC236}">
                    <a16:creationId xmlns:a16="http://schemas.microsoft.com/office/drawing/2014/main" id="{BA1E0411-9E68-4E0C-8939-8A37470005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38" y="1772"/>
                <a:ext cx="1104" cy="2510"/>
              </a:xfrm>
              <a:custGeom>
                <a:avLst/>
                <a:gdLst>
                  <a:gd name="T0" fmla="*/ 717 w 722"/>
                  <a:gd name="T1" fmla="*/ 683 h 1642"/>
                  <a:gd name="T2" fmla="*/ 657 w 722"/>
                  <a:gd name="T3" fmla="*/ 113 h 1642"/>
                  <a:gd name="T4" fmla="*/ 616 w 722"/>
                  <a:gd name="T5" fmla="*/ 56 h 1642"/>
                  <a:gd name="T6" fmla="*/ 499 w 722"/>
                  <a:gd name="T7" fmla="*/ 1 h 1642"/>
                  <a:gd name="T8" fmla="*/ 499 w 722"/>
                  <a:gd name="T9" fmla="*/ 83 h 1642"/>
                  <a:gd name="T10" fmla="*/ 490 w 722"/>
                  <a:gd name="T11" fmla="*/ 100 h 1642"/>
                  <a:gd name="T12" fmla="*/ 478 w 722"/>
                  <a:gd name="T13" fmla="*/ 103 h 1642"/>
                  <a:gd name="T14" fmla="*/ 471 w 722"/>
                  <a:gd name="T15" fmla="*/ 102 h 1642"/>
                  <a:gd name="T16" fmla="*/ 421 w 722"/>
                  <a:gd name="T17" fmla="*/ 83 h 1642"/>
                  <a:gd name="T18" fmla="*/ 383 w 722"/>
                  <a:gd name="T19" fmla="*/ 212 h 1642"/>
                  <a:gd name="T20" fmla="*/ 364 w 722"/>
                  <a:gd name="T21" fmla="*/ 226 h 1642"/>
                  <a:gd name="T22" fmla="*/ 364 w 722"/>
                  <a:gd name="T23" fmla="*/ 226 h 1642"/>
                  <a:gd name="T24" fmla="*/ 344 w 722"/>
                  <a:gd name="T25" fmla="*/ 212 h 1642"/>
                  <a:gd name="T26" fmla="*/ 304 w 722"/>
                  <a:gd name="T27" fmla="*/ 82 h 1642"/>
                  <a:gd name="T28" fmla="*/ 251 w 722"/>
                  <a:gd name="T29" fmla="*/ 102 h 1642"/>
                  <a:gd name="T30" fmla="*/ 244 w 722"/>
                  <a:gd name="T31" fmla="*/ 103 h 1642"/>
                  <a:gd name="T32" fmla="*/ 233 w 722"/>
                  <a:gd name="T33" fmla="*/ 100 h 1642"/>
                  <a:gd name="T34" fmla="*/ 224 w 722"/>
                  <a:gd name="T35" fmla="*/ 83 h 1642"/>
                  <a:gd name="T36" fmla="*/ 224 w 722"/>
                  <a:gd name="T37" fmla="*/ 0 h 1642"/>
                  <a:gd name="T38" fmla="*/ 224 w 722"/>
                  <a:gd name="T39" fmla="*/ 0 h 1642"/>
                  <a:gd name="T40" fmla="*/ 106 w 722"/>
                  <a:gd name="T41" fmla="*/ 56 h 1642"/>
                  <a:gd name="T42" fmla="*/ 65 w 722"/>
                  <a:gd name="T43" fmla="*/ 113 h 1642"/>
                  <a:gd name="T44" fmla="*/ 5 w 722"/>
                  <a:gd name="T45" fmla="*/ 683 h 1642"/>
                  <a:gd name="T46" fmla="*/ 76 w 722"/>
                  <a:gd name="T47" fmla="*/ 815 h 1642"/>
                  <a:gd name="T48" fmla="*/ 122 w 722"/>
                  <a:gd name="T49" fmla="*/ 833 h 1642"/>
                  <a:gd name="T50" fmla="*/ 221 w 722"/>
                  <a:gd name="T51" fmla="*/ 1601 h 1642"/>
                  <a:gd name="T52" fmla="*/ 268 w 722"/>
                  <a:gd name="T53" fmla="*/ 1642 h 1642"/>
                  <a:gd name="T54" fmla="*/ 341 w 722"/>
                  <a:gd name="T55" fmla="*/ 1642 h 1642"/>
                  <a:gd name="T56" fmla="*/ 341 w 722"/>
                  <a:gd name="T57" fmla="*/ 856 h 1642"/>
                  <a:gd name="T58" fmla="*/ 361 w 722"/>
                  <a:gd name="T59" fmla="*/ 856 h 1642"/>
                  <a:gd name="T60" fmla="*/ 361 w 722"/>
                  <a:gd name="T61" fmla="*/ 856 h 1642"/>
                  <a:gd name="T62" fmla="*/ 382 w 722"/>
                  <a:gd name="T63" fmla="*/ 856 h 1642"/>
                  <a:gd name="T64" fmla="*/ 382 w 722"/>
                  <a:gd name="T65" fmla="*/ 1642 h 1642"/>
                  <a:gd name="T66" fmla="*/ 455 w 722"/>
                  <a:gd name="T67" fmla="*/ 1642 h 1642"/>
                  <a:gd name="T68" fmla="*/ 501 w 722"/>
                  <a:gd name="T69" fmla="*/ 1601 h 1642"/>
                  <a:gd name="T70" fmla="*/ 600 w 722"/>
                  <a:gd name="T71" fmla="*/ 833 h 1642"/>
                  <a:gd name="T72" fmla="*/ 647 w 722"/>
                  <a:gd name="T73" fmla="*/ 815 h 1642"/>
                  <a:gd name="T74" fmla="*/ 717 w 722"/>
                  <a:gd name="T75" fmla="*/ 683 h 1642"/>
                  <a:gd name="T76" fmla="*/ 161 w 722"/>
                  <a:gd name="T77" fmla="*/ 400 h 1642"/>
                  <a:gd name="T78" fmla="*/ 561 w 722"/>
                  <a:gd name="T79" fmla="*/ 400 h 1642"/>
                  <a:gd name="T80" fmla="*/ 561 w 722"/>
                  <a:gd name="T81" fmla="*/ 522 h 1642"/>
                  <a:gd name="T82" fmla="*/ 161 w 722"/>
                  <a:gd name="T83" fmla="*/ 522 h 1642"/>
                  <a:gd name="T84" fmla="*/ 161 w 722"/>
                  <a:gd name="T85" fmla="*/ 400 h 1642"/>
                  <a:gd name="T86" fmla="*/ 122 w 722"/>
                  <a:gd name="T87" fmla="*/ 790 h 1642"/>
                  <a:gd name="T88" fmla="*/ 71 w 722"/>
                  <a:gd name="T89" fmla="*/ 759 h 1642"/>
                  <a:gd name="T90" fmla="*/ 46 w 722"/>
                  <a:gd name="T91" fmla="*/ 688 h 1642"/>
                  <a:gd name="T92" fmla="*/ 55 w 722"/>
                  <a:gd name="T93" fmla="*/ 602 h 1642"/>
                  <a:gd name="T94" fmla="*/ 123 w 722"/>
                  <a:gd name="T95" fmla="*/ 602 h 1642"/>
                  <a:gd name="T96" fmla="*/ 122 w 722"/>
                  <a:gd name="T97" fmla="*/ 790 h 1642"/>
                  <a:gd name="T98" fmla="*/ 652 w 722"/>
                  <a:gd name="T99" fmla="*/ 759 h 1642"/>
                  <a:gd name="T100" fmla="*/ 600 w 722"/>
                  <a:gd name="T101" fmla="*/ 790 h 1642"/>
                  <a:gd name="T102" fmla="*/ 600 w 722"/>
                  <a:gd name="T103" fmla="*/ 602 h 1642"/>
                  <a:gd name="T104" fmla="*/ 668 w 722"/>
                  <a:gd name="T105" fmla="*/ 602 h 1642"/>
                  <a:gd name="T106" fmla="*/ 677 w 722"/>
                  <a:gd name="T107" fmla="*/ 688 h 1642"/>
                  <a:gd name="T108" fmla="*/ 652 w 722"/>
                  <a:gd name="T109" fmla="*/ 759 h 1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2" h="1642">
                    <a:moveTo>
                      <a:pt x="717" y="683"/>
                    </a:moveTo>
                    <a:cubicBezTo>
                      <a:pt x="657" y="113"/>
                      <a:pt x="657" y="113"/>
                      <a:pt x="657" y="113"/>
                    </a:cubicBezTo>
                    <a:cubicBezTo>
                      <a:pt x="653" y="79"/>
                      <a:pt x="636" y="65"/>
                      <a:pt x="616" y="56"/>
                    </a:cubicBezTo>
                    <a:cubicBezTo>
                      <a:pt x="499" y="1"/>
                      <a:pt x="499" y="1"/>
                      <a:pt x="499" y="1"/>
                    </a:cubicBezTo>
                    <a:cubicBezTo>
                      <a:pt x="499" y="83"/>
                      <a:pt x="499" y="83"/>
                      <a:pt x="499" y="83"/>
                    </a:cubicBezTo>
                    <a:cubicBezTo>
                      <a:pt x="499" y="90"/>
                      <a:pt x="495" y="96"/>
                      <a:pt x="490" y="100"/>
                    </a:cubicBezTo>
                    <a:cubicBezTo>
                      <a:pt x="487" y="102"/>
                      <a:pt x="482" y="103"/>
                      <a:pt x="478" y="103"/>
                    </a:cubicBezTo>
                    <a:cubicBezTo>
                      <a:pt x="476" y="103"/>
                      <a:pt x="474" y="103"/>
                      <a:pt x="471" y="102"/>
                    </a:cubicBezTo>
                    <a:cubicBezTo>
                      <a:pt x="421" y="83"/>
                      <a:pt x="421" y="83"/>
                      <a:pt x="421" y="83"/>
                    </a:cubicBezTo>
                    <a:cubicBezTo>
                      <a:pt x="383" y="212"/>
                      <a:pt x="383" y="212"/>
                      <a:pt x="383" y="212"/>
                    </a:cubicBezTo>
                    <a:cubicBezTo>
                      <a:pt x="381" y="220"/>
                      <a:pt x="373" y="226"/>
                      <a:pt x="364" y="226"/>
                    </a:cubicBezTo>
                    <a:cubicBezTo>
                      <a:pt x="364" y="226"/>
                      <a:pt x="364" y="226"/>
                      <a:pt x="364" y="226"/>
                    </a:cubicBezTo>
                    <a:cubicBezTo>
                      <a:pt x="355" y="226"/>
                      <a:pt x="347" y="220"/>
                      <a:pt x="344" y="212"/>
                    </a:cubicBezTo>
                    <a:cubicBezTo>
                      <a:pt x="304" y="82"/>
                      <a:pt x="304" y="82"/>
                      <a:pt x="304" y="82"/>
                    </a:cubicBezTo>
                    <a:cubicBezTo>
                      <a:pt x="251" y="102"/>
                      <a:pt x="251" y="102"/>
                      <a:pt x="251" y="102"/>
                    </a:cubicBezTo>
                    <a:cubicBezTo>
                      <a:pt x="249" y="103"/>
                      <a:pt x="247" y="103"/>
                      <a:pt x="244" y="103"/>
                    </a:cubicBezTo>
                    <a:cubicBezTo>
                      <a:pt x="240" y="103"/>
                      <a:pt x="236" y="102"/>
                      <a:pt x="233" y="100"/>
                    </a:cubicBezTo>
                    <a:cubicBezTo>
                      <a:pt x="227" y="96"/>
                      <a:pt x="224" y="90"/>
                      <a:pt x="224" y="83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86" y="65"/>
                      <a:pt x="68" y="81"/>
                      <a:pt x="65" y="113"/>
                    </a:cubicBezTo>
                    <a:cubicBezTo>
                      <a:pt x="5" y="683"/>
                      <a:pt x="5" y="683"/>
                      <a:pt x="5" y="683"/>
                    </a:cubicBezTo>
                    <a:cubicBezTo>
                      <a:pt x="0" y="739"/>
                      <a:pt x="34" y="790"/>
                      <a:pt x="76" y="815"/>
                    </a:cubicBezTo>
                    <a:cubicBezTo>
                      <a:pt x="97" y="827"/>
                      <a:pt x="122" y="833"/>
                      <a:pt x="122" y="833"/>
                    </a:cubicBezTo>
                    <a:cubicBezTo>
                      <a:pt x="221" y="1601"/>
                      <a:pt x="221" y="1601"/>
                      <a:pt x="221" y="1601"/>
                    </a:cubicBezTo>
                    <a:cubicBezTo>
                      <a:pt x="224" y="1623"/>
                      <a:pt x="245" y="1642"/>
                      <a:pt x="268" y="1642"/>
                    </a:cubicBezTo>
                    <a:cubicBezTo>
                      <a:pt x="341" y="1642"/>
                      <a:pt x="341" y="1642"/>
                      <a:pt x="341" y="1642"/>
                    </a:cubicBezTo>
                    <a:cubicBezTo>
                      <a:pt x="341" y="856"/>
                      <a:pt x="341" y="856"/>
                      <a:pt x="34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82" y="856"/>
                      <a:pt x="382" y="856"/>
                      <a:pt x="382" y="856"/>
                    </a:cubicBezTo>
                    <a:cubicBezTo>
                      <a:pt x="382" y="1642"/>
                      <a:pt x="382" y="1642"/>
                      <a:pt x="382" y="1642"/>
                    </a:cubicBezTo>
                    <a:cubicBezTo>
                      <a:pt x="455" y="1642"/>
                      <a:pt x="455" y="1642"/>
                      <a:pt x="455" y="1642"/>
                    </a:cubicBezTo>
                    <a:cubicBezTo>
                      <a:pt x="477" y="1642"/>
                      <a:pt x="498" y="1623"/>
                      <a:pt x="501" y="1601"/>
                    </a:cubicBezTo>
                    <a:cubicBezTo>
                      <a:pt x="600" y="833"/>
                      <a:pt x="600" y="833"/>
                      <a:pt x="600" y="833"/>
                    </a:cubicBezTo>
                    <a:cubicBezTo>
                      <a:pt x="600" y="833"/>
                      <a:pt x="625" y="827"/>
                      <a:pt x="647" y="815"/>
                    </a:cubicBezTo>
                    <a:cubicBezTo>
                      <a:pt x="689" y="790"/>
                      <a:pt x="722" y="739"/>
                      <a:pt x="717" y="683"/>
                    </a:cubicBezTo>
                    <a:moveTo>
                      <a:pt x="161" y="400"/>
                    </a:moveTo>
                    <a:cubicBezTo>
                      <a:pt x="561" y="400"/>
                      <a:pt x="561" y="400"/>
                      <a:pt x="561" y="400"/>
                    </a:cubicBezTo>
                    <a:cubicBezTo>
                      <a:pt x="561" y="522"/>
                      <a:pt x="561" y="522"/>
                      <a:pt x="561" y="522"/>
                    </a:cubicBezTo>
                    <a:cubicBezTo>
                      <a:pt x="161" y="522"/>
                      <a:pt x="161" y="522"/>
                      <a:pt x="161" y="522"/>
                    </a:cubicBezTo>
                    <a:lnTo>
                      <a:pt x="161" y="400"/>
                    </a:lnTo>
                    <a:close/>
                    <a:moveTo>
                      <a:pt x="122" y="790"/>
                    </a:moveTo>
                    <a:cubicBezTo>
                      <a:pt x="93" y="780"/>
                      <a:pt x="77" y="765"/>
                      <a:pt x="71" y="759"/>
                    </a:cubicBezTo>
                    <a:cubicBezTo>
                      <a:pt x="57" y="746"/>
                      <a:pt x="43" y="721"/>
                      <a:pt x="46" y="688"/>
                    </a:cubicBezTo>
                    <a:cubicBezTo>
                      <a:pt x="55" y="602"/>
                      <a:pt x="55" y="602"/>
                      <a:pt x="55" y="602"/>
                    </a:cubicBezTo>
                    <a:cubicBezTo>
                      <a:pt x="123" y="602"/>
                      <a:pt x="123" y="602"/>
                      <a:pt x="123" y="602"/>
                    </a:cubicBezTo>
                    <a:lnTo>
                      <a:pt x="122" y="790"/>
                    </a:lnTo>
                    <a:close/>
                    <a:moveTo>
                      <a:pt x="652" y="759"/>
                    </a:moveTo>
                    <a:cubicBezTo>
                      <a:pt x="646" y="765"/>
                      <a:pt x="629" y="780"/>
                      <a:pt x="600" y="790"/>
                    </a:cubicBezTo>
                    <a:cubicBezTo>
                      <a:pt x="600" y="602"/>
                      <a:pt x="600" y="602"/>
                      <a:pt x="600" y="602"/>
                    </a:cubicBezTo>
                    <a:cubicBezTo>
                      <a:pt x="668" y="602"/>
                      <a:pt x="668" y="602"/>
                      <a:pt x="668" y="602"/>
                    </a:cubicBezTo>
                    <a:cubicBezTo>
                      <a:pt x="677" y="688"/>
                      <a:pt x="677" y="688"/>
                      <a:pt x="677" y="688"/>
                    </a:cubicBezTo>
                    <a:cubicBezTo>
                      <a:pt x="680" y="721"/>
                      <a:pt x="665" y="746"/>
                      <a:pt x="652" y="75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9" name="Group 287">
              <a:extLst>
                <a:ext uri="{FF2B5EF4-FFF2-40B4-BE49-F238E27FC236}">
                  <a16:creationId xmlns:a16="http://schemas.microsoft.com/office/drawing/2014/main" id="{FA03C045-0A9F-47B5-9B0C-A02D5C53874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78907" y="2738094"/>
              <a:ext cx="268246" cy="793876"/>
              <a:chOff x="1738" y="919"/>
              <a:chExt cx="1104" cy="3363"/>
            </a:xfrm>
            <a:solidFill>
              <a:schemeClr val="accent5"/>
            </a:solidFill>
          </p:grpSpPr>
          <p:sp>
            <p:nvSpPr>
              <p:cNvPr id="30" name="Freeform 290">
                <a:extLst>
                  <a:ext uri="{FF2B5EF4-FFF2-40B4-BE49-F238E27FC236}">
                    <a16:creationId xmlns:a16="http://schemas.microsoft.com/office/drawing/2014/main" id="{F134BE1A-03BA-4233-8185-5027E8A117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3" y="919"/>
                <a:ext cx="755" cy="879"/>
              </a:xfrm>
              <a:custGeom>
                <a:avLst/>
                <a:gdLst>
                  <a:gd name="T0" fmla="*/ 30 w 494"/>
                  <a:gd name="T1" fmla="*/ 284 h 575"/>
                  <a:gd name="T2" fmla="*/ 23 w 494"/>
                  <a:gd name="T3" fmla="*/ 315 h 575"/>
                  <a:gd name="T4" fmla="*/ 39 w 494"/>
                  <a:gd name="T5" fmla="*/ 342 h 575"/>
                  <a:gd name="T6" fmla="*/ 38 w 494"/>
                  <a:gd name="T7" fmla="*/ 357 h 575"/>
                  <a:gd name="T8" fmla="*/ 65 w 494"/>
                  <a:gd name="T9" fmla="*/ 385 h 575"/>
                  <a:gd name="T10" fmla="*/ 65 w 494"/>
                  <a:gd name="T11" fmla="*/ 392 h 575"/>
                  <a:gd name="T12" fmla="*/ 249 w 494"/>
                  <a:gd name="T13" fmla="*/ 575 h 575"/>
                  <a:gd name="T14" fmla="*/ 432 w 494"/>
                  <a:gd name="T15" fmla="*/ 394 h 575"/>
                  <a:gd name="T16" fmla="*/ 446 w 494"/>
                  <a:gd name="T17" fmla="*/ 367 h 575"/>
                  <a:gd name="T18" fmla="*/ 445 w 494"/>
                  <a:gd name="T19" fmla="*/ 363 h 575"/>
                  <a:gd name="T20" fmla="*/ 480 w 494"/>
                  <a:gd name="T21" fmla="*/ 329 h 575"/>
                  <a:gd name="T22" fmla="*/ 471 w 494"/>
                  <a:gd name="T23" fmla="*/ 298 h 575"/>
                  <a:gd name="T24" fmla="*/ 480 w 494"/>
                  <a:gd name="T25" fmla="*/ 274 h 575"/>
                  <a:gd name="T26" fmla="*/ 469 w 494"/>
                  <a:gd name="T27" fmla="*/ 220 h 575"/>
                  <a:gd name="T28" fmla="*/ 485 w 494"/>
                  <a:gd name="T29" fmla="*/ 182 h 575"/>
                  <a:gd name="T30" fmla="*/ 430 w 494"/>
                  <a:gd name="T31" fmla="*/ 97 h 575"/>
                  <a:gd name="T32" fmla="*/ 415 w 494"/>
                  <a:gd name="T33" fmla="*/ 99 h 575"/>
                  <a:gd name="T34" fmla="*/ 361 w 494"/>
                  <a:gd name="T35" fmla="*/ 59 h 575"/>
                  <a:gd name="T36" fmla="*/ 345 w 494"/>
                  <a:gd name="T37" fmla="*/ 61 h 575"/>
                  <a:gd name="T38" fmla="*/ 279 w 494"/>
                  <a:gd name="T39" fmla="*/ 0 h 575"/>
                  <a:gd name="T40" fmla="*/ 216 w 494"/>
                  <a:gd name="T41" fmla="*/ 47 h 575"/>
                  <a:gd name="T42" fmla="*/ 157 w 494"/>
                  <a:gd name="T43" fmla="*/ 17 h 575"/>
                  <a:gd name="T44" fmla="*/ 87 w 494"/>
                  <a:gd name="T45" fmla="*/ 98 h 575"/>
                  <a:gd name="T46" fmla="*/ 82 w 494"/>
                  <a:gd name="T47" fmla="*/ 97 h 575"/>
                  <a:gd name="T48" fmla="*/ 27 w 494"/>
                  <a:gd name="T49" fmla="*/ 182 h 575"/>
                  <a:gd name="T50" fmla="*/ 29 w 494"/>
                  <a:gd name="T51" fmla="*/ 190 h 575"/>
                  <a:gd name="T52" fmla="*/ 6 w 494"/>
                  <a:gd name="T53" fmla="*/ 245 h 575"/>
                  <a:gd name="T54" fmla="*/ 30 w 494"/>
                  <a:gd name="T55" fmla="*/ 284 h 575"/>
                  <a:gd name="T56" fmla="*/ 106 w 494"/>
                  <a:gd name="T57" fmla="*/ 303 h 575"/>
                  <a:gd name="T58" fmla="*/ 111 w 494"/>
                  <a:gd name="T59" fmla="*/ 277 h 575"/>
                  <a:gd name="T60" fmla="*/ 115 w 494"/>
                  <a:gd name="T61" fmla="*/ 256 h 575"/>
                  <a:gd name="T62" fmla="*/ 158 w 494"/>
                  <a:gd name="T63" fmla="*/ 210 h 575"/>
                  <a:gd name="T64" fmla="*/ 171 w 494"/>
                  <a:gd name="T65" fmla="*/ 211 h 575"/>
                  <a:gd name="T66" fmla="*/ 233 w 494"/>
                  <a:gd name="T67" fmla="*/ 164 h 575"/>
                  <a:gd name="T68" fmla="*/ 275 w 494"/>
                  <a:gd name="T69" fmla="*/ 182 h 575"/>
                  <a:gd name="T70" fmla="*/ 292 w 494"/>
                  <a:gd name="T71" fmla="*/ 179 h 575"/>
                  <a:gd name="T72" fmla="*/ 347 w 494"/>
                  <a:gd name="T73" fmla="*/ 222 h 575"/>
                  <a:gd name="T74" fmla="*/ 358 w 494"/>
                  <a:gd name="T75" fmla="*/ 220 h 575"/>
                  <a:gd name="T76" fmla="*/ 387 w 494"/>
                  <a:gd name="T77" fmla="*/ 252 h 575"/>
                  <a:gd name="T78" fmla="*/ 392 w 494"/>
                  <a:gd name="T79" fmla="*/ 287 h 575"/>
                  <a:gd name="T80" fmla="*/ 392 w 494"/>
                  <a:gd name="T81" fmla="*/ 392 h 575"/>
                  <a:gd name="T82" fmla="*/ 249 w 494"/>
                  <a:gd name="T83" fmla="*/ 535 h 575"/>
                  <a:gd name="T84" fmla="*/ 106 w 494"/>
                  <a:gd name="T85" fmla="*/ 392 h 575"/>
                  <a:gd name="T86" fmla="*/ 106 w 494"/>
                  <a:gd name="T87" fmla="*/ 303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94" h="575">
                    <a:moveTo>
                      <a:pt x="30" y="284"/>
                    </a:moveTo>
                    <a:cubicBezTo>
                      <a:pt x="23" y="292"/>
                      <a:pt x="21" y="303"/>
                      <a:pt x="23" y="315"/>
                    </a:cubicBezTo>
                    <a:cubicBezTo>
                      <a:pt x="25" y="326"/>
                      <a:pt x="31" y="335"/>
                      <a:pt x="39" y="342"/>
                    </a:cubicBezTo>
                    <a:cubicBezTo>
                      <a:pt x="38" y="346"/>
                      <a:pt x="37" y="352"/>
                      <a:pt x="38" y="357"/>
                    </a:cubicBezTo>
                    <a:cubicBezTo>
                      <a:pt x="41" y="371"/>
                      <a:pt x="52" y="382"/>
                      <a:pt x="65" y="385"/>
                    </a:cubicBezTo>
                    <a:cubicBezTo>
                      <a:pt x="65" y="392"/>
                      <a:pt x="65" y="392"/>
                      <a:pt x="65" y="392"/>
                    </a:cubicBezTo>
                    <a:cubicBezTo>
                      <a:pt x="65" y="493"/>
                      <a:pt x="147" y="575"/>
                      <a:pt x="249" y="575"/>
                    </a:cubicBezTo>
                    <a:cubicBezTo>
                      <a:pt x="349" y="575"/>
                      <a:pt x="431" y="495"/>
                      <a:pt x="432" y="394"/>
                    </a:cubicBezTo>
                    <a:cubicBezTo>
                      <a:pt x="440" y="390"/>
                      <a:pt x="446" y="380"/>
                      <a:pt x="446" y="367"/>
                    </a:cubicBezTo>
                    <a:cubicBezTo>
                      <a:pt x="446" y="366"/>
                      <a:pt x="446" y="364"/>
                      <a:pt x="445" y="363"/>
                    </a:cubicBezTo>
                    <a:cubicBezTo>
                      <a:pt x="461" y="360"/>
                      <a:pt x="476" y="346"/>
                      <a:pt x="480" y="329"/>
                    </a:cubicBezTo>
                    <a:cubicBezTo>
                      <a:pt x="483" y="316"/>
                      <a:pt x="479" y="305"/>
                      <a:pt x="471" y="298"/>
                    </a:cubicBezTo>
                    <a:cubicBezTo>
                      <a:pt x="475" y="291"/>
                      <a:pt x="478" y="283"/>
                      <a:pt x="480" y="274"/>
                    </a:cubicBezTo>
                    <a:cubicBezTo>
                      <a:pt x="485" y="253"/>
                      <a:pt x="480" y="234"/>
                      <a:pt x="469" y="220"/>
                    </a:cubicBezTo>
                    <a:cubicBezTo>
                      <a:pt x="476" y="209"/>
                      <a:pt x="482" y="196"/>
                      <a:pt x="485" y="182"/>
                    </a:cubicBezTo>
                    <a:cubicBezTo>
                      <a:pt x="494" y="137"/>
                      <a:pt x="469" y="97"/>
                      <a:pt x="430" y="97"/>
                    </a:cubicBezTo>
                    <a:cubicBezTo>
                      <a:pt x="425" y="97"/>
                      <a:pt x="420" y="98"/>
                      <a:pt x="415" y="99"/>
                    </a:cubicBezTo>
                    <a:cubicBezTo>
                      <a:pt x="406" y="75"/>
                      <a:pt x="386" y="59"/>
                      <a:pt x="361" y="59"/>
                    </a:cubicBezTo>
                    <a:cubicBezTo>
                      <a:pt x="355" y="59"/>
                      <a:pt x="350" y="60"/>
                      <a:pt x="345" y="61"/>
                    </a:cubicBezTo>
                    <a:cubicBezTo>
                      <a:pt x="336" y="26"/>
                      <a:pt x="311" y="0"/>
                      <a:pt x="279" y="0"/>
                    </a:cubicBezTo>
                    <a:cubicBezTo>
                      <a:pt x="251" y="0"/>
                      <a:pt x="228" y="19"/>
                      <a:pt x="216" y="47"/>
                    </a:cubicBezTo>
                    <a:cubicBezTo>
                      <a:pt x="201" y="29"/>
                      <a:pt x="180" y="17"/>
                      <a:pt x="157" y="17"/>
                    </a:cubicBezTo>
                    <a:cubicBezTo>
                      <a:pt x="118" y="17"/>
                      <a:pt x="90" y="53"/>
                      <a:pt x="87" y="98"/>
                    </a:cubicBezTo>
                    <a:cubicBezTo>
                      <a:pt x="86" y="98"/>
                      <a:pt x="84" y="97"/>
                      <a:pt x="82" y="97"/>
                    </a:cubicBezTo>
                    <a:cubicBezTo>
                      <a:pt x="43" y="97"/>
                      <a:pt x="19" y="137"/>
                      <a:pt x="27" y="182"/>
                    </a:cubicBezTo>
                    <a:cubicBezTo>
                      <a:pt x="28" y="185"/>
                      <a:pt x="29" y="187"/>
                      <a:pt x="29" y="190"/>
                    </a:cubicBezTo>
                    <a:cubicBezTo>
                      <a:pt x="10" y="198"/>
                      <a:pt x="0" y="220"/>
                      <a:pt x="6" y="245"/>
                    </a:cubicBezTo>
                    <a:cubicBezTo>
                      <a:pt x="9" y="261"/>
                      <a:pt x="18" y="275"/>
                      <a:pt x="30" y="284"/>
                    </a:cubicBezTo>
                    <a:moveTo>
                      <a:pt x="106" y="303"/>
                    </a:moveTo>
                    <a:cubicBezTo>
                      <a:pt x="106" y="294"/>
                      <a:pt x="108" y="285"/>
                      <a:pt x="111" y="277"/>
                    </a:cubicBezTo>
                    <a:cubicBezTo>
                      <a:pt x="112" y="270"/>
                      <a:pt x="113" y="263"/>
                      <a:pt x="115" y="256"/>
                    </a:cubicBezTo>
                    <a:cubicBezTo>
                      <a:pt x="136" y="251"/>
                      <a:pt x="152" y="234"/>
                      <a:pt x="158" y="210"/>
                    </a:cubicBezTo>
                    <a:cubicBezTo>
                      <a:pt x="162" y="211"/>
                      <a:pt x="166" y="211"/>
                      <a:pt x="171" y="211"/>
                    </a:cubicBezTo>
                    <a:cubicBezTo>
                      <a:pt x="198" y="211"/>
                      <a:pt x="222" y="193"/>
                      <a:pt x="233" y="164"/>
                    </a:cubicBezTo>
                    <a:cubicBezTo>
                      <a:pt x="245" y="175"/>
                      <a:pt x="260" y="182"/>
                      <a:pt x="275" y="182"/>
                    </a:cubicBezTo>
                    <a:cubicBezTo>
                      <a:pt x="281" y="182"/>
                      <a:pt x="287" y="181"/>
                      <a:pt x="292" y="179"/>
                    </a:cubicBezTo>
                    <a:cubicBezTo>
                      <a:pt x="302" y="205"/>
                      <a:pt x="323" y="222"/>
                      <a:pt x="347" y="222"/>
                    </a:cubicBezTo>
                    <a:cubicBezTo>
                      <a:pt x="351" y="222"/>
                      <a:pt x="354" y="221"/>
                      <a:pt x="358" y="220"/>
                    </a:cubicBezTo>
                    <a:cubicBezTo>
                      <a:pt x="364" y="235"/>
                      <a:pt x="374" y="246"/>
                      <a:pt x="387" y="252"/>
                    </a:cubicBezTo>
                    <a:cubicBezTo>
                      <a:pt x="390" y="263"/>
                      <a:pt x="392" y="275"/>
                      <a:pt x="392" y="287"/>
                    </a:cubicBezTo>
                    <a:cubicBezTo>
                      <a:pt x="392" y="392"/>
                      <a:pt x="392" y="392"/>
                      <a:pt x="392" y="392"/>
                    </a:cubicBezTo>
                    <a:cubicBezTo>
                      <a:pt x="392" y="471"/>
                      <a:pt x="328" y="535"/>
                      <a:pt x="249" y="535"/>
                    </a:cubicBezTo>
                    <a:cubicBezTo>
                      <a:pt x="170" y="535"/>
                      <a:pt x="106" y="471"/>
                      <a:pt x="106" y="392"/>
                    </a:cubicBezTo>
                    <a:lnTo>
                      <a:pt x="106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" name="Freeform 291">
                <a:extLst>
                  <a:ext uri="{FF2B5EF4-FFF2-40B4-BE49-F238E27FC236}">
                    <a16:creationId xmlns:a16="http://schemas.microsoft.com/office/drawing/2014/main" id="{4389BCD9-B953-4D32-9EBB-AEFAC40EF9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38" y="1772"/>
                <a:ext cx="1104" cy="2510"/>
              </a:xfrm>
              <a:custGeom>
                <a:avLst/>
                <a:gdLst>
                  <a:gd name="T0" fmla="*/ 717 w 722"/>
                  <a:gd name="T1" fmla="*/ 683 h 1642"/>
                  <a:gd name="T2" fmla="*/ 657 w 722"/>
                  <a:gd name="T3" fmla="*/ 113 h 1642"/>
                  <a:gd name="T4" fmla="*/ 616 w 722"/>
                  <a:gd name="T5" fmla="*/ 56 h 1642"/>
                  <a:gd name="T6" fmla="*/ 499 w 722"/>
                  <a:gd name="T7" fmla="*/ 1 h 1642"/>
                  <a:gd name="T8" fmla="*/ 499 w 722"/>
                  <a:gd name="T9" fmla="*/ 83 h 1642"/>
                  <a:gd name="T10" fmla="*/ 490 w 722"/>
                  <a:gd name="T11" fmla="*/ 100 h 1642"/>
                  <a:gd name="T12" fmla="*/ 478 w 722"/>
                  <a:gd name="T13" fmla="*/ 103 h 1642"/>
                  <a:gd name="T14" fmla="*/ 471 w 722"/>
                  <a:gd name="T15" fmla="*/ 102 h 1642"/>
                  <a:gd name="T16" fmla="*/ 421 w 722"/>
                  <a:gd name="T17" fmla="*/ 83 h 1642"/>
                  <a:gd name="T18" fmla="*/ 383 w 722"/>
                  <a:gd name="T19" fmla="*/ 212 h 1642"/>
                  <a:gd name="T20" fmla="*/ 364 w 722"/>
                  <a:gd name="T21" fmla="*/ 226 h 1642"/>
                  <a:gd name="T22" fmla="*/ 364 w 722"/>
                  <a:gd name="T23" fmla="*/ 226 h 1642"/>
                  <a:gd name="T24" fmla="*/ 344 w 722"/>
                  <a:gd name="T25" fmla="*/ 212 h 1642"/>
                  <a:gd name="T26" fmla="*/ 304 w 722"/>
                  <a:gd name="T27" fmla="*/ 82 h 1642"/>
                  <a:gd name="T28" fmla="*/ 251 w 722"/>
                  <a:gd name="T29" fmla="*/ 102 h 1642"/>
                  <a:gd name="T30" fmla="*/ 244 w 722"/>
                  <a:gd name="T31" fmla="*/ 103 h 1642"/>
                  <a:gd name="T32" fmla="*/ 233 w 722"/>
                  <a:gd name="T33" fmla="*/ 100 h 1642"/>
                  <a:gd name="T34" fmla="*/ 224 w 722"/>
                  <a:gd name="T35" fmla="*/ 83 h 1642"/>
                  <a:gd name="T36" fmla="*/ 224 w 722"/>
                  <a:gd name="T37" fmla="*/ 0 h 1642"/>
                  <a:gd name="T38" fmla="*/ 224 w 722"/>
                  <a:gd name="T39" fmla="*/ 0 h 1642"/>
                  <a:gd name="T40" fmla="*/ 106 w 722"/>
                  <a:gd name="T41" fmla="*/ 56 h 1642"/>
                  <a:gd name="T42" fmla="*/ 65 w 722"/>
                  <a:gd name="T43" fmla="*/ 113 h 1642"/>
                  <a:gd name="T44" fmla="*/ 5 w 722"/>
                  <a:gd name="T45" fmla="*/ 683 h 1642"/>
                  <a:gd name="T46" fmla="*/ 76 w 722"/>
                  <a:gd name="T47" fmla="*/ 815 h 1642"/>
                  <a:gd name="T48" fmla="*/ 122 w 722"/>
                  <a:gd name="T49" fmla="*/ 833 h 1642"/>
                  <a:gd name="T50" fmla="*/ 221 w 722"/>
                  <a:gd name="T51" fmla="*/ 1601 h 1642"/>
                  <a:gd name="T52" fmla="*/ 268 w 722"/>
                  <a:gd name="T53" fmla="*/ 1642 h 1642"/>
                  <a:gd name="T54" fmla="*/ 341 w 722"/>
                  <a:gd name="T55" fmla="*/ 1642 h 1642"/>
                  <a:gd name="T56" fmla="*/ 341 w 722"/>
                  <a:gd name="T57" fmla="*/ 856 h 1642"/>
                  <a:gd name="T58" fmla="*/ 361 w 722"/>
                  <a:gd name="T59" fmla="*/ 856 h 1642"/>
                  <a:gd name="T60" fmla="*/ 361 w 722"/>
                  <a:gd name="T61" fmla="*/ 856 h 1642"/>
                  <a:gd name="T62" fmla="*/ 382 w 722"/>
                  <a:gd name="T63" fmla="*/ 856 h 1642"/>
                  <a:gd name="T64" fmla="*/ 382 w 722"/>
                  <a:gd name="T65" fmla="*/ 1642 h 1642"/>
                  <a:gd name="T66" fmla="*/ 455 w 722"/>
                  <a:gd name="T67" fmla="*/ 1642 h 1642"/>
                  <a:gd name="T68" fmla="*/ 501 w 722"/>
                  <a:gd name="T69" fmla="*/ 1601 h 1642"/>
                  <a:gd name="T70" fmla="*/ 600 w 722"/>
                  <a:gd name="T71" fmla="*/ 833 h 1642"/>
                  <a:gd name="T72" fmla="*/ 647 w 722"/>
                  <a:gd name="T73" fmla="*/ 815 h 1642"/>
                  <a:gd name="T74" fmla="*/ 717 w 722"/>
                  <a:gd name="T75" fmla="*/ 683 h 1642"/>
                  <a:gd name="T76" fmla="*/ 161 w 722"/>
                  <a:gd name="T77" fmla="*/ 400 h 1642"/>
                  <a:gd name="T78" fmla="*/ 561 w 722"/>
                  <a:gd name="T79" fmla="*/ 400 h 1642"/>
                  <a:gd name="T80" fmla="*/ 561 w 722"/>
                  <a:gd name="T81" fmla="*/ 522 h 1642"/>
                  <a:gd name="T82" fmla="*/ 161 w 722"/>
                  <a:gd name="T83" fmla="*/ 522 h 1642"/>
                  <a:gd name="T84" fmla="*/ 161 w 722"/>
                  <a:gd name="T85" fmla="*/ 400 h 1642"/>
                  <a:gd name="T86" fmla="*/ 122 w 722"/>
                  <a:gd name="T87" fmla="*/ 790 h 1642"/>
                  <a:gd name="T88" fmla="*/ 71 w 722"/>
                  <a:gd name="T89" fmla="*/ 759 h 1642"/>
                  <a:gd name="T90" fmla="*/ 46 w 722"/>
                  <a:gd name="T91" fmla="*/ 688 h 1642"/>
                  <a:gd name="T92" fmla="*/ 55 w 722"/>
                  <a:gd name="T93" fmla="*/ 602 h 1642"/>
                  <a:gd name="T94" fmla="*/ 123 w 722"/>
                  <a:gd name="T95" fmla="*/ 602 h 1642"/>
                  <a:gd name="T96" fmla="*/ 122 w 722"/>
                  <a:gd name="T97" fmla="*/ 790 h 1642"/>
                  <a:gd name="T98" fmla="*/ 652 w 722"/>
                  <a:gd name="T99" fmla="*/ 759 h 1642"/>
                  <a:gd name="T100" fmla="*/ 600 w 722"/>
                  <a:gd name="T101" fmla="*/ 790 h 1642"/>
                  <a:gd name="T102" fmla="*/ 600 w 722"/>
                  <a:gd name="T103" fmla="*/ 602 h 1642"/>
                  <a:gd name="T104" fmla="*/ 668 w 722"/>
                  <a:gd name="T105" fmla="*/ 602 h 1642"/>
                  <a:gd name="T106" fmla="*/ 677 w 722"/>
                  <a:gd name="T107" fmla="*/ 688 h 1642"/>
                  <a:gd name="T108" fmla="*/ 652 w 722"/>
                  <a:gd name="T109" fmla="*/ 759 h 1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2" h="1642">
                    <a:moveTo>
                      <a:pt x="717" y="683"/>
                    </a:moveTo>
                    <a:cubicBezTo>
                      <a:pt x="657" y="113"/>
                      <a:pt x="657" y="113"/>
                      <a:pt x="657" y="113"/>
                    </a:cubicBezTo>
                    <a:cubicBezTo>
                      <a:pt x="653" y="79"/>
                      <a:pt x="636" y="65"/>
                      <a:pt x="616" y="56"/>
                    </a:cubicBezTo>
                    <a:cubicBezTo>
                      <a:pt x="499" y="1"/>
                      <a:pt x="499" y="1"/>
                      <a:pt x="499" y="1"/>
                    </a:cubicBezTo>
                    <a:cubicBezTo>
                      <a:pt x="499" y="83"/>
                      <a:pt x="499" y="83"/>
                      <a:pt x="499" y="83"/>
                    </a:cubicBezTo>
                    <a:cubicBezTo>
                      <a:pt x="499" y="90"/>
                      <a:pt x="495" y="96"/>
                      <a:pt x="490" y="100"/>
                    </a:cubicBezTo>
                    <a:cubicBezTo>
                      <a:pt x="487" y="102"/>
                      <a:pt x="482" y="103"/>
                      <a:pt x="478" y="103"/>
                    </a:cubicBezTo>
                    <a:cubicBezTo>
                      <a:pt x="476" y="103"/>
                      <a:pt x="474" y="103"/>
                      <a:pt x="471" y="102"/>
                    </a:cubicBezTo>
                    <a:cubicBezTo>
                      <a:pt x="421" y="83"/>
                      <a:pt x="421" y="83"/>
                      <a:pt x="421" y="83"/>
                    </a:cubicBezTo>
                    <a:cubicBezTo>
                      <a:pt x="383" y="212"/>
                      <a:pt x="383" y="212"/>
                      <a:pt x="383" y="212"/>
                    </a:cubicBezTo>
                    <a:cubicBezTo>
                      <a:pt x="381" y="220"/>
                      <a:pt x="373" y="226"/>
                      <a:pt x="364" y="226"/>
                    </a:cubicBezTo>
                    <a:cubicBezTo>
                      <a:pt x="364" y="226"/>
                      <a:pt x="364" y="226"/>
                      <a:pt x="364" y="226"/>
                    </a:cubicBezTo>
                    <a:cubicBezTo>
                      <a:pt x="355" y="226"/>
                      <a:pt x="347" y="220"/>
                      <a:pt x="344" y="212"/>
                    </a:cubicBezTo>
                    <a:cubicBezTo>
                      <a:pt x="304" y="82"/>
                      <a:pt x="304" y="82"/>
                      <a:pt x="304" y="82"/>
                    </a:cubicBezTo>
                    <a:cubicBezTo>
                      <a:pt x="251" y="102"/>
                      <a:pt x="251" y="102"/>
                      <a:pt x="251" y="102"/>
                    </a:cubicBezTo>
                    <a:cubicBezTo>
                      <a:pt x="249" y="103"/>
                      <a:pt x="247" y="103"/>
                      <a:pt x="244" y="103"/>
                    </a:cubicBezTo>
                    <a:cubicBezTo>
                      <a:pt x="240" y="103"/>
                      <a:pt x="236" y="102"/>
                      <a:pt x="233" y="100"/>
                    </a:cubicBezTo>
                    <a:cubicBezTo>
                      <a:pt x="227" y="96"/>
                      <a:pt x="224" y="90"/>
                      <a:pt x="224" y="83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86" y="65"/>
                      <a:pt x="68" y="81"/>
                      <a:pt x="65" y="113"/>
                    </a:cubicBezTo>
                    <a:cubicBezTo>
                      <a:pt x="5" y="683"/>
                      <a:pt x="5" y="683"/>
                      <a:pt x="5" y="683"/>
                    </a:cubicBezTo>
                    <a:cubicBezTo>
                      <a:pt x="0" y="739"/>
                      <a:pt x="34" y="790"/>
                      <a:pt x="76" y="815"/>
                    </a:cubicBezTo>
                    <a:cubicBezTo>
                      <a:pt x="97" y="827"/>
                      <a:pt x="122" y="833"/>
                      <a:pt x="122" y="833"/>
                    </a:cubicBezTo>
                    <a:cubicBezTo>
                      <a:pt x="221" y="1601"/>
                      <a:pt x="221" y="1601"/>
                      <a:pt x="221" y="1601"/>
                    </a:cubicBezTo>
                    <a:cubicBezTo>
                      <a:pt x="224" y="1623"/>
                      <a:pt x="245" y="1642"/>
                      <a:pt x="268" y="1642"/>
                    </a:cubicBezTo>
                    <a:cubicBezTo>
                      <a:pt x="341" y="1642"/>
                      <a:pt x="341" y="1642"/>
                      <a:pt x="341" y="1642"/>
                    </a:cubicBezTo>
                    <a:cubicBezTo>
                      <a:pt x="341" y="856"/>
                      <a:pt x="341" y="856"/>
                      <a:pt x="34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82" y="856"/>
                      <a:pt x="382" y="856"/>
                      <a:pt x="382" y="856"/>
                    </a:cubicBezTo>
                    <a:cubicBezTo>
                      <a:pt x="382" y="1642"/>
                      <a:pt x="382" y="1642"/>
                      <a:pt x="382" y="1642"/>
                    </a:cubicBezTo>
                    <a:cubicBezTo>
                      <a:pt x="455" y="1642"/>
                      <a:pt x="455" y="1642"/>
                      <a:pt x="455" y="1642"/>
                    </a:cubicBezTo>
                    <a:cubicBezTo>
                      <a:pt x="477" y="1642"/>
                      <a:pt x="498" y="1623"/>
                      <a:pt x="501" y="1601"/>
                    </a:cubicBezTo>
                    <a:cubicBezTo>
                      <a:pt x="600" y="833"/>
                      <a:pt x="600" y="833"/>
                      <a:pt x="600" y="833"/>
                    </a:cubicBezTo>
                    <a:cubicBezTo>
                      <a:pt x="600" y="833"/>
                      <a:pt x="625" y="827"/>
                      <a:pt x="647" y="815"/>
                    </a:cubicBezTo>
                    <a:cubicBezTo>
                      <a:pt x="689" y="790"/>
                      <a:pt x="722" y="739"/>
                      <a:pt x="717" y="683"/>
                    </a:cubicBezTo>
                    <a:moveTo>
                      <a:pt x="161" y="400"/>
                    </a:moveTo>
                    <a:cubicBezTo>
                      <a:pt x="561" y="400"/>
                      <a:pt x="561" y="400"/>
                      <a:pt x="561" y="400"/>
                    </a:cubicBezTo>
                    <a:cubicBezTo>
                      <a:pt x="561" y="522"/>
                      <a:pt x="561" y="522"/>
                      <a:pt x="561" y="522"/>
                    </a:cubicBezTo>
                    <a:cubicBezTo>
                      <a:pt x="161" y="522"/>
                      <a:pt x="161" y="522"/>
                      <a:pt x="161" y="522"/>
                    </a:cubicBezTo>
                    <a:lnTo>
                      <a:pt x="161" y="400"/>
                    </a:lnTo>
                    <a:close/>
                    <a:moveTo>
                      <a:pt x="122" y="790"/>
                    </a:moveTo>
                    <a:cubicBezTo>
                      <a:pt x="93" y="780"/>
                      <a:pt x="77" y="765"/>
                      <a:pt x="71" y="759"/>
                    </a:cubicBezTo>
                    <a:cubicBezTo>
                      <a:pt x="57" y="746"/>
                      <a:pt x="43" y="721"/>
                      <a:pt x="46" y="688"/>
                    </a:cubicBezTo>
                    <a:cubicBezTo>
                      <a:pt x="55" y="602"/>
                      <a:pt x="55" y="602"/>
                      <a:pt x="55" y="602"/>
                    </a:cubicBezTo>
                    <a:cubicBezTo>
                      <a:pt x="123" y="602"/>
                      <a:pt x="123" y="602"/>
                      <a:pt x="123" y="602"/>
                    </a:cubicBezTo>
                    <a:lnTo>
                      <a:pt x="122" y="790"/>
                    </a:lnTo>
                    <a:close/>
                    <a:moveTo>
                      <a:pt x="652" y="759"/>
                    </a:moveTo>
                    <a:cubicBezTo>
                      <a:pt x="646" y="765"/>
                      <a:pt x="629" y="780"/>
                      <a:pt x="600" y="790"/>
                    </a:cubicBezTo>
                    <a:cubicBezTo>
                      <a:pt x="600" y="602"/>
                      <a:pt x="600" y="602"/>
                      <a:pt x="600" y="602"/>
                    </a:cubicBezTo>
                    <a:cubicBezTo>
                      <a:pt x="668" y="602"/>
                      <a:pt x="668" y="602"/>
                      <a:pt x="668" y="602"/>
                    </a:cubicBezTo>
                    <a:cubicBezTo>
                      <a:pt x="677" y="688"/>
                      <a:pt x="677" y="688"/>
                      <a:pt x="677" y="688"/>
                    </a:cubicBezTo>
                    <a:cubicBezTo>
                      <a:pt x="680" y="721"/>
                      <a:pt x="665" y="746"/>
                      <a:pt x="652" y="75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0" name="Group 287">
              <a:extLst>
                <a:ext uri="{FF2B5EF4-FFF2-40B4-BE49-F238E27FC236}">
                  <a16:creationId xmlns:a16="http://schemas.microsoft.com/office/drawing/2014/main" id="{82A39735-E975-4B15-92B9-4BBE761AFB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469087" y="2738094"/>
              <a:ext cx="268246" cy="793876"/>
              <a:chOff x="1738" y="919"/>
              <a:chExt cx="1104" cy="3363"/>
            </a:xfrm>
            <a:solidFill>
              <a:schemeClr val="accent5"/>
            </a:solidFill>
          </p:grpSpPr>
          <p:sp>
            <p:nvSpPr>
              <p:cNvPr id="21" name="Freeform 290">
                <a:extLst>
                  <a:ext uri="{FF2B5EF4-FFF2-40B4-BE49-F238E27FC236}">
                    <a16:creationId xmlns:a16="http://schemas.microsoft.com/office/drawing/2014/main" id="{1FFAAAA8-8B75-4894-A020-D23AC6AC6F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903" y="919"/>
                <a:ext cx="755" cy="879"/>
              </a:xfrm>
              <a:custGeom>
                <a:avLst/>
                <a:gdLst>
                  <a:gd name="T0" fmla="*/ 30 w 494"/>
                  <a:gd name="T1" fmla="*/ 284 h 575"/>
                  <a:gd name="T2" fmla="*/ 23 w 494"/>
                  <a:gd name="T3" fmla="*/ 315 h 575"/>
                  <a:gd name="T4" fmla="*/ 39 w 494"/>
                  <a:gd name="T5" fmla="*/ 342 h 575"/>
                  <a:gd name="T6" fmla="*/ 38 w 494"/>
                  <a:gd name="T7" fmla="*/ 357 h 575"/>
                  <a:gd name="T8" fmla="*/ 65 w 494"/>
                  <a:gd name="T9" fmla="*/ 385 h 575"/>
                  <a:gd name="T10" fmla="*/ 65 w 494"/>
                  <a:gd name="T11" fmla="*/ 392 h 575"/>
                  <a:gd name="T12" fmla="*/ 249 w 494"/>
                  <a:gd name="T13" fmla="*/ 575 h 575"/>
                  <a:gd name="T14" fmla="*/ 432 w 494"/>
                  <a:gd name="T15" fmla="*/ 394 h 575"/>
                  <a:gd name="T16" fmla="*/ 446 w 494"/>
                  <a:gd name="T17" fmla="*/ 367 h 575"/>
                  <a:gd name="T18" fmla="*/ 445 w 494"/>
                  <a:gd name="T19" fmla="*/ 363 h 575"/>
                  <a:gd name="T20" fmla="*/ 480 w 494"/>
                  <a:gd name="T21" fmla="*/ 329 h 575"/>
                  <a:gd name="T22" fmla="*/ 471 w 494"/>
                  <a:gd name="T23" fmla="*/ 298 h 575"/>
                  <a:gd name="T24" fmla="*/ 480 w 494"/>
                  <a:gd name="T25" fmla="*/ 274 h 575"/>
                  <a:gd name="T26" fmla="*/ 469 w 494"/>
                  <a:gd name="T27" fmla="*/ 220 h 575"/>
                  <a:gd name="T28" fmla="*/ 485 w 494"/>
                  <a:gd name="T29" fmla="*/ 182 h 575"/>
                  <a:gd name="T30" fmla="*/ 430 w 494"/>
                  <a:gd name="T31" fmla="*/ 97 h 575"/>
                  <a:gd name="T32" fmla="*/ 415 w 494"/>
                  <a:gd name="T33" fmla="*/ 99 h 575"/>
                  <a:gd name="T34" fmla="*/ 361 w 494"/>
                  <a:gd name="T35" fmla="*/ 59 h 575"/>
                  <a:gd name="T36" fmla="*/ 345 w 494"/>
                  <a:gd name="T37" fmla="*/ 61 h 575"/>
                  <a:gd name="T38" fmla="*/ 279 w 494"/>
                  <a:gd name="T39" fmla="*/ 0 h 575"/>
                  <a:gd name="T40" fmla="*/ 216 w 494"/>
                  <a:gd name="T41" fmla="*/ 47 h 575"/>
                  <a:gd name="T42" fmla="*/ 157 w 494"/>
                  <a:gd name="T43" fmla="*/ 17 h 575"/>
                  <a:gd name="T44" fmla="*/ 87 w 494"/>
                  <a:gd name="T45" fmla="*/ 98 h 575"/>
                  <a:gd name="T46" fmla="*/ 82 w 494"/>
                  <a:gd name="T47" fmla="*/ 97 h 575"/>
                  <a:gd name="T48" fmla="*/ 27 w 494"/>
                  <a:gd name="T49" fmla="*/ 182 h 575"/>
                  <a:gd name="T50" fmla="*/ 29 w 494"/>
                  <a:gd name="T51" fmla="*/ 190 h 575"/>
                  <a:gd name="T52" fmla="*/ 6 w 494"/>
                  <a:gd name="T53" fmla="*/ 245 h 575"/>
                  <a:gd name="T54" fmla="*/ 30 w 494"/>
                  <a:gd name="T55" fmla="*/ 284 h 575"/>
                  <a:gd name="T56" fmla="*/ 106 w 494"/>
                  <a:gd name="T57" fmla="*/ 303 h 575"/>
                  <a:gd name="T58" fmla="*/ 111 w 494"/>
                  <a:gd name="T59" fmla="*/ 277 h 575"/>
                  <a:gd name="T60" fmla="*/ 115 w 494"/>
                  <a:gd name="T61" fmla="*/ 256 h 575"/>
                  <a:gd name="T62" fmla="*/ 158 w 494"/>
                  <a:gd name="T63" fmla="*/ 210 h 575"/>
                  <a:gd name="T64" fmla="*/ 171 w 494"/>
                  <a:gd name="T65" fmla="*/ 211 h 575"/>
                  <a:gd name="T66" fmla="*/ 233 w 494"/>
                  <a:gd name="T67" fmla="*/ 164 h 575"/>
                  <a:gd name="T68" fmla="*/ 275 w 494"/>
                  <a:gd name="T69" fmla="*/ 182 h 575"/>
                  <a:gd name="T70" fmla="*/ 292 w 494"/>
                  <a:gd name="T71" fmla="*/ 179 h 575"/>
                  <a:gd name="T72" fmla="*/ 347 w 494"/>
                  <a:gd name="T73" fmla="*/ 222 h 575"/>
                  <a:gd name="T74" fmla="*/ 358 w 494"/>
                  <a:gd name="T75" fmla="*/ 220 h 575"/>
                  <a:gd name="T76" fmla="*/ 387 w 494"/>
                  <a:gd name="T77" fmla="*/ 252 h 575"/>
                  <a:gd name="T78" fmla="*/ 392 w 494"/>
                  <a:gd name="T79" fmla="*/ 287 h 575"/>
                  <a:gd name="T80" fmla="*/ 392 w 494"/>
                  <a:gd name="T81" fmla="*/ 392 h 575"/>
                  <a:gd name="T82" fmla="*/ 249 w 494"/>
                  <a:gd name="T83" fmla="*/ 535 h 575"/>
                  <a:gd name="T84" fmla="*/ 106 w 494"/>
                  <a:gd name="T85" fmla="*/ 392 h 575"/>
                  <a:gd name="T86" fmla="*/ 106 w 494"/>
                  <a:gd name="T87" fmla="*/ 303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94" h="575">
                    <a:moveTo>
                      <a:pt x="30" y="284"/>
                    </a:moveTo>
                    <a:cubicBezTo>
                      <a:pt x="23" y="292"/>
                      <a:pt x="21" y="303"/>
                      <a:pt x="23" y="315"/>
                    </a:cubicBezTo>
                    <a:cubicBezTo>
                      <a:pt x="25" y="326"/>
                      <a:pt x="31" y="335"/>
                      <a:pt x="39" y="342"/>
                    </a:cubicBezTo>
                    <a:cubicBezTo>
                      <a:pt x="38" y="346"/>
                      <a:pt x="37" y="352"/>
                      <a:pt x="38" y="357"/>
                    </a:cubicBezTo>
                    <a:cubicBezTo>
                      <a:pt x="41" y="371"/>
                      <a:pt x="52" y="382"/>
                      <a:pt x="65" y="385"/>
                    </a:cubicBezTo>
                    <a:cubicBezTo>
                      <a:pt x="65" y="392"/>
                      <a:pt x="65" y="392"/>
                      <a:pt x="65" y="392"/>
                    </a:cubicBezTo>
                    <a:cubicBezTo>
                      <a:pt x="65" y="493"/>
                      <a:pt x="147" y="575"/>
                      <a:pt x="249" y="575"/>
                    </a:cubicBezTo>
                    <a:cubicBezTo>
                      <a:pt x="349" y="575"/>
                      <a:pt x="431" y="495"/>
                      <a:pt x="432" y="394"/>
                    </a:cubicBezTo>
                    <a:cubicBezTo>
                      <a:pt x="440" y="390"/>
                      <a:pt x="446" y="380"/>
                      <a:pt x="446" y="367"/>
                    </a:cubicBezTo>
                    <a:cubicBezTo>
                      <a:pt x="446" y="366"/>
                      <a:pt x="446" y="364"/>
                      <a:pt x="445" y="363"/>
                    </a:cubicBezTo>
                    <a:cubicBezTo>
                      <a:pt x="461" y="360"/>
                      <a:pt x="476" y="346"/>
                      <a:pt x="480" y="329"/>
                    </a:cubicBezTo>
                    <a:cubicBezTo>
                      <a:pt x="483" y="316"/>
                      <a:pt x="479" y="305"/>
                      <a:pt x="471" y="298"/>
                    </a:cubicBezTo>
                    <a:cubicBezTo>
                      <a:pt x="475" y="291"/>
                      <a:pt x="478" y="283"/>
                      <a:pt x="480" y="274"/>
                    </a:cubicBezTo>
                    <a:cubicBezTo>
                      <a:pt x="485" y="253"/>
                      <a:pt x="480" y="234"/>
                      <a:pt x="469" y="220"/>
                    </a:cubicBezTo>
                    <a:cubicBezTo>
                      <a:pt x="476" y="209"/>
                      <a:pt x="482" y="196"/>
                      <a:pt x="485" y="182"/>
                    </a:cubicBezTo>
                    <a:cubicBezTo>
                      <a:pt x="494" y="137"/>
                      <a:pt x="469" y="97"/>
                      <a:pt x="430" y="97"/>
                    </a:cubicBezTo>
                    <a:cubicBezTo>
                      <a:pt x="425" y="97"/>
                      <a:pt x="420" y="98"/>
                      <a:pt x="415" y="99"/>
                    </a:cubicBezTo>
                    <a:cubicBezTo>
                      <a:pt x="406" y="75"/>
                      <a:pt x="386" y="59"/>
                      <a:pt x="361" y="59"/>
                    </a:cubicBezTo>
                    <a:cubicBezTo>
                      <a:pt x="355" y="59"/>
                      <a:pt x="350" y="60"/>
                      <a:pt x="345" y="61"/>
                    </a:cubicBezTo>
                    <a:cubicBezTo>
                      <a:pt x="336" y="26"/>
                      <a:pt x="311" y="0"/>
                      <a:pt x="279" y="0"/>
                    </a:cubicBezTo>
                    <a:cubicBezTo>
                      <a:pt x="251" y="0"/>
                      <a:pt x="228" y="19"/>
                      <a:pt x="216" y="47"/>
                    </a:cubicBezTo>
                    <a:cubicBezTo>
                      <a:pt x="201" y="29"/>
                      <a:pt x="180" y="17"/>
                      <a:pt x="157" y="17"/>
                    </a:cubicBezTo>
                    <a:cubicBezTo>
                      <a:pt x="118" y="17"/>
                      <a:pt x="90" y="53"/>
                      <a:pt x="87" y="98"/>
                    </a:cubicBezTo>
                    <a:cubicBezTo>
                      <a:pt x="86" y="98"/>
                      <a:pt x="84" y="97"/>
                      <a:pt x="82" y="97"/>
                    </a:cubicBezTo>
                    <a:cubicBezTo>
                      <a:pt x="43" y="97"/>
                      <a:pt x="19" y="137"/>
                      <a:pt x="27" y="182"/>
                    </a:cubicBezTo>
                    <a:cubicBezTo>
                      <a:pt x="28" y="185"/>
                      <a:pt x="29" y="187"/>
                      <a:pt x="29" y="190"/>
                    </a:cubicBezTo>
                    <a:cubicBezTo>
                      <a:pt x="10" y="198"/>
                      <a:pt x="0" y="220"/>
                      <a:pt x="6" y="245"/>
                    </a:cubicBezTo>
                    <a:cubicBezTo>
                      <a:pt x="9" y="261"/>
                      <a:pt x="18" y="275"/>
                      <a:pt x="30" y="284"/>
                    </a:cubicBezTo>
                    <a:moveTo>
                      <a:pt x="106" y="303"/>
                    </a:moveTo>
                    <a:cubicBezTo>
                      <a:pt x="106" y="294"/>
                      <a:pt x="108" y="285"/>
                      <a:pt x="111" y="277"/>
                    </a:cubicBezTo>
                    <a:cubicBezTo>
                      <a:pt x="112" y="270"/>
                      <a:pt x="113" y="263"/>
                      <a:pt x="115" y="256"/>
                    </a:cubicBezTo>
                    <a:cubicBezTo>
                      <a:pt x="136" y="251"/>
                      <a:pt x="152" y="234"/>
                      <a:pt x="158" y="210"/>
                    </a:cubicBezTo>
                    <a:cubicBezTo>
                      <a:pt x="162" y="211"/>
                      <a:pt x="166" y="211"/>
                      <a:pt x="171" y="211"/>
                    </a:cubicBezTo>
                    <a:cubicBezTo>
                      <a:pt x="198" y="211"/>
                      <a:pt x="222" y="193"/>
                      <a:pt x="233" y="164"/>
                    </a:cubicBezTo>
                    <a:cubicBezTo>
                      <a:pt x="245" y="175"/>
                      <a:pt x="260" y="182"/>
                      <a:pt x="275" y="182"/>
                    </a:cubicBezTo>
                    <a:cubicBezTo>
                      <a:pt x="281" y="182"/>
                      <a:pt x="287" y="181"/>
                      <a:pt x="292" y="179"/>
                    </a:cubicBezTo>
                    <a:cubicBezTo>
                      <a:pt x="302" y="205"/>
                      <a:pt x="323" y="222"/>
                      <a:pt x="347" y="222"/>
                    </a:cubicBezTo>
                    <a:cubicBezTo>
                      <a:pt x="351" y="222"/>
                      <a:pt x="354" y="221"/>
                      <a:pt x="358" y="220"/>
                    </a:cubicBezTo>
                    <a:cubicBezTo>
                      <a:pt x="364" y="235"/>
                      <a:pt x="374" y="246"/>
                      <a:pt x="387" y="252"/>
                    </a:cubicBezTo>
                    <a:cubicBezTo>
                      <a:pt x="390" y="263"/>
                      <a:pt x="392" y="275"/>
                      <a:pt x="392" y="287"/>
                    </a:cubicBezTo>
                    <a:cubicBezTo>
                      <a:pt x="392" y="392"/>
                      <a:pt x="392" y="392"/>
                      <a:pt x="392" y="392"/>
                    </a:cubicBezTo>
                    <a:cubicBezTo>
                      <a:pt x="392" y="471"/>
                      <a:pt x="328" y="535"/>
                      <a:pt x="249" y="535"/>
                    </a:cubicBezTo>
                    <a:cubicBezTo>
                      <a:pt x="170" y="535"/>
                      <a:pt x="106" y="471"/>
                      <a:pt x="106" y="392"/>
                    </a:cubicBezTo>
                    <a:lnTo>
                      <a:pt x="106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" name="Freeform 291">
                <a:extLst>
                  <a:ext uri="{FF2B5EF4-FFF2-40B4-BE49-F238E27FC236}">
                    <a16:creationId xmlns:a16="http://schemas.microsoft.com/office/drawing/2014/main" id="{6130AB5D-9392-4F07-A36E-674CB517B0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38" y="1772"/>
                <a:ext cx="1104" cy="2510"/>
              </a:xfrm>
              <a:custGeom>
                <a:avLst/>
                <a:gdLst>
                  <a:gd name="T0" fmla="*/ 717 w 722"/>
                  <a:gd name="T1" fmla="*/ 683 h 1642"/>
                  <a:gd name="T2" fmla="*/ 657 w 722"/>
                  <a:gd name="T3" fmla="*/ 113 h 1642"/>
                  <a:gd name="T4" fmla="*/ 616 w 722"/>
                  <a:gd name="T5" fmla="*/ 56 h 1642"/>
                  <a:gd name="T6" fmla="*/ 499 w 722"/>
                  <a:gd name="T7" fmla="*/ 1 h 1642"/>
                  <a:gd name="T8" fmla="*/ 499 w 722"/>
                  <a:gd name="T9" fmla="*/ 83 h 1642"/>
                  <a:gd name="T10" fmla="*/ 490 w 722"/>
                  <a:gd name="T11" fmla="*/ 100 h 1642"/>
                  <a:gd name="T12" fmla="*/ 478 w 722"/>
                  <a:gd name="T13" fmla="*/ 103 h 1642"/>
                  <a:gd name="T14" fmla="*/ 471 w 722"/>
                  <a:gd name="T15" fmla="*/ 102 h 1642"/>
                  <a:gd name="T16" fmla="*/ 421 w 722"/>
                  <a:gd name="T17" fmla="*/ 83 h 1642"/>
                  <a:gd name="T18" fmla="*/ 383 w 722"/>
                  <a:gd name="T19" fmla="*/ 212 h 1642"/>
                  <a:gd name="T20" fmla="*/ 364 w 722"/>
                  <a:gd name="T21" fmla="*/ 226 h 1642"/>
                  <a:gd name="T22" fmla="*/ 364 w 722"/>
                  <a:gd name="T23" fmla="*/ 226 h 1642"/>
                  <a:gd name="T24" fmla="*/ 344 w 722"/>
                  <a:gd name="T25" fmla="*/ 212 h 1642"/>
                  <a:gd name="T26" fmla="*/ 304 w 722"/>
                  <a:gd name="T27" fmla="*/ 82 h 1642"/>
                  <a:gd name="T28" fmla="*/ 251 w 722"/>
                  <a:gd name="T29" fmla="*/ 102 h 1642"/>
                  <a:gd name="T30" fmla="*/ 244 w 722"/>
                  <a:gd name="T31" fmla="*/ 103 h 1642"/>
                  <a:gd name="T32" fmla="*/ 233 w 722"/>
                  <a:gd name="T33" fmla="*/ 100 h 1642"/>
                  <a:gd name="T34" fmla="*/ 224 w 722"/>
                  <a:gd name="T35" fmla="*/ 83 h 1642"/>
                  <a:gd name="T36" fmla="*/ 224 w 722"/>
                  <a:gd name="T37" fmla="*/ 0 h 1642"/>
                  <a:gd name="T38" fmla="*/ 224 w 722"/>
                  <a:gd name="T39" fmla="*/ 0 h 1642"/>
                  <a:gd name="T40" fmla="*/ 106 w 722"/>
                  <a:gd name="T41" fmla="*/ 56 h 1642"/>
                  <a:gd name="T42" fmla="*/ 65 w 722"/>
                  <a:gd name="T43" fmla="*/ 113 h 1642"/>
                  <a:gd name="T44" fmla="*/ 5 w 722"/>
                  <a:gd name="T45" fmla="*/ 683 h 1642"/>
                  <a:gd name="T46" fmla="*/ 76 w 722"/>
                  <a:gd name="T47" fmla="*/ 815 h 1642"/>
                  <a:gd name="T48" fmla="*/ 122 w 722"/>
                  <a:gd name="T49" fmla="*/ 833 h 1642"/>
                  <a:gd name="T50" fmla="*/ 221 w 722"/>
                  <a:gd name="T51" fmla="*/ 1601 h 1642"/>
                  <a:gd name="T52" fmla="*/ 268 w 722"/>
                  <a:gd name="T53" fmla="*/ 1642 h 1642"/>
                  <a:gd name="T54" fmla="*/ 341 w 722"/>
                  <a:gd name="T55" fmla="*/ 1642 h 1642"/>
                  <a:gd name="T56" fmla="*/ 341 w 722"/>
                  <a:gd name="T57" fmla="*/ 856 h 1642"/>
                  <a:gd name="T58" fmla="*/ 361 w 722"/>
                  <a:gd name="T59" fmla="*/ 856 h 1642"/>
                  <a:gd name="T60" fmla="*/ 361 w 722"/>
                  <a:gd name="T61" fmla="*/ 856 h 1642"/>
                  <a:gd name="T62" fmla="*/ 382 w 722"/>
                  <a:gd name="T63" fmla="*/ 856 h 1642"/>
                  <a:gd name="T64" fmla="*/ 382 w 722"/>
                  <a:gd name="T65" fmla="*/ 1642 h 1642"/>
                  <a:gd name="T66" fmla="*/ 455 w 722"/>
                  <a:gd name="T67" fmla="*/ 1642 h 1642"/>
                  <a:gd name="T68" fmla="*/ 501 w 722"/>
                  <a:gd name="T69" fmla="*/ 1601 h 1642"/>
                  <a:gd name="T70" fmla="*/ 600 w 722"/>
                  <a:gd name="T71" fmla="*/ 833 h 1642"/>
                  <a:gd name="T72" fmla="*/ 647 w 722"/>
                  <a:gd name="T73" fmla="*/ 815 h 1642"/>
                  <a:gd name="T74" fmla="*/ 717 w 722"/>
                  <a:gd name="T75" fmla="*/ 683 h 1642"/>
                  <a:gd name="T76" fmla="*/ 161 w 722"/>
                  <a:gd name="T77" fmla="*/ 400 h 1642"/>
                  <a:gd name="T78" fmla="*/ 561 w 722"/>
                  <a:gd name="T79" fmla="*/ 400 h 1642"/>
                  <a:gd name="T80" fmla="*/ 561 w 722"/>
                  <a:gd name="T81" fmla="*/ 522 h 1642"/>
                  <a:gd name="T82" fmla="*/ 161 w 722"/>
                  <a:gd name="T83" fmla="*/ 522 h 1642"/>
                  <a:gd name="T84" fmla="*/ 161 w 722"/>
                  <a:gd name="T85" fmla="*/ 400 h 1642"/>
                  <a:gd name="T86" fmla="*/ 122 w 722"/>
                  <a:gd name="T87" fmla="*/ 790 h 1642"/>
                  <a:gd name="T88" fmla="*/ 71 w 722"/>
                  <a:gd name="T89" fmla="*/ 759 h 1642"/>
                  <a:gd name="T90" fmla="*/ 46 w 722"/>
                  <a:gd name="T91" fmla="*/ 688 h 1642"/>
                  <a:gd name="T92" fmla="*/ 55 w 722"/>
                  <a:gd name="T93" fmla="*/ 602 h 1642"/>
                  <a:gd name="T94" fmla="*/ 123 w 722"/>
                  <a:gd name="T95" fmla="*/ 602 h 1642"/>
                  <a:gd name="T96" fmla="*/ 122 w 722"/>
                  <a:gd name="T97" fmla="*/ 790 h 1642"/>
                  <a:gd name="T98" fmla="*/ 652 w 722"/>
                  <a:gd name="T99" fmla="*/ 759 h 1642"/>
                  <a:gd name="T100" fmla="*/ 600 w 722"/>
                  <a:gd name="T101" fmla="*/ 790 h 1642"/>
                  <a:gd name="T102" fmla="*/ 600 w 722"/>
                  <a:gd name="T103" fmla="*/ 602 h 1642"/>
                  <a:gd name="T104" fmla="*/ 668 w 722"/>
                  <a:gd name="T105" fmla="*/ 602 h 1642"/>
                  <a:gd name="T106" fmla="*/ 677 w 722"/>
                  <a:gd name="T107" fmla="*/ 688 h 1642"/>
                  <a:gd name="T108" fmla="*/ 652 w 722"/>
                  <a:gd name="T109" fmla="*/ 759 h 1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2" h="1642">
                    <a:moveTo>
                      <a:pt x="717" y="683"/>
                    </a:moveTo>
                    <a:cubicBezTo>
                      <a:pt x="657" y="113"/>
                      <a:pt x="657" y="113"/>
                      <a:pt x="657" y="113"/>
                    </a:cubicBezTo>
                    <a:cubicBezTo>
                      <a:pt x="653" y="79"/>
                      <a:pt x="636" y="65"/>
                      <a:pt x="616" y="56"/>
                    </a:cubicBezTo>
                    <a:cubicBezTo>
                      <a:pt x="499" y="1"/>
                      <a:pt x="499" y="1"/>
                      <a:pt x="499" y="1"/>
                    </a:cubicBezTo>
                    <a:cubicBezTo>
                      <a:pt x="499" y="83"/>
                      <a:pt x="499" y="83"/>
                      <a:pt x="499" y="83"/>
                    </a:cubicBezTo>
                    <a:cubicBezTo>
                      <a:pt x="499" y="90"/>
                      <a:pt x="495" y="96"/>
                      <a:pt x="490" y="100"/>
                    </a:cubicBezTo>
                    <a:cubicBezTo>
                      <a:pt x="487" y="102"/>
                      <a:pt x="482" y="103"/>
                      <a:pt x="478" y="103"/>
                    </a:cubicBezTo>
                    <a:cubicBezTo>
                      <a:pt x="476" y="103"/>
                      <a:pt x="474" y="103"/>
                      <a:pt x="471" y="102"/>
                    </a:cubicBezTo>
                    <a:cubicBezTo>
                      <a:pt x="421" y="83"/>
                      <a:pt x="421" y="83"/>
                      <a:pt x="421" y="83"/>
                    </a:cubicBezTo>
                    <a:cubicBezTo>
                      <a:pt x="383" y="212"/>
                      <a:pt x="383" y="212"/>
                      <a:pt x="383" y="212"/>
                    </a:cubicBezTo>
                    <a:cubicBezTo>
                      <a:pt x="381" y="220"/>
                      <a:pt x="373" y="226"/>
                      <a:pt x="364" y="226"/>
                    </a:cubicBezTo>
                    <a:cubicBezTo>
                      <a:pt x="364" y="226"/>
                      <a:pt x="364" y="226"/>
                      <a:pt x="364" y="226"/>
                    </a:cubicBezTo>
                    <a:cubicBezTo>
                      <a:pt x="355" y="226"/>
                      <a:pt x="347" y="220"/>
                      <a:pt x="344" y="212"/>
                    </a:cubicBezTo>
                    <a:cubicBezTo>
                      <a:pt x="304" y="82"/>
                      <a:pt x="304" y="82"/>
                      <a:pt x="304" y="82"/>
                    </a:cubicBezTo>
                    <a:cubicBezTo>
                      <a:pt x="251" y="102"/>
                      <a:pt x="251" y="102"/>
                      <a:pt x="251" y="102"/>
                    </a:cubicBezTo>
                    <a:cubicBezTo>
                      <a:pt x="249" y="103"/>
                      <a:pt x="247" y="103"/>
                      <a:pt x="244" y="103"/>
                    </a:cubicBezTo>
                    <a:cubicBezTo>
                      <a:pt x="240" y="103"/>
                      <a:pt x="236" y="102"/>
                      <a:pt x="233" y="100"/>
                    </a:cubicBezTo>
                    <a:cubicBezTo>
                      <a:pt x="227" y="96"/>
                      <a:pt x="224" y="90"/>
                      <a:pt x="224" y="83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86" y="65"/>
                      <a:pt x="68" y="81"/>
                      <a:pt x="65" y="113"/>
                    </a:cubicBezTo>
                    <a:cubicBezTo>
                      <a:pt x="5" y="683"/>
                      <a:pt x="5" y="683"/>
                      <a:pt x="5" y="683"/>
                    </a:cubicBezTo>
                    <a:cubicBezTo>
                      <a:pt x="0" y="739"/>
                      <a:pt x="34" y="790"/>
                      <a:pt x="76" y="815"/>
                    </a:cubicBezTo>
                    <a:cubicBezTo>
                      <a:pt x="97" y="827"/>
                      <a:pt x="122" y="833"/>
                      <a:pt x="122" y="833"/>
                    </a:cubicBezTo>
                    <a:cubicBezTo>
                      <a:pt x="221" y="1601"/>
                      <a:pt x="221" y="1601"/>
                      <a:pt x="221" y="1601"/>
                    </a:cubicBezTo>
                    <a:cubicBezTo>
                      <a:pt x="224" y="1623"/>
                      <a:pt x="245" y="1642"/>
                      <a:pt x="268" y="1642"/>
                    </a:cubicBezTo>
                    <a:cubicBezTo>
                      <a:pt x="341" y="1642"/>
                      <a:pt x="341" y="1642"/>
                      <a:pt x="341" y="1642"/>
                    </a:cubicBezTo>
                    <a:cubicBezTo>
                      <a:pt x="341" y="856"/>
                      <a:pt x="341" y="856"/>
                      <a:pt x="34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61" y="856"/>
                      <a:pt x="361" y="856"/>
                      <a:pt x="361" y="856"/>
                    </a:cubicBezTo>
                    <a:cubicBezTo>
                      <a:pt x="382" y="856"/>
                      <a:pt x="382" y="856"/>
                      <a:pt x="382" y="856"/>
                    </a:cubicBezTo>
                    <a:cubicBezTo>
                      <a:pt x="382" y="1642"/>
                      <a:pt x="382" y="1642"/>
                      <a:pt x="382" y="1642"/>
                    </a:cubicBezTo>
                    <a:cubicBezTo>
                      <a:pt x="455" y="1642"/>
                      <a:pt x="455" y="1642"/>
                      <a:pt x="455" y="1642"/>
                    </a:cubicBezTo>
                    <a:cubicBezTo>
                      <a:pt x="477" y="1642"/>
                      <a:pt x="498" y="1623"/>
                      <a:pt x="501" y="1601"/>
                    </a:cubicBezTo>
                    <a:cubicBezTo>
                      <a:pt x="600" y="833"/>
                      <a:pt x="600" y="833"/>
                      <a:pt x="600" y="833"/>
                    </a:cubicBezTo>
                    <a:cubicBezTo>
                      <a:pt x="600" y="833"/>
                      <a:pt x="625" y="827"/>
                      <a:pt x="647" y="815"/>
                    </a:cubicBezTo>
                    <a:cubicBezTo>
                      <a:pt x="689" y="790"/>
                      <a:pt x="722" y="739"/>
                      <a:pt x="717" y="683"/>
                    </a:cubicBezTo>
                    <a:moveTo>
                      <a:pt x="161" y="400"/>
                    </a:moveTo>
                    <a:cubicBezTo>
                      <a:pt x="561" y="400"/>
                      <a:pt x="561" y="400"/>
                      <a:pt x="561" y="400"/>
                    </a:cubicBezTo>
                    <a:cubicBezTo>
                      <a:pt x="561" y="522"/>
                      <a:pt x="561" y="522"/>
                      <a:pt x="561" y="522"/>
                    </a:cubicBezTo>
                    <a:cubicBezTo>
                      <a:pt x="161" y="522"/>
                      <a:pt x="161" y="522"/>
                      <a:pt x="161" y="522"/>
                    </a:cubicBezTo>
                    <a:lnTo>
                      <a:pt x="161" y="400"/>
                    </a:lnTo>
                    <a:close/>
                    <a:moveTo>
                      <a:pt x="122" y="790"/>
                    </a:moveTo>
                    <a:cubicBezTo>
                      <a:pt x="93" y="780"/>
                      <a:pt x="77" y="765"/>
                      <a:pt x="71" y="759"/>
                    </a:cubicBezTo>
                    <a:cubicBezTo>
                      <a:pt x="57" y="746"/>
                      <a:pt x="43" y="721"/>
                      <a:pt x="46" y="688"/>
                    </a:cubicBezTo>
                    <a:cubicBezTo>
                      <a:pt x="55" y="602"/>
                      <a:pt x="55" y="602"/>
                      <a:pt x="55" y="602"/>
                    </a:cubicBezTo>
                    <a:cubicBezTo>
                      <a:pt x="123" y="602"/>
                      <a:pt x="123" y="602"/>
                      <a:pt x="123" y="602"/>
                    </a:cubicBezTo>
                    <a:lnTo>
                      <a:pt x="122" y="790"/>
                    </a:lnTo>
                    <a:close/>
                    <a:moveTo>
                      <a:pt x="652" y="759"/>
                    </a:moveTo>
                    <a:cubicBezTo>
                      <a:pt x="646" y="765"/>
                      <a:pt x="629" y="780"/>
                      <a:pt x="600" y="790"/>
                    </a:cubicBezTo>
                    <a:cubicBezTo>
                      <a:pt x="600" y="602"/>
                      <a:pt x="600" y="602"/>
                      <a:pt x="600" y="602"/>
                    </a:cubicBezTo>
                    <a:cubicBezTo>
                      <a:pt x="668" y="602"/>
                      <a:pt x="668" y="602"/>
                      <a:pt x="668" y="602"/>
                    </a:cubicBezTo>
                    <a:cubicBezTo>
                      <a:pt x="677" y="688"/>
                      <a:pt x="677" y="688"/>
                      <a:pt x="677" y="688"/>
                    </a:cubicBezTo>
                    <a:cubicBezTo>
                      <a:pt x="680" y="721"/>
                      <a:pt x="665" y="746"/>
                      <a:pt x="652" y="75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E70BE54-CE89-48CC-B9B3-5FD5D247C19D}"/>
                </a:ext>
              </a:extLst>
            </p:cNvPr>
            <p:cNvSpPr txBox="1"/>
            <p:nvPr/>
          </p:nvSpPr>
          <p:spPr>
            <a:xfrm>
              <a:off x="5191491" y="2373709"/>
              <a:ext cx="11449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200" b="1">
                  <a:solidFill>
                    <a:schemeClr val="bg2"/>
                  </a:solidFill>
                </a:rPr>
                <a:t>“Yes”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AA9FE9B-F230-461C-BF87-B038A5979CF9}"/>
                </a:ext>
              </a:extLst>
            </p:cNvPr>
            <p:cNvSpPr txBox="1"/>
            <p:nvPr/>
          </p:nvSpPr>
          <p:spPr>
            <a:xfrm>
              <a:off x="6552175" y="2383000"/>
              <a:ext cx="14008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200" b="1">
                  <a:solidFill>
                    <a:schemeClr val="accent5"/>
                  </a:solidFill>
                </a:rPr>
                <a:t>“No”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6FD7AB7-2B60-45E4-A20C-D4F6FFEFC2CF}"/>
                </a:ext>
              </a:extLst>
            </p:cNvPr>
            <p:cNvCxnSpPr/>
            <p:nvPr/>
          </p:nvCxnSpPr>
          <p:spPr>
            <a:xfrm>
              <a:off x="6461651" y="2207781"/>
              <a:ext cx="0" cy="14633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39FF3295-853D-4D68-8779-503E107CB3D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2518D4C6-4814-43AD-918E-118093A83BA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68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ED22A0-DC73-40E7-A318-17C4F588432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152" y="1192388"/>
            <a:ext cx="7789621" cy="3070050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Binary data has two options for response, e.g. “Yes” or “No”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3F30C-1C0A-4768-A0E8-2A9E6F7C8E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Most common statistics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AAF1C-023F-477E-8EC1-9C894D16C9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3E57AA-A94B-4BB5-B509-EE512A84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Binary data</a:t>
            </a: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39FF3295-853D-4D68-8779-503E107CB3D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2518D4C6-4814-43AD-918E-118093A83BA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EA4998-127D-49DC-8226-4D72F16EBC30}"/>
              </a:ext>
            </a:extLst>
          </p:cNvPr>
          <p:cNvSpPr txBox="1"/>
          <p:nvPr/>
        </p:nvSpPr>
        <p:spPr>
          <a:xfrm>
            <a:off x="256280" y="1792832"/>
            <a:ext cx="313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600" i="1"/>
              <a:t>Most common statistics</a:t>
            </a:r>
            <a:r>
              <a:rPr lang="en-GB" sz="1200"/>
              <a:t>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0178EA-683A-4B81-A934-D3B01C7FF3B8}"/>
              </a:ext>
            </a:extLst>
          </p:cNvPr>
          <p:cNvSpPr txBox="1"/>
          <p:nvPr/>
        </p:nvSpPr>
        <p:spPr>
          <a:xfrm>
            <a:off x="1982280" y="2277327"/>
            <a:ext cx="84679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Risk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744232-C266-41F0-B5F1-EE45EECC1E7E}"/>
              </a:ext>
            </a:extLst>
          </p:cNvPr>
          <p:cNvSpPr txBox="1"/>
          <p:nvPr/>
        </p:nvSpPr>
        <p:spPr>
          <a:xfrm>
            <a:off x="5087289" y="3155567"/>
            <a:ext cx="328080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Odds ratio (OR)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46DD73-9F67-4708-8FCF-15E64CD930E8}"/>
              </a:ext>
            </a:extLst>
          </p:cNvPr>
          <p:cNvSpPr txBox="1"/>
          <p:nvPr/>
        </p:nvSpPr>
        <p:spPr>
          <a:xfrm>
            <a:off x="5077212" y="2272704"/>
            <a:ext cx="327944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Absolute risk difference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6F135-1D96-497C-9DF7-BBFD1BA1FEC5}"/>
              </a:ext>
            </a:extLst>
          </p:cNvPr>
          <p:cNvSpPr txBox="1"/>
          <p:nvPr/>
        </p:nvSpPr>
        <p:spPr>
          <a:xfrm>
            <a:off x="775910" y="2721621"/>
            <a:ext cx="3667034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600"/>
              <a:t>Probability of a certain event occurring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5EDD79-4216-43A3-B3DE-B7E07F7C1CD4}"/>
              </a:ext>
            </a:extLst>
          </p:cNvPr>
          <p:cNvSpPr txBox="1"/>
          <p:nvPr/>
        </p:nvSpPr>
        <p:spPr>
          <a:xfrm>
            <a:off x="5077212" y="2642036"/>
            <a:ext cx="327944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Relative risk/risk ratio (RR)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46FEDC-B6BA-4919-B584-85DC1EF71C5A}"/>
              </a:ext>
            </a:extLst>
          </p:cNvPr>
          <p:cNvSpPr txBox="1"/>
          <p:nvPr/>
        </p:nvSpPr>
        <p:spPr>
          <a:xfrm>
            <a:off x="411131" y="3597486"/>
            <a:ext cx="4396592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/>
              <a:t>Ratio of the risk of event to the risk of no event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12195E-0557-45DD-B332-22F8689F77D8}"/>
              </a:ext>
            </a:extLst>
          </p:cNvPr>
          <p:cNvSpPr txBox="1"/>
          <p:nvPr/>
        </p:nvSpPr>
        <p:spPr>
          <a:xfrm>
            <a:off x="1982279" y="3140322"/>
            <a:ext cx="84679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Odds</a:t>
            </a:r>
          </a:p>
        </p:txBody>
      </p:sp>
    </p:spTree>
    <p:extLst>
      <p:ext uri="{BB962C8B-B14F-4D97-AF65-F5344CB8AC3E}">
        <p14:creationId xmlns:p14="http://schemas.microsoft.com/office/powerpoint/2010/main" val="214409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42" grpId="0" animBg="1"/>
      <p:bldP spid="7" grpId="0" animBg="1"/>
      <p:bldP spid="41" grpId="0" animBg="1"/>
      <p:bldP spid="43" grpId="0" animBg="1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CCF4FD-BAAE-416A-9340-575A0B3C59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52749" y="1297906"/>
            <a:ext cx="3430403" cy="2795744"/>
          </a:xfrm>
        </p:spPr>
        <p:txBody>
          <a:bodyPr/>
          <a:lstStyle/>
          <a:p>
            <a:r>
              <a:rPr lang="en-GB"/>
              <a:t>What is presented in the figure?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A5132-5E5D-4DE1-9A43-CDCD2FB5FB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i="1"/>
              <a:t>Putting it into practice</a:t>
            </a:r>
            <a:r>
              <a:rPr lang="en-GB"/>
              <a:t>: Phase 3 study in psoriasis 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ADFCEA-FB0F-44AA-A299-61A4934C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Binary data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46FA77-7442-4E9C-A795-ECB6174114D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0C0CE-73D1-4792-AD2A-4CC33B966A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490CE4-D29B-48CA-8310-ED6554E4FC4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9152" y="1201510"/>
            <a:ext cx="4212848" cy="317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4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CCF4FD-BAAE-416A-9340-575A0B3C59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50445" y="1448782"/>
            <a:ext cx="2627687" cy="2795744"/>
          </a:xfrm>
        </p:spPr>
        <p:txBody>
          <a:bodyPr/>
          <a:lstStyle/>
          <a:p>
            <a:r>
              <a:rPr lang="en-GB"/>
              <a:t>Can you find the OR for (B) vs (A) comparison?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A5132-5E5D-4DE1-9A43-CDCD2FB5FB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i="1"/>
              <a:t>Putting it into practice</a:t>
            </a:r>
            <a:r>
              <a:rPr lang="en-GB"/>
              <a:t>: Device study for ELLIPTA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ADFCEA-FB0F-44AA-A299-61A4934C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Binary data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46FA77-7442-4E9C-A795-ECB6174114D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0C0CE-73D1-4792-AD2A-4CC33B966A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F83F17-2EF3-4A2E-886A-6EA318C85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29" y="1693344"/>
            <a:ext cx="5876925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461F98-7498-4D1D-AC8D-744DA6819112}"/>
              </a:ext>
            </a:extLst>
          </p:cNvPr>
          <p:cNvCxnSpPr>
            <a:cxnSpLocks/>
          </p:cNvCxnSpPr>
          <p:nvPr/>
        </p:nvCxnSpPr>
        <p:spPr>
          <a:xfrm>
            <a:off x="562290" y="2962756"/>
            <a:ext cx="53782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5F3D7D9-9F33-4950-96C0-DE7F22994758}"/>
              </a:ext>
            </a:extLst>
          </p:cNvPr>
          <p:cNvCxnSpPr>
            <a:cxnSpLocks/>
          </p:cNvCxnSpPr>
          <p:nvPr/>
        </p:nvCxnSpPr>
        <p:spPr>
          <a:xfrm>
            <a:off x="3197222" y="2783460"/>
            <a:ext cx="27342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07EECC-CFE2-48F7-813B-4B7E30514E7D}"/>
              </a:ext>
            </a:extLst>
          </p:cNvPr>
          <p:cNvCxnSpPr>
            <a:cxnSpLocks/>
          </p:cNvCxnSpPr>
          <p:nvPr/>
        </p:nvCxnSpPr>
        <p:spPr>
          <a:xfrm>
            <a:off x="562290" y="3145599"/>
            <a:ext cx="388296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9D67C2B-B9BB-4C38-B682-7794E449B044}"/>
              </a:ext>
            </a:extLst>
          </p:cNvPr>
          <p:cNvSpPr/>
          <p:nvPr/>
        </p:nvSpPr>
        <p:spPr bwMode="auto">
          <a:xfrm>
            <a:off x="503930" y="2242049"/>
            <a:ext cx="2663237" cy="542154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A693D7-2C7D-4A75-9922-768D1B211BF0}"/>
              </a:ext>
            </a:extLst>
          </p:cNvPr>
          <p:cNvSpPr/>
          <p:nvPr/>
        </p:nvSpPr>
        <p:spPr bwMode="auto">
          <a:xfrm>
            <a:off x="3113632" y="2219140"/>
            <a:ext cx="2854150" cy="40182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D5D1F2-EE4B-4FDA-A7AF-ED2960D69069}"/>
              </a:ext>
            </a:extLst>
          </p:cNvPr>
          <p:cNvSpPr/>
          <p:nvPr/>
        </p:nvSpPr>
        <p:spPr bwMode="auto">
          <a:xfrm>
            <a:off x="359152" y="3326238"/>
            <a:ext cx="3714907" cy="542154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2954DD-6FCE-42BA-9B13-93CC499663B1}"/>
              </a:ext>
            </a:extLst>
          </p:cNvPr>
          <p:cNvSpPr/>
          <p:nvPr/>
        </p:nvSpPr>
        <p:spPr bwMode="auto">
          <a:xfrm>
            <a:off x="4074059" y="3159416"/>
            <a:ext cx="2663237" cy="71832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721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ECED0DE-3726-4F8E-B17B-B5992B6D055D}"/>
              </a:ext>
            </a:extLst>
          </p:cNvPr>
          <p:cNvGrpSpPr/>
          <p:nvPr/>
        </p:nvGrpSpPr>
        <p:grpSpPr>
          <a:xfrm>
            <a:off x="1204747" y="1963071"/>
            <a:ext cx="6318921" cy="2446236"/>
            <a:chOff x="1607237" y="2117055"/>
            <a:chExt cx="6318921" cy="2446236"/>
          </a:xfrm>
        </p:grpSpPr>
        <p:pic>
          <p:nvPicPr>
            <p:cNvPr id="20" name="Picture 19" descr="A picture containing parked, different, people, table&#10;&#10;Description automatically generated">
              <a:extLst>
                <a:ext uri="{FF2B5EF4-FFF2-40B4-BE49-F238E27FC236}">
                  <a16:creationId xmlns:a16="http://schemas.microsoft.com/office/drawing/2014/main" id="{66B126DA-9875-44D8-9B22-294CDC558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7237" y="2117055"/>
              <a:ext cx="6318921" cy="2446236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4203E43-EB05-44A9-96B0-74C667D99278}"/>
                </a:ext>
              </a:extLst>
            </p:cNvPr>
            <p:cNvSpPr/>
            <p:nvPr/>
          </p:nvSpPr>
          <p:spPr bwMode="auto">
            <a:xfrm>
              <a:off x="5000625" y="3283647"/>
              <a:ext cx="179531" cy="192368"/>
            </a:xfrm>
            <a:prstGeom prst="rect">
              <a:avLst/>
            </a:prstGeom>
            <a:solidFill>
              <a:schemeClr val="bg1"/>
            </a:solidFill>
            <a:ln>
              <a:noFill/>
              <a:headEnd/>
              <a:tailE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80975" indent="-180975" algn="ctr" eaLnBrk="0" fontAlgn="auto" hangingPunct="0"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buFont typeface="Arial" pitchFamily="34" charset="0"/>
                <a:buChar char="–"/>
              </a:pPr>
              <a:endParaRPr lang="en-US" sz="1200" b="1" kern="0" err="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3CB74C6-4773-44F9-82AA-26B2D3D270F2}"/>
              </a:ext>
            </a:extLst>
          </p:cNvPr>
          <p:cNvSpPr/>
          <p:nvPr/>
        </p:nvSpPr>
        <p:spPr bwMode="auto">
          <a:xfrm>
            <a:off x="4653888" y="3180497"/>
            <a:ext cx="179538" cy="154838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US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F50AAA-07CB-46A3-8EBD-8A9BA3331E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Data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7DAF0D-68F1-4351-A9FC-DB803879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639"/>
            <a:ext cx="7577139" cy="338554"/>
          </a:xfrm>
        </p:spPr>
        <p:txBody>
          <a:bodyPr/>
          <a:lstStyle/>
          <a:p>
            <a:r>
              <a:rPr lang="en-GB"/>
              <a:t>Time-to-First-Event Data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556DB8-99CF-475F-8100-1F6D49C13046}"/>
              </a:ext>
            </a:extLst>
          </p:cNvPr>
          <p:cNvSpPr/>
          <p:nvPr/>
        </p:nvSpPr>
        <p:spPr bwMode="auto">
          <a:xfrm>
            <a:off x="7766990" y="2319218"/>
            <a:ext cx="172263" cy="175524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US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D3E2F59-4009-4DB7-8921-79EEF07DD859}"/>
              </a:ext>
            </a:extLst>
          </p:cNvPr>
          <p:cNvSpPr/>
          <p:nvPr/>
        </p:nvSpPr>
        <p:spPr bwMode="auto">
          <a:xfrm>
            <a:off x="7783506" y="2672594"/>
            <a:ext cx="172263" cy="175524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US" sz="1200" b="1" kern="0" err="1">
              <a:solidFill>
                <a:schemeClr val="accent3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940F4F-8A39-486F-8E97-E1C3935AAB3B}"/>
              </a:ext>
            </a:extLst>
          </p:cNvPr>
          <p:cNvSpPr txBox="1"/>
          <p:nvPr/>
        </p:nvSpPr>
        <p:spPr>
          <a:xfrm>
            <a:off x="8018230" y="2251575"/>
            <a:ext cx="598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/>
              <a:t>Death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A90D6-1A91-48AC-A9C5-AFAEB5460309}"/>
              </a:ext>
            </a:extLst>
          </p:cNvPr>
          <p:cNvSpPr txBox="1"/>
          <p:nvPr/>
        </p:nvSpPr>
        <p:spPr>
          <a:xfrm>
            <a:off x="7941040" y="2621856"/>
            <a:ext cx="813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/>
              <a:t>Censor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B116DD-DF62-4E04-837A-52899AC8E1F4}"/>
              </a:ext>
            </a:extLst>
          </p:cNvPr>
          <p:cNvSpPr/>
          <p:nvPr/>
        </p:nvSpPr>
        <p:spPr bwMode="auto">
          <a:xfrm>
            <a:off x="7362615" y="3295006"/>
            <a:ext cx="179538" cy="756041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US" sz="1200" b="1" kern="0" err="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Picture 17" descr="A picture containing wooden, orange, parked, boy&#10;&#10;Description automatically generated">
            <a:extLst>
              <a:ext uri="{FF2B5EF4-FFF2-40B4-BE49-F238E27FC236}">
                <a16:creationId xmlns:a16="http://schemas.microsoft.com/office/drawing/2014/main" id="{41DB622E-773B-4E91-A4D6-7800FBABC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481" y="1968573"/>
            <a:ext cx="6318504" cy="24460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B7521A2-646F-44D1-A0BF-0569115677E1}"/>
              </a:ext>
            </a:extLst>
          </p:cNvPr>
          <p:cNvSpPr txBox="1"/>
          <p:nvPr/>
        </p:nvSpPr>
        <p:spPr>
          <a:xfrm>
            <a:off x="3608574" y="4251252"/>
            <a:ext cx="2076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000"/>
              <a:t>Time on Study (Years)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693803-77C1-41EE-97E7-94D63DB8DABE}"/>
              </a:ext>
            </a:extLst>
          </p:cNvPr>
          <p:cNvCxnSpPr>
            <a:cxnSpLocks/>
          </p:cNvCxnSpPr>
          <p:nvPr/>
        </p:nvCxnSpPr>
        <p:spPr>
          <a:xfrm>
            <a:off x="5819804" y="1950306"/>
            <a:ext cx="0" cy="2186403"/>
          </a:xfrm>
          <a:prstGeom prst="line">
            <a:avLst/>
          </a:prstGeom>
          <a:ln w="1905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767C3D3-56D8-4EEC-A11A-DD0A8DE6CC29}"/>
              </a:ext>
            </a:extLst>
          </p:cNvPr>
          <p:cNvGrpSpPr/>
          <p:nvPr/>
        </p:nvGrpSpPr>
        <p:grpSpPr>
          <a:xfrm>
            <a:off x="81888" y="2169687"/>
            <a:ext cx="2117394" cy="1981090"/>
            <a:chOff x="81888" y="2310367"/>
            <a:chExt cx="2117394" cy="19810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7938AF-4A5E-4243-82E7-C23FF4E55613}"/>
                </a:ext>
              </a:extLst>
            </p:cNvPr>
            <p:cNvSpPr txBox="1"/>
            <p:nvPr/>
          </p:nvSpPr>
          <p:spPr>
            <a:xfrm>
              <a:off x="81888" y="2310367"/>
              <a:ext cx="2076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000"/>
                <a:t>Subject 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7D5B2A-922E-4EC4-9CDE-32122543AF78}"/>
                </a:ext>
              </a:extLst>
            </p:cNvPr>
            <p:cNvSpPr txBox="1"/>
            <p:nvPr/>
          </p:nvSpPr>
          <p:spPr>
            <a:xfrm>
              <a:off x="81888" y="2508825"/>
              <a:ext cx="2076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000"/>
                <a:t>Subject 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487DD45-962D-4C4A-A65F-E029C905ACC3}"/>
                </a:ext>
              </a:extLst>
            </p:cNvPr>
            <p:cNvSpPr txBox="1"/>
            <p:nvPr/>
          </p:nvSpPr>
          <p:spPr>
            <a:xfrm>
              <a:off x="81888" y="2711426"/>
              <a:ext cx="2076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000"/>
                <a:t>Subject 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8D41EA3-B0A7-4077-BEC0-C7B94D752E9D}"/>
                </a:ext>
              </a:extLst>
            </p:cNvPr>
            <p:cNvSpPr txBox="1"/>
            <p:nvPr/>
          </p:nvSpPr>
          <p:spPr>
            <a:xfrm>
              <a:off x="81888" y="2882588"/>
              <a:ext cx="2076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000"/>
                <a:t>Subject 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F6856C4-631C-4743-9E06-563B3805CE8B}"/>
                </a:ext>
              </a:extLst>
            </p:cNvPr>
            <p:cNvSpPr txBox="1"/>
            <p:nvPr/>
          </p:nvSpPr>
          <p:spPr>
            <a:xfrm>
              <a:off x="81888" y="3088604"/>
              <a:ext cx="2076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000"/>
                <a:t>Subject 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9E74E98-B6A9-41A3-9BFD-D83D4DC057A2}"/>
                </a:ext>
              </a:extLst>
            </p:cNvPr>
            <p:cNvSpPr txBox="1"/>
            <p:nvPr/>
          </p:nvSpPr>
          <p:spPr>
            <a:xfrm>
              <a:off x="81888" y="3287062"/>
              <a:ext cx="2076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000"/>
                <a:t>Subject 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E7212B4-08E9-43A9-8C60-179F3FF6DDF1}"/>
                </a:ext>
              </a:extLst>
            </p:cNvPr>
            <p:cNvSpPr txBox="1"/>
            <p:nvPr/>
          </p:nvSpPr>
          <p:spPr>
            <a:xfrm>
              <a:off x="81888" y="3489663"/>
              <a:ext cx="2076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000"/>
                <a:t>Subject 7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5CBCC84-40E4-4188-96B7-0AD8ECBDD711}"/>
                </a:ext>
              </a:extLst>
            </p:cNvPr>
            <p:cNvSpPr txBox="1"/>
            <p:nvPr/>
          </p:nvSpPr>
          <p:spPr>
            <a:xfrm>
              <a:off x="81888" y="3660825"/>
              <a:ext cx="2076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000"/>
                <a:t>Subject 8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F315485-9B55-463B-B000-A9A009FBDD54}"/>
                </a:ext>
              </a:extLst>
            </p:cNvPr>
            <p:cNvSpPr txBox="1"/>
            <p:nvPr/>
          </p:nvSpPr>
          <p:spPr>
            <a:xfrm>
              <a:off x="122832" y="4045236"/>
              <a:ext cx="2076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000"/>
                <a:t>Subject 10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59D9D4A-4F81-4554-A022-3DCC58D4A8A8}"/>
                </a:ext>
              </a:extLst>
            </p:cNvPr>
            <p:cNvSpPr txBox="1"/>
            <p:nvPr/>
          </p:nvSpPr>
          <p:spPr>
            <a:xfrm>
              <a:off x="81888" y="3846778"/>
              <a:ext cx="20764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GB" sz="1000"/>
                <a:t>Subject 9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AB2849-48F6-4B91-82CF-B6DF10732DDA}"/>
              </a:ext>
            </a:extLst>
          </p:cNvPr>
          <p:cNvSpPr/>
          <p:nvPr/>
        </p:nvSpPr>
        <p:spPr bwMode="auto">
          <a:xfrm>
            <a:off x="5892800" y="2368145"/>
            <a:ext cx="1541966" cy="1536411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US" sz="1200" b="1" kern="0" err="1">
              <a:solidFill>
                <a:schemeClr val="bg1"/>
              </a:solidFill>
              <a:latin typeface="Arial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D1B29A4-A2EB-40DA-BC31-57F29EE12F4A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62328520-B3D4-4396-B8AC-D2FE1258635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EB0AC8DB-A185-4320-B6CA-7BC931E9A121}"/>
              </a:ext>
            </a:extLst>
          </p:cNvPr>
          <p:cNvSpPr txBox="1">
            <a:spLocks/>
          </p:cNvSpPr>
          <p:nvPr/>
        </p:nvSpPr>
        <p:spPr>
          <a:xfrm>
            <a:off x="360000" y="1141891"/>
            <a:ext cx="8423152" cy="988905"/>
          </a:xfrm>
          <a:prstGeom prst="rect">
            <a:avLst/>
          </a:prstGeom>
          <a:ln>
            <a:noFill/>
          </a:ln>
        </p:spPr>
        <p:txBody>
          <a:bodyPr lIns="10800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/>
              <a:t>Time-to-first-event endpoints are limited by trial length and events such as subject loss to follow up, so they are analysed differently</a:t>
            </a:r>
          </a:p>
          <a:p>
            <a:pPr marL="0" indent="0">
              <a:buNone/>
            </a:pPr>
            <a:endParaRPr lang="en-GB" sz="400"/>
          </a:p>
          <a:p>
            <a:pPr marL="0" indent="0">
              <a:buNone/>
            </a:pPr>
            <a:r>
              <a:rPr lang="en-GB" sz="1400"/>
              <a:t>Example: Time to death (Overall Survival)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739E87-F46B-4C43-9ECD-1DD91C9CE6C7}"/>
              </a:ext>
            </a:extLst>
          </p:cNvPr>
          <p:cNvSpPr txBox="1"/>
          <p:nvPr/>
        </p:nvSpPr>
        <p:spPr>
          <a:xfrm>
            <a:off x="5298605" y="4281649"/>
            <a:ext cx="1016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>
                <a:solidFill>
                  <a:srgbClr val="00008B"/>
                </a:solidFill>
              </a:rPr>
              <a:t>End of trial</a:t>
            </a:r>
          </a:p>
        </p:txBody>
      </p:sp>
    </p:spTree>
    <p:extLst>
      <p:ext uri="{BB962C8B-B14F-4D97-AF65-F5344CB8AC3E}">
        <p14:creationId xmlns:p14="http://schemas.microsoft.com/office/powerpoint/2010/main" val="30161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4" grpId="0" animBg="1"/>
      <p:bldP spid="35" grpId="0"/>
      <p:bldP spid="36" grpId="0"/>
      <p:bldP spid="22" grpId="0"/>
      <p:bldP spid="2" grpId="0" animBg="1"/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3CB74C6-4773-44F9-82AA-26B2D3D270F2}"/>
              </a:ext>
            </a:extLst>
          </p:cNvPr>
          <p:cNvSpPr/>
          <p:nvPr/>
        </p:nvSpPr>
        <p:spPr bwMode="auto">
          <a:xfrm>
            <a:off x="4653888" y="3321177"/>
            <a:ext cx="179538" cy="154838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US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F50AAA-07CB-46A3-8EBD-8A9BA3331E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Most common statistics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7DAF0D-68F1-4351-A9FC-DB803879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639"/>
            <a:ext cx="7577139" cy="338554"/>
          </a:xfrm>
        </p:spPr>
        <p:txBody>
          <a:bodyPr/>
          <a:lstStyle/>
          <a:p>
            <a:r>
              <a:rPr lang="en-GB"/>
              <a:t>Time-to-First-Event 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B116DD-DF62-4E04-837A-52899AC8E1F4}"/>
              </a:ext>
            </a:extLst>
          </p:cNvPr>
          <p:cNvSpPr/>
          <p:nvPr/>
        </p:nvSpPr>
        <p:spPr bwMode="auto">
          <a:xfrm>
            <a:off x="7362615" y="3435686"/>
            <a:ext cx="179538" cy="756041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US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D1B29A4-A2EB-40DA-BC31-57F29EE12F4A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62328520-B3D4-4396-B8AC-D2FE1258635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B382EC-2081-4FCE-B313-055F7FA85F26}"/>
              </a:ext>
            </a:extLst>
          </p:cNvPr>
          <p:cNvSpPr txBox="1"/>
          <p:nvPr/>
        </p:nvSpPr>
        <p:spPr>
          <a:xfrm>
            <a:off x="3391192" y="3993285"/>
            <a:ext cx="2352840" cy="369332"/>
          </a:xfrm>
          <a:prstGeom prst="rect">
            <a:avLst/>
          </a:prstGeom>
          <a:solidFill>
            <a:srgbClr val="40488D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Kaplan-Meier curve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380305-A898-4BFA-B7A6-0B36A6E41087}"/>
              </a:ext>
            </a:extLst>
          </p:cNvPr>
          <p:cNvSpPr txBox="1"/>
          <p:nvPr/>
        </p:nvSpPr>
        <p:spPr>
          <a:xfrm>
            <a:off x="245876" y="1147639"/>
            <a:ext cx="313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600" i="1"/>
              <a:t>Most common statistics</a:t>
            </a:r>
            <a:r>
              <a:rPr lang="en-GB" sz="120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BF6A6D-C4A4-4B65-936B-55BED812DE4E}"/>
              </a:ext>
            </a:extLst>
          </p:cNvPr>
          <p:cNvSpPr txBox="1"/>
          <p:nvPr/>
        </p:nvSpPr>
        <p:spPr>
          <a:xfrm>
            <a:off x="894074" y="1684351"/>
            <a:ext cx="31340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Median survival time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6A0842-619C-4520-9B54-E9EFBF83A53E}"/>
              </a:ext>
            </a:extLst>
          </p:cNvPr>
          <p:cNvSpPr txBox="1"/>
          <p:nvPr/>
        </p:nvSpPr>
        <p:spPr>
          <a:xfrm>
            <a:off x="4834384" y="2755074"/>
            <a:ext cx="394876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Hazard ratio (HR)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812C32-3BDC-4620-BA4F-9DE1CC3C570C}"/>
              </a:ext>
            </a:extLst>
          </p:cNvPr>
          <p:cNvSpPr txBox="1"/>
          <p:nvPr/>
        </p:nvSpPr>
        <p:spPr>
          <a:xfrm>
            <a:off x="893360" y="2211052"/>
            <a:ext cx="31340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Risk (probability) of event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01AAAB-2050-4402-8C8F-658688BD49EE}"/>
              </a:ext>
            </a:extLst>
          </p:cNvPr>
          <p:cNvSpPr txBox="1"/>
          <p:nvPr/>
        </p:nvSpPr>
        <p:spPr>
          <a:xfrm>
            <a:off x="893360" y="2750702"/>
            <a:ext cx="313401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Hazard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7A19AE-3225-459E-8835-8DB4D4ECCD83}"/>
              </a:ext>
            </a:extLst>
          </p:cNvPr>
          <p:cNvSpPr txBox="1"/>
          <p:nvPr/>
        </p:nvSpPr>
        <p:spPr>
          <a:xfrm>
            <a:off x="4834384" y="1690159"/>
            <a:ext cx="394876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Difference in medians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DF5049-BA63-47C4-988D-8F02A094F3CE}"/>
              </a:ext>
            </a:extLst>
          </p:cNvPr>
          <p:cNvSpPr txBox="1"/>
          <p:nvPr/>
        </p:nvSpPr>
        <p:spPr>
          <a:xfrm>
            <a:off x="4833426" y="2211052"/>
            <a:ext cx="394972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Difference in risks (probabilities)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CD7BA8-C709-4F7F-BCBD-6F34EFBFD04C}"/>
              </a:ext>
            </a:extLst>
          </p:cNvPr>
          <p:cNvSpPr txBox="1"/>
          <p:nvPr/>
        </p:nvSpPr>
        <p:spPr>
          <a:xfrm>
            <a:off x="893360" y="3151900"/>
            <a:ext cx="3134012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600"/>
              <a:t>Instantaneous risk of the event</a:t>
            </a:r>
          </a:p>
        </p:txBody>
      </p:sp>
    </p:spTree>
    <p:extLst>
      <p:ext uri="{BB962C8B-B14F-4D97-AF65-F5344CB8AC3E}">
        <p14:creationId xmlns:p14="http://schemas.microsoft.com/office/powerpoint/2010/main" val="419471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CCF4FD-BAAE-416A-9340-575A0B3C59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79601" y="1187253"/>
            <a:ext cx="2603551" cy="3070050"/>
          </a:xfrm>
        </p:spPr>
        <p:txBody>
          <a:bodyPr/>
          <a:lstStyle/>
          <a:p>
            <a:pPr marL="0" indent="0">
              <a:buNone/>
            </a:pPr>
            <a:r>
              <a:rPr lang="en-GB" sz="1400">
                <a:solidFill>
                  <a:schemeClr val="accent3">
                    <a:lumMod val="75000"/>
                  </a:schemeClr>
                </a:solidFill>
              </a:rPr>
              <a:t>Median time to event for UMEC/VI 62.5/25</a:t>
            </a:r>
          </a:p>
          <a:p>
            <a:endParaRPr lang="en-GB"/>
          </a:p>
          <a:p>
            <a:pPr marL="0" indent="0">
              <a:buNone/>
            </a:pP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A5132-5E5D-4DE1-9A43-CDCD2FB5FB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i="1"/>
              <a:t>Putting it into practice: </a:t>
            </a:r>
            <a:r>
              <a:rPr lang="en-GB"/>
              <a:t>IMPACT Ph3 study in COPD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65791-A1E6-429A-8BEC-E514FE93A2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ADFCEA-FB0F-44AA-A299-61A4934C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Time-to-First-Event Data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46FA77-7442-4E9C-A795-ECB6174114D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0C0CE-73D1-4792-AD2A-4CC33B966A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3EFD4-441E-4CE1-BB40-56C0D24529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90"/>
          <a:stretch/>
        </p:blipFill>
        <p:spPr>
          <a:xfrm>
            <a:off x="242186" y="1122536"/>
            <a:ext cx="5937415" cy="332259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857027-33D3-421D-A5EB-65605123247D}"/>
              </a:ext>
            </a:extLst>
          </p:cNvPr>
          <p:cNvCxnSpPr>
            <a:cxnSpLocks/>
          </p:cNvCxnSpPr>
          <p:nvPr/>
        </p:nvCxnSpPr>
        <p:spPr>
          <a:xfrm>
            <a:off x="1652838" y="1592376"/>
            <a:ext cx="3604402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C1B2EE-B488-4FA9-BD41-C40B2CE32911}"/>
              </a:ext>
            </a:extLst>
          </p:cNvPr>
          <p:cNvCxnSpPr>
            <a:cxnSpLocks/>
          </p:cNvCxnSpPr>
          <p:nvPr/>
        </p:nvCxnSpPr>
        <p:spPr>
          <a:xfrm>
            <a:off x="5257240" y="1592376"/>
            <a:ext cx="0" cy="1732547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06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CCF4FD-BAAE-416A-9340-575A0B3C59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79601" y="1187253"/>
            <a:ext cx="2603551" cy="3070050"/>
          </a:xfrm>
        </p:spPr>
        <p:txBody>
          <a:bodyPr/>
          <a:lstStyle/>
          <a:p>
            <a:pPr marL="0" indent="0">
              <a:buNone/>
            </a:pPr>
            <a:r>
              <a:rPr lang="en-GB" sz="1400">
                <a:solidFill>
                  <a:schemeClr val="accent3">
                    <a:lumMod val="75000"/>
                  </a:schemeClr>
                </a:solidFill>
              </a:rPr>
              <a:t>Median time to event</a:t>
            </a:r>
          </a:p>
          <a:p>
            <a:pPr marL="0" indent="0">
              <a:buNone/>
            </a:pPr>
            <a:r>
              <a:rPr lang="en-GB" sz="1400">
                <a:solidFill>
                  <a:schemeClr val="bg2"/>
                </a:solidFill>
              </a:rPr>
              <a:t>First quartile (25</a:t>
            </a:r>
            <a:r>
              <a:rPr lang="en-GB" sz="1400" baseline="30000">
                <a:solidFill>
                  <a:schemeClr val="bg2"/>
                </a:solidFill>
              </a:rPr>
              <a:t>th</a:t>
            </a:r>
            <a:r>
              <a:rPr lang="en-GB" sz="1400">
                <a:solidFill>
                  <a:schemeClr val="bg2"/>
                </a:solidFill>
              </a:rPr>
              <a:t> percentile) time to event </a:t>
            </a:r>
          </a:p>
          <a:p>
            <a:endParaRPr lang="en-GB"/>
          </a:p>
          <a:p>
            <a:pPr marL="0" indent="0">
              <a:buNone/>
            </a:pP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A5132-5E5D-4DE1-9A43-CDCD2FB5FB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i="1"/>
              <a:t>Putting it into practice: </a:t>
            </a:r>
            <a:r>
              <a:rPr lang="en-GB"/>
              <a:t>IMPACT Ph3 study in COPD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65791-A1E6-429A-8BEC-E514FE93A2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ADFCEA-FB0F-44AA-A299-61A4934C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Time-to-First-Event Data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46FA77-7442-4E9C-A795-ECB6174114D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0C0CE-73D1-4792-AD2A-4CC33B966A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3EFD4-441E-4CE1-BB40-56C0D24529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90"/>
          <a:stretch/>
        </p:blipFill>
        <p:spPr>
          <a:xfrm>
            <a:off x="242186" y="1122536"/>
            <a:ext cx="5937415" cy="332259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857027-33D3-421D-A5EB-65605123247D}"/>
              </a:ext>
            </a:extLst>
          </p:cNvPr>
          <p:cNvCxnSpPr>
            <a:cxnSpLocks/>
          </p:cNvCxnSpPr>
          <p:nvPr/>
        </p:nvCxnSpPr>
        <p:spPr>
          <a:xfrm>
            <a:off x="1652838" y="1592376"/>
            <a:ext cx="3604402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72E1F48-746B-48F2-ADD9-90F872706A32}"/>
              </a:ext>
            </a:extLst>
          </p:cNvPr>
          <p:cNvCxnSpPr>
            <a:cxnSpLocks/>
          </p:cNvCxnSpPr>
          <p:nvPr/>
        </p:nvCxnSpPr>
        <p:spPr>
          <a:xfrm>
            <a:off x="2474929" y="2456875"/>
            <a:ext cx="0" cy="860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DEB2BE-801B-4608-9DC1-40312848B248}"/>
              </a:ext>
            </a:extLst>
          </p:cNvPr>
          <p:cNvCxnSpPr>
            <a:cxnSpLocks/>
          </p:cNvCxnSpPr>
          <p:nvPr/>
        </p:nvCxnSpPr>
        <p:spPr>
          <a:xfrm>
            <a:off x="1652838" y="2456875"/>
            <a:ext cx="133240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C1B2EE-B488-4FA9-BD41-C40B2CE32911}"/>
              </a:ext>
            </a:extLst>
          </p:cNvPr>
          <p:cNvCxnSpPr>
            <a:cxnSpLocks/>
          </p:cNvCxnSpPr>
          <p:nvPr/>
        </p:nvCxnSpPr>
        <p:spPr>
          <a:xfrm>
            <a:off x="5257240" y="1592376"/>
            <a:ext cx="0" cy="1732547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BBB53D-F1EF-46D8-BC6F-B1469AE63F40}"/>
              </a:ext>
            </a:extLst>
          </p:cNvPr>
          <p:cNvCxnSpPr>
            <a:cxnSpLocks/>
          </p:cNvCxnSpPr>
          <p:nvPr/>
        </p:nvCxnSpPr>
        <p:spPr>
          <a:xfrm>
            <a:off x="2611144" y="2456875"/>
            <a:ext cx="0" cy="860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68DDE4-09E7-4466-9A2B-EC51A0118474}"/>
              </a:ext>
            </a:extLst>
          </p:cNvPr>
          <p:cNvCxnSpPr>
            <a:cxnSpLocks/>
          </p:cNvCxnSpPr>
          <p:nvPr/>
        </p:nvCxnSpPr>
        <p:spPr>
          <a:xfrm>
            <a:off x="2985247" y="2456875"/>
            <a:ext cx="0" cy="8608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49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A5132-5E5D-4DE1-9A43-CDCD2FB5FB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i="1"/>
              <a:t>Putting it into practice: </a:t>
            </a:r>
            <a:r>
              <a:rPr lang="en-GB"/>
              <a:t>IMPACT Ph3 study in COPD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65791-A1E6-429A-8BEC-E514FE93A2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ADFCEA-FB0F-44AA-A299-61A4934C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Time-to-First-Event Data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46FA77-7442-4E9C-A795-ECB6174114D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0C0CE-73D1-4792-AD2A-4CC33B966A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A8B22-153B-4ED2-91D5-96A2CF1266FD}"/>
              </a:ext>
            </a:extLst>
          </p:cNvPr>
          <p:cNvSpPr/>
          <p:nvPr/>
        </p:nvSpPr>
        <p:spPr bwMode="auto">
          <a:xfrm>
            <a:off x="278230" y="1164856"/>
            <a:ext cx="5960729" cy="202698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87B022-03BA-453C-A058-9177B33734FF}"/>
              </a:ext>
            </a:extLst>
          </p:cNvPr>
          <p:cNvSpPr/>
          <p:nvPr/>
        </p:nvSpPr>
        <p:spPr bwMode="auto">
          <a:xfrm>
            <a:off x="2791752" y="1824693"/>
            <a:ext cx="4102662" cy="267037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848316-9E10-4249-A41A-6F94067600D3}"/>
              </a:ext>
            </a:extLst>
          </p:cNvPr>
          <p:cNvSpPr/>
          <p:nvPr/>
        </p:nvSpPr>
        <p:spPr bwMode="auto">
          <a:xfrm>
            <a:off x="308102" y="2035483"/>
            <a:ext cx="4102662" cy="26703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4D7192-CA85-4AB7-8B69-6BFD59701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52" y="1373026"/>
            <a:ext cx="8490385" cy="22540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1812BD-52AD-40A8-A08F-4447554F7769}"/>
              </a:ext>
            </a:extLst>
          </p:cNvPr>
          <p:cNvSpPr/>
          <p:nvPr/>
        </p:nvSpPr>
        <p:spPr bwMode="auto">
          <a:xfrm>
            <a:off x="359152" y="1367554"/>
            <a:ext cx="7381561" cy="1204196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77DFE4-58A5-4B6F-A760-75B7ABC2081D}"/>
              </a:ext>
            </a:extLst>
          </p:cNvPr>
          <p:cNvSpPr/>
          <p:nvPr/>
        </p:nvSpPr>
        <p:spPr bwMode="auto">
          <a:xfrm>
            <a:off x="7740713" y="1356113"/>
            <a:ext cx="1213723" cy="931397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B69AEB-BC88-4178-B9C2-F547F2AC8EBA}"/>
              </a:ext>
            </a:extLst>
          </p:cNvPr>
          <p:cNvSpPr/>
          <p:nvPr/>
        </p:nvSpPr>
        <p:spPr bwMode="auto">
          <a:xfrm>
            <a:off x="3432988" y="3077572"/>
            <a:ext cx="5140643" cy="789549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5B0B5D-E7CD-4D03-9340-C0891AF319FC}"/>
              </a:ext>
            </a:extLst>
          </p:cNvPr>
          <p:cNvSpPr/>
          <p:nvPr/>
        </p:nvSpPr>
        <p:spPr bwMode="auto">
          <a:xfrm>
            <a:off x="221430" y="3343384"/>
            <a:ext cx="3562919" cy="789549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6D4FE8-FEB1-418B-A66D-08944BFC2F14}"/>
              </a:ext>
            </a:extLst>
          </p:cNvPr>
          <p:cNvSpPr/>
          <p:nvPr/>
        </p:nvSpPr>
        <p:spPr bwMode="auto">
          <a:xfrm>
            <a:off x="4604344" y="2739908"/>
            <a:ext cx="796705" cy="398353"/>
          </a:xfrm>
          <a:prstGeom prst="ellipse">
            <a:avLst/>
          </a:prstGeom>
          <a:noFill/>
          <a:ln w="38100">
            <a:solidFill>
              <a:schemeClr val="bg2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5372243-2810-4151-8147-8D5DC23CDDAD}"/>
              </a:ext>
            </a:extLst>
          </p:cNvPr>
          <p:cNvSpPr/>
          <p:nvPr/>
        </p:nvSpPr>
        <p:spPr bwMode="auto">
          <a:xfrm>
            <a:off x="7431023" y="2758134"/>
            <a:ext cx="1193658" cy="398353"/>
          </a:xfrm>
          <a:prstGeom prst="ellipse">
            <a:avLst/>
          </a:prstGeom>
          <a:noFill/>
          <a:ln w="38100">
            <a:solidFill>
              <a:schemeClr val="bg2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Graphic 26" descr="Confused person">
            <a:extLst>
              <a:ext uri="{FF2B5EF4-FFF2-40B4-BE49-F238E27FC236}">
                <a16:creationId xmlns:a16="http://schemas.microsoft.com/office/drawing/2014/main" id="{1566ACFC-92D4-44C5-8961-D40E8CC15A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5131" y="3991971"/>
            <a:ext cx="789550" cy="789550"/>
          </a:xfrm>
          <a:prstGeom prst="rect">
            <a:avLst/>
          </a:prstGeom>
        </p:spPr>
      </p:pic>
      <p:sp>
        <p:nvSpPr>
          <p:cNvPr id="29" name="Speech Bubble: Oval 28">
            <a:extLst>
              <a:ext uri="{FF2B5EF4-FFF2-40B4-BE49-F238E27FC236}">
                <a16:creationId xmlns:a16="http://schemas.microsoft.com/office/drawing/2014/main" id="{9402F813-3013-4A5C-9EC9-12095556A7AF}"/>
              </a:ext>
            </a:extLst>
          </p:cNvPr>
          <p:cNvSpPr/>
          <p:nvPr/>
        </p:nvSpPr>
        <p:spPr bwMode="auto">
          <a:xfrm>
            <a:off x="6039015" y="3219316"/>
            <a:ext cx="2032470" cy="895538"/>
          </a:xfrm>
          <a:prstGeom prst="wedgeEllipseCallout">
            <a:avLst>
              <a:gd name="adj1" fmla="val 51252"/>
              <a:gd name="adj2" fmla="val 52891"/>
            </a:avLst>
          </a:prstGeom>
          <a:solidFill>
            <a:schemeClr val="tx1"/>
          </a:solidFill>
          <a:ln>
            <a:solidFill>
              <a:schemeClr val="tx1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400" b="1" kern="0">
                <a:solidFill>
                  <a:srgbClr val="FFFFFF"/>
                </a:solidFill>
              </a:rPr>
              <a:t>How to get % reduction from a ratio?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EEFDF9-731E-4071-8C13-36716F001FEA}"/>
              </a:ext>
            </a:extLst>
          </p:cNvPr>
          <p:cNvSpPr txBox="1"/>
          <p:nvPr/>
        </p:nvSpPr>
        <p:spPr>
          <a:xfrm>
            <a:off x="3223466" y="3728621"/>
            <a:ext cx="1580317" cy="276999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 b="1">
                <a:solidFill>
                  <a:schemeClr val="bg2"/>
                </a:solidFill>
              </a:rPr>
              <a:t>(1-0.85)*100 = 15%</a:t>
            </a:r>
          </a:p>
        </p:txBody>
      </p:sp>
    </p:spTree>
    <p:extLst>
      <p:ext uri="{BB962C8B-B14F-4D97-AF65-F5344CB8AC3E}">
        <p14:creationId xmlns:p14="http://schemas.microsoft.com/office/powerpoint/2010/main" val="385901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5" grpId="0" animBg="1"/>
      <p:bldP spid="2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A5132-5E5D-4DE1-9A43-CDCD2FB5FB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i="1"/>
              <a:t>Putting it into practice: </a:t>
            </a:r>
            <a:r>
              <a:rPr lang="en-GB"/>
              <a:t>IMPACT Ph3 study in COPD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65791-A1E6-429A-8BEC-E514FE93A2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ADFCEA-FB0F-44AA-A299-61A4934C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Time-to-First-Event Data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46FA77-7442-4E9C-A795-ECB6174114D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0C0CE-73D1-4792-AD2A-4CC33B966A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A8B22-153B-4ED2-91D5-96A2CF1266FD}"/>
              </a:ext>
            </a:extLst>
          </p:cNvPr>
          <p:cNvSpPr/>
          <p:nvPr/>
        </p:nvSpPr>
        <p:spPr bwMode="auto">
          <a:xfrm>
            <a:off x="278230" y="1164856"/>
            <a:ext cx="5960729" cy="202698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87B022-03BA-453C-A058-9177B33734FF}"/>
              </a:ext>
            </a:extLst>
          </p:cNvPr>
          <p:cNvSpPr/>
          <p:nvPr/>
        </p:nvSpPr>
        <p:spPr bwMode="auto">
          <a:xfrm>
            <a:off x="2791752" y="1824693"/>
            <a:ext cx="4102662" cy="267037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848316-9E10-4249-A41A-6F94067600D3}"/>
              </a:ext>
            </a:extLst>
          </p:cNvPr>
          <p:cNvSpPr/>
          <p:nvPr/>
        </p:nvSpPr>
        <p:spPr bwMode="auto">
          <a:xfrm>
            <a:off x="308102" y="2035483"/>
            <a:ext cx="4102662" cy="26703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4D7192-CA85-4AB7-8B69-6BFD59701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52" y="1373026"/>
            <a:ext cx="8490385" cy="22540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1812BD-52AD-40A8-A08F-4447554F7769}"/>
              </a:ext>
            </a:extLst>
          </p:cNvPr>
          <p:cNvSpPr/>
          <p:nvPr/>
        </p:nvSpPr>
        <p:spPr bwMode="auto">
          <a:xfrm>
            <a:off x="359152" y="1367554"/>
            <a:ext cx="7381561" cy="1204196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77DFE4-58A5-4B6F-A760-75B7ABC2081D}"/>
              </a:ext>
            </a:extLst>
          </p:cNvPr>
          <p:cNvSpPr/>
          <p:nvPr/>
        </p:nvSpPr>
        <p:spPr bwMode="auto">
          <a:xfrm>
            <a:off x="7740713" y="1356113"/>
            <a:ext cx="1213723" cy="931397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5B0B5D-E7CD-4D03-9340-C0891AF319FC}"/>
              </a:ext>
            </a:extLst>
          </p:cNvPr>
          <p:cNvSpPr/>
          <p:nvPr/>
        </p:nvSpPr>
        <p:spPr bwMode="auto">
          <a:xfrm>
            <a:off x="221430" y="3343384"/>
            <a:ext cx="3562919" cy="789549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8540ED-D0DE-4AD6-A6D9-09B15CD48A51}"/>
              </a:ext>
            </a:extLst>
          </p:cNvPr>
          <p:cNvSpPr txBox="1"/>
          <p:nvPr/>
        </p:nvSpPr>
        <p:spPr>
          <a:xfrm>
            <a:off x="5425753" y="3697844"/>
            <a:ext cx="1675595" cy="338554"/>
          </a:xfrm>
          <a:prstGeom prst="rect">
            <a:avLst/>
          </a:prstGeom>
          <a:noFill/>
          <a:ln w="38100"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600" b="1">
                <a:solidFill>
                  <a:schemeClr val="bg2"/>
                </a:solidFill>
              </a:rPr>
              <a:t>Recurrent data</a:t>
            </a:r>
          </a:p>
        </p:txBody>
      </p:sp>
    </p:spTree>
    <p:extLst>
      <p:ext uri="{BB962C8B-B14F-4D97-AF65-F5344CB8AC3E}">
        <p14:creationId xmlns:p14="http://schemas.microsoft.com/office/powerpoint/2010/main" val="79467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A5132-5E5D-4DE1-9A43-CDCD2FB5FB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i="1"/>
              <a:t>Putting it into practice: </a:t>
            </a:r>
            <a:r>
              <a:rPr lang="en-GB"/>
              <a:t>IMPACT Ph3 study in COPD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65791-A1E6-429A-8BEC-E514FE93A2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ADFCEA-FB0F-44AA-A299-61A4934C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Time-to-First-Event Data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46FA77-7442-4E9C-A795-ECB6174114D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0C0CE-73D1-4792-AD2A-4CC33B966A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A8B22-153B-4ED2-91D5-96A2CF1266FD}"/>
              </a:ext>
            </a:extLst>
          </p:cNvPr>
          <p:cNvSpPr/>
          <p:nvPr/>
        </p:nvSpPr>
        <p:spPr bwMode="auto">
          <a:xfrm>
            <a:off x="278230" y="1164856"/>
            <a:ext cx="5960729" cy="202698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87B022-03BA-453C-A058-9177B33734FF}"/>
              </a:ext>
            </a:extLst>
          </p:cNvPr>
          <p:cNvSpPr/>
          <p:nvPr/>
        </p:nvSpPr>
        <p:spPr bwMode="auto">
          <a:xfrm>
            <a:off x="2791752" y="1824693"/>
            <a:ext cx="4102662" cy="267037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848316-9E10-4249-A41A-6F94067600D3}"/>
              </a:ext>
            </a:extLst>
          </p:cNvPr>
          <p:cNvSpPr/>
          <p:nvPr/>
        </p:nvSpPr>
        <p:spPr bwMode="auto">
          <a:xfrm>
            <a:off x="308102" y="2035483"/>
            <a:ext cx="4102662" cy="26703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4D7192-CA85-4AB7-8B69-6BFD59701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01" y="1120294"/>
            <a:ext cx="8490385" cy="2254085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1E3B16-DFDE-4F92-8A50-5901763F2345}"/>
              </a:ext>
            </a:extLst>
          </p:cNvPr>
          <p:cNvCxnSpPr/>
          <p:nvPr/>
        </p:nvCxnSpPr>
        <p:spPr>
          <a:xfrm>
            <a:off x="3317735" y="1739788"/>
            <a:ext cx="530028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FD9A93-4E8E-4B94-A650-0CF6E43B2C37}"/>
              </a:ext>
            </a:extLst>
          </p:cNvPr>
          <p:cNvCxnSpPr>
            <a:cxnSpLocks/>
          </p:cNvCxnSpPr>
          <p:nvPr/>
        </p:nvCxnSpPr>
        <p:spPr>
          <a:xfrm>
            <a:off x="335105" y="1989293"/>
            <a:ext cx="828291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D4016C-982A-4FED-A3DF-7880E3D98B82}"/>
              </a:ext>
            </a:extLst>
          </p:cNvPr>
          <p:cNvCxnSpPr>
            <a:cxnSpLocks/>
          </p:cNvCxnSpPr>
          <p:nvPr/>
        </p:nvCxnSpPr>
        <p:spPr>
          <a:xfrm>
            <a:off x="335105" y="2286336"/>
            <a:ext cx="49085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935992-2218-41B1-BEC4-5822D1C3744D}"/>
              </a:ext>
            </a:extLst>
          </p:cNvPr>
          <p:cNvCxnSpPr>
            <a:cxnSpLocks/>
          </p:cNvCxnSpPr>
          <p:nvPr/>
        </p:nvCxnSpPr>
        <p:spPr>
          <a:xfrm>
            <a:off x="2651478" y="2571750"/>
            <a:ext cx="59665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2200A7-E68E-4B6A-AB00-6DD451630A37}"/>
              </a:ext>
            </a:extLst>
          </p:cNvPr>
          <p:cNvCxnSpPr>
            <a:cxnSpLocks/>
          </p:cNvCxnSpPr>
          <p:nvPr/>
        </p:nvCxnSpPr>
        <p:spPr>
          <a:xfrm>
            <a:off x="308101" y="2829346"/>
            <a:ext cx="82289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5E00CF0-048C-410D-9511-0F7ACC95D5E2}"/>
              </a:ext>
            </a:extLst>
          </p:cNvPr>
          <p:cNvCxnSpPr>
            <a:cxnSpLocks/>
          </p:cNvCxnSpPr>
          <p:nvPr/>
        </p:nvCxnSpPr>
        <p:spPr>
          <a:xfrm>
            <a:off x="334465" y="3064015"/>
            <a:ext cx="31370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FDCB8BA-0EC8-4278-A02C-EB42B4CDE0AC}"/>
              </a:ext>
            </a:extLst>
          </p:cNvPr>
          <p:cNvSpPr/>
          <p:nvPr/>
        </p:nvSpPr>
        <p:spPr bwMode="auto">
          <a:xfrm>
            <a:off x="105196" y="1120294"/>
            <a:ext cx="8760574" cy="3324837"/>
          </a:xfrm>
          <a:prstGeom prst="rect">
            <a:avLst/>
          </a:prstGeom>
          <a:solidFill>
            <a:srgbClr val="FFFFFF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36E8825-CAFF-41D8-A7FA-D7F2999F9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00" y="1247105"/>
            <a:ext cx="4909524" cy="12718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F17B822-B9C3-4AD9-9D1B-2E1ABC3B7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4211" y="2387104"/>
            <a:ext cx="4227330" cy="1974549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4592D4-8D93-434A-A6C4-8D69FA067075}"/>
              </a:ext>
            </a:extLst>
          </p:cNvPr>
          <p:cNvCxnSpPr/>
          <p:nvPr/>
        </p:nvCxnSpPr>
        <p:spPr>
          <a:xfrm>
            <a:off x="1715512" y="2027391"/>
            <a:ext cx="336628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1AC9F5-25BE-4F3F-B5DB-D764050CCC96}"/>
              </a:ext>
            </a:extLst>
          </p:cNvPr>
          <p:cNvCxnSpPr>
            <a:cxnSpLocks/>
          </p:cNvCxnSpPr>
          <p:nvPr/>
        </p:nvCxnSpPr>
        <p:spPr>
          <a:xfrm>
            <a:off x="334465" y="2169001"/>
            <a:ext cx="474733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2ED3CE-51A2-4D7C-BB6D-15E63C6BE776}"/>
              </a:ext>
            </a:extLst>
          </p:cNvPr>
          <p:cNvCxnSpPr>
            <a:cxnSpLocks/>
          </p:cNvCxnSpPr>
          <p:nvPr/>
        </p:nvCxnSpPr>
        <p:spPr>
          <a:xfrm>
            <a:off x="308100" y="2329829"/>
            <a:ext cx="17958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0F34C94-A3EB-4519-801D-D85BCEE50B16}"/>
              </a:ext>
            </a:extLst>
          </p:cNvPr>
          <p:cNvSpPr/>
          <p:nvPr/>
        </p:nvSpPr>
        <p:spPr bwMode="auto">
          <a:xfrm>
            <a:off x="3854210" y="3669753"/>
            <a:ext cx="4343022" cy="792667"/>
          </a:xfrm>
          <a:prstGeom prst="roundRect">
            <a:avLst/>
          </a:prstGeom>
          <a:noFill/>
          <a:ln w="38100">
            <a:solidFill>
              <a:srgbClr val="F36633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682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3F8267-52E4-41D2-A560-4A2997D9FE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ADE01A-4B17-440C-B6B5-312AD26C3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Recurrent Event Data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2A2DAC2-1B72-47A1-99AF-6921091D0DD1}"/>
              </a:ext>
            </a:extLst>
          </p:cNvPr>
          <p:cNvSpPr txBox="1">
            <a:spLocks/>
          </p:cNvSpPr>
          <p:nvPr/>
        </p:nvSpPr>
        <p:spPr>
          <a:xfrm>
            <a:off x="250943" y="1233296"/>
            <a:ext cx="8532209" cy="359612"/>
          </a:xfrm>
          <a:prstGeom prst="rect">
            <a:avLst/>
          </a:prstGeom>
          <a:ln>
            <a:noFill/>
          </a:ln>
        </p:spPr>
        <p:txBody>
          <a:bodyPr lIns="10800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/>
              <a:t>The event can occur more than once; limited by trial length and events such as loss to follow up or withdrawal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450463-E4E3-4C49-80A8-883C1C80E9B3}"/>
              </a:ext>
            </a:extLst>
          </p:cNvPr>
          <p:cNvCxnSpPr/>
          <p:nvPr/>
        </p:nvCxnSpPr>
        <p:spPr>
          <a:xfrm>
            <a:off x="1908315" y="2583934"/>
            <a:ext cx="4002156" cy="0"/>
          </a:xfrm>
          <a:prstGeom prst="line">
            <a:avLst/>
          </a:prstGeom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C9148F-C3E6-4356-AD76-C32872E6ED3D}"/>
              </a:ext>
            </a:extLst>
          </p:cNvPr>
          <p:cNvCxnSpPr>
            <a:cxnSpLocks/>
          </p:cNvCxnSpPr>
          <p:nvPr/>
        </p:nvCxnSpPr>
        <p:spPr>
          <a:xfrm>
            <a:off x="1908315" y="3075091"/>
            <a:ext cx="5844214" cy="0"/>
          </a:xfrm>
          <a:prstGeom prst="line">
            <a:avLst/>
          </a:prstGeom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43DCA-E8DF-4C8D-A084-3B401B169747}"/>
              </a:ext>
            </a:extLst>
          </p:cNvPr>
          <p:cNvCxnSpPr>
            <a:cxnSpLocks/>
          </p:cNvCxnSpPr>
          <p:nvPr/>
        </p:nvCxnSpPr>
        <p:spPr>
          <a:xfrm>
            <a:off x="1908315" y="3604782"/>
            <a:ext cx="2001078" cy="0"/>
          </a:xfrm>
          <a:prstGeom prst="line">
            <a:avLst/>
          </a:prstGeom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5F81673-0B2D-4ABB-8ECE-5D9E1FA8D58B}"/>
              </a:ext>
            </a:extLst>
          </p:cNvPr>
          <p:cNvSpPr txBox="1"/>
          <p:nvPr/>
        </p:nvSpPr>
        <p:spPr>
          <a:xfrm>
            <a:off x="794282" y="2398850"/>
            <a:ext cx="981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/>
              <a:t>Subject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B8C455-3ACB-4C7D-A9A2-4935DB36FECF}"/>
              </a:ext>
            </a:extLst>
          </p:cNvPr>
          <p:cNvSpPr txBox="1"/>
          <p:nvPr/>
        </p:nvSpPr>
        <p:spPr>
          <a:xfrm>
            <a:off x="794281" y="2916532"/>
            <a:ext cx="981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/>
              <a:t>Subject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BB0183-DF24-4F32-8A1B-6AFA23402244}"/>
              </a:ext>
            </a:extLst>
          </p:cNvPr>
          <p:cNvSpPr txBox="1"/>
          <p:nvPr/>
        </p:nvSpPr>
        <p:spPr>
          <a:xfrm>
            <a:off x="794281" y="3434214"/>
            <a:ext cx="981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/>
              <a:t>Subject 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2445E4-6947-4E3E-82DC-3191ADE669EE}"/>
              </a:ext>
            </a:extLst>
          </p:cNvPr>
          <p:cNvSpPr/>
          <p:nvPr/>
        </p:nvSpPr>
        <p:spPr bwMode="auto">
          <a:xfrm>
            <a:off x="3779204" y="3516264"/>
            <a:ext cx="225287" cy="222502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B241FEF-FCC8-4205-A2C8-0D4F1F227A74}"/>
              </a:ext>
            </a:extLst>
          </p:cNvPr>
          <p:cNvSpPr/>
          <p:nvPr/>
        </p:nvSpPr>
        <p:spPr bwMode="auto">
          <a:xfrm>
            <a:off x="2272749" y="2462075"/>
            <a:ext cx="225287" cy="222502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50A84F6-37E4-4DE0-A02A-71F70D19D63F}"/>
              </a:ext>
            </a:extLst>
          </p:cNvPr>
          <p:cNvSpPr/>
          <p:nvPr/>
        </p:nvSpPr>
        <p:spPr bwMode="auto">
          <a:xfrm>
            <a:off x="2551048" y="2462075"/>
            <a:ext cx="225287" cy="222502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9B1733-9359-4A74-9947-02B50613099D}"/>
              </a:ext>
            </a:extLst>
          </p:cNvPr>
          <p:cNvSpPr/>
          <p:nvPr/>
        </p:nvSpPr>
        <p:spPr bwMode="auto">
          <a:xfrm>
            <a:off x="4018723" y="2453347"/>
            <a:ext cx="225287" cy="222502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0FDD098-FF8E-437C-81C8-3155687AFDA5}"/>
              </a:ext>
            </a:extLst>
          </p:cNvPr>
          <p:cNvSpPr/>
          <p:nvPr/>
        </p:nvSpPr>
        <p:spPr bwMode="auto">
          <a:xfrm>
            <a:off x="1994454" y="3490584"/>
            <a:ext cx="225287" cy="222502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ED07CF0-809E-440E-A25D-C0CDB23788EE}"/>
              </a:ext>
            </a:extLst>
          </p:cNvPr>
          <p:cNvCxnSpPr/>
          <p:nvPr/>
        </p:nvCxnSpPr>
        <p:spPr>
          <a:xfrm>
            <a:off x="1881811" y="3948909"/>
            <a:ext cx="58707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49DA4A6-6C44-4212-8A83-4ADBE2A8D2C4}"/>
              </a:ext>
            </a:extLst>
          </p:cNvPr>
          <p:cNvSpPr/>
          <p:nvPr/>
        </p:nvSpPr>
        <p:spPr bwMode="auto">
          <a:xfrm>
            <a:off x="598877" y="4296588"/>
            <a:ext cx="225287" cy="222502"/>
          </a:xfrm>
          <a:prstGeom prst="ellipse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AE689D-4009-442A-84DB-02BB7E68C6B7}"/>
              </a:ext>
            </a:extLst>
          </p:cNvPr>
          <p:cNvSpPr txBox="1"/>
          <p:nvPr/>
        </p:nvSpPr>
        <p:spPr>
          <a:xfrm>
            <a:off x="3197093" y="4254536"/>
            <a:ext cx="4678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/>
              <a:t>Time at risk from randomisation (months)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A41C9B-6120-417C-93B1-668C0C095203}"/>
              </a:ext>
            </a:extLst>
          </p:cNvPr>
          <p:cNvSpPr txBox="1"/>
          <p:nvPr/>
        </p:nvSpPr>
        <p:spPr>
          <a:xfrm>
            <a:off x="1775790" y="3992945"/>
            <a:ext cx="443951" cy="285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D219BF-7900-4FEC-91E6-37C9A36C469A}"/>
              </a:ext>
            </a:extLst>
          </p:cNvPr>
          <p:cNvSpPr txBox="1"/>
          <p:nvPr/>
        </p:nvSpPr>
        <p:spPr>
          <a:xfrm>
            <a:off x="3770243" y="3983783"/>
            <a:ext cx="443951" cy="285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5A24AB-C70B-4C0A-9EE8-D742216EC871}"/>
              </a:ext>
            </a:extLst>
          </p:cNvPr>
          <p:cNvSpPr txBox="1"/>
          <p:nvPr/>
        </p:nvSpPr>
        <p:spPr>
          <a:xfrm>
            <a:off x="7530553" y="3983783"/>
            <a:ext cx="443951" cy="285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/>
              <a:t>18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A8BFF4-E178-4240-8BDA-20E44CF01C7E}"/>
              </a:ext>
            </a:extLst>
          </p:cNvPr>
          <p:cNvSpPr txBox="1"/>
          <p:nvPr/>
        </p:nvSpPr>
        <p:spPr>
          <a:xfrm>
            <a:off x="5738193" y="3992945"/>
            <a:ext cx="443951" cy="285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C7039A-F9B4-4DEC-BF2F-00187BE53D57}"/>
              </a:ext>
            </a:extLst>
          </p:cNvPr>
          <p:cNvSpPr txBox="1"/>
          <p:nvPr/>
        </p:nvSpPr>
        <p:spPr>
          <a:xfrm>
            <a:off x="863847" y="4254536"/>
            <a:ext cx="622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/>
              <a:t>Event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6B62F4F-48AC-49A0-955A-AAC37F1A8EDA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8008A2B5-C38F-4369-AD05-9B462730FD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62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8" grpId="0"/>
      <p:bldP spid="30" grpId="0"/>
      <p:bldP spid="31" grpId="0"/>
      <p:bldP spid="32" grpId="0"/>
      <p:bldP spid="33" grpId="0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3F8267-52E4-41D2-A560-4A2997D9FE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Most common statistics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ADE01A-4B17-440C-B6B5-312AD26C3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Recurrent Event Data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2A2DAC2-1B72-47A1-99AF-6921091D0DD1}"/>
              </a:ext>
            </a:extLst>
          </p:cNvPr>
          <p:cNvSpPr txBox="1">
            <a:spLocks/>
          </p:cNvSpPr>
          <p:nvPr/>
        </p:nvSpPr>
        <p:spPr>
          <a:xfrm>
            <a:off x="301507" y="1086890"/>
            <a:ext cx="8532209" cy="359612"/>
          </a:xfrm>
          <a:prstGeom prst="rect">
            <a:avLst/>
          </a:prstGeom>
          <a:ln>
            <a:noFill/>
          </a:ln>
        </p:spPr>
        <p:txBody>
          <a:bodyPr lIns="10800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/>
              <a:t>The event can occur more than once; limited by trial length and events such as loss to follow up or withdrawal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C6B62F4F-48AC-49A0-955A-AAC37F1A8EDA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8008A2B5-C38F-4369-AD05-9B462730FD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6B572-F45B-48A8-AA11-3CFE2818E4EA}"/>
              </a:ext>
            </a:extLst>
          </p:cNvPr>
          <p:cNvSpPr txBox="1"/>
          <p:nvPr/>
        </p:nvSpPr>
        <p:spPr>
          <a:xfrm>
            <a:off x="1677301" y="2211894"/>
            <a:ext cx="7661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Rate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37A796-7CAF-476B-B493-FF510BBC4BA4}"/>
              </a:ext>
            </a:extLst>
          </p:cNvPr>
          <p:cNvSpPr txBox="1"/>
          <p:nvPr/>
        </p:nvSpPr>
        <p:spPr>
          <a:xfrm>
            <a:off x="5573045" y="2211894"/>
            <a:ext cx="129743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b="1">
                <a:solidFill>
                  <a:schemeClr val="bg1"/>
                </a:solidFill>
              </a:rPr>
              <a:t>Rate ratio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F4C0D5-BD66-434D-8013-B0DF240FA8A7}"/>
              </a:ext>
            </a:extLst>
          </p:cNvPr>
          <p:cNvSpPr txBox="1"/>
          <p:nvPr/>
        </p:nvSpPr>
        <p:spPr>
          <a:xfrm>
            <a:off x="488452" y="2652905"/>
            <a:ext cx="3339081" cy="584775"/>
          </a:xfrm>
          <a:prstGeom prst="rect">
            <a:avLst/>
          </a:prstGeom>
          <a:solidFill>
            <a:schemeClr val="bg2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600"/>
              <a:t>Frequency with which event occurs over a specified time period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C16DE-ACD9-4FD3-80AC-BC75573EEE36}"/>
              </a:ext>
            </a:extLst>
          </p:cNvPr>
          <p:cNvSpPr txBox="1"/>
          <p:nvPr/>
        </p:nvSpPr>
        <p:spPr>
          <a:xfrm>
            <a:off x="360000" y="1710210"/>
            <a:ext cx="3136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600" i="1"/>
              <a:t>Most common statistics</a:t>
            </a:r>
            <a:r>
              <a:rPr lang="en-GB" sz="120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1999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9" grpId="0" animBg="1"/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F3171A0-FD36-45F0-A848-7B168E574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73" y="1152094"/>
            <a:ext cx="5686425" cy="16383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CCF4FD-BAAE-416A-9340-575A0B3C59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968798" y="1251970"/>
            <a:ext cx="2955343" cy="3070050"/>
          </a:xfrm>
        </p:spPr>
        <p:txBody>
          <a:bodyPr/>
          <a:lstStyle/>
          <a:p>
            <a:r>
              <a:rPr lang="en-GB"/>
              <a:t>How to get % from a ratio?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A5132-5E5D-4DE1-9A43-CDCD2FB5FB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i="1"/>
              <a:t>Putting it into practice</a:t>
            </a:r>
            <a:r>
              <a:rPr lang="en-GB"/>
              <a:t>: CAPTAIN Ph3 study in asthma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65791-A1E6-429A-8BEC-E514FE93A2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ADFCEA-FB0F-44AA-A299-61A4934C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Recurrent Event Data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46FA77-7442-4E9C-A795-ECB6174114D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0C0CE-73D1-4792-AD2A-4CC33B966A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20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CB920B-16FB-4268-ACDF-88D7A1B2F33C}"/>
              </a:ext>
            </a:extLst>
          </p:cNvPr>
          <p:cNvCxnSpPr/>
          <p:nvPr/>
        </p:nvCxnSpPr>
        <p:spPr>
          <a:xfrm>
            <a:off x="2734887" y="1928553"/>
            <a:ext cx="2503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87378C-4978-4806-9418-573B904EE90F}"/>
              </a:ext>
            </a:extLst>
          </p:cNvPr>
          <p:cNvCxnSpPr/>
          <p:nvPr/>
        </p:nvCxnSpPr>
        <p:spPr>
          <a:xfrm>
            <a:off x="2734887" y="2080953"/>
            <a:ext cx="2503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DF797F-5610-4B54-B5E0-6AFE87A4EE95}"/>
              </a:ext>
            </a:extLst>
          </p:cNvPr>
          <p:cNvCxnSpPr>
            <a:cxnSpLocks/>
          </p:cNvCxnSpPr>
          <p:nvPr/>
        </p:nvCxnSpPr>
        <p:spPr>
          <a:xfrm>
            <a:off x="2405149" y="2358044"/>
            <a:ext cx="81187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998843-8E27-448F-9A2A-5EFF7F16003F}"/>
              </a:ext>
            </a:extLst>
          </p:cNvPr>
          <p:cNvCxnSpPr>
            <a:cxnSpLocks/>
          </p:cNvCxnSpPr>
          <p:nvPr/>
        </p:nvCxnSpPr>
        <p:spPr>
          <a:xfrm>
            <a:off x="2405149" y="1798320"/>
            <a:ext cx="84561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DE88DB-DCAD-4EDA-9189-93F0EC0A521E}"/>
              </a:ext>
            </a:extLst>
          </p:cNvPr>
          <p:cNvCxnSpPr/>
          <p:nvPr/>
        </p:nvCxnSpPr>
        <p:spPr>
          <a:xfrm>
            <a:off x="2405149" y="1798320"/>
            <a:ext cx="58009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A3B2A7-B5E5-48A5-8DD6-E972484A70B4}"/>
              </a:ext>
            </a:extLst>
          </p:cNvPr>
          <p:cNvCxnSpPr>
            <a:cxnSpLocks/>
          </p:cNvCxnSpPr>
          <p:nvPr/>
        </p:nvCxnSpPr>
        <p:spPr>
          <a:xfrm>
            <a:off x="2328949" y="2500835"/>
            <a:ext cx="92181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FE6ECB-7A5E-4331-9C61-09C41B34FD95}"/>
              </a:ext>
            </a:extLst>
          </p:cNvPr>
          <p:cNvSpPr txBox="1"/>
          <p:nvPr/>
        </p:nvSpPr>
        <p:spPr>
          <a:xfrm>
            <a:off x="3175203" y="2987714"/>
            <a:ext cx="1933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>
                <a:solidFill>
                  <a:schemeClr val="bg2"/>
                </a:solidFill>
              </a:rPr>
              <a:t>(1-0.78)*100% = 22%</a:t>
            </a:r>
          </a:p>
        </p:txBody>
      </p:sp>
    </p:spTree>
    <p:extLst>
      <p:ext uri="{BB962C8B-B14F-4D97-AF65-F5344CB8AC3E}">
        <p14:creationId xmlns:p14="http://schemas.microsoft.com/office/powerpoint/2010/main" val="323704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AB7DE-E2BB-48E1-AAB5-967BC190F7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4B79AE-8C09-440E-92CE-7EFFC801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Key Messages</a:t>
            </a:r>
            <a:endParaRPr lang="en-GB" b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F3074F-D48F-42B7-B02D-BF21E0B0C985}"/>
              </a:ext>
            </a:extLst>
          </p:cNvPr>
          <p:cNvGrpSpPr/>
          <p:nvPr/>
        </p:nvGrpSpPr>
        <p:grpSpPr>
          <a:xfrm>
            <a:off x="359152" y="1178172"/>
            <a:ext cx="8424000" cy="3006267"/>
            <a:chOff x="229684" y="1124832"/>
            <a:chExt cx="8720678" cy="300626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53FD7FE-A14B-44D1-A98B-AC45CFD94B32}"/>
                </a:ext>
              </a:extLst>
            </p:cNvPr>
            <p:cNvSpPr/>
            <p:nvPr/>
          </p:nvSpPr>
          <p:spPr>
            <a:xfrm>
              <a:off x="229684" y="1270433"/>
              <a:ext cx="8720678" cy="1410449"/>
            </a:xfrm>
            <a:custGeom>
              <a:avLst/>
              <a:gdLst>
                <a:gd name="connsiteX0" fmla="*/ 0 w 8423275"/>
                <a:gd name="connsiteY0" fmla="*/ 0 h 1333810"/>
                <a:gd name="connsiteX1" fmla="*/ 8423275 w 8423275"/>
                <a:gd name="connsiteY1" fmla="*/ 0 h 1333810"/>
                <a:gd name="connsiteX2" fmla="*/ 8423275 w 8423275"/>
                <a:gd name="connsiteY2" fmla="*/ 1333810 h 1333810"/>
                <a:gd name="connsiteX3" fmla="*/ 0 w 8423275"/>
                <a:gd name="connsiteY3" fmla="*/ 1333810 h 1333810"/>
                <a:gd name="connsiteX4" fmla="*/ 0 w 8423275"/>
                <a:gd name="connsiteY4" fmla="*/ 0 h 133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3275" h="1333810">
                  <a:moveTo>
                    <a:pt x="0" y="0"/>
                  </a:moveTo>
                  <a:lnTo>
                    <a:pt x="8423275" y="0"/>
                  </a:lnTo>
                  <a:lnTo>
                    <a:pt x="8423275" y="1333810"/>
                  </a:lnTo>
                  <a:lnTo>
                    <a:pt x="0" y="133381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rgbClr val="40488D"/>
              </a:solidFill>
            </a:ln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53740" tIns="333248" rIns="653740" bIns="113792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1600" kern="1200"/>
                <a:t>Different data types require different statistics to summarise and compare data.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1600" kern="1200"/>
                <a:t>Incorrectly used or interpreted statistics can lead to misleading conclusions.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1600"/>
                <a:t>Any ratio could be expressed as a percentage.</a:t>
              </a:r>
              <a:endParaRPr lang="en-GB" sz="1600" kern="12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F0635F-D49B-416C-AEF7-16C046B7AA41}"/>
                </a:ext>
              </a:extLst>
            </p:cNvPr>
            <p:cNvSpPr/>
            <p:nvPr/>
          </p:nvSpPr>
          <p:spPr>
            <a:xfrm>
              <a:off x="650847" y="1124832"/>
              <a:ext cx="5896292" cy="386419"/>
            </a:xfrm>
            <a:custGeom>
              <a:avLst/>
              <a:gdLst>
                <a:gd name="connsiteX0" fmla="*/ 0 w 5896292"/>
                <a:gd name="connsiteY0" fmla="*/ 64404 h 386419"/>
                <a:gd name="connsiteX1" fmla="*/ 64404 w 5896292"/>
                <a:gd name="connsiteY1" fmla="*/ 0 h 386419"/>
                <a:gd name="connsiteX2" fmla="*/ 5831888 w 5896292"/>
                <a:gd name="connsiteY2" fmla="*/ 0 h 386419"/>
                <a:gd name="connsiteX3" fmla="*/ 5896292 w 5896292"/>
                <a:gd name="connsiteY3" fmla="*/ 64404 h 386419"/>
                <a:gd name="connsiteX4" fmla="*/ 5896292 w 5896292"/>
                <a:gd name="connsiteY4" fmla="*/ 322015 h 386419"/>
                <a:gd name="connsiteX5" fmla="*/ 5831888 w 5896292"/>
                <a:gd name="connsiteY5" fmla="*/ 386419 h 386419"/>
                <a:gd name="connsiteX6" fmla="*/ 64404 w 5896292"/>
                <a:gd name="connsiteY6" fmla="*/ 386419 h 386419"/>
                <a:gd name="connsiteX7" fmla="*/ 0 w 5896292"/>
                <a:gd name="connsiteY7" fmla="*/ 322015 h 386419"/>
                <a:gd name="connsiteX8" fmla="*/ 0 w 5896292"/>
                <a:gd name="connsiteY8" fmla="*/ 64404 h 38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92" h="386419">
                  <a:moveTo>
                    <a:pt x="0" y="64404"/>
                  </a:moveTo>
                  <a:cubicBezTo>
                    <a:pt x="0" y="28835"/>
                    <a:pt x="28835" y="0"/>
                    <a:pt x="64404" y="0"/>
                  </a:cubicBezTo>
                  <a:lnTo>
                    <a:pt x="5831888" y="0"/>
                  </a:lnTo>
                  <a:cubicBezTo>
                    <a:pt x="5867457" y="0"/>
                    <a:pt x="5896292" y="28835"/>
                    <a:pt x="5896292" y="64404"/>
                  </a:cubicBezTo>
                  <a:lnTo>
                    <a:pt x="5896292" y="322015"/>
                  </a:lnTo>
                  <a:cubicBezTo>
                    <a:pt x="5896292" y="357584"/>
                    <a:pt x="5867457" y="386419"/>
                    <a:pt x="5831888" y="386419"/>
                  </a:cubicBezTo>
                  <a:lnTo>
                    <a:pt x="64404" y="386419"/>
                  </a:lnTo>
                  <a:cubicBezTo>
                    <a:pt x="28835" y="386419"/>
                    <a:pt x="0" y="357584"/>
                    <a:pt x="0" y="322015"/>
                  </a:cubicBezTo>
                  <a:lnTo>
                    <a:pt x="0" y="64404"/>
                  </a:lnTo>
                  <a:close/>
                </a:path>
              </a:pathLst>
            </a:custGeom>
            <a:solidFill>
              <a:srgbClr val="40488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1729" tIns="18863" rIns="241729" bIns="18863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800" kern="1200"/>
                <a:t>Data types and families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3361069-978D-47BE-8B68-7E36591A8BBA}"/>
                </a:ext>
              </a:extLst>
            </p:cNvPr>
            <p:cNvSpPr/>
            <p:nvPr/>
          </p:nvSpPr>
          <p:spPr>
            <a:xfrm>
              <a:off x="229684" y="3130093"/>
              <a:ext cx="8720678" cy="1001006"/>
            </a:xfrm>
            <a:custGeom>
              <a:avLst/>
              <a:gdLst>
                <a:gd name="connsiteX0" fmla="*/ 0 w 8423275"/>
                <a:gd name="connsiteY0" fmla="*/ 0 h 1360800"/>
                <a:gd name="connsiteX1" fmla="*/ 8423275 w 8423275"/>
                <a:gd name="connsiteY1" fmla="*/ 0 h 1360800"/>
                <a:gd name="connsiteX2" fmla="*/ 8423275 w 8423275"/>
                <a:gd name="connsiteY2" fmla="*/ 1360800 h 1360800"/>
                <a:gd name="connsiteX3" fmla="*/ 0 w 8423275"/>
                <a:gd name="connsiteY3" fmla="*/ 1360800 h 1360800"/>
                <a:gd name="connsiteX4" fmla="*/ 0 w 8423275"/>
                <a:gd name="connsiteY4" fmla="*/ 0 h 136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3275" h="1360800">
                  <a:moveTo>
                    <a:pt x="0" y="0"/>
                  </a:moveTo>
                  <a:lnTo>
                    <a:pt x="8423275" y="0"/>
                  </a:lnTo>
                  <a:lnTo>
                    <a:pt x="8423275" y="1360800"/>
                  </a:lnTo>
                  <a:lnTo>
                    <a:pt x="0" y="136080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bg2"/>
              </a:solidFill>
            </a:ln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53740" tIns="333248" rIns="653740" bIns="113792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1600" kern="1200"/>
                <a:t>Be aware of the data type being summarised or compared.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GB" sz="1600" kern="1200"/>
                <a:t>Pause to think if the right statistics are being used.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6580A51-25B3-409B-83F9-FB63BBC979FB}"/>
                </a:ext>
              </a:extLst>
            </p:cNvPr>
            <p:cNvSpPr/>
            <p:nvPr/>
          </p:nvSpPr>
          <p:spPr>
            <a:xfrm>
              <a:off x="749225" y="2907541"/>
              <a:ext cx="5896292" cy="386419"/>
            </a:xfrm>
            <a:custGeom>
              <a:avLst/>
              <a:gdLst>
                <a:gd name="connsiteX0" fmla="*/ 0 w 5896292"/>
                <a:gd name="connsiteY0" fmla="*/ 64404 h 386419"/>
                <a:gd name="connsiteX1" fmla="*/ 64404 w 5896292"/>
                <a:gd name="connsiteY1" fmla="*/ 0 h 386419"/>
                <a:gd name="connsiteX2" fmla="*/ 5831888 w 5896292"/>
                <a:gd name="connsiteY2" fmla="*/ 0 h 386419"/>
                <a:gd name="connsiteX3" fmla="*/ 5896292 w 5896292"/>
                <a:gd name="connsiteY3" fmla="*/ 64404 h 386419"/>
                <a:gd name="connsiteX4" fmla="*/ 5896292 w 5896292"/>
                <a:gd name="connsiteY4" fmla="*/ 322015 h 386419"/>
                <a:gd name="connsiteX5" fmla="*/ 5831888 w 5896292"/>
                <a:gd name="connsiteY5" fmla="*/ 386419 h 386419"/>
                <a:gd name="connsiteX6" fmla="*/ 64404 w 5896292"/>
                <a:gd name="connsiteY6" fmla="*/ 386419 h 386419"/>
                <a:gd name="connsiteX7" fmla="*/ 0 w 5896292"/>
                <a:gd name="connsiteY7" fmla="*/ 322015 h 386419"/>
                <a:gd name="connsiteX8" fmla="*/ 0 w 5896292"/>
                <a:gd name="connsiteY8" fmla="*/ 64404 h 38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92" h="386419">
                  <a:moveTo>
                    <a:pt x="0" y="64404"/>
                  </a:moveTo>
                  <a:cubicBezTo>
                    <a:pt x="0" y="28835"/>
                    <a:pt x="28835" y="0"/>
                    <a:pt x="64404" y="0"/>
                  </a:cubicBezTo>
                  <a:lnTo>
                    <a:pt x="5831888" y="0"/>
                  </a:lnTo>
                  <a:cubicBezTo>
                    <a:pt x="5867457" y="0"/>
                    <a:pt x="5896292" y="28835"/>
                    <a:pt x="5896292" y="64404"/>
                  </a:cubicBezTo>
                  <a:lnTo>
                    <a:pt x="5896292" y="322015"/>
                  </a:lnTo>
                  <a:cubicBezTo>
                    <a:pt x="5896292" y="357584"/>
                    <a:pt x="5867457" y="386419"/>
                    <a:pt x="5831888" y="386419"/>
                  </a:cubicBezTo>
                  <a:lnTo>
                    <a:pt x="64404" y="386419"/>
                  </a:lnTo>
                  <a:cubicBezTo>
                    <a:pt x="28835" y="386419"/>
                    <a:pt x="0" y="357584"/>
                    <a:pt x="0" y="322015"/>
                  </a:cubicBezTo>
                  <a:lnTo>
                    <a:pt x="0" y="64404"/>
                  </a:lnTo>
                  <a:close/>
                </a:path>
              </a:pathLst>
            </a:custGeom>
            <a:solidFill>
              <a:schemeClr val="bg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1729" tIns="18863" rIns="241729" bIns="18863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800" kern="1200"/>
                <a:t>What do you need to do?</a:t>
              </a:r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974FA-778B-4016-A204-325106B3D89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BE4B5A-99EB-445A-AF60-AD8615714D4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310036"/>
      </p:ext>
    </p:extLst>
  </p:cSld>
  <p:clrMapOvr>
    <a:masterClrMapping/>
  </p:clrMapOvr>
</p:sld>
</file>

<file path=ppt/theme/theme1.xml><?xml version="1.0" encoding="utf-8"?>
<a:theme xmlns:a="http://schemas.openxmlformats.org/drawingml/2006/main" name="GSK ">
  <a:themeElements>
    <a:clrScheme name="GSK 2017 4">
      <a:dk1>
        <a:srgbClr val="544F40"/>
      </a:dk1>
      <a:lt1>
        <a:srgbClr val="FFFFFF"/>
      </a:lt1>
      <a:dk2>
        <a:srgbClr val="15717D"/>
      </a:dk2>
      <a:lt2>
        <a:srgbClr val="F36633"/>
      </a:lt2>
      <a:accent1>
        <a:srgbClr val="F36633"/>
      </a:accent1>
      <a:accent2>
        <a:srgbClr val="544F40"/>
      </a:accent2>
      <a:accent3>
        <a:srgbClr val="008A00"/>
      </a:accent3>
      <a:accent4>
        <a:srgbClr val="BC1077"/>
      </a:accent4>
      <a:accent5>
        <a:srgbClr val="40488D"/>
      </a:accent5>
      <a:accent6>
        <a:srgbClr val="ED003C"/>
      </a:accent6>
      <a:hlink>
        <a:srgbClr val="F36633"/>
      </a:hlink>
      <a:folHlink>
        <a:srgbClr val="F36633"/>
      </a:folHlink>
    </a:clrScheme>
    <a:fontScheme name="GS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>
          <a:noFill/>
          <a:headEnd/>
          <a:tailEnd/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marL="180975" indent="-180975" eaLnBrk="0" fontAlgn="auto" hangingPunct="0">
          <a:spcBef>
            <a:spcPts val="0"/>
          </a:spcBef>
          <a:spcAft>
            <a:spcPts val="0"/>
          </a:spcAft>
          <a:buClr>
            <a:schemeClr val="bg1"/>
          </a:buClr>
          <a:buFont typeface="Arial" pitchFamily="34" charset="0"/>
          <a:buChar char="–"/>
          <a:defRPr sz="1200" b="1" kern="0" dirty="0" err="1" smtClean="0">
            <a:solidFill>
              <a:srgbClr val="FFFFFF"/>
            </a:solidFill>
            <a:latin typeface="Arial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171450" indent="-171450">
          <a:buClr>
            <a:schemeClr val="tx1"/>
          </a:buClr>
          <a:buFont typeface="Arial" pitchFamily="34" charset="0"/>
          <a:buChar char="–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SK_16x9 PowerPoint_V1_20170629" id="{B8F049B3-8A91-4FD3-B156-B44F80C0BC27}" vid="{B103CDC2-14D8-4A5C-86DD-96EA2A18BF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2f27799-0169-4b70-93d7-49e0001469b7">
      <UserInfo>
        <DisplayName>Raj Sharma</DisplayName>
        <AccountId>32</AccountId>
        <AccountType/>
      </UserInfo>
      <UserInfo>
        <DisplayName>David Leather</DisplayName>
        <AccountId>24</AccountId>
        <AccountType/>
      </UserInfo>
      <UserInfo>
        <DisplayName>Jon Robertson</DisplayName>
        <AccountId>10</AccountId>
        <AccountType/>
      </UserInfo>
      <UserInfo>
        <DisplayName>Nigel Dallow</DisplayName>
        <AccountId>20</AccountId>
        <AccountType/>
      </UserInfo>
      <UserInfo>
        <DisplayName>Emily Jarvis</DisplayName>
        <AccountId>13</AccountId>
        <AccountType/>
      </UserInfo>
      <UserInfo>
        <DisplayName>Agne Zarankaite</DisplayName>
        <AccountId>21</AccountId>
        <AccountType/>
      </UserInfo>
      <UserInfo>
        <DisplayName>Dawn Midwinter</DisplayName>
        <AccountId>25</AccountId>
        <AccountType/>
      </UserInfo>
      <UserInfo>
        <DisplayName>Zelie Bailes</DisplayName>
        <AccountId>33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DE2C101F8FE24EAE9C8B3E64B68458" ma:contentTypeVersion="8" ma:contentTypeDescription="Create a new document." ma:contentTypeScope="" ma:versionID="f13d9be91b28acf62ccaa10e213e4c8a">
  <xsd:schema xmlns:xsd="http://www.w3.org/2001/XMLSchema" xmlns:xs="http://www.w3.org/2001/XMLSchema" xmlns:p="http://schemas.microsoft.com/office/2006/metadata/properties" xmlns:ns2="b065ee36-be87-4344-8b29-f2acbb5bc7a3" xmlns:ns3="d2f27799-0169-4b70-93d7-49e0001469b7" targetNamespace="http://schemas.microsoft.com/office/2006/metadata/properties" ma:root="true" ma:fieldsID="cdeb94149ca64a908789746a34144e05" ns2:_="" ns3:_="">
    <xsd:import namespace="b065ee36-be87-4344-8b29-f2acbb5bc7a3"/>
    <xsd:import namespace="d2f27799-0169-4b70-93d7-49e0001469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65ee36-be87-4344-8b29-f2acbb5bc7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f27799-0169-4b70-93d7-49e0001469b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7F6992-6940-4143-AC62-96142C4EF750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2f27799-0169-4b70-93d7-49e0001469b7"/>
    <ds:schemaRef ds:uri="b065ee36-be87-4344-8b29-f2acbb5bc7a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3FF14A3-0B79-4250-A823-8E178C64B25C}">
  <ds:schemaRefs>
    <ds:schemaRef ds:uri="b065ee36-be87-4344-8b29-f2acbb5bc7a3"/>
    <ds:schemaRef ds:uri="d2f27799-0169-4b70-93d7-49e0001469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7AD869F-BABB-40CE-B3FC-3DDCF75BCD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782</Words>
  <Application>Microsoft Office PowerPoint</Application>
  <PresentationFormat>On-screen Show (16:9)</PresentationFormat>
  <Paragraphs>188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GSK </vt:lpstr>
      <vt:lpstr>PowerPoint Presentation</vt:lpstr>
      <vt:lpstr>Why it matters</vt:lpstr>
      <vt:lpstr>Continuous data</vt:lpstr>
      <vt:lpstr>Continuous data</vt:lpstr>
      <vt:lpstr>Continuous data </vt:lpstr>
      <vt:lpstr>Continuous data </vt:lpstr>
      <vt:lpstr>Binary data</vt:lpstr>
      <vt:lpstr>Binary data</vt:lpstr>
      <vt:lpstr>Binary data</vt:lpstr>
      <vt:lpstr>Binary data</vt:lpstr>
      <vt:lpstr>Time-to-First-Event Data</vt:lpstr>
      <vt:lpstr>Time-to-First-Event Data</vt:lpstr>
      <vt:lpstr>Time-to-First-Event Data</vt:lpstr>
      <vt:lpstr>Time-to-First-Event Data</vt:lpstr>
      <vt:lpstr>Time-to-First-Event Data</vt:lpstr>
      <vt:lpstr>Time-to-First-Event Data</vt:lpstr>
      <vt:lpstr>Time-to-First-Event Data</vt:lpstr>
      <vt:lpstr>Recurrent Event Data</vt:lpstr>
      <vt:lpstr>Recurrent Event Data</vt:lpstr>
      <vt:lpstr>Recurrent Event Data</vt:lpstr>
      <vt:lpstr>Key Messages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Affairs Statistical Training</dc:title>
  <dc:creator>Zelie Bailes</dc:creator>
  <cp:lastModifiedBy>Steve Mallett</cp:lastModifiedBy>
  <cp:revision>4</cp:revision>
  <cp:lastPrinted>2022-01-06T16:10:08Z</cp:lastPrinted>
  <dcterms:created xsi:type="dcterms:W3CDTF">2021-08-16T16:14:15Z</dcterms:created>
  <dcterms:modified xsi:type="dcterms:W3CDTF">2025-11-27T15:15:03Z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0x0101001BDE2C101F8FE24EAE9C8B3E64B68458</vt:lpwstr>
  </property>
</Properties>
</file>