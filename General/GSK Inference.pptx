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913" r:id="rId5"/>
    <p:sldId id="2145708068" r:id="rId6"/>
    <p:sldId id="653" r:id="rId7"/>
    <p:sldId id="2145708158" r:id="rId8"/>
    <p:sldId id="2145708159" r:id="rId9"/>
    <p:sldId id="2884" r:id="rId10"/>
    <p:sldId id="2145708161" r:id="rId11"/>
    <p:sldId id="2145708163" r:id="rId12"/>
    <p:sldId id="2145708162" r:id="rId13"/>
    <p:sldId id="2145708094" r:id="rId14"/>
    <p:sldId id="2145708095" r:id="rId15"/>
    <p:sldId id="2145708097" r:id="rId16"/>
    <p:sldId id="2145708108" r:id="rId17"/>
    <p:sldId id="2145708056" r:id="rId18"/>
    <p:sldId id="2145708064" r:id="rId19"/>
  </p:sldIdLst>
  <p:sldSz cx="9144000" cy="5143500" type="screen16x9"/>
  <p:notesSz cx="6865938" cy="90471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gnficance testing (18min)" id="{9F60E464-46FD-4111-86B5-10DD1FD9D48E}">
          <p14:sldIdLst>
            <p14:sldId id="2913"/>
            <p14:sldId id="2145708068"/>
            <p14:sldId id="653"/>
            <p14:sldId id="2145708158"/>
            <p14:sldId id="2145708159"/>
            <p14:sldId id="2884"/>
            <p14:sldId id="2145708161"/>
            <p14:sldId id="2145708163"/>
            <p14:sldId id="2145708162"/>
            <p14:sldId id="2145708094"/>
            <p14:sldId id="2145708095"/>
            <p14:sldId id="2145708097"/>
            <p14:sldId id="2145708108"/>
            <p14:sldId id="2145708056"/>
            <p14:sldId id="21457080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52">
          <p15:clr>
            <a:srgbClr val="A4A3A4"/>
          </p15:clr>
        </p15:guide>
        <p15:guide id="2" orient="horz" pos="2685">
          <p15:clr>
            <a:srgbClr val="A4A3A4"/>
          </p15:clr>
        </p15:guide>
        <p15:guide id="3" pos="2879">
          <p15:clr>
            <a:srgbClr val="A4A3A4"/>
          </p15:clr>
        </p15:guide>
        <p15:guide id="4" pos="3027">
          <p15:clr>
            <a:srgbClr val="A4A3A4"/>
          </p15:clr>
        </p15:guide>
        <p15:guide id="5" pos="5533">
          <p15:clr>
            <a:srgbClr val="A4A3A4"/>
          </p15:clr>
        </p15:guide>
        <p15:guide id="6" pos="2733">
          <p15:clr>
            <a:srgbClr val="A4A3A4"/>
          </p15:clr>
        </p15:guide>
        <p15:guide id="7" pos="22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ich Davies" initials="RD" lastIdx="5" clrIdx="6">
    <p:extLst>
      <p:ext uri="{19B8F6BF-5375-455C-9EA6-DF929625EA0E}">
        <p15:presenceInfo xmlns:p15="http://schemas.microsoft.com/office/powerpoint/2012/main" userId="S::richard.y.davies@gsk.com::8b5f16ec-b0bb-430c-9137-91526ccc0ab4" providerId="AD"/>
      </p:ext>
    </p:extLst>
  </p:cmAuthor>
  <p:cmAuthor id="1" name="Zelie Bailes" initials="ZB" lastIdx="119" clrIdx="0">
    <p:extLst>
      <p:ext uri="{19B8F6BF-5375-455C-9EA6-DF929625EA0E}">
        <p15:presenceInfo xmlns:p15="http://schemas.microsoft.com/office/powerpoint/2012/main" userId="Zelie Bailes" providerId="None"/>
      </p:ext>
    </p:extLst>
  </p:cmAuthor>
  <p:cmAuthor id="8" name="Nigel Dallow" initials="ND" lastIdx="6" clrIdx="7">
    <p:extLst>
      <p:ext uri="{19B8F6BF-5375-455C-9EA6-DF929625EA0E}">
        <p15:presenceInfo xmlns:p15="http://schemas.microsoft.com/office/powerpoint/2012/main" userId="S::nigel.s.dallow@gsk.com::22126230-7899-40dc-9c70-c90d97679fcc" providerId="AD"/>
      </p:ext>
    </p:extLst>
  </p:cmAuthor>
  <p:cmAuthor id="2" name="Zelie Bailes" initials="ZB [2]" lastIdx="4" clrIdx="1">
    <p:extLst>
      <p:ext uri="{19B8F6BF-5375-455C-9EA6-DF929625EA0E}">
        <p15:presenceInfo xmlns:p15="http://schemas.microsoft.com/office/powerpoint/2012/main" userId="S::zelie.a.bailes@gsk.com::016fc419-2509-4044-b219-254c2702790b" providerId="AD"/>
      </p:ext>
    </p:extLst>
  </p:cmAuthor>
  <p:cmAuthor id="9" name="Nigel Dallow" initials="ND [2]" lastIdx="5" clrIdx="8">
    <p:extLst>
      <p:ext uri="{19B8F6BF-5375-455C-9EA6-DF929625EA0E}">
        <p15:presenceInfo xmlns:p15="http://schemas.microsoft.com/office/powerpoint/2012/main" userId="Nigel Dallow" providerId="None"/>
      </p:ext>
    </p:extLst>
  </p:cmAuthor>
  <p:cmAuthor id="3" name="Katie Thorn" initials="KT" lastIdx="126" clrIdx="2">
    <p:extLst>
      <p:ext uri="{19B8F6BF-5375-455C-9EA6-DF929625EA0E}">
        <p15:presenceInfo xmlns:p15="http://schemas.microsoft.com/office/powerpoint/2012/main" userId="Katie Thorn" providerId="None"/>
      </p:ext>
    </p:extLst>
  </p:cmAuthor>
  <p:cmAuthor id="10" name="Dawn Midwinter" initials="DM [2]" lastIdx="21" clrIdx="9">
    <p:extLst>
      <p:ext uri="{19B8F6BF-5375-455C-9EA6-DF929625EA0E}">
        <p15:presenceInfo xmlns:p15="http://schemas.microsoft.com/office/powerpoint/2012/main" userId="Dawn Midwinter" providerId="None"/>
      </p:ext>
    </p:extLst>
  </p:cmAuthor>
  <p:cmAuthor id="4" name="Agne Zarankaite" initials="AZ" lastIdx="129" clrIdx="3">
    <p:extLst>
      <p:ext uri="{19B8F6BF-5375-455C-9EA6-DF929625EA0E}">
        <p15:presenceInfo xmlns:p15="http://schemas.microsoft.com/office/powerpoint/2012/main" userId="Agne Zarankaite" providerId="None"/>
      </p:ext>
    </p:extLst>
  </p:cmAuthor>
  <p:cmAuthor id="11" name="Alisa Urbano" initials="AU" lastIdx="6" clrIdx="10">
    <p:extLst>
      <p:ext uri="{19B8F6BF-5375-455C-9EA6-DF929625EA0E}">
        <p15:presenceInfo xmlns:p15="http://schemas.microsoft.com/office/powerpoint/2012/main" userId="Alisa Urbano" providerId="None"/>
      </p:ext>
    </p:extLst>
  </p:cmAuthor>
  <p:cmAuthor id="5" name="Dawn Midwinter" initials="DM" lastIdx="18" clrIdx="4">
    <p:extLst>
      <p:ext uri="{19B8F6BF-5375-455C-9EA6-DF929625EA0E}">
        <p15:presenceInfo xmlns:p15="http://schemas.microsoft.com/office/powerpoint/2012/main" userId="S::dawn.a.midwinter@gsk.com::12e9609d-3428-473d-a14d-db946382f5a8" providerId="AD"/>
      </p:ext>
    </p:extLst>
  </p:cmAuthor>
  <p:cmAuthor id="12" name="Zoe Guy" initials="ZG" lastIdx="7" clrIdx="11">
    <p:extLst>
      <p:ext uri="{19B8F6BF-5375-455C-9EA6-DF929625EA0E}">
        <p15:presenceInfo xmlns:p15="http://schemas.microsoft.com/office/powerpoint/2012/main" userId="Zoe Guy" providerId="None"/>
      </p:ext>
    </p:extLst>
  </p:cmAuthor>
  <p:cmAuthor id="6" name="Anny Stari" initials="AS" lastIdx="1" clrIdx="5">
    <p:extLst>
      <p:ext uri="{19B8F6BF-5375-455C-9EA6-DF929625EA0E}">
        <p15:presenceInfo xmlns:p15="http://schemas.microsoft.com/office/powerpoint/2012/main" userId="S::anny.x.stari@gsk.com::db1607f0-112a-4109-a9d7-c266bb6f20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152C56"/>
    <a:srgbClr val="2F81A6"/>
    <a:srgbClr val="0F2842"/>
    <a:srgbClr val="163E51"/>
    <a:srgbClr val="D5D7EC"/>
    <a:srgbClr val="F9C6BE"/>
    <a:srgbClr val="BC1077"/>
    <a:srgbClr val="9E00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326" autoAdjust="0"/>
    <p:restoredTop sz="67215" autoAdjust="0"/>
  </p:normalViewPr>
  <p:slideViewPr>
    <p:cSldViewPr snapToGrid="0">
      <p:cViewPr varScale="1">
        <p:scale>
          <a:sx n="96" d="100"/>
          <a:sy n="96" d="100"/>
        </p:scale>
        <p:origin x="1584" y="78"/>
      </p:cViewPr>
      <p:guideLst>
        <p:guide orient="horz" pos="752"/>
        <p:guide orient="horz" pos="2685"/>
        <p:guide pos="2879"/>
        <p:guide pos="3027"/>
        <p:guide pos="5533"/>
        <p:guide pos="2733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1EFFB9-BD04-49BD-9694-02B3F4A9B724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396139CA-4DC3-48EA-8CBA-B1D44B8C690F}">
      <dgm:prSet phldrT="[Text]" custT="1"/>
      <dgm:spPr>
        <a:solidFill>
          <a:srgbClr val="40488D"/>
        </a:solidFill>
      </dgm:spPr>
      <dgm:t>
        <a:bodyPr/>
        <a:lstStyle/>
        <a:p>
          <a:r>
            <a:rPr lang="en-GB" sz="1800"/>
            <a:t>Hypothesis testing and p-values</a:t>
          </a:r>
        </a:p>
      </dgm:t>
    </dgm:pt>
    <dgm:pt modelId="{00854F48-D91F-47A1-A7C3-A30C6A2A49EE}" type="parTrans" cxnId="{B18F193B-40D0-4EE1-B589-7EEBB126A3FD}">
      <dgm:prSet/>
      <dgm:spPr/>
      <dgm:t>
        <a:bodyPr/>
        <a:lstStyle/>
        <a:p>
          <a:endParaRPr lang="en-GB" sz="1400"/>
        </a:p>
      </dgm:t>
    </dgm:pt>
    <dgm:pt modelId="{47620660-F6FA-4B08-8C3A-723AD425FCDA}" type="sibTrans" cxnId="{B18F193B-40D0-4EE1-B589-7EEBB126A3FD}">
      <dgm:prSet/>
      <dgm:spPr/>
      <dgm:t>
        <a:bodyPr/>
        <a:lstStyle/>
        <a:p>
          <a:endParaRPr lang="en-GB" sz="1400"/>
        </a:p>
      </dgm:t>
    </dgm:pt>
    <dgm:pt modelId="{B2BC8E56-6421-40F1-A752-CC45BA8F9896}">
      <dgm:prSet phldrT="[Text]" custT="1"/>
      <dgm:spPr>
        <a:solidFill>
          <a:schemeClr val="bg2"/>
        </a:solidFill>
      </dgm:spPr>
      <dgm:t>
        <a:bodyPr/>
        <a:lstStyle/>
        <a:p>
          <a:r>
            <a:rPr lang="en-GB" sz="1800"/>
            <a:t>What do you need to do?</a:t>
          </a:r>
        </a:p>
      </dgm:t>
    </dgm:pt>
    <dgm:pt modelId="{E35343CF-07C8-465D-9389-8800863811D3}" type="parTrans" cxnId="{59E992FE-E2CB-46C6-A60D-0F7221D391E4}">
      <dgm:prSet/>
      <dgm:spPr/>
      <dgm:t>
        <a:bodyPr/>
        <a:lstStyle/>
        <a:p>
          <a:endParaRPr lang="en-GB" sz="1400"/>
        </a:p>
      </dgm:t>
    </dgm:pt>
    <dgm:pt modelId="{C4C9F067-9821-453E-BBB3-9B063265FAAD}" type="sibTrans" cxnId="{59E992FE-E2CB-46C6-A60D-0F7221D391E4}">
      <dgm:prSet/>
      <dgm:spPr/>
      <dgm:t>
        <a:bodyPr/>
        <a:lstStyle/>
        <a:p>
          <a:endParaRPr lang="en-GB" sz="1400"/>
        </a:p>
      </dgm:t>
    </dgm:pt>
    <dgm:pt modelId="{0FEB305D-9D3D-40E3-9B11-D606B5B4CFC5}">
      <dgm:prSet/>
      <dgm:spPr>
        <a:ln>
          <a:solidFill>
            <a:srgbClr val="40488D"/>
          </a:solidFill>
        </a:ln>
      </dgm:spPr>
      <dgm:t>
        <a:bodyPr/>
        <a:lstStyle/>
        <a:p>
          <a:r>
            <a:rPr lang="en-GB"/>
            <a:t>Hypothesis tests use observed data to determine if a hypothesis (null) is plausible.</a:t>
          </a:r>
        </a:p>
      </dgm:t>
    </dgm:pt>
    <dgm:pt modelId="{269C29B0-D780-4FA6-ABA5-2BC3D53DAB53}" type="parTrans" cxnId="{AE744C34-49BA-49BD-A147-D9085358F35B}">
      <dgm:prSet/>
      <dgm:spPr/>
      <dgm:t>
        <a:bodyPr/>
        <a:lstStyle/>
        <a:p>
          <a:endParaRPr lang="en-GB"/>
        </a:p>
      </dgm:t>
    </dgm:pt>
    <dgm:pt modelId="{7C8A264C-B2B5-4262-8EF8-FEDC94D8C42F}" type="sibTrans" cxnId="{AE744C34-49BA-49BD-A147-D9085358F35B}">
      <dgm:prSet/>
      <dgm:spPr/>
      <dgm:t>
        <a:bodyPr/>
        <a:lstStyle/>
        <a:p>
          <a:endParaRPr lang="en-GB"/>
        </a:p>
      </dgm:t>
    </dgm:pt>
    <dgm:pt modelId="{43A48367-6EF7-4F1B-BE15-DAD70FCC1AB9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GB"/>
            <a:t>Consider what null hypothesis and significance level are being used to help you interpret the finding.</a:t>
          </a:r>
        </a:p>
      </dgm:t>
    </dgm:pt>
    <dgm:pt modelId="{EF2940C4-C654-4A90-8FAC-5C60E8BFA1BD}" type="parTrans" cxnId="{AB9D06E6-3E27-4ED4-95C0-F341E39CCCAB}">
      <dgm:prSet/>
      <dgm:spPr/>
      <dgm:t>
        <a:bodyPr/>
        <a:lstStyle/>
        <a:p>
          <a:endParaRPr lang="en-GB"/>
        </a:p>
      </dgm:t>
    </dgm:pt>
    <dgm:pt modelId="{C8CD75AC-532E-447F-B1A4-E21EE9CF8528}" type="sibTrans" cxnId="{AB9D06E6-3E27-4ED4-95C0-F341E39CCCAB}">
      <dgm:prSet/>
      <dgm:spPr/>
      <dgm:t>
        <a:bodyPr/>
        <a:lstStyle/>
        <a:p>
          <a:endParaRPr lang="en-GB"/>
        </a:p>
      </dgm:t>
    </dgm:pt>
    <dgm:pt modelId="{BB282D2D-E161-4ABB-8D88-08C7B8B56A12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GB"/>
            <a:t>Do not present p-values in isolation.</a:t>
          </a:r>
        </a:p>
      </dgm:t>
    </dgm:pt>
    <dgm:pt modelId="{0768F068-6FC4-43DF-BA53-47A18394A66A}" type="parTrans" cxnId="{30C20686-8D25-47B5-982D-CDECBAD47D76}">
      <dgm:prSet/>
      <dgm:spPr/>
      <dgm:t>
        <a:bodyPr/>
        <a:lstStyle/>
        <a:p>
          <a:endParaRPr lang="en-GB"/>
        </a:p>
      </dgm:t>
    </dgm:pt>
    <dgm:pt modelId="{F456755C-1DFF-4559-BBC4-199FD2A35401}" type="sibTrans" cxnId="{30C20686-8D25-47B5-982D-CDECBAD47D76}">
      <dgm:prSet/>
      <dgm:spPr/>
      <dgm:t>
        <a:bodyPr/>
        <a:lstStyle/>
        <a:p>
          <a:endParaRPr lang="en-GB"/>
        </a:p>
      </dgm:t>
    </dgm:pt>
    <dgm:pt modelId="{625D4471-13F5-40E0-9A14-F24AEE13E90A}">
      <dgm:prSet/>
      <dgm:spPr>
        <a:ln>
          <a:solidFill>
            <a:srgbClr val="40488D"/>
          </a:solidFill>
        </a:ln>
      </dgm:spPr>
      <dgm:t>
        <a:bodyPr/>
        <a:lstStyle/>
        <a:p>
          <a:r>
            <a:rPr lang="en-GB"/>
            <a:t>A p-value is a measure of this plausibility. </a:t>
          </a:r>
        </a:p>
      </dgm:t>
    </dgm:pt>
    <dgm:pt modelId="{2B8B894A-DD2F-4DCE-AC84-40FDE9901C4B}" type="parTrans" cxnId="{018990A2-6B39-48FB-AB78-5925246CF6E3}">
      <dgm:prSet/>
      <dgm:spPr/>
      <dgm:t>
        <a:bodyPr/>
        <a:lstStyle/>
        <a:p>
          <a:endParaRPr lang="en-GB"/>
        </a:p>
      </dgm:t>
    </dgm:pt>
    <dgm:pt modelId="{9E9E6166-D703-41B0-AAD1-9864A395608E}" type="sibTrans" cxnId="{018990A2-6B39-48FB-AB78-5925246CF6E3}">
      <dgm:prSet/>
      <dgm:spPr/>
      <dgm:t>
        <a:bodyPr/>
        <a:lstStyle/>
        <a:p>
          <a:endParaRPr lang="en-GB"/>
        </a:p>
      </dgm:t>
    </dgm:pt>
    <dgm:pt modelId="{6CA6E0A0-4C41-4790-9916-F02D57BC4229}">
      <dgm:prSet/>
      <dgm:spPr>
        <a:ln>
          <a:solidFill>
            <a:srgbClr val="40488D"/>
          </a:solidFill>
        </a:ln>
      </dgm:spPr>
      <dgm:t>
        <a:bodyPr/>
        <a:lstStyle/>
        <a:p>
          <a:r>
            <a:rPr lang="en-GB"/>
            <a:t>P-values alone do not show the direction of effect.</a:t>
          </a:r>
        </a:p>
      </dgm:t>
    </dgm:pt>
    <dgm:pt modelId="{38FC4847-28C2-47BD-BB99-2674ED35EEA1}" type="parTrans" cxnId="{80A868EE-DC64-41D8-B1C5-A6CDFFF2B2C6}">
      <dgm:prSet/>
      <dgm:spPr/>
      <dgm:t>
        <a:bodyPr/>
        <a:lstStyle/>
        <a:p>
          <a:endParaRPr lang="en-GB"/>
        </a:p>
      </dgm:t>
    </dgm:pt>
    <dgm:pt modelId="{11A5E854-6759-469D-A7AC-CF931F198E8D}" type="sibTrans" cxnId="{80A868EE-DC64-41D8-B1C5-A6CDFFF2B2C6}">
      <dgm:prSet/>
      <dgm:spPr/>
      <dgm:t>
        <a:bodyPr/>
        <a:lstStyle/>
        <a:p>
          <a:endParaRPr lang="en-GB"/>
        </a:p>
      </dgm:t>
    </dgm:pt>
    <dgm:pt modelId="{FAA2DEEA-7603-4856-96F1-61BE7BE7FE1E}">
      <dgm:prSet/>
      <dgm:spPr>
        <a:ln>
          <a:solidFill>
            <a:schemeClr val="bg2"/>
          </a:solidFill>
        </a:ln>
      </dgm:spPr>
      <dgm:t>
        <a:bodyPr/>
        <a:lstStyle/>
        <a:p>
          <a:r>
            <a:rPr lang="en-GB"/>
            <a:t>Can your statistician help ensure results are communicated clearly?</a:t>
          </a:r>
        </a:p>
      </dgm:t>
    </dgm:pt>
    <dgm:pt modelId="{87554A73-F4CF-48CA-875B-0924D96609F9}" type="parTrans" cxnId="{EAC8F44A-8184-49BD-96A3-2B91F8CECF1C}">
      <dgm:prSet/>
      <dgm:spPr/>
      <dgm:t>
        <a:bodyPr/>
        <a:lstStyle/>
        <a:p>
          <a:endParaRPr lang="en-GB"/>
        </a:p>
      </dgm:t>
    </dgm:pt>
    <dgm:pt modelId="{6D6CF70C-01A2-42BC-9DB1-C74E9C8BA9AD}" type="sibTrans" cxnId="{EAC8F44A-8184-49BD-96A3-2B91F8CECF1C}">
      <dgm:prSet/>
      <dgm:spPr/>
      <dgm:t>
        <a:bodyPr/>
        <a:lstStyle/>
        <a:p>
          <a:endParaRPr lang="en-GB"/>
        </a:p>
      </dgm:t>
    </dgm:pt>
    <dgm:pt modelId="{447DD49A-06A4-4E6D-8A8C-3BCE2337070F}" type="pres">
      <dgm:prSet presAssocID="{931EFFB9-BD04-49BD-9694-02B3F4A9B724}" presName="linear" presStyleCnt="0">
        <dgm:presLayoutVars>
          <dgm:dir/>
          <dgm:animLvl val="lvl"/>
          <dgm:resizeHandles val="exact"/>
        </dgm:presLayoutVars>
      </dgm:prSet>
      <dgm:spPr/>
    </dgm:pt>
    <dgm:pt modelId="{7ADD2E8F-30C1-42D1-ACE9-C545D2B2866D}" type="pres">
      <dgm:prSet presAssocID="{396139CA-4DC3-48EA-8CBA-B1D44B8C690F}" presName="parentLin" presStyleCnt="0"/>
      <dgm:spPr/>
    </dgm:pt>
    <dgm:pt modelId="{347990ED-8D0C-4161-B372-9B025C95341E}" type="pres">
      <dgm:prSet presAssocID="{396139CA-4DC3-48EA-8CBA-B1D44B8C690F}" presName="parentLeftMargin" presStyleLbl="node1" presStyleIdx="0" presStyleCnt="2"/>
      <dgm:spPr/>
    </dgm:pt>
    <dgm:pt modelId="{C08FE6A4-AFAA-401F-8788-5B2EF4404F28}" type="pres">
      <dgm:prSet presAssocID="{396139CA-4DC3-48EA-8CBA-B1D44B8C690F}" presName="parentText" presStyleLbl="node1" presStyleIdx="0" presStyleCnt="2" custScaleY="81813">
        <dgm:presLayoutVars>
          <dgm:chMax val="0"/>
          <dgm:bulletEnabled val="1"/>
        </dgm:presLayoutVars>
      </dgm:prSet>
      <dgm:spPr/>
    </dgm:pt>
    <dgm:pt modelId="{33E3D091-0F1F-4AD1-9244-AF479C03FFCB}" type="pres">
      <dgm:prSet presAssocID="{396139CA-4DC3-48EA-8CBA-B1D44B8C690F}" presName="negativeSpace" presStyleCnt="0"/>
      <dgm:spPr/>
    </dgm:pt>
    <dgm:pt modelId="{E312D576-2262-4902-9BB8-7378FCFD3F79}" type="pres">
      <dgm:prSet presAssocID="{396139CA-4DC3-48EA-8CBA-B1D44B8C690F}" presName="childText" presStyleLbl="conFgAcc1" presStyleIdx="0" presStyleCnt="2" custScaleY="117620" custLinFactNeighborX="4" custLinFactNeighborY="-5390">
        <dgm:presLayoutVars>
          <dgm:bulletEnabled val="1"/>
        </dgm:presLayoutVars>
      </dgm:prSet>
      <dgm:spPr/>
    </dgm:pt>
    <dgm:pt modelId="{FFE15786-8A0D-4C7A-BEFF-0A1922236FC7}" type="pres">
      <dgm:prSet presAssocID="{47620660-F6FA-4B08-8C3A-723AD425FCDA}" presName="spaceBetweenRectangles" presStyleCnt="0"/>
      <dgm:spPr/>
    </dgm:pt>
    <dgm:pt modelId="{E578B430-5CF0-4DB2-B2F8-4609B5F4FA42}" type="pres">
      <dgm:prSet presAssocID="{B2BC8E56-6421-40F1-A752-CC45BA8F9896}" presName="parentLin" presStyleCnt="0"/>
      <dgm:spPr/>
    </dgm:pt>
    <dgm:pt modelId="{A523611D-3F6A-4FE1-AEE5-A5BF0209E934}" type="pres">
      <dgm:prSet presAssocID="{B2BC8E56-6421-40F1-A752-CC45BA8F9896}" presName="parentLeftMargin" presStyleLbl="node1" presStyleIdx="0" presStyleCnt="2"/>
      <dgm:spPr/>
    </dgm:pt>
    <dgm:pt modelId="{4DB2581C-ADBC-4738-93A9-430B6ACEF38A}" type="pres">
      <dgm:prSet presAssocID="{B2BC8E56-6421-40F1-A752-CC45BA8F9896}" presName="parentText" presStyleLbl="node1" presStyleIdx="1" presStyleCnt="2" custScaleY="81813">
        <dgm:presLayoutVars>
          <dgm:chMax val="0"/>
          <dgm:bulletEnabled val="1"/>
        </dgm:presLayoutVars>
      </dgm:prSet>
      <dgm:spPr/>
    </dgm:pt>
    <dgm:pt modelId="{A5751C39-E111-461D-9F50-68F29BA3FF36}" type="pres">
      <dgm:prSet presAssocID="{B2BC8E56-6421-40F1-A752-CC45BA8F9896}" presName="negativeSpace" presStyleCnt="0"/>
      <dgm:spPr/>
    </dgm:pt>
    <dgm:pt modelId="{887D9A82-0F84-4900-95BC-A421E82387A4}" type="pres">
      <dgm:prSet presAssocID="{B2BC8E56-6421-40F1-A752-CC45BA8F9896}" presName="childText" presStyleLbl="conFgAcc1" presStyleIdx="1" presStyleCnt="2" custLinFactNeighborX="4" custLinFactNeighborY="-9799">
        <dgm:presLayoutVars>
          <dgm:bulletEnabled val="1"/>
        </dgm:presLayoutVars>
      </dgm:prSet>
      <dgm:spPr/>
    </dgm:pt>
  </dgm:ptLst>
  <dgm:cxnLst>
    <dgm:cxn modelId="{63DE3A01-08DA-4876-8D85-31FD030D38E0}" type="presOf" srcId="{6CA6E0A0-4C41-4790-9916-F02D57BC4229}" destId="{E312D576-2262-4902-9BB8-7378FCFD3F79}" srcOrd="0" destOrd="2" presId="urn:microsoft.com/office/officeart/2005/8/layout/list1"/>
    <dgm:cxn modelId="{77789B0A-BE2D-493F-8440-05701C3C528B}" type="presOf" srcId="{BB282D2D-E161-4ABB-8D88-08C7B8B56A12}" destId="{887D9A82-0F84-4900-95BC-A421E82387A4}" srcOrd="0" destOrd="2" presId="urn:microsoft.com/office/officeart/2005/8/layout/list1"/>
    <dgm:cxn modelId="{FCF5A112-E0EC-416E-AD14-955723583FB3}" type="presOf" srcId="{396139CA-4DC3-48EA-8CBA-B1D44B8C690F}" destId="{347990ED-8D0C-4161-B372-9B025C95341E}" srcOrd="0" destOrd="0" presId="urn:microsoft.com/office/officeart/2005/8/layout/list1"/>
    <dgm:cxn modelId="{879F5732-A7F5-4E18-8332-FA859B436949}" type="presOf" srcId="{43A48367-6EF7-4F1B-BE15-DAD70FCC1AB9}" destId="{887D9A82-0F84-4900-95BC-A421E82387A4}" srcOrd="0" destOrd="0" presId="urn:microsoft.com/office/officeart/2005/8/layout/list1"/>
    <dgm:cxn modelId="{AE744C34-49BA-49BD-A147-D9085358F35B}" srcId="{396139CA-4DC3-48EA-8CBA-B1D44B8C690F}" destId="{0FEB305D-9D3D-40E3-9B11-D606B5B4CFC5}" srcOrd="0" destOrd="0" parTransId="{269C29B0-D780-4FA6-ABA5-2BC3D53DAB53}" sibTransId="{7C8A264C-B2B5-4262-8EF8-FEDC94D8C42F}"/>
    <dgm:cxn modelId="{B18F193B-40D0-4EE1-B589-7EEBB126A3FD}" srcId="{931EFFB9-BD04-49BD-9694-02B3F4A9B724}" destId="{396139CA-4DC3-48EA-8CBA-B1D44B8C690F}" srcOrd="0" destOrd="0" parTransId="{00854F48-D91F-47A1-A7C3-A30C6A2A49EE}" sibTransId="{47620660-F6FA-4B08-8C3A-723AD425FCDA}"/>
    <dgm:cxn modelId="{6D39803B-44C4-4EF1-8D68-286D69982106}" type="presOf" srcId="{B2BC8E56-6421-40F1-A752-CC45BA8F9896}" destId="{A523611D-3F6A-4FE1-AEE5-A5BF0209E934}" srcOrd="0" destOrd="0" presId="urn:microsoft.com/office/officeart/2005/8/layout/list1"/>
    <dgm:cxn modelId="{D1ECF65E-4864-404E-B14B-C021716D4D16}" type="presOf" srcId="{396139CA-4DC3-48EA-8CBA-B1D44B8C690F}" destId="{C08FE6A4-AFAA-401F-8788-5B2EF4404F28}" srcOrd="1" destOrd="0" presId="urn:microsoft.com/office/officeart/2005/8/layout/list1"/>
    <dgm:cxn modelId="{EAC8F44A-8184-49BD-96A3-2B91F8CECF1C}" srcId="{B2BC8E56-6421-40F1-A752-CC45BA8F9896}" destId="{FAA2DEEA-7603-4856-96F1-61BE7BE7FE1E}" srcOrd="1" destOrd="0" parTransId="{87554A73-F4CF-48CA-875B-0924D96609F9}" sibTransId="{6D6CF70C-01A2-42BC-9DB1-C74E9C8BA9AD}"/>
    <dgm:cxn modelId="{15EB094F-7BFB-4AE9-9DE4-A68F8E784377}" type="presOf" srcId="{FAA2DEEA-7603-4856-96F1-61BE7BE7FE1E}" destId="{887D9A82-0F84-4900-95BC-A421E82387A4}" srcOrd="0" destOrd="1" presId="urn:microsoft.com/office/officeart/2005/8/layout/list1"/>
    <dgm:cxn modelId="{30C20686-8D25-47B5-982D-CDECBAD47D76}" srcId="{B2BC8E56-6421-40F1-A752-CC45BA8F9896}" destId="{BB282D2D-E161-4ABB-8D88-08C7B8B56A12}" srcOrd="2" destOrd="0" parTransId="{0768F068-6FC4-43DF-BA53-47A18394A66A}" sibTransId="{F456755C-1DFF-4559-BBC4-199FD2A35401}"/>
    <dgm:cxn modelId="{018990A2-6B39-48FB-AB78-5925246CF6E3}" srcId="{396139CA-4DC3-48EA-8CBA-B1D44B8C690F}" destId="{625D4471-13F5-40E0-9A14-F24AEE13E90A}" srcOrd="1" destOrd="0" parTransId="{2B8B894A-DD2F-4DCE-AC84-40FDE9901C4B}" sibTransId="{9E9E6166-D703-41B0-AAD1-9864A395608E}"/>
    <dgm:cxn modelId="{A23F54CD-750B-4F0E-9786-4E8C4FC923DF}" type="presOf" srcId="{625D4471-13F5-40E0-9A14-F24AEE13E90A}" destId="{E312D576-2262-4902-9BB8-7378FCFD3F79}" srcOrd="0" destOrd="1" presId="urn:microsoft.com/office/officeart/2005/8/layout/list1"/>
    <dgm:cxn modelId="{A32B37D9-93A6-4AAE-83CA-1C3EF3C1E8E2}" type="presOf" srcId="{B2BC8E56-6421-40F1-A752-CC45BA8F9896}" destId="{4DB2581C-ADBC-4738-93A9-430B6ACEF38A}" srcOrd="1" destOrd="0" presId="urn:microsoft.com/office/officeart/2005/8/layout/list1"/>
    <dgm:cxn modelId="{D858AEE1-888A-4A09-920E-E3EFE4A1C074}" type="presOf" srcId="{931EFFB9-BD04-49BD-9694-02B3F4A9B724}" destId="{447DD49A-06A4-4E6D-8A8C-3BCE2337070F}" srcOrd="0" destOrd="0" presId="urn:microsoft.com/office/officeart/2005/8/layout/list1"/>
    <dgm:cxn modelId="{FD7015E5-770B-4F75-A9C3-F5570AB768EC}" type="presOf" srcId="{0FEB305D-9D3D-40E3-9B11-D606B5B4CFC5}" destId="{E312D576-2262-4902-9BB8-7378FCFD3F79}" srcOrd="0" destOrd="0" presId="urn:microsoft.com/office/officeart/2005/8/layout/list1"/>
    <dgm:cxn modelId="{AB9D06E6-3E27-4ED4-95C0-F341E39CCCAB}" srcId="{B2BC8E56-6421-40F1-A752-CC45BA8F9896}" destId="{43A48367-6EF7-4F1B-BE15-DAD70FCC1AB9}" srcOrd="0" destOrd="0" parTransId="{EF2940C4-C654-4A90-8FAC-5C60E8BFA1BD}" sibTransId="{C8CD75AC-532E-447F-B1A4-E21EE9CF8528}"/>
    <dgm:cxn modelId="{80A868EE-DC64-41D8-B1C5-A6CDFFF2B2C6}" srcId="{396139CA-4DC3-48EA-8CBA-B1D44B8C690F}" destId="{6CA6E0A0-4C41-4790-9916-F02D57BC4229}" srcOrd="2" destOrd="0" parTransId="{38FC4847-28C2-47BD-BB99-2674ED35EEA1}" sibTransId="{11A5E854-6759-469D-A7AC-CF931F198E8D}"/>
    <dgm:cxn modelId="{59E992FE-E2CB-46C6-A60D-0F7221D391E4}" srcId="{931EFFB9-BD04-49BD-9694-02B3F4A9B724}" destId="{B2BC8E56-6421-40F1-A752-CC45BA8F9896}" srcOrd="1" destOrd="0" parTransId="{E35343CF-07C8-465D-9389-8800863811D3}" sibTransId="{C4C9F067-9821-453E-BBB3-9B063265FAAD}"/>
    <dgm:cxn modelId="{0454CE2D-C9BC-4BE9-ABCA-9CBEE81DEA32}" type="presParOf" srcId="{447DD49A-06A4-4E6D-8A8C-3BCE2337070F}" destId="{7ADD2E8F-30C1-42D1-ACE9-C545D2B2866D}" srcOrd="0" destOrd="0" presId="urn:microsoft.com/office/officeart/2005/8/layout/list1"/>
    <dgm:cxn modelId="{8D86E326-658F-4B92-87FC-D5DE2E8AC35E}" type="presParOf" srcId="{7ADD2E8F-30C1-42D1-ACE9-C545D2B2866D}" destId="{347990ED-8D0C-4161-B372-9B025C95341E}" srcOrd="0" destOrd="0" presId="urn:microsoft.com/office/officeart/2005/8/layout/list1"/>
    <dgm:cxn modelId="{ACE9C12D-09CB-4213-9B8D-B1C965B3D280}" type="presParOf" srcId="{7ADD2E8F-30C1-42D1-ACE9-C545D2B2866D}" destId="{C08FE6A4-AFAA-401F-8788-5B2EF4404F28}" srcOrd="1" destOrd="0" presId="urn:microsoft.com/office/officeart/2005/8/layout/list1"/>
    <dgm:cxn modelId="{AFC95DF0-129F-4D85-B26E-7912580A80F8}" type="presParOf" srcId="{447DD49A-06A4-4E6D-8A8C-3BCE2337070F}" destId="{33E3D091-0F1F-4AD1-9244-AF479C03FFCB}" srcOrd="1" destOrd="0" presId="urn:microsoft.com/office/officeart/2005/8/layout/list1"/>
    <dgm:cxn modelId="{A492B2A8-8B18-4299-A7DA-002C1F1931BD}" type="presParOf" srcId="{447DD49A-06A4-4E6D-8A8C-3BCE2337070F}" destId="{E312D576-2262-4902-9BB8-7378FCFD3F79}" srcOrd="2" destOrd="0" presId="urn:microsoft.com/office/officeart/2005/8/layout/list1"/>
    <dgm:cxn modelId="{210CC30D-B3DC-4C69-B04D-98320E47B4CD}" type="presParOf" srcId="{447DD49A-06A4-4E6D-8A8C-3BCE2337070F}" destId="{FFE15786-8A0D-4C7A-BEFF-0A1922236FC7}" srcOrd="3" destOrd="0" presId="urn:microsoft.com/office/officeart/2005/8/layout/list1"/>
    <dgm:cxn modelId="{8CB62076-0130-4ACF-9C7D-C1EF4EDBFA3D}" type="presParOf" srcId="{447DD49A-06A4-4E6D-8A8C-3BCE2337070F}" destId="{E578B430-5CF0-4DB2-B2F8-4609B5F4FA42}" srcOrd="4" destOrd="0" presId="urn:microsoft.com/office/officeart/2005/8/layout/list1"/>
    <dgm:cxn modelId="{A5237FBB-88D6-44A7-8A97-E0B237AF1F3D}" type="presParOf" srcId="{E578B430-5CF0-4DB2-B2F8-4609B5F4FA42}" destId="{A523611D-3F6A-4FE1-AEE5-A5BF0209E934}" srcOrd="0" destOrd="0" presId="urn:microsoft.com/office/officeart/2005/8/layout/list1"/>
    <dgm:cxn modelId="{2EBE6A13-7D87-4A52-ABC3-7CC945F7B035}" type="presParOf" srcId="{E578B430-5CF0-4DB2-B2F8-4609B5F4FA42}" destId="{4DB2581C-ADBC-4738-93A9-430B6ACEF38A}" srcOrd="1" destOrd="0" presId="urn:microsoft.com/office/officeart/2005/8/layout/list1"/>
    <dgm:cxn modelId="{57C65221-2405-48CE-8E3F-D324AAA06857}" type="presParOf" srcId="{447DD49A-06A4-4E6D-8A8C-3BCE2337070F}" destId="{A5751C39-E111-461D-9F50-68F29BA3FF36}" srcOrd="5" destOrd="0" presId="urn:microsoft.com/office/officeart/2005/8/layout/list1"/>
    <dgm:cxn modelId="{8996EFF9-2A76-46D9-89E2-29F84D7F7218}" type="presParOf" srcId="{447DD49A-06A4-4E6D-8A8C-3BCE2337070F}" destId="{887D9A82-0F84-4900-95BC-A421E82387A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12D576-2262-4902-9BB8-7378FCFD3F79}">
      <dsp:nvSpPr>
        <dsp:cNvPr id="0" name=""/>
        <dsp:cNvSpPr/>
      </dsp:nvSpPr>
      <dsp:spPr>
        <a:xfrm>
          <a:off x="0" y="306916"/>
          <a:ext cx="8423275" cy="127823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40488D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3740" tIns="312420" rIns="65374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Hypothesis tests use observed data to determine if a hypothesis (null) is plausible.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A p-value is a measure of this plausibility.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P-values alone do not show the direction of effect.</a:t>
          </a:r>
        </a:p>
      </dsp:txBody>
      <dsp:txXfrm>
        <a:off x="0" y="306916"/>
        <a:ext cx="8423275" cy="1278235"/>
      </dsp:txXfrm>
    </dsp:sp>
    <dsp:sp modelId="{C08FE6A4-AFAA-401F-8788-5B2EF4404F28}">
      <dsp:nvSpPr>
        <dsp:cNvPr id="0" name=""/>
        <dsp:cNvSpPr/>
      </dsp:nvSpPr>
      <dsp:spPr>
        <a:xfrm>
          <a:off x="421163" y="170414"/>
          <a:ext cx="5896292" cy="362267"/>
        </a:xfrm>
        <a:prstGeom prst="roundRect">
          <a:avLst/>
        </a:prstGeom>
        <a:solidFill>
          <a:srgbClr val="40488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866" tIns="0" rIns="2228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Hypothesis testing and p-values</a:t>
          </a:r>
        </a:p>
      </dsp:txBody>
      <dsp:txXfrm>
        <a:off x="438847" y="188098"/>
        <a:ext cx="5860924" cy="326899"/>
      </dsp:txXfrm>
    </dsp:sp>
    <dsp:sp modelId="{887D9A82-0F84-4900-95BC-A421E82387A4}">
      <dsp:nvSpPr>
        <dsp:cNvPr id="0" name=""/>
        <dsp:cNvSpPr/>
      </dsp:nvSpPr>
      <dsp:spPr>
        <a:xfrm>
          <a:off x="0" y="1789690"/>
          <a:ext cx="8423275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bg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53740" tIns="312420" rIns="65374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Consider what null hypothesis and significance level are being used to help you interpret the finding.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Can your statistician help ensure results are communicated clearly?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Do not present p-values in isolation.</a:t>
          </a:r>
        </a:p>
      </dsp:txBody>
      <dsp:txXfrm>
        <a:off x="0" y="1789690"/>
        <a:ext cx="8423275" cy="1275750"/>
      </dsp:txXfrm>
    </dsp:sp>
    <dsp:sp modelId="{4DB2581C-ADBC-4738-93A9-430B6ACEF38A}">
      <dsp:nvSpPr>
        <dsp:cNvPr id="0" name=""/>
        <dsp:cNvSpPr/>
      </dsp:nvSpPr>
      <dsp:spPr>
        <a:xfrm>
          <a:off x="421163" y="1670517"/>
          <a:ext cx="5896292" cy="362267"/>
        </a:xfrm>
        <a:prstGeom prst="roundRect">
          <a:avLst/>
        </a:prstGeom>
        <a:solidFill>
          <a:schemeClr val="bg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2866" tIns="0" rIns="22286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What do you need to do?</a:t>
          </a:r>
        </a:p>
      </dsp:txBody>
      <dsp:txXfrm>
        <a:off x="438847" y="1688201"/>
        <a:ext cx="5860924" cy="3268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A8971-52B8-4C5A-99D8-986A596F2912}" type="datetimeFigureOut">
              <a:rPr lang="en-GB" smtClean="0"/>
              <a:pPr/>
              <a:t>27/11/2025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677863"/>
            <a:ext cx="6034088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297403"/>
            <a:ext cx="5492750" cy="4071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93235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8593235"/>
            <a:ext cx="2975240" cy="4523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B53C8-14E4-49A7-A1A5-3BF810B81EBE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032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775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7699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05013" y="20638"/>
            <a:ext cx="4711700" cy="26495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1557223"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339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383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8342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530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6550" y="20638"/>
            <a:ext cx="3905250" cy="2197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" y="2019516"/>
            <a:ext cx="6805543" cy="7449020"/>
          </a:xfrm>
          <a:solidFill>
            <a:schemeClr val="bg1"/>
          </a:solidFill>
        </p:spPr>
        <p:txBody>
          <a:bodyPr/>
          <a:lstStyle/>
          <a:p>
            <a:pPr defTabSz="1557223"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z="1000" smtClean="0"/>
              <a:pPr/>
              <a:t>7</a:t>
            </a:fld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4174199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6550" y="20638"/>
            <a:ext cx="3905250" cy="2197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" y="2019516"/>
            <a:ext cx="6805543" cy="7449020"/>
          </a:xfrm>
          <a:solidFill>
            <a:schemeClr val="bg1"/>
          </a:solidFill>
        </p:spPr>
        <p:txBody>
          <a:bodyPr/>
          <a:lstStyle/>
          <a:p>
            <a:pPr defTabSz="1557223"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z="1000" smtClean="0"/>
              <a:pPr/>
              <a:t>8</a:t>
            </a:fld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21003317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76550" y="20638"/>
            <a:ext cx="3905250" cy="2197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" y="2019516"/>
            <a:ext cx="6805543" cy="7449020"/>
          </a:xfrm>
          <a:solidFill>
            <a:schemeClr val="bg1"/>
          </a:solidFill>
        </p:spPr>
        <p:txBody>
          <a:bodyPr/>
          <a:lstStyle/>
          <a:p>
            <a:pPr defTabSz="1557223"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z="1000" smtClean="0"/>
              <a:pPr/>
              <a:t>9</a:t>
            </a:fld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11736818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8768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2653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233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4122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8446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B53C8-14E4-49A7-A1A5-3BF810B81EBE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81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4"/>
          <a:stretch/>
        </p:blipFill>
        <p:spPr>
          <a:xfrm>
            <a:off x="0" y="1065924"/>
            <a:ext cx="4102298" cy="382739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296521" y="2068940"/>
            <a:ext cx="2876985" cy="1000274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1" y="3427589"/>
            <a:ext cx="2554256" cy="49244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1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96520" y="2402365"/>
            <a:ext cx="5042395" cy="66684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heading style</a:t>
            </a:r>
            <a:endParaRPr lang="en-GB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0" y="3427590"/>
            <a:ext cx="5042395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2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ctrTitle" hasCustomPrompt="1"/>
          </p:nvPr>
        </p:nvSpPr>
        <p:spPr>
          <a:xfrm>
            <a:off x="296521" y="1109709"/>
            <a:ext cx="5042394" cy="666849"/>
          </a:xfrm>
          <a:prstGeom prst="rect">
            <a:avLst/>
          </a:prstGeom>
        </p:spPr>
        <p:txBody>
          <a:bodyPr anchor="b" anchorCtr="0"/>
          <a:lstStyle>
            <a:lvl1pPr>
              <a:lnSpc>
                <a:spcPts val="2600"/>
              </a:lnSpc>
              <a:defRPr sz="2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heading style</a:t>
            </a:r>
            <a:endParaRPr lang="en-GB"/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6520" y="2134932"/>
            <a:ext cx="5009911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subheading</a:t>
            </a:r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7038" y="237109"/>
            <a:ext cx="1464646" cy="7223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 noChangeAspect="1"/>
          </p:cNvSpPr>
          <p:nvPr>
            <p:ph sz="quarter" idx="12"/>
          </p:nvPr>
        </p:nvSpPr>
        <p:spPr>
          <a:xfrm>
            <a:off x="359152" y="1192388"/>
            <a:ext cx="8423275" cy="3070050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9152" y="4322020"/>
            <a:ext cx="8424000" cy="12311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405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/>
          <p:cNvSpPr>
            <a:spLocks noGrp="1" noChangeAspect="1"/>
          </p:cNvSpPr>
          <p:nvPr>
            <p:ph sz="quarter" idx="19"/>
          </p:nvPr>
        </p:nvSpPr>
        <p:spPr>
          <a:xfrm>
            <a:off x="360000" y="1539685"/>
            <a:ext cx="8418513" cy="2729104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359152" y="1191711"/>
            <a:ext cx="8418513" cy="338554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indent="0">
              <a:spcAft>
                <a:spcPts val="0"/>
              </a:spcAft>
              <a:buNone/>
              <a:defRPr sz="1600" b="1">
                <a:solidFill>
                  <a:schemeClr val="accent1"/>
                </a:solidFill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59152" y="4322020"/>
            <a:ext cx="8424000" cy="12311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0" name="Title 1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32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360000" y="4229687"/>
            <a:ext cx="8424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19" name="Title 18"/>
          <p:cNvSpPr>
            <a:spLocks noGrp="1"/>
          </p:cNvSpPr>
          <p:nvPr>
            <p:ph type="title" hasCustomPrompt="1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12"/>
          <p:cNvSpPr>
            <a:spLocks noGrp="1" noChangeAspect="1"/>
          </p:cNvSpPr>
          <p:nvPr>
            <p:ph sz="quarter" idx="17"/>
          </p:nvPr>
        </p:nvSpPr>
        <p:spPr>
          <a:xfrm>
            <a:off x="360000" y="1192389"/>
            <a:ext cx="8423275" cy="3076400"/>
          </a:xfrm>
          <a:prstGeom prst="rect">
            <a:avLst/>
          </a:prstGeom>
        </p:spPr>
        <p:txBody>
          <a:bodyPr lIns="0"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7225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 noChangeAspect="1"/>
          </p:cNvSpPr>
          <p:nvPr>
            <p:ph sz="quarter" idx="18"/>
          </p:nvPr>
        </p:nvSpPr>
        <p:spPr>
          <a:xfrm>
            <a:off x="4805363" y="1193800"/>
            <a:ext cx="3978275" cy="3065463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359152" y="4229687"/>
            <a:ext cx="3979486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97217" y="4229687"/>
            <a:ext cx="3996000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1"/>
          <p:cNvSpPr>
            <a:spLocks noGrp="1" noChangeAspect="1"/>
          </p:cNvSpPr>
          <p:nvPr>
            <p:ph sz="quarter" idx="17"/>
          </p:nvPr>
        </p:nvSpPr>
        <p:spPr>
          <a:xfrm>
            <a:off x="360000" y="1193800"/>
            <a:ext cx="3973875" cy="3065463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05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2"/>
          <p:cNvSpPr>
            <a:spLocks noGrp="1"/>
          </p:cNvSpPr>
          <p:nvPr>
            <p:ph type="body" idx="19" hasCustomPrompt="1"/>
          </p:nvPr>
        </p:nvSpPr>
        <p:spPr>
          <a:xfrm>
            <a:off x="360000" y="1194204"/>
            <a:ext cx="3973875" cy="338554"/>
          </a:xfrm>
          <a:prstGeom prst="rect">
            <a:avLst/>
          </a:prstGeom>
        </p:spPr>
        <p:txBody>
          <a:bodyPr wrap="square" lIns="0" anchor="t" anchorCtr="0">
            <a:sp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21" hasCustomPrompt="1"/>
          </p:nvPr>
        </p:nvSpPr>
        <p:spPr>
          <a:xfrm>
            <a:off x="4805363" y="1194204"/>
            <a:ext cx="3978275" cy="246221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Subheading here if required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7" name="Content Placeholder 11"/>
          <p:cNvSpPr>
            <a:spLocks noGrp="1" noChangeAspect="1"/>
          </p:cNvSpPr>
          <p:nvPr>
            <p:ph sz="quarter" idx="17"/>
          </p:nvPr>
        </p:nvSpPr>
        <p:spPr>
          <a:xfrm>
            <a:off x="360000" y="1516484"/>
            <a:ext cx="3973875" cy="2742779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2" name="Content Placeholder 13"/>
          <p:cNvSpPr>
            <a:spLocks noGrp="1" noChangeAspect="1"/>
          </p:cNvSpPr>
          <p:nvPr>
            <p:ph sz="quarter" idx="18"/>
          </p:nvPr>
        </p:nvSpPr>
        <p:spPr>
          <a:xfrm>
            <a:off x="4805363" y="1516484"/>
            <a:ext cx="3978275" cy="2745954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360000" y="4229687"/>
            <a:ext cx="3973875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798800" y="4229687"/>
            <a:ext cx="3984838" cy="215444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buNone/>
              <a:defRPr sz="800" baseline="0"/>
            </a:lvl1pPr>
            <a:lvl2pPr marL="268163" indent="0">
              <a:buNone/>
              <a:defRPr sz="800"/>
            </a:lvl2pPr>
            <a:lvl3pPr marL="540000" indent="0">
              <a:buNone/>
              <a:defRPr sz="800"/>
            </a:lvl3pPr>
            <a:lvl4pPr marL="811088" indent="0">
              <a:buNone/>
              <a:defRPr sz="800"/>
            </a:lvl4pPr>
            <a:lvl5pPr marL="1080000" indent="0">
              <a:buNone/>
              <a:defRPr sz="800"/>
            </a:lvl5pPr>
          </a:lstStyle>
          <a:p>
            <a:pPr lvl="0"/>
            <a:r>
              <a:rPr lang="en-US"/>
              <a:t>Insert Source text here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803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tandard (4x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2363400" y="1193800"/>
            <a:ext cx="4417200" cy="3311525"/>
          </a:xfrm>
          <a:prstGeom prst="rect">
            <a:avLst/>
          </a:prstGeom>
        </p:spPr>
        <p:txBody>
          <a:bodyPr lIns="108000" tIns="108000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on the film icon to insert your Standard (4x3 video)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851349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descreen (16x9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5"/>
          <p:cNvSpPr>
            <a:spLocks noGrp="1" noChangeAspect="1"/>
          </p:cNvSpPr>
          <p:nvPr>
            <p:ph type="media" sz="quarter" idx="12" hasCustomPrompt="1"/>
          </p:nvPr>
        </p:nvSpPr>
        <p:spPr>
          <a:xfrm>
            <a:off x="1627200" y="1193800"/>
            <a:ext cx="5889600" cy="3312000"/>
          </a:xfrm>
          <a:prstGeom prst="rect">
            <a:avLst/>
          </a:prstGeom>
        </p:spPr>
        <p:txBody>
          <a:bodyPr lIns="108000" tIns="108000"/>
          <a:lstStyle>
            <a:lvl1pPr marL="0" indent="0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on the film icon to insert your widescreen (16x9) video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60000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</p:spTree>
    <p:extLst>
      <p:ext uri="{BB962C8B-B14F-4D97-AF65-F5344CB8AC3E}">
        <p14:creationId xmlns:p14="http://schemas.microsoft.com/office/powerpoint/2010/main" val="259932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Non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3" y="1193239"/>
            <a:ext cx="3979484" cy="331012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798800" y="1193799"/>
            <a:ext cx="3982697" cy="3309567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</p:spTree>
    <p:extLst>
      <p:ext uri="{BB962C8B-B14F-4D97-AF65-F5344CB8AC3E}">
        <p14:creationId xmlns:p14="http://schemas.microsoft.com/office/powerpoint/2010/main" val="41240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7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9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Picture Placeholder 8"/>
          <p:cNvSpPr>
            <a:spLocks noGrp="1"/>
          </p:cNvSpPr>
          <p:nvPr>
            <p:ph type="pic" sz="quarter" idx="14" hasCustomPrompt="1"/>
          </p:nvPr>
        </p:nvSpPr>
        <p:spPr>
          <a:xfrm>
            <a:off x="4798800" y="1193799"/>
            <a:ext cx="3982697" cy="3309567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2" y="1190625"/>
            <a:ext cx="3986213" cy="3312741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1620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59152" y="1190625"/>
            <a:ext cx="3986213" cy="3312741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Picture Placeholder 8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98800" y="1190626"/>
            <a:ext cx="3996794" cy="1228724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4798800" y="2517776"/>
            <a:ext cx="3996266" cy="253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268163" indent="0">
              <a:buNone/>
              <a:defRPr sz="800">
                <a:solidFill>
                  <a:schemeClr val="bg2"/>
                </a:solidFill>
              </a:defRPr>
            </a:lvl2pPr>
            <a:lvl3pPr marL="540000" indent="0">
              <a:buNone/>
              <a:defRPr sz="800">
                <a:solidFill>
                  <a:schemeClr val="bg2"/>
                </a:solidFill>
              </a:defRPr>
            </a:lvl3pPr>
            <a:lvl4pPr marL="811088" indent="0">
              <a:buNone/>
              <a:defRPr sz="800">
                <a:solidFill>
                  <a:schemeClr val="bg2"/>
                </a:solidFill>
              </a:defRPr>
            </a:lvl4pPr>
            <a:lvl5pPr marL="1080000" indent="0"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Enter your image caption text here</a:t>
            </a:r>
          </a:p>
        </p:txBody>
      </p:sp>
      <p:sp>
        <p:nvSpPr>
          <p:cNvPr id="35" name="Picture Placeholder 8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4798800" y="2922217"/>
            <a:ext cx="3996794" cy="1228724"/>
          </a:xfrm>
          <a:prstGeom prst="rect">
            <a:avLst/>
          </a:prstGeom>
        </p:spPr>
        <p:txBody>
          <a:bodyPr lIns="0" tIns="0"/>
          <a:lstStyle>
            <a:lvl1pPr marL="0" indent="0">
              <a:buNone/>
              <a:defRPr sz="1100" baseline="0"/>
            </a:lvl1pPr>
          </a:lstStyle>
          <a:p>
            <a:r>
              <a:rPr lang="en-GB"/>
              <a:t>Click on the picture icon to insert your picture</a:t>
            </a:r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4798800" y="4249367"/>
            <a:ext cx="3996266" cy="2539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accent1"/>
                </a:solidFill>
              </a:defRPr>
            </a:lvl1pPr>
            <a:lvl2pPr marL="268163" indent="0">
              <a:buNone/>
              <a:defRPr sz="800">
                <a:solidFill>
                  <a:schemeClr val="bg2"/>
                </a:solidFill>
              </a:defRPr>
            </a:lvl2pPr>
            <a:lvl3pPr marL="540000" indent="0">
              <a:buNone/>
              <a:defRPr sz="800">
                <a:solidFill>
                  <a:schemeClr val="bg2"/>
                </a:solidFill>
              </a:defRPr>
            </a:lvl3pPr>
            <a:lvl4pPr marL="811088" indent="0">
              <a:buNone/>
              <a:defRPr sz="800">
                <a:solidFill>
                  <a:schemeClr val="bg2"/>
                </a:solidFill>
              </a:defRPr>
            </a:lvl4pPr>
            <a:lvl5pPr marL="1080000" indent="0">
              <a:buNone/>
              <a:defRPr sz="8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Enter your image caption text here</a:t>
            </a:r>
          </a:p>
        </p:txBody>
      </p:sp>
      <p:sp>
        <p:nvSpPr>
          <p:cNvPr id="37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2122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9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190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/>
          <p:cNvCxnSpPr/>
          <p:nvPr userDrawn="1"/>
        </p:nvCxnSpPr>
        <p:spPr>
          <a:xfrm>
            <a:off x="359152" y="4599183"/>
            <a:ext cx="842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223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ITE with ORAN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743011"/>
            <a:ext cx="8193024" cy="400110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2200" i="0">
                <a:solidFill>
                  <a:schemeClr val="bg2"/>
                </a:solidFill>
                <a:latin typeface="+mn-lt"/>
              </a:defRPr>
            </a:lvl1pPr>
            <a:lvl2pPr marL="271463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5334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815975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11049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840385"/>
            <a:ext cx="8196702" cy="823302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lnSpc>
                <a:spcPts val="5700"/>
              </a:lnSpc>
              <a:spcAft>
                <a:spcPts val="0"/>
              </a:spcAft>
              <a:buNone/>
              <a:defRPr sz="5500" b="1">
                <a:solidFill>
                  <a:schemeClr val="bg2"/>
                </a:solidFill>
              </a:defRPr>
            </a:lvl1pPr>
            <a:lvl2pPr marL="271463" indent="0"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buNone/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WHITE with GRE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3743011"/>
            <a:ext cx="8193024" cy="400110"/>
          </a:xfrm>
          <a:prstGeom prst="rect">
            <a:avLst/>
          </a:prstGeom>
        </p:spPr>
        <p:txBody>
          <a:bodyPr lIns="0" anchor="t" anchorCtr="0">
            <a:spAutoFit/>
          </a:bodyPr>
          <a:lstStyle>
            <a:lvl1pPr marL="0" marR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2200" i="0">
                <a:solidFill>
                  <a:schemeClr val="tx1"/>
                </a:solidFill>
                <a:latin typeface="+mn-lt"/>
              </a:defRPr>
            </a:lvl1pPr>
            <a:lvl2pPr marL="271463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5334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3pPr>
            <a:lvl4pPr marL="815975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4pPr>
            <a:lvl5pPr marL="110490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2840385"/>
            <a:ext cx="8196702" cy="823302"/>
          </a:xfrm>
          <a:prstGeom prst="rect">
            <a:avLst/>
          </a:prstGeom>
        </p:spPr>
        <p:txBody>
          <a:bodyPr wrap="square" lIns="0" anchor="b" anchorCtr="0">
            <a:spAutoFit/>
          </a:bodyPr>
          <a:lstStyle>
            <a:lvl1pPr marL="0" indent="0">
              <a:lnSpc>
                <a:spcPts val="5700"/>
              </a:lnSpc>
              <a:spcAft>
                <a:spcPts val="0"/>
              </a:spcAft>
              <a:buNone/>
              <a:defRPr sz="5500" b="1">
                <a:solidFill>
                  <a:schemeClr val="tx1"/>
                </a:solidFill>
              </a:defRPr>
            </a:lvl1pPr>
            <a:lvl2pPr marL="271463" indent="0"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buNone/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Section Heading title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612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INNOVATI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lvl="0"/>
            <a:r>
              <a:rPr lang="en-US">
                <a:solidFill>
                  <a:schemeClr val="accent5"/>
                </a:solidFill>
              </a:rPr>
              <a:t>Innovation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097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ERFORMANC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marL="0" marR="0" lvl="0" indent="0" algn="l" defTabSz="914400" rtl="0" eaLnBrk="1" fontAlgn="auto" latinLnBrk="0" hangingPunct="1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US">
                <a:solidFill>
                  <a:schemeClr val="accent4"/>
                </a:solidFill>
              </a:rPr>
              <a:t>Pe</a:t>
            </a:r>
            <a:r>
              <a:rPr lang="en-US" spc="500" baseline="0">
                <a:solidFill>
                  <a:schemeClr val="accent4"/>
                </a:solidFill>
              </a:rPr>
              <a:t>r</a:t>
            </a:r>
            <a:r>
              <a:rPr lang="en-US">
                <a:solidFill>
                  <a:schemeClr val="accent4"/>
                </a:solidFill>
              </a:rPr>
              <a:t>formance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6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TRUS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 userDrawn="1"/>
        </p:nvSpPr>
        <p:spPr>
          <a:xfrm>
            <a:off x="356840" y="2753758"/>
            <a:ext cx="7872760" cy="923330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lvl="0" indent="0">
              <a:lnSpc>
                <a:spcPts val="72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itchFamily="34" charset="0"/>
              <a:buNone/>
              <a:tabLst/>
              <a:defRPr sz="7000" b="1" baseline="0">
                <a:solidFill>
                  <a:schemeClr val="bg1"/>
                </a:solidFill>
              </a:defRPr>
            </a:lvl1pPr>
            <a:lvl2pPr marL="271463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2pPr>
            <a:lvl3pPr marL="5334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3pPr>
            <a:lvl4pPr marL="815975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4pPr>
            <a:lvl5pPr marL="1104900" indent="0"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  <a:defRPr sz="2600" b="1">
                <a:solidFill>
                  <a:schemeClr val="bg1"/>
                </a:solidFill>
              </a:defRPr>
            </a:lvl5pPr>
            <a:lvl6pPr marL="162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6pPr>
            <a:lvl7pPr marL="180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7pPr>
            <a:lvl8pPr marL="207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8pPr>
            <a:lvl9pPr marL="2340000" indent="-270000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/>
            </a:lvl9pPr>
          </a:lstStyle>
          <a:p>
            <a:pPr lvl="0"/>
            <a:r>
              <a:rPr lang="en-US">
                <a:solidFill>
                  <a:schemeClr val="accent3"/>
                </a:solidFill>
              </a:rPr>
              <a:t>Trust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9774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 noChangeAspect="1"/>
          </p:cNvSpPr>
          <p:nvPr>
            <p:ph sz="quarter" idx="12"/>
          </p:nvPr>
        </p:nvSpPr>
        <p:spPr>
          <a:xfrm>
            <a:off x="359152" y="1192387"/>
            <a:ext cx="8423275" cy="3257559"/>
          </a:xfrm>
          <a:prstGeom prst="rect">
            <a:avLst/>
          </a:prstGeom>
        </p:spPr>
        <p:txBody>
          <a:bodyPr l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359152" y="693553"/>
            <a:ext cx="7578000" cy="276999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 sz="1600" i="0">
                <a:latin typeface="+mn-lt"/>
              </a:defRPr>
            </a:lvl1pPr>
            <a:lvl2pPr marL="271463" indent="0">
              <a:buNone/>
              <a:defRPr/>
            </a:lvl2pPr>
            <a:lvl3pPr marL="533400" indent="0">
              <a:buNone/>
              <a:defRPr/>
            </a:lvl3pPr>
            <a:lvl4pPr marL="815975" indent="0">
              <a:buNone/>
              <a:defRPr/>
            </a:lvl4pPr>
            <a:lvl5pPr marL="11049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Arial" pitchFamily="34" charset="0"/>
              <a:buNone/>
              <a:tabLst/>
              <a:defRPr/>
            </a:pPr>
            <a:r>
              <a:rPr lang="en-GB"/>
              <a:t>Supporting heading</a:t>
            </a:r>
            <a:r>
              <a:rPr lang="en-US"/>
              <a:t> here if required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59152" y="288639"/>
            <a:ext cx="7577139" cy="338554"/>
          </a:xfrm>
        </p:spPr>
        <p:txBody>
          <a:bodyPr/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2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9152" y="4704001"/>
            <a:ext cx="2565024" cy="27384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16x9 core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F9F533D-B52E-4A2F-BF72-0ADD2D94BD7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59152" y="288639"/>
            <a:ext cx="7577139" cy="338554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heading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2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pPr algn="ctr"/>
            <a:r>
              <a:rPr lang="en-US"/>
              <a:t>Insert your date / confidentiality text here</a:t>
            </a:r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359152" y="4599183"/>
            <a:ext cx="842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359152" y="1078541"/>
            <a:ext cx="8424000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783" y="237109"/>
            <a:ext cx="749683" cy="71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56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1" r:id="rId2"/>
    <p:sldLayoutId id="2147483759" r:id="rId3"/>
    <p:sldLayoutId id="2147483663" r:id="rId4"/>
    <p:sldLayoutId id="2147483665" r:id="rId5"/>
    <p:sldLayoutId id="2147483664" r:id="rId6"/>
    <p:sldLayoutId id="2147483668" r:id="rId7"/>
    <p:sldLayoutId id="2147483669" r:id="rId8"/>
    <p:sldLayoutId id="2147483670" r:id="rId9"/>
    <p:sldLayoutId id="2147483671" r:id="rId10"/>
    <p:sldLayoutId id="2147483730" r:id="rId11"/>
    <p:sldLayoutId id="2147483728" r:id="rId12"/>
    <p:sldLayoutId id="2147483673" r:id="rId13"/>
    <p:sldLayoutId id="2147483674" r:id="rId14"/>
    <p:sldLayoutId id="2147483675" r:id="rId15"/>
    <p:sldLayoutId id="2147483747" r:id="rId16"/>
    <p:sldLayoutId id="2147483760" r:id="rId17"/>
    <p:sldLayoutId id="2147483723" r:id="rId18"/>
    <p:sldLayoutId id="2147483724" r:id="rId19"/>
    <p:sldLayoutId id="2147483725" r:id="rId20"/>
    <p:sldLayoutId id="2147483761" r:id="rId2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spcBef>
          <a:spcPts val="0"/>
        </a:spcBef>
        <a:spcAft>
          <a:spcPts val="600"/>
        </a:spcAft>
        <a:buClr>
          <a:schemeClr val="tx1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81088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0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7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40000" indent="-27000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6.png"/><Relationship Id="rId4" Type="http://schemas.openxmlformats.org/officeDocument/2006/relationships/hyperlink" Target="https://www.gsk.com/en-gb/media/press-releases/gsk-announces-otilimab-data-for-treatment-of-covid-19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859115-6758-4209-8D07-939B38EF13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D0645-E3F3-4E03-9716-CBE45FECD6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0000" y="2109415"/>
            <a:ext cx="8196702" cy="1554272"/>
          </a:xfrm>
        </p:spPr>
        <p:txBody>
          <a:bodyPr/>
          <a:lstStyle/>
          <a:p>
            <a:r>
              <a:rPr lang="en-GB">
                <a:solidFill>
                  <a:schemeClr val="bg2"/>
                </a:solidFill>
              </a:rPr>
              <a:t>P-values &amp;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188713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0023F3-2206-41F5-8CC1-3CD6859290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F0673E-1347-46FB-A151-6F9D29DA4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does a p-value mean to you?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B91BCB-5DA8-4316-AB89-D8E92CC1402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835BE53-80A0-495A-99BB-C1BC97AF5FE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ED44F9-E46D-4C65-94C3-446A744039A9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3"/>
          <a:stretch>
            <a:fillRect/>
          </a:stretch>
        </p:blipFill>
        <p:spPr>
          <a:xfrm>
            <a:off x="1816331" y="1298989"/>
            <a:ext cx="5502562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07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684E61-CD21-4996-954A-082AF92326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59152" y="1192387"/>
            <a:ext cx="8423275" cy="374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400"/>
              <a:t>Every p-value is associated with a particular null hypothesis.</a:t>
            </a:r>
          </a:p>
          <a:p>
            <a:endParaRPr lang="en-GB" sz="1400"/>
          </a:p>
          <a:p>
            <a:pPr marL="0" indent="0">
              <a:buNone/>
            </a:pPr>
            <a:endParaRPr lang="en-GB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3BB59-2718-4B95-A7EC-56155081B9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A8A538F-B97A-46C6-AD66-C034FF91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P-values &amp; Hypothesis Testing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8C7B52F-229D-432D-9AAF-AFA59FBED239}"/>
              </a:ext>
            </a:extLst>
          </p:cNvPr>
          <p:cNvSpPr/>
          <p:nvPr/>
        </p:nvSpPr>
        <p:spPr bwMode="auto">
          <a:xfrm>
            <a:off x="3441150" y="2904558"/>
            <a:ext cx="2499093" cy="745862"/>
          </a:xfrm>
          <a:prstGeom prst="roundRect">
            <a:avLst>
              <a:gd name="adj" fmla="val 17625"/>
            </a:avLst>
          </a:prstGeom>
          <a:solidFill>
            <a:schemeClr val="bg1"/>
          </a:solidFill>
          <a:ln>
            <a:solidFill>
              <a:schemeClr val="bg1"/>
            </a:solidFill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400" kern="0">
                <a:solidFill>
                  <a:schemeClr val="tx1"/>
                </a:solidFill>
                <a:latin typeface="Arial"/>
              </a:rPr>
              <a:t>Is the observed </a:t>
            </a:r>
            <a:r>
              <a:rPr lang="en-GB" sz="1400" kern="0">
                <a:solidFill>
                  <a:schemeClr val="tx1"/>
                </a:solidFill>
              </a:rPr>
              <a:t>data </a:t>
            </a:r>
            <a:r>
              <a:rPr lang="en-GB" sz="1400" b="1" kern="0">
                <a:solidFill>
                  <a:schemeClr val="tx1"/>
                </a:solidFill>
              </a:rPr>
              <a:t>plausible</a:t>
            </a:r>
            <a:r>
              <a:rPr lang="en-GB" sz="1400" kern="0">
                <a:solidFill>
                  <a:schemeClr val="tx1"/>
                </a:solidFill>
              </a:rPr>
              <a:t>, 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400" kern="0">
                <a:solidFill>
                  <a:schemeClr val="tx1"/>
                </a:solidFill>
              </a:rPr>
              <a:t>if </a:t>
            </a:r>
            <a:r>
              <a:rPr lang="en-GB" sz="1400" kern="0">
                <a:solidFill>
                  <a:schemeClr val="tx1"/>
                </a:solidFill>
                <a:latin typeface="Arial"/>
              </a:rPr>
              <a:t>the null hypothesis is true?</a:t>
            </a:r>
            <a:endParaRPr lang="en-GB" sz="1200" kern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992F0D5-6181-4F58-A480-C74707ACB783}"/>
              </a:ext>
            </a:extLst>
          </p:cNvPr>
          <p:cNvSpPr/>
          <p:nvPr/>
        </p:nvSpPr>
        <p:spPr bwMode="auto">
          <a:xfrm>
            <a:off x="6054737" y="2884082"/>
            <a:ext cx="2727690" cy="634648"/>
          </a:xfrm>
          <a:prstGeom prst="roundRect">
            <a:avLst>
              <a:gd name="adj" fmla="val 0"/>
            </a:avLst>
          </a:prstGeom>
          <a:ln>
            <a:solidFill>
              <a:srgbClr val="40488D"/>
            </a:solidFill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buClr>
                <a:schemeClr val="bg1"/>
              </a:buClr>
            </a:pPr>
            <a:r>
              <a:rPr lang="en-GB" sz="1200"/>
              <a:t>No evidence against the null </a:t>
            </a:r>
          </a:p>
          <a:p>
            <a:pPr algn="ctr" eaLnBrk="0" hangingPunct="0">
              <a:buClr>
                <a:schemeClr val="bg1"/>
              </a:buClr>
            </a:pPr>
            <a:r>
              <a:rPr lang="en-GB" sz="1200"/>
              <a:t>(cannot reject the null)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C8B3AB4-84F8-44F0-9384-2007CC9073F2}"/>
              </a:ext>
            </a:extLst>
          </p:cNvPr>
          <p:cNvSpPr/>
          <p:nvPr/>
        </p:nvSpPr>
        <p:spPr bwMode="auto">
          <a:xfrm>
            <a:off x="6054737" y="2032845"/>
            <a:ext cx="2727689" cy="639264"/>
          </a:xfrm>
          <a:prstGeom prst="roundRect">
            <a:avLst>
              <a:gd name="adj" fmla="val 0"/>
            </a:avLst>
          </a:prstGeom>
          <a:ln>
            <a:solidFill>
              <a:srgbClr val="40488D"/>
            </a:solidFill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buClr>
                <a:schemeClr val="tx1"/>
              </a:buClr>
            </a:pPr>
            <a:r>
              <a:rPr lang="en-GB" sz="1200"/>
              <a:t>Evidence against the null, </a:t>
            </a:r>
          </a:p>
          <a:p>
            <a:pPr algn="ctr">
              <a:buClr>
                <a:schemeClr val="tx1"/>
              </a:buClr>
            </a:pPr>
            <a:r>
              <a:rPr lang="en-GB" sz="1200"/>
              <a:t>(reject the null, accept the alternative)</a:t>
            </a:r>
            <a:endParaRPr lang="en-GB" sz="1200" kern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C4806D9-0E13-4A66-B79E-9DFE77CE33D5}"/>
              </a:ext>
            </a:extLst>
          </p:cNvPr>
          <p:cNvSpPr txBox="1"/>
          <p:nvPr/>
        </p:nvSpPr>
        <p:spPr>
          <a:xfrm>
            <a:off x="1679331" y="3768615"/>
            <a:ext cx="6022731" cy="800219"/>
          </a:xfrm>
          <a:prstGeom prst="rect">
            <a:avLst/>
          </a:prstGeom>
          <a:solidFill>
            <a:srgbClr val="D5D7EC">
              <a:alpha val="72941"/>
            </a:srgbClr>
          </a:solidFill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400" b="1">
                <a:solidFill>
                  <a:schemeClr val="accent5"/>
                </a:solidFill>
              </a:rPr>
              <a:t>P-value</a:t>
            </a:r>
          </a:p>
          <a:p>
            <a:pPr algn="ctr"/>
            <a:r>
              <a:rPr lang="en-GB" sz="1600"/>
              <a:t>Probability of observing our data (or something more extreme), </a:t>
            </a:r>
          </a:p>
          <a:p>
            <a:pPr algn="ctr"/>
            <a:r>
              <a:rPr lang="en-GB" sz="1600"/>
              <a:t>if the null hypothesis is true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3A1DC51-3851-4894-8270-8AEFFAD17721}"/>
              </a:ext>
            </a:extLst>
          </p:cNvPr>
          <p:cNvCxnSpPr>
            <a:cxnSpLocks/>
          </p:cNvCxnSpPr>
          <p:nvPr/>
        </p:nvCxnSpPr>
        <p:spPr>
          <a:xfrm>
            <a:off x="4257803" y="3393900"/>
            <a:ext cx="805157" cy="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11D1B1F-8CD1-47D2-B06E-CC8E3C1CCF26}"/>
              </a:ext>
            </a:extLst>
          </p:cNvPr>
          <p:cNvSpPr/>
          <p:nvPr/>
        </p:nvSpPr>
        <p:spPr>
          <a:xfrm>
            <a:off x="1253463" y="1519886"/>
            <a:ext cx="9941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/>
              <a:t>Hypotheses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EF1975-B8F3-48B0-8A86-1D94B5D0A5A3}"/>
              </a:ext>
            </a:extLst>
          </p:cNvPr>
          <p:cNvSpPr/>
          <p:nvPr/>
        </p:nvSpPr>
        <p:spPr>
          <a:xfrm>
            <a:off x="6909467" y="1519886"/>
            <a:ext cx="10182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/>
              <a:t>Conclusions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90899F-A5ED-4C36-98A2-787E8F1AD169}"/>
              </a:ext>
            </a:extLst>
          </p:cNvPr>
          <p:cNvCxnSpPr>
            <a:cxnSpLocks/>
            <a:endCxn id="39" idx="0"/>
          </p:cNvCxnSpPr>
          <p:nvPr/>
        </p:nvCxnSpPr>
        <p:spPr>
          <a:xfrm>
            <a:off x="4688408" y="3393900"/>
            <a:ext cx="2289" cy="374715"/>
          </a:xfrm>
          <a:prstGeom prst="straightConnector1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4441035-944F-462E-97F6-01D388BD96C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1874CEA-1673-4FE8-82BF-91CD035012E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16" name="Graphic 15" descr="Group of people">
            <a:extLst>
              <a:ext uri="{FF2B5EF4-FFF2-40B4-BE49-F238E27FC236}">
                <a16:creationId xmlns:a16="http://schemas.microsoft.com/office/drawing/2014/main" id="{297C74FC-EF81-41C4-9374-B9C3A6743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49011" y="1940622"/>
            <a:ext cx="936758" cy="936758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C2F01379-3674-4B40-B347-388606EA8935}"/>
              </a:ext>
            </a:extLst>
          </p:cNvPr>
          <p:cNvSpPr/>
          <p:nvPr/>
        </p:nvSpPr>
        <p:spPr bwMode="auto">
          <a:xfrm rot="16200000">
            <a:off x="1673581" y="2567699"/>
            <a:ext cx="272139" cy="435363"/>
          </a:xfrm>
          <a:prstGeom prst="leftArrow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7369FA5F-D896-4255-B749-51D09B2143CB}"/>
              </a:ext>
            </a:extLst>
          </p:cNvPr>
          <p:cNvSpPr/>
          <p:nvPr/>
        </p:nvSpPr>
        <p:spPr bwMode="auto">
          <a:xfrm rot="10800000">
            <a:off x="3253642" y="2076137"/>
            <a:ext cx="509669" cy="553137"/>
          </a:xfrm>
          <a:prstGeom prst="curvedRightArrow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30E778-8A27-41D3-9BD4-6A8BC49928AB}"/>
              </a:ext>
            </a:extLst>
          </p:cNvPr>
          <p:cNvSpPr/>
          <p:nvPr/>
        </p:nvSpPr>
        <p:spPr bwMode="auto">
          <a:xfrm>
            <a:off x="365660" y="2918331"/>
            <a:ext cx="2887982" cy="629519"/>
          </a:xfrm>
          <a:prstGeom prst="roundRect">
            <a:avLst>
              <a:gd name="adj" fmla="val 0"/>
            </a:avLst>
          </a:prstGeom>
          <a:ln>
            <a:solidFill>
              <a:schemeClr val="accent1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400" kern="0">
                <a:solidFill>
                  <a:schemeClr val="tx1"/>
                </a:solidFill>
              </a:rPr>
              <a:t>An alternative hypothesis: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200" kern="0">
                <a:solidFill>
                  <a:schemeClr val="tx1"/>
                </a:solidFill>
              </a:rPr>
              <a:t>States what we want to conclude</a:t>
            </a:r>
            <a:endParaRPr lang="en-GB" sz="1200" kern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198748-B953-4C5C-BD68-C6767092103E}"/>
              </a:ext>
            </a:extLst>
          </p:cNvPr>
          <p:cNvSpPr/>
          <p:nvPr/>
        </p:nvSpPr>
        <p:spPr bwMode="auto">
          <a:xfrm>
            <a:off x="359150" y="2017112"/>
            <a:ext cx="2887982" cy="629519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400" kern="0">
                <a:solidFill>
                  <a:schemeClr val="tx1"/>
                </a:solidFill>
                <a:latin typeface="Arial"/>
              </a:rPr>
              <a:t>A null hypothesis:</a:t>
            </a:r>
          </a:p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200" kern="0">
                <a:solidFill>
                  <a:schemeClr val="tx1"/>
                </a:solidFill>
                <a:latin typeface="Arial"/>
              </a:rPr>
              <a:t>States what we do not want to be true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C91BF4-67F5-424A-846E-B17FE13BE8C7}"/>
              </a:ext>
            </a:extLst>
          </p:cNvPr>
          <p:cNvSpPr/>
          <p:nvPr/>
        </p:nvSpPr>
        <p:spPr>
          <a:xfrm>
            <a:off x="4463153" y="1519886"/>
            <a:ext cx="50847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75777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37" grpId="0" animBg="1"/>
      <p:bldP spid="39" grpId="0" animBg="1"/>
      <p:bldP spid="45" grpId="0"/>
      <p:bldP spid="46" grpId="0"/>
      <p:bldP spid="5" grpId="0" animBg="1"/>
      <p:bldP spid="5" grpId="1" animBg="1"/>
      <p:bldP spid="6" grpId="0" animBg="1"/>
      <p:bldP spid="9" grpId="0" animBg="1"/>
      <p:bldP spid="8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FBB88B-6D7C-4828-8C6B-09A491E4BBD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525689" y="1721607"/>
            <a:ext cx="4572001" cy="624789"/>
          </a:xfrm>
        </p:spPr>
        <p:txBody>
          <a:bodyPr/>
          <a:lstStyle/>
          <a:p>
            <a:pPr marL="0" indent="0" algn="ctr">
              <a:buNone/>
            </a:pPr>
            <a:r>
              <a:rPr lang="en-GB" sz="1400"/>
              <a:t>“If p is between </a:t>
            </a:r>
            <a:r>
              <a:rPr lang="en-GB" sz="1400" b="1"/>
              <a:t>0.1 and 0.9 </a:t>
            </a:r>
            <a:r>
              <a:rPr lang="en-GB" sz="1400"/>
              <a:t>there is certainly no reason to suspect the hypothesis tested.”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A39E4-23FC-4235-B777-0357EDD0FE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21070F-64F9-4889-9646-7DB662A0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strength against the null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6DCB2-A6B9-414C-A95A-1006405820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BD63DC-3DB0-4B48-8519-F0D871EEE855}"/>
              </a:ext>
            </a:extLst>
          </p:cNvPr>
          <p:cNvSpPr/>
          <p:nvPr/>
        </p:nvSpPr>
        <p:spPr>
          <a:xfrm>
            <a:off x="359152" y="4326836"/>
            <a:ext cx="66294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00"/>
              <a:t>Quotes from R. Fisher https://www.ncbi.nlm.nih.gov/pmc/articles/PMC2816758/#CR3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888BD1-662B-4D2E-93A3-47FC19ED5C8E}"/>
              </a:ext>
            </a:extLst>
          </p:cNvPr>
          <p:cNvSpPr/>
          <p:nvPr/>
        </p:nvSpPr>
        <p:spPr>
          <a:xfrm>
            <a:off x="770858" y="309296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B04A6-8371-4B68-9B4B-5C139E937525}"/>
              </a:ext>
            </a:extLst>
          </p:cNvPr>
          <p:cNvSpPr/>
          <p:nvPr/>
        </p:nvSpPr>
        <p:spPr>
          <a:xfrm>
            <a:off x="8373137" y="309296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AE7ABF-9161-4F79-9EDD-8D6B8F248C29}"/>
              </a:ext>
            </a:extLst>
          </p:cNvPr>
          <p:cNvSpPr/>
          <p:nvPr/>
        </p:nvSpPr>
        <p:spPr>
          <a:xfrm>
            <a:off x="1002306" y="3585778"/>
            <a:ext cx="5325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0.05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DB8DF8-73C2-4862-9FA8-5767333EBF3E}"/>
              </a:ext>
            </a:extLst>
          </p:cNvPr>
          <p:cNvSpPr/>
          <p:nvPr/>
        </p:nvSpPr>
        <p:spPr>
          <a:xfrm>
            <a:off x="1472740" y="3092960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0.1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AB55C1D8-AAD2-4BDA-B9F1-020DDCC0D559}"/>
              </a:ext>
            </a:extLst>
          </p:cNvPr>
          <p:cNvSpPr/>
          <p:nvPr/>
        </p:nvSpPr>
        <p:spPr>
          <a:xfrm rot="5400000" flipV="1">
            <a:off x="4579574" y="-499637"/>
            <a:ext cx="265851" cy="6113723"/>
          </a:xfrm>
          <a:prstGeom prst="leftBrac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C159A8-CEE7-474A-B075-999D5658D344}"/>
              </a:ext>
            </a:extLst>
          </p:cNvPr>
          <p:cNvSpPr/>
          <p:nvPr/>
        </p:nvSpPr>
        <p:spPr>
          <a:xfrm>
            <a:off x="184258" y="1823976"/>
            <a:ext cx="45270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/>
              <a:t>“If it is </a:t>
            </a:r>
            <a:r>
              <a:rPr lang="en-GB" sz="1400" b="1"/>
              <a:t>below 0.02 </a:t>
            </a:r>
            <a:r>
              <a:rPr lang="en-GB" sz="1400"/>
              <a:t>it is strongly indicated that the hypothesis fails to account for the whole of the facts”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9CF101-BAC0-4A25-A2C8-12435385DDA2}"/>
              </a:ext>
            </a:extLst>
          </p:cNvPr>
          <p:cNvSpPr/>
          <p:nvPr/>
        </p:nvSpPr>
        <p:spPr>
          <a:xfrm>
            <a:off x="359152" y="1586575"/>
            <a:ext cx="631042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/>
              <a:t>“We shall not often be astray if we draw a </a:t>
            </a:r>
            <a:r>
              <a:rPr lang="en-GB" sz="1400" b="1"/>
              <a:t>conventional line at 0.05</a:t>
            </a:r>
            <a:r>
              <a:rPr lang="en-GB" sz="1400"/>
              <a:t>…”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B52E3A01-E494-4833-BF0D-22CFBCEB1117}"/>
              </a:ext>
            </a:extLst>
          </p:cNvPr>
          <p:cNvSpPr/>
          <p:nvPr/>
        </p:nvSpPr>
        <p:spPr>
          <a:xfrm rot="5400000" flipV="1">
            <a:off x="841871" y="2482651"/>
            <a:ext cx="284052" cy="142025"/>
          </a:xfrm>
          <a:prstGeom prst="leftBrac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A631CB-91C8-4008-B062-ED654F61DD88}"/>
              </a:ext>
            </a:extLst>
          </p:cNvPr>
          <p:cNvSpPr/>
          <p:nvPr/>
        </p:nvSpPr>
        <p:spPr>
          <a:xfrm>
            <a:off x="7581436" y="3092960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0.9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A68DA4-4268-475D-A38D-F88231723896}"/>
              </a:ext>
            </a:extLst>
          </p:cNvPr>
          <p:cNvSpPr/>
          <p:nvPr/>
        </p:nvSpPr>
        <p:spPr>
          <a:xfrm>
            <a:off x="3812817" y="3213557"/>
            <a:ext cx="15183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600" b="1">
                <a:solidFill>
                  <a:schemeClr val="accent5"/>
                </a:solidFill>
              </a:rPr>
              <a:t>p-value range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824009-CEA5-40CC-8DBC-390D34BFF8B9}"/>
              </a:ext>
            </a:extLst>
          </p:cNvPr>
          <p:cNvGrpSpPr/>
          <p:nvPr/>
        </p:nvGrpSpPr>
        <p:grpSpPr>
          <a:xfrm>
            <a:off x="927309" y="2760294"/>
            <a:ext cx="7602279" cy="288000"/>
            <a:chOff x="760227" y="1519137"/>
            <a:chExt cx="7602279" cy="28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ECA64E-CFBB-4A48-AF0C-8D19B8743B46}"/>
                </a:ext>
              </a:extLst>
            </p:cNvPr>
            <p:cNvCxnSpPr>
              <a:cxnSpLocks/>
            </p:cNvCxnSpPr>
            <p:nvPr/>
          </p:nvCxnSpPr>
          <p:spPr>
            <a:xfrm>
              <a:off x="760227" y="1684400"/>
              <a:ext cx="7602279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D412D63-3489-405A-BE4B-7B316D047394}"/>
                </a:ext>
              </a:extLst>
            </p:cNvPr>
            <p:cNvCxnSpPr>
              <a:cxnSpLocks/>
            </p:cNvCxnSpPr>
            <p:nvPr/>
          </p:nvCxnSpPr>
          <p:spPr>
            <a:xfrm>
              <a:off x="760227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6AD419-3933-4D7C-868C-37CC921D57AF}"/>
                </a:ext>
              </a:extLst>
            </p:cNvPr>
            <p:cNvCxnSpPr>
              <a:cxnSpLocks/>
            </p:cNvCxnSpPr>
            <p:nvPr/>
          </p:nvCxnSpPr>
          <p:spPr>
            <a:xfrm>
              <a:off x="8362506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F003AB2-AD84-43DC-890D-E72D56EB7DB0}"/>
                </a:ext>
              </a:extLst>
            </p:cNvPr>
            <p:cNvCxnSpPr>
              <a:cxnSpLocks/>
            </p:cNvCxnSpPr>
            <p:nvPr/>
          </p:nvCxnSpPr>
          <p:spPr>
            <a:xfrm>
              <a:off x="1520455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F2F844-99AC-4955-8364-09AA87B48031}"/>
                </a:ext>
              </a:extLst>
            </p:cNvPr>
            <p:cNvCxnSpPr>
              <a:cxnSpLocks/>
            </p:cNvCxnSpPr>
            <p:nvPr/>
          </p:nvCxnSpPr>
          <p:spPr>
            <a:xfrm>
              <a:off x="2280683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DDA772F-493E-4CF3-8A33-833CA1E7C0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0911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F4DD2F-BEA7-48C6-8239-82C0F6E277BB}"/>
                </a:ext>
              </a:extLst>
            </p:cNvPr>
            <p:cNvCxnSpPr>
              <a:cxnSpLocks/>
            </p:cNvCxnSpPr>
            <p:nvPr/>
          </p:nvCxnSpPr>
          <p:spPr>
            <a:xfrm>
              <a:off x="3801139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0F9F29-8ADB-472E-9727-BB25F0AB7069}"/>
                </a:ext>
              </a:extLst>
            </p:cNvPr>
            <p:cNvCxnSpPr>
              <a:cxnSpLocks/>
            </p:cNvCxnSpPr>
            <p:nvPr/>
          </p:nvCxnSpPr>
          <p:spPr>
            <a:xfrm>
              <a:off x="4561367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C178F3-4FA5-4E5B-A5DB-D8AFF24D93D0}"/>
                </a:ext>
              </a:extLst>
            </p:cNvPr>
            <p:cNvCxnSpPr>
              <a:cxnSpLocks/>
            </p:cNvCxnSpPr>
            <p:nvPr/>
          </p:nvCxnSpPr>
          <p:spPr>
            <a:xfrm>
              <a:off x="5321595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D66523-5EC1-4F6C-98B9-7FE0B85E28D5}"/>
                </a:ext>
              </a:extLst>
            </p:cNvPr>
            <p:cNvCxnSpPr>
              <a:cxnSpLocks/>
            </p:cNvCxnSpPr>
            <p:nvPr/>
          </p:nvCxnSpPr>
          <p:spPr>
            <a:xfrm>
              <a:off x="6081823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4FD370A-892A-4717-AE0D-C40B9C8EDF77}"/>
                </a:ext>
              </a:extLst>
            </p:cNvPr>
            <p:cNvCxnSpPr>
              <a:cxnSpLocks/>
            </p:cNvCxnSpPr>
            <p:nvPr/>
          </p:nvCxnSpPr>
          <p:spPr>
            <a:xfrm>
              <a:off x="6842051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A8575F-E29B-4006-A834-6ACAC62FF6BA}"/>
                </a:ext>
              </a:extLst>
            </p:cNvPr>
            <p:cNvCxnSpPr>
              <a:cxnSpLocks/>
            </p:cNvCxnSpPr>
            <p:nvPr/>
          </p:nvCxnSpPr>
          <p:spPr>
            <a:xfrm>
              <a:off x="7602279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5BBC2C7-E646-457B-9F94-7611BA3BC70A}"/>
              </a:ext>
            </a:extLst>
          </p:cNvPr>
          <p:cNvCxnSpPr>
            <a:cxnSpLocks/>
          </p:cNvCxnSpPr>
          <p:nvPr/>
        </p:nvCxnSpPr>
        <p:spPr>
          <a:xfrm flipV="1">
            <a:off x="1287849" y="2317661"/>
            <a:ext cx="0" cy="125056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69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2.22222E-6 L -0.02309 -2.22222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309 -2.22222E-6 L 0.09253 -0.00154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81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17" grpId="0"/>
      <p:bldP spid="19" grpId="0" animBg="1"/>
      <p:bldP spid="19" grpId="1" animBg="1"/>
      <p:bldP spid="20" grpId="0"/>
      <p:bldP spid="20" grpId="1"/>
      <p:bldP spid="21" grpId="0"/>
      <p:bldP spid="22" grpId="0" animBg="1"/>
      <p:bldP spid="2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A39E4-23FC-4235-B777-0357EDD0FE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21070F-64F9-4889-9646-7DB662A09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Significance level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6DCB2-A6B9-414C-A95A-1006405820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AE7ABF-9161-4F79-9EDD-8D6B8F248C29}"/>
              </a:ext>
            </a:extLst>
          </p:cNvPr>
          <p:cNvSpPr/>
          <p:nvPr/>
        </p:nvSpPr>
        <p:spPr>
          <a:xfrm>
            <a:off x="1779746" y="3739753"/>
            <a:ext cx="5325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0.15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4A68DA4-4268-475D-A38D-F88231723896}"/>
              </a:ext>
            </a:extLst>
          </p:cNvPr>
          <p:cNvSpPr/>
          <p:nvPr/>
        </p:nvSpPr>
        <p:spPr>
          <a:xfrm>
            <a:off x="3812817" y="3213557"/>
            <a:ext cx="151836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600" b="1">
                <a:solidFill>
                  <a:schemeClr val="accent5"/>
                </a:solidFill>
              </a:rPr>
              <a:t>p-value range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F824009-CEA5-40CC-8DBC-390D34BFF8B9}"/>
              </a:ext>
            </a:extLst>
          </p:cNvPr>
          <p:cNvGrpSpPr/>
          <p:nvPr/>
        </p:nvGrpSpPr>
        <p:grpSpPr>
          <a:xfrm>
            <a:off x="927309" y="2760294"/>
            <a:ext cx="7602279" cy="288000"/>
            <a:chOff x="760227" y="1519137"/>
            <a:chExt cx="7602279" cy="28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ECA64E-CFBB-4A48-AF0C-8D19B8743B46}"/>
                </a:ext>
              </a:extLst>
            </p:cNvPr>
            <p:cNvCxnSpPr>
              <a:cxnSpLocks/>
            </p:cNvCxnSpPr>
            <p:nvPr/>
          </p:nvCxnSpPr>
          <p:spPr>
            <a:xfrm>
              <a:off x="760227" y="1684400"/>
              <a:ext cx="7602279" cy="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D412D63-3489-405A-BE4B-7B316D047394}"/>
                </a:ext>
              </a:extLst>
            </p:cNvPr>
            <p:cNvCxnSpPr>
              <a:cxnSpLocks/>
            </p:cNvCxnSpPr>
            <p:nvPr/>
          </p:nvCxnSpPr>
          <p:spPr>
            <a:xfrm>
              <a:off x="760227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16AD419-3933-4D7C-868C-37CC921D57AF}"/>
                </a:ext>
              </a:extLst>
            </p:cNvPr>
            <p:cNvCxnSpPr>
              <a:cxnSpLocks/>
            </p:cNvCxnSpPr>
            <p:nvPr/>
          </p:nvCxnSpPr>
          <p:spPr>
            <a:xfrm>
              <a:off x="8362506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F003AB2-AD84-43DC-890D-E72D56EB7DB0}"/>
                </a:ext>
              </a:extLst>
            </p:cNvPr>
            <p:cNvCxnSpPr>
              <a:cxnSpLocks/>
            </p:cNvCxnSpPr>
            <p:nvPr/>
          </p:nvCxnSpPr>
          <p:spPr>
            <a:xfrm>
              <a:off x="1520455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2F2F844-99AC-4955-8364-09AA87B48031}"/>
                </a:ext>
              </a:extLst>
            </p:cNvPr>
            <p:cNvCxnSpPr>
              <a:cxnSpLocks/>
            </p:cNvCxnSpPr>
            <p:nvPr/>
          </p:nvCxnSpPr>
          <p:spPr>
            <a:xfrm>
              <a:off x="2280683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DDA772F-493E-4CF3-8A33-833CA1E7C0C1}"/>
                </a:ext>
              </a:extLst>
            </p:cNvPr>
            <p:cNvCxnSpPr>
              <a:cxnSpLocks/>
            </p:cNvCxnSpPr>
            <p:nvPr/>
          </p:nvCxnSpPr>
          <p:spPr>
            <a:xfrm>
              <a:off x="3040911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F4DD2F-BEA7-48C6-8239-82C0F6E277BB}"/>
                </a:ext>
              </a:extLst>
            </p:cNvPr>
            <p:cNvCxnSpPr>
              <a:cxnSpLocks/>
            </p:cNvCxnSpPr>
            <p:nvPr/>
          </p:nvCxnSpPr>
          <p:spPr>
            <a:xfrm>
              <a:off x="3801139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B0F9F29-8ADB-472E-9727-BB25F0AB7069}"/>
                </a:ext>
              </a:extLst>
            </p:cNvPr>
            <p:cNvCxnSpPr>
              <a:cxnSpLocks/>
            </p:cNvCxnSpPr>
            <p:nvPr/>
          </p:nvCxnSpPr>
          <p:spPr>
            <a:xfrm>
              <a:off x="4561367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1C178F3-4FA5-4E5B-A5DB-D8AFF24D93D0}"/>
                </a:ext>
              </a:extLst>
            </p:cNvPr>
            <p:cNvCxnSpPr>
              <a:cxnSpLocks/>
            </p:cNvCxnSpPr>
            <p:nvPr/>
          </p:nvCxnSpPr>
          <p:spPr>
            <a:xfrm>
              <a:off x="5321595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6D66523-5EC1-4F6C-98B9-7FE0B85E28D5}"/>
                </a:ext>
              </a:extLst>
            </p:cNvPr>
            <p:cNvCxnSpPr>
              <a:cxnSpLocks/>
            </p:cNvCxnSpPr>
            <p:nvPr/>
          </p:nvCxnSpPr>
          <p:spPr>
            <a:xfrm>
              <a:off x="6081823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4FD370A-892A-4717-AE0D-C40B9C8EDF77}"/>
                </a:ext>
              </a:extLst>
            </p:cNvPr>
            <p:cNvCxnSpPr>
              <a:cxnSpLocks/>
            </p:cNvCxnSpPr>
            <p:nvPr/>
          </p:nvCxnSpPr>
          <p:spPr>
            <a:xfrm>
              <a:off x="6842051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9A8575F-E29B-4006-A834-6ACAC62FF6BA}"/>
                </a:ext>
              </a:extLst>
            </p:cNvPr>
            <p:cNvCxnSpPr>
              <a:cxnSpLocks/>
            </p:cNvCxnSpPr>
            <p:nvPr/>
          </p:nvCxnSpPr>
          <p:spPr>
            <a:xfrm>
              <a:off x="7602279" y="1519137"/>
              <a:ext cx="0" cy="288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D7F5224-829D-44E0-9880-E934D0A6548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0361" y="1184649"/>
            <a:ext cx="8423275" cy="675585"/>
          </a:xfrm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en-GB"/>
              <a:t>The </a:t>
            </a:r>
            <a:r>
              <a:rPr lang="en-GB" b="1">
                <a:solidFill>
                  <a:schemeClr val="accent1"/>
                </a:solidFill>
              </a:rPr>
              <a:t>significance level </a:t>
            </a:r>
            <a:r>
              <a:rPr lang="en-GB"/>
              <a:t>defines the cut-off we will apply to the p-value.</a:t>
            </a:r>
          </a:p>
          <a:p>
            <a:r>
              <a:rPr lang="en-GB"/>
              <a:t>It does not have to be 5%</a:t>
            </a:r>
          </a:p>
          <a:p>
            <a:r>
              <a:rPr lang="en-GB"/>
              <a:t>It should be specified a priori </a:t>
            </a:r>
          </a:p>
          <a:p>
            <a:endParaRPr lang="en-GB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A460A9ED-B148-4FF1-87C5-73999124250F}"/>
              </a:ext>
            </a:extLst>
          </p:cNvPr>
          <p:cNvSpPr/>
          <p:nvPr/>
        </p:nvSpPr>
        <p:spPr bwMode="auto">
          <a:xfrm>
            <a:off x="581753" y="2326992"/>
            <a:ext cx="1464252" cy="507814"/>
          </a:xfrm>
          <a:prstGeom prst="leftArrow">
            <a:avLst/>
          </a:prstGeom>
          <a:solidFill>
            <a:schemeClr val="accent3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200" b="1" kern="0">
                <a:solidFill>
                  <a:srgbClr val="FFFFFF"/>
                </a:solidFill>
                <a:latin typeface="Arial"/>
              </a:rPr>
              <a:t>Reject the null</a:t>
            </a:r>
          </a:p>
        </p:txBody>
      </p:sp>
      <p:sp>
        <p:nvSpPr>
          <p:cNvPr id="36" name="Arrow: Left 35">
            <a:extLst>
              <a:ext uri="{FF2B5EF4-FFF2-40B4-BE49-F238E27FC236}">
                <a16:creationId xmlns:a16="http://schemas.microsoft.com/office/drawing/2014/main" id="{6540CFD4-C8CC-4AE1-8D05-0E81D0F58833}"/>
              </a:ext>
            </a:extLst>
          </p:cNvPr>
          <p:cNvSpPr/>
          <p:nvPr/>
        </p:nvSpPr>
        <p:spPr bwMode="auto">
          <a:xfrm flipH="1">
            <a:off x="2067270" y="2326283"/>
            <a:ext cx="6034740" cy="507815"/>
          </a:xfrm>
          <a:prstGeom prst="leftArrow">
            <a:avLst/>
          </a:prstGeom>
          <a:solidFill>
            <a:schemeClr val="bg1">
              <a:lumMod val="50000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200" b="1" kern="0">
                <a:solidFill>
                  <a:schemeClr val="bg1"/>
                </a:solidFill>
                <a:latin typeface="Arial"/>
              </a:rPr>
              <a:t>Cannot reject the null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5BBC2C7-E646-457B-9F94-7611BA3BC70A}"/>
              </a:ext>
            </a:extLst>
          </p:cNvPr>
          <p:cNvCxnSpPr>
            <a:cxnSpLocks/>
          </p:cNvCxnSpPr>
          <p:nvPr/>
        </p:nvCxnSpPr>
        <p:spPr>
          <a:xfrm flipV="1">
            <a:off x="2056637" y="2368366"/>
            <a:ext cx="0" cy="1250566"/>
          </a:xfrm>
          <a:prstGeom prst="line">
            <a:avLst/>
          </a:prstGeom>
          <a:ln w="28575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5FDE6D91-9588-426B-9C74-3B14F1716CF1}"/>
              </a:ext>
            </a:extLst>
          </p:cNvPr>
          <p:cNvSpPr/>
          <p:nvPr/>
        </p:nvSpPr>
        <p:spPr>
          <a:xfrm>
            <a:off x="770858" y="309296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E2BE52D-82A5-4BE1-8C6C-4E2A501EC3EE}"/>
              </a:ext>
            </a:extLst>
          </p:cNvPr>
          <p:cNvSpPr/>
          <p:nvPr/>
        </p:nvSpPr>
        <p:spPr>
          <a:xfrm>
            <a:off x="8373137" y="309296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FBBD7F-5743-4BA6-9BD1-6444F907F9BB}"/>
              </a:ext>
            </a:extLst>
          </p:cNvPr>
          <p:cNvSpPr/>
          <p:nvPr/>
        </p:nvSpPr>
        <p:spPr>
          <a:xfrm>
            <a:off x="1472740" y="3092960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0.1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E4C2F78-C1AE-4C41-A46D-D57DF066DECF}"/>
              </a:ext>
            </a:extLst>
          </p:cNvPr>
          <p:cNvSpPr/>
          <p:nvPr/>
        </p:nvSpPr>
        <p:spPr>
          <a:xfrm>
            <a:off x="7581436" y="3092960"/>
            <a:ext cx="433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/>
              <a:t>0.9</a:t>
            </a:r>
          </a:p>
        </p:txBody>
      </p:sp>
    </p:spTree>
    <p:extLst>
      <p:ext uri="{BB962C8B-B14F-4D97-AF65-F5344CB8AC3E}">
        <p14:creationId xmlns:p14="http://schemas.microsoft.com/office/powerpoint/2010/main" val="414517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53E98-B8D5-4630-B705-766B905172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Let’s look at an example: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6EE32B0-EE6E-49D4-950E-35E9BD26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Knowledge Check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554E71-A3DE-40FC-9A4B-20B83BD4D2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2" t="24943" r="-977"/>
          <a:stretch/>
        </p:blipFill>
        <p:spPr>
          <a:xfrm>
            <a:off x="1732633" y="1815011"/>
            <a:ext cx="7235649" cy="254563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A5AA41F-FF8D-4070-8BBA-F0594B7F47EF}"/>
              </a:ext>
            </a:extLst>
          </p:cNvPr>
          <p:cNvSpPr/>
          <p:nvPr/>
        </p:nvSpPr>
        <p:spPr bwMode="auto">
          <a:xfrm>
            <a:off x="3419856" y="2487789"/>
            <a:ext cx="2642616" cy="1962157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DBBDC2-D6AE-4D54-8891-3B4A202C2145}"/>
              </a:ext>
            </a:extLst>
          </p:cNvPr>
          <p:cNvSpPr/>
          <p:nvPr/>
        </p:nvSpPr>
        <p:spPr bwMode="auto">
          <a:xfrm>
            <a:off x="7833358" y="4160520"/>
            <a:ext cx="754225" cy="227554"/>
          </a:xfrm>
          <a:prstGeom prst="rect">
            <a:avLst/>
          </a:prstGeom>
          <a:noFill/>
          <a:ln>
            <a:solidFill>
              <a:srgbClr val="FFC000"/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A902C8-326C-4EBE-B6BA-7FCBACBB8F92}"/>
              </a:ext>
            </a:extLst>
          </p:cNvPr>
          <p:cNvSpPr/>
          <p:nvPr/>
        </p:nvSpPr>
        <p:spPr bwMode="auto">
          <a:xfrm>
            <a:off x="6871560" y="2423159"/>
            <a:ext cx="863953" cy="2026787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C85B51-5CEE-4F13-95A0-C9CD52E1D885}"/>
              </a:ext>
            </a:extLst>
          </p:cNvPr>
          <p:cNvSpPr/>
          <p:nvPr/>
        </p:nvSpPr>
        <p:spPr bwMode="auto">
          <a:xfrm>
            <a:off x="3361104" y="1563624"/>
            <a:ext cx="2573352" cy="718312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540C5E-7632-4537-9AD0-127A997733DA}"/>
              </a:ext>
            </a:extLst>
          </p:cNvPr>
          <p:cNvSpPr/>
          <p:nvPr/>
        </p:nvSpPr>
        <p:spPr bwMode="auto">
          <a:xfrm>
            <a:off x="6871560" y="1838098"/>
            <a:ext cx="863953" cy="431669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A9F1AD-C634-451D-B42A-847DC3E99E20}"/>
              </a:ext>
            </a:extLst>
          </p:cNvPr>
          <p:cNvCxnSpPr/>
          <p:nvPr/>
        </p:nvCxnSpPr>
        <p:spPr>
          <a:xfrm>
            <a:off x="1887028" y="4340165"/>
            <a:ext cx="55245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951ECB8-B76D-44A7-A97C-BA7285D942C5}"/>
              </a:ext>
            </a:extLst>
          </p:cNvPr>
          <p:cNvSpPr txBox="1"/>
          <p:nvPr/>
        </p:nvSpPr>
        <p:spPr>
          <a:xfrm>
            <a:off x="399753" y="1264813"/>
            <a:ext cx="5575359" cy="11079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200" b="1"/>
              <a:t>Null hypothesis</a:t>
            </a:r>
          </a:p>
          <a:p>
            <a:pPr>
              <a:buClr>
                <a:schemeClr val="tx1"/>
              </a:buClr>
            </a:pPr>
            <a:r>
              <a:rPr lang="en-GB" sz="1400"/>
              <a:t>No difference in odds between the groups (OR=1)</a:t>
            </a:r>
          </a:p>
          <a:p>
            <a:pPr>
              <a:buClr>
                <a:schemeClr val="tx1"/>
              </a:buClr>
            </a:pPr>
            <a:endParaRPr lang="en-GB" sz="1400" b="1"/>
          </a:p>
          <a:p>
            <a:pPr>
              <a:buClr>
                <a:schemeClr val="tx1"/>
              </a:buClr>
            </a:pPr>
            <a:r>
              <a:rPr lang="en-GB" sz="1200" b="1"/>
              <a:t>Alternative hypothesis</a:t>
            </a:r>
          </a:p>
          <a:p>
            <a:pPr>
              <a:buClr>
                <a:schemeClr val="tx1"/>
              </a:buClr>
            </a:pPr>
            <a:r>
              <a:rPr lang="en-GB" sz="1400"/>
              <a:t>There is a difference between the group (OR≠1)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18065-2B91-4323-9D14-510A887DE071}"/>
              </a:ext>
            </a:extLst>
          </p:cNvPr>
          <p:cNvSpPr/>
          <p:nvPr/>
        </p:nvSpPr>
        <p:spPr bwMode="auto">
          <a:xfrm>
            <a:off x="6007607" y="1387498"/>
            <a:ext cx="863953" cy="25583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000" b="1" kern="0">
                <a:solidFill>
                  <a:schemeClr val="bg1"/>
                </a:solidFill>
                <a:latin typeface="Arial"/>
              </a:rPr>
              <a:t>Control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EB8D11-0C84-4D41-A3BE-59E5F37CF398}"/>
              </a:ext>
            </a:extLst>
          </p:cNvPr>
          <p:cNvSpPr/>
          <p:nvPr/>
        </p:nvSpPr>
        <p:spPr bwMode="auto">
          <a:xfrm>
            <a:off x="7778495" y="1387497"/>
            <a:ext cx="863953" cy="25583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</a:pPr>
            <a:r>
              <a:rPr lang="en-GB" sz="1000" b="1" kern="0">
                <a:solidFill>
                  <a:schemeClr val="bg1"/>
                </a:solidFill>
                <a:latin typeface="Arial"/>
              </a:rPr>
              <a:t>Active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1777DA-F299-4B46-A065-730BAF7B2CD5}"/>
              </a:ext>
            </a:extLst>
          </p:cNvPr>
          <p:cNvSpPr txBox="1"/>
          <p:nvPr/>
        </p:nvSpPr>
        <p:spPr>
          <a:xfrm>
            <a:off x="399753" y="2358652"/>
            <a:ext cx="7235648" cy="12584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</a:pPr>
            <a:r>
              <a:rPr lang="en-GB" sz="1200" b="1"/>
              <a:t>Which statement about the p-value is correct?</a:t>
            </a:r>
          </a:p>
          <a:p>
            <a:pPr marL="228600" indent="-228600">
              <a:lnSpc>
                <a:spcPct val="150000"/>
              </a:lnSpc>
              <a:buClr>
                <a:schemeClr val="tx1"/>
              </a:buClr>
              <a:buFont typeface="+mj-lt"/>
              <a:buAutoNum type="alphaLcParenR"/>
            </a:pPr>
            <a:r>
              <a:rPr lang="en-GB" sz="1200"/>
              <a:t>The result is statistically significant.</a:t>
            </a:r>
          </a:p>
          <a:p>
            <a:pPr marL="228600" indent="-228600">
              <a:lnSpc>
                <a:spcPct val="150000"/>
              </a:lnSpc>
              <a:buClr>
                <a:schemeClr val="tx1"/>
              </a:buClr>
              <a:buFont typeface="+mj-lt"/>
              <a:buAutoNum type="alphaLcParenR"/>
            </a:pPr>
            <a:r>
              <a:rPr lang="en-GB" sz="1200"/>
              <a:t>There is a 10% chance of observing OR=1.28 (or more extreme), if the true effect is “no difference”</a:t>
            </a:r>
          </a:p>
          <a:p>
            <a:pPr marL="228600" indent="-228600">
              <a:lnSpc>
                <a:spcPct val="150000"/>
              </a:lnSpc>
              <a:buClr>
                <a:schemeClr val="tx1"/>
              </a:buClr>
              <a:buFont typeface="+mj-lt"/>
              <a:buAutoNum type="alphaLcParenR"/>
            </a:pPr>
            <a:r>
              <a:rPr lang="en-GB" sz="1200"/>
              <a:t>There is a 10% chance that the true treatment effect is “no difference”.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12BE1C3-22A4-4047-B518-C72CFD5D84B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200EC1FE-8B9F-42A2-8CEC-972CAC24B07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F9F533D-B52E-4A2F-BF72-0ADD2D94BD75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21" name="Graphic 20" descr="Head with gears">
            <a:extLst>
              <a:ext uri="{FF2B5EF4-FFF2-40B4-BE49-F238E27FC236}">
                <a16:creationId xmlns:a16="http://schemas.microsoft.com/office/drawing/2014/main" id="{7FA6CCD7-942D-4AB8-85F1-C694BEB2D6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45003" y="232497"/>
            <a:ext cx="789392" cy="78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63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0488D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" dur="500" fill="hold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" grpId="0" animBg="1"/>
      <p:bldP spid="29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19CBBF80-B815-4838-B719-0D4158CBE0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42"/>
          <a:stretch/>
        </p:blipFill>
        <p:spPr>
          <a:xfrm>
            <a:off x="4687396" y="2135720"/>
            <a:ext cx="3524993" cy="20560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C1DBE5-7391-471C-BA9E-B437CF9BA61B}"/>
              </a:ext>
            </a:extLst>
          </p:cNvPr>
          <p:cNvSpPr txBox="1"/>
          <p:nvPr/>
        </p:nvSpPr>
        <p:spPr>
          <a:xfrm>
            <a:off x="359152" y="1828680"/>
            <a:ext cx="38986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400">
                <a:solidFill>
                  <a:schemeClr val="accent5"/>
                </a:solidFill>
              </a:rPr>
              <a:t>Example (Two-sided test)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Null hypothesis: No treatment difference (difference =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Alternative hypothesis: </a:t>
            </a:r>
            <a:r>
              <a:rPr lang="en-GB" sz="1400" b="1"/>
              <a:t>There is a treatment difference (difference ≠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/>
          </a:p>
          <a:p>
            <a:r>
              <a:rPr lang="en-GB" sz="1400"/>
              <a:t>Observed difference in means = 3</a:t>
            </a:r>
          </a:p>
          <a:p>
            <a:endParaRPr lang="en-GB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B5B8D-D82A-44AA-A7BA-8924AC798C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Visualising a p-value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AB3A36-E96F-4A92-A909-6B76804FC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52" y="309047"/>
            <a:ext cx="7577139" cy="338554"/>
          </a:xfrm>
        </p:spPr>
        <p:txBody>
          <a:bodyPr/>
          <a:lstStyle/>
          <a:p>
            <a:r>
              <a:rPr lang="en-GB"/>
              <a:t>P-values (two-sided)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9A14A-B10A-47FE-8EB6-4BAD00CED66C}"/>
              </a:ext>
            </a:extLst>
          </p:cNvPr>
          <p:cNvSpPr txBox="1"/>
          <p:nvPr/>
        </p:nvSpPr>
        <p:spPr>
          <a:xfrm>
            <a:off x="359152" y="1169734"/>
            <a:ext cx="8424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b="1">
                <a:solidFill>
                  <a:schemeClr val="accent5"/>
                </a:solidFill>
              </a:rPr>
              <a:t>Definition of a P-value</a:t>
            </a:r>
          </a:p>
          <a:p>
            <a:r>
              <a:rPr lang="en-GB" sz="1500"/>
              <a:t>“Probability of observing our result (or something more extreme), if the null hypothesis is true”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80B11-B409-452D-853D-133E4A60333F}"/>
              </a:ext>
            </a:extLst>
          </p:cNvPr>
          <p:cNvSpPr/>
          <p:nvPr/>
        </p:nvSpPr>
        <p:spPr>
          <a:xfrm>
            <a:off x="4990025" y="3973766"/>
            <a:ext cx="301509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/>
              <a:t>Observed difference in means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1D1C4-1578-4F14-93A9-D6F392B2A4CE}"/>
              </a:ext>
            </a:extLst>
          </p:cNvPr>
          <p:cNvSpPr/>
          <p:nvPr/>
        </p:nvSpPr>
        <p:spPr bwMode="auto">
          <a:xfrm>
            <a:off x="4886202" y="2485322"/>
            <a:ext cx="340365" cy="32327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047CB9-7927-4DFC-A15C-7B53EAE5BC4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41957E-9FAC-46F4-8BA5-6A4652A3CC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700C0E-E3B6-41AA-AFF2-76F69798678F}"/>
              </a:ext>
            </a:extLst>
          </p:cNvPr>
          <p:cNvSpPr/>
          <p:nvPr/>
        </p:nvSpPr>
        <p:spPr bwMode="auto">
          <a:xfrm>
            <a:off x="4643167" y="1988574"/>
            <a:ext cx="3524993" cy="1728629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983E3230-9FEE-4E5E-8557-752B23302F33}"/>
              </a:ext>
            </a:extLst>
          </p:cNvPr>
          <p:cNvSpPr/>
          <p:nvPr/>
        </p:nvSpPr>
        <p:spPr bwMode="auto">
          <a:xfrm>
            <a:off x="7113182" y="3407986"/>
            <a:ext cx="329609" cy="435231"/>
          </a:xfrm>
          <a:prstGeom prst="mathMultiply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1BC22-1D65-4790-BB27-DEB84B380E8F}"/>
              </a:ext>
            </a:extLst>
          </p:cNvPr>
          <p:cNvSpPr txBox="1"/>
          <p:nvPr/>
        </p:nvSpPr>
        <p:spPr>
          <a:xfrm>
            <a:off x="1879230" y="3465934"/>
            <a:ext cx="2501383" cy="1015663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en-GB" sz="1200"/>
              <a:t>How likely each observed differences is if the null is true.</a:t>
            </a:r>
          </a:p>
          <a:p>
            <a:pPr algn="ctr">
              <a:buClr>
                <a:schemeClr val="tx1"/>
              </a:buClr>
            </a:pPr>
            <a:endParaRPr lang="en-GB" sz="1200"/>
          </a:p>
          <a:p>
            <a:pPr algn="ctr">
              <a:buClr>
                <a:schemeClr val="tx1"/>
              </a:buClr>
            </a:pPr>
            <a:r>
              <a:rPr lang="en-GB" sz="1200"/>
              <a:t>Area under the curve represents a probability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3735F13-5242-4677-8015-CECDB5264D53}"/>
              </a:ext>
            </a:extLst>
          </p:cNvPr>
          <p:cNvCxnSpPr>
            <a:cxnSpLocks/>
          </p:cNvCxnSpPr>
          <p:nvPr/>
        </p:nvCxnSpPr>
        <p:spPr>
          <a:xfrm flipV="1">
            <a:off x="4146699" y="2977116"/>
            <a:ext cx="1786268" cy="616689"/>
          </a:xfrm>
          <a:prstGeom prst="straightConnector1">
            <a:avLst/>
          </a:prstGeom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8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19CBBF80-B815-4838-B719-0D4158CBE0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42"/>
          <a:stretch/>
        </p:blipFill>
        <p:spPr>
          <a:xfrm>
            <a:off x="4689525" y="2131425"/>
            <a:ext cx="3524993" cy="2056029"/>
          </a:xfrm>
          <a:prstGeom prst="rect">
            <a:avLst/>
          </a:prstGeom>
        </p:spPr>
      </p:pic>
      <p:pic>
        <p:nvPicPr>
          <p:cNvPr id="34" name="Picture 33" descr="Chart, histogram&#10;&#10;Description automatically generated">
            <a:extLst>
              <a:ext uri="{FF2B5EF4-FFF2-40B4-BE49-F238E27FC236}">
                <a16:creationId xmlns:a16="http://schemas.microsoft.com/office/drawing/2014/main" id="{25D1650B-B4E8-406E-B2A2-4EBDFA888A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42"/>
          <a:stretch/>
        </p:blipFill>
        <p:spPr>
          <a:xfrm>
            <a:off x="4689525" y="2133658"/>
            <a:ext cx="3525000" cy="20560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EC1DBE5-7391-471C-BA9E-B437CF9BA61B}"/>
              </a:ext>
            </a:extLst>
          </p:cNvPr>
          <p:cNvSpPr txBox="1"/>
          <p:nvPr/>
        </p:nvSpPr>
        <p:spPr>
          <a:xfrm>
            <a:off x="359152" y="1828680"/>
            <a:ext cx="38986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400">
                <a:solidFill>
                  <a:schemeClr val="accent5"/>
                </a:solidFill>
              </a:rPr>
              <a:t>Example (Two-sided test)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Null hypothesis: No treatment difference (difference =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Alternative hypothesis: </a:t>
            </a:r>
            <a:r>
              <a:rPr lang="en-GB" sz="1400" b="1"/>
              <a:t>There is a treatment difference (difference ≠ 0)</a:t>
            </a:r>
          </a:p>
          <a:p>
            <a:endParaRPr lang="en-GB" sz="1400"/>
          </a:p>
          <a:p>
            <a:r>
              <a:rPr lang="en-GB" sz="1400"/>
              <a:t>Observed difference in means = 3</a:t>
            </a:r>
          </a:p>
          <a:p>
            <a:endParaRPr lang="en-GB" sz="14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B5B8D-D82A-44AA-A7BA-8924AC798C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Visualising a p-value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AB3A36-E96F-4A92-A909-6B76804FC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152" y="309047"/>
            <a:ext cx="7577139" cy="338554"/>
          </a:xfrm>
        </p:spPr>
        <p:txBody>
          <a:bodyPr/>
          <a:lstStyle/>
          <a:p>
            <a:r>
              <a:rPr lang="en-GB"/>
              <a:t>P-values (two-sided)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9A14A-B10A-47FE-8EB6-4BAD00CED66C}"/>
              </a:ext>
            </a:extLst>
          </p:cNvPr>
          <p:cNvSpPr txBox="1"/>
          <p:nvPr/>
        </p:nvSpPr>
        <p:spPr>
          <a:xfrm>
            <a:off x="359152" y="1169734"/>
            <a:ext cx="8424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b="1">
                <a:solidFill>
                  <a:schemeClr val="accent5"/>
                </a:solidFill>
              </a:rPr>
              <a:t>Definition of a P-value</a:t>
            </a:r>
          </a:p>
          <a:p>
            <a:r>
              <a:rPr lang="en-GB" sz="1500"/>
              <a:t>“Probability of observing our result (or something more extreme), if the null hypothesis is true”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1D1C4-1578-4F14-93A9-D6F392B2A4CE}"/>
              </a:ext>
            </a:extLst>
          </p:cNvPr>
          <p:cNvSpPr/>
          <p:nvPr/>
        </p:nvSpPr>
        <p:spPr bwMode="auto">
          <a:xfrm>
            <a:off x="4886202" y="2485322"/>
            <a:ext cx="340365" cy="32327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047CB9-7927-4DFC-A15C-7B53EAE5BC4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741957E-9FAC-46F4-8BA5-6A4652A3CC5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983E3230-9FEE-4E5E-8557-752B23302F33}"/>
              </a:ext>
            </a:extLst>
          </p:cNvPr>
          <p:cNvSpPr/>
          <p:nvPr/>
        </p:nvSpPr>
        <p:spPr bwMode="auto">
          <a:xfrm>
            <a:off x="7113182" y="3407986"/>
            <a:ext cx="329609" cy="435231"/>
          </a:xfrm>
          <a:prstGeom prst="mathMultiply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5C992DA5-6778-40F4-8C46-88D0C6D58418}"/>
              </a:ext>
            </a:extLst>
          </p:cNvPr>
          <p:cNvSpPr/>
          <p:nvPr/>
        </p:nvSpPr>
        <p:spPr bwMode="auto">
          <a:xfrm>
            <a:off x="5691965" y="3423349"/>
            <a:ext cx="329609" cy="435231"/>
          </a:xfrm>
          <a:prstGeom prst="mathMultiply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E093B-87CD-4FD8-B613-FDB4FEB1D79E}"/>
              </a:ext>
            </a:extLst>
          </p:cNvPr>
          <p:cNvSpPr/>
          <p:nvPr/>
        </p:nvSpPr>
        <p:spPr>
          <a:xfrm>
            <a:off x="2263687" y="3819511"/>
            <a:ext cx="19567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>
                <a:solidFill>
                  <a:schemeClr val="bg2"/>
                </a:solidFill>
              </a:rPr>
              <a:t>As extreme as our observed difference</a:t>
            </a:r>
            <a:endParaRPr lang="en-GB" sz="700">
              <a:solidFill>
                <a:schemeClr val="bg2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37BD6A-C7DA-4B09-AC94-F1FEB0F06DAB}"/>
              </a:ext>
            </a:extLst>
          </p:cNvPr>
          <p:cNvCxnSpPr>
            <a:cxnSpLocks/>
          </p:cNvCxnSpPr>
          <p:nvPr/>
        </p:nvCxnSpPr>
        <p:spPr>
          <a:xfrm flipV="1">
            <a:off x="3965945" y="3668233"/>
            <a:ext cx="1726020" cy="512884"/>
          </a:xfrm>
          <a:prstGeom prst="straightConnector1">
            <a:avLst/>
          </a:prstGeom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3380B11-B409-452D-853D-133E4A60333F}"/>
              </a:ext>
            </a:extLst>
          </p:cNvPr>
          <p:cNvSpPr/>
          <p:nvPr/>
        </p:nvSpPr>
        <p:spPr>
          <a:xfrm>
            <a:off x="4990025" y="3973766"/>
            <a:ext cx="301509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/>
              <a:t>Observed difference in means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5E9E2C-D7AC-49F5-91BA-05A340274D4E}"/>
              </a:ext>
            </a:extLst>
          </p:cNvPr>
          <p:cNvSpPr/>
          <p:nvPr/>
        </p:nvSpPr>
        <p:spPr>
          <a:xfrm>
            <a:off x="6344923" y="2030345"/>
            <a:ext cx="257412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>
                <a:solidFill>
                  <a:schemeClr val="accent5"/>
                </a:solidFill>
              </a:rPr>
              <a:t>P-value is 0.102</a:t>
            </a:r>
          </a:p>
          <a:p>
            <a:pPr algn="ctr"/>
            <a:endParaRPr lang="en-GB" sz="800" b="1">
              <a:solidFill>
                <a:schemeClr val="accent5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ED8414E-841D-4E21-A4A3-96B8525127E2}"/>
              </a:ext>
            </a:extLst>
          </p:cNvPr>
          <p:cNvCxnSpPr>
            <a:cxnSpLocks/>
          </p:cNvCxnSpPr>
          <p:nvPr/>
        </p:nvCxnSpPr>
        <p:spPr>
          <a:xfrm>
            <a:off x="7366558" y="2408864"/>
            <a:ext cx="76233" cy="11966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65D66D-58C5-4ACE-8E00-49718C76CD5E}"/>
              </a:ext>
            </a:extLst>
          </p:cNvPr>
          <p:cNvCxnSpPr>
            <a:cxnSpLocks/>
          </p:cNvCxnSpPr>
          <p:nvPr/>
        </p:nvCxnSpPr>
        <p:spPr>
          <a:xfrm flipH="1">
            <a:off x="5705810" y="2429934"/>
            <a:ext cx="1660748" cy="1234461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95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19" grpId="1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Chart, histogram&#10;&#10;Description automatically generated">
            <a:extLst>
              <a:ext uri="{FF2B5EF4-FFF2-40B4-BE49-F238E27FC236}">
                <a16:creationId xmlns:a16="http://schemas.microsoft.com/office/drawing/2014/main" id="{5F3E97B0-50DB-49FA-8463-379114CA2F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32"/>
          <a:stretch/>
        </p:blipFill>
        <p:spPr>
          <a:xfrm>
            <a:off x="4678679" y="2173243"/>
            <a:ext cx="3525000" cy="202073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B5B8D-D82A-44AA-A7BA-8924AC798C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Visualising a p-value</a:t>
            </a:r>
          </a:p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AB3A36-E96F-4A92-A909-6B76804F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P-values (one-sided)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89A14A-B10A-47FE-8EB6-4BAD00CED66C}"/>
              </a:ext>
            </a:extLst>
          </p:cNvPr>
          <p:cNvSpPr txBox="1"/>
          <p:nvPr/>
        </p:nvSpPr>
        <p:spPr>
          <a:xfrm>
            <a:off x="359152" y="1169734"/>
            <a:ext cx="8424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600" b="1">
                <a:solidFill>
                  <a:schemeClr val="accent5"/>
                </a:solidFill>
              </a:rPr>
              <a:t>Definition of a P-value</a:t>
            </a:r>
          </a:p>
          <a:p>
            <a:r>
              <a:rPr lang="en-GB" sz="1500"/>
              <a:t>“Probability of observing our result (or something more extreme), if the null hypothesis is true”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1D1C4-1578-4F14-93A9-D6F392B2A4CE}"/>
              </a:ext>
            </a:extLst>
          </p:cNvPr>
          <p:cNvSpPr/>
          <p:nvPr/>
        </p:nvSpPr>
        <p:spPr bwMode="auto">
          <a:xfrm>
            <a:off x="4886202" y="2485322"/>
            <a:ext cx="340365" cy="323275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24971AC-CFB3-489D-9756-725B0820AC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C298C61-A1D8-4530-8C4D-9F933E6C078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38C4D4-3384-41F2-964B-3FF83396682E}"/>
              </a:ext>
            </a:extLst>
          </p:cNvPr>
          <p:cNvSpPr/>
          <p:nvPr/>
        </p:nvSpPr>
        <p:spPr>
          <a:xfrm>
            <a:off x="4990025" y="3973766"/>
            <a:ext cx="301509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050"/>
              <a:t>Observed difference in means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9D91EE-F0F8-4AED-A3D8-6AC4765582C5}"/>
              </a:ext>
            </a:extLst>
          </p:cNvPr>
          <p:cNvSpPr/>
          <p:nvPr/>
        </p:nvSpPr>
        <p:spPr>
          <a:xfrm>
            <a:off x="6344923" y="2030345"/>
            <a:ext cx="257412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400" b="1">
                <a:solidFill>
                  <a:schemeClr val="accent5"/>
                </a:solidFill>
              </a:rPr>
              <a:t>P-value is 0.051</a:t>
            </a:r>
          </a:p>
          <a:p>
            <a:pPr algn="ctr"/>
            <a:endParaRPr lang="en-GB" sz="800" b="1">
              <a:solidFill>
                <a:schemeClr val="accent5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77046BF-9DB5-40BA-BC2F-7F2D25434040}"/>
              </a:ext>
            </a:extLst>
          </p:cNvPr>
          <p:cNvCxnSpPr>
            <a:cxnSpLocks/>
          </p:cNvCxnSpPr>
          <p:nvPr/>
        </p:nvCxnSpPr>
        <p:spPr>
          <a:xfrm>
            <a:off x="7366558" y="2408864"/>
            <a:ext cx="76233" cy="1196610"/>
          </a:xfrm>
          <a:prstGeom prst="straightConnector1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9CDDB06-1605-4E0B-B361-B22AF144DFEC}"/>
              </a:ext>
            </a:extLst>
          </p:cNvPr>
          <p:cNvSpPr txBox="1"/>
          <p:nvPr/>
        </p:nvSpPr>
        <p:spPr>
          <a:xfrm>
            <a:off x="359152" y="1828680"/>
            <a:ext cx="44294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tx1"/>
              </a:buClr>
            </a:pPr>
            <a:r>
              <a:rPr lang="en-GB" sz="1400">
                <a:solidFill>
                  <a:schemeClr val="accent5"/>
                </a:solidFill>
              </a:rPr>
              <a:t>Example (One-sided test)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Null hypothesis: No treatment difference (difference ≤ 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Alternative hypothesis: </a:t>
            </a:r>
            <a:r>
              <a:rPr lang="en-GB" sz="1400" b="1"/>
              <a:t>Treatment is better than placebo (difference&gt;0)</a:t>
            </a:r>
          </a:p>
          <a:p>
            <a:endParaRPr lang="en-GB" sz="1400"/>
          </a:p>
          <a:p>
            <a:r>
              <a:rPr lang="en-GB" sz="1400"/>
              <a:t>Observed difference in means = 3</a:t>
            </a:r>
          </a:p>
          <a:p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2782D9-8BF3-4023-A1A0-406E4B9056BC}"/>
              </a:ext>
            </a:extLst>
          </p:cNvPr>
          <p:cNvSpPr/>
          <p:nvPr/>
        </p:nvSpPr>
        <p:spPr bwMode="auto">
          <a:xfrm>
            <a:off x="4788568" y="1833755"/>
            <a:ext cx="3642361" cy="1874640"/>
          </a:xfrm>
          <a:prstGeom prst="rect">
            <a:avLst/>
          </a:prstGeom>
          <a:solidFill>
            <a:schemeClr val="bg1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99949C9F-5E79-4921-96E6-D845F989A52D}"/>
              </a:ext>
            </a:extLst>
          </p:cNvPr>
          <p:cNvSpPr/>
          <p:nvPr/>
        </p:nvSpPr>
        <p:spPr bwMode="auto">
          <a:xfrm>
            <a:off x="7113182" y="3407986"/>
            <a:ext cx="329609" cy="435231"/>
          </a:xfrm>
          <a:prstGeom prst="mathMultiply">
            <a:avLst/>
          </a:prstGeom>
          <a:solidFill>
            <a:schemeClr val="bg2"/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696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4" grpId="0"/>
      <p:bldP spid="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D9BD-2913-444E-8654-2B89FCC7AC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95DF31-4AC8-4151-868E-9578541CF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OSCAR Trial (COVID-19)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5AEAE-CA64-4D2B-94E0-679F8481751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B1CBE-8BCD-49C3-8427-05C30630494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1026" name="Picture 1">
            <a:extLst>
              <a:ext uri="{FF2B5EF4-FFF2-40B4-BE49-F238E27FC236}">
                <a16:creationId xmlns:a16="http://schemas.microsoft.com/office/drawing/2014/main" id="{1305EF29-341E-4ADC-BAA4-8FE75E6942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33"/>
          <a:stretch/>
        </p:blipFill>
        <p:spPr bwMode="auto">
          <a:xfrm>
            <a:off x="302002" y="1156739"/>
            <a:ext cx="6060698" cy="1973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03C80629-9162-4AC6-9D60-4301B2B4B0F7}"/>
              </a:ext>
            </a:extLst>
          </p:cNvPr>
          <p:cNvSpPr/>
          <p:nvPr/>
        </p:nvSpPr>
        <p:spPr bwMode="auto">
          <a:xfrm rot="236484">
            <a:off x="802548" y="2609417"/>
            <a:ext cx="1514475" cy="390526"/>
          </a:xfrm>
          <a:prstGeom prst="ellipse">
            <a:avLst/>
          </a:prstGeom>
          <a:noFill/>
          <a:ln w="28575">
            <a:solidFill>
              <a:schemeClr val="bg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634B7C-A13C-411E-9F86-1797FD76BF8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22271" y="1338351"/>
            <a:ext cx="2348023" cy="522113"/>
          </a:xfrm>
        </p:spPr>
        <p:txBody>
          <a:bodyPr/>
          <a:lstStyle/>
          <a:p>
            <a:pPr marL="0" indent="0" algn="ctr">
              <a:buNone/>
            </a:pPr>
            <a:r>
              <a:rPr lang="en-GB">
                <a:solidFill>
                  <a:schemeClr val="accent5"/>
                </a:solidFill>
              </a:rPr>
              <a:t>Is this one or two sided?</a:t>
            </a:r>
          </a:p>
          <a:p>
            <a:pPr marL="0" indent="0" algn="ctr">
              <a:buNone/>
            </a:pPr>
            <a:endParaRPr lang="en-GB">
              <a:solidFill>
                <a:schemeClr val="accent5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A4367C-AED8-4C3D-A5D8-6E876B8B47BD}"/>
              </a:ext>
            </a:extLst>
          </p:cNvPr>
          <p:cNvSpPr/>
          <p:nvPr/>
        </p:nvSpPr>
        <p:spPr bwMode="auto">
          <a:xfrm>
            <a:off x="265464" y="1488645"/>
            <a:ext cx="6174998" cy="627516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8B6B61CB-5897-49D3-8B23-89839E827A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989" b="1"/>
          <a:stretch/>
        </p:blipFill>
        <p:spPr bwMode="auto">
          <a:xfrm>
            <a:off x="2811040" y="2804680"/>
            <a:ext cx="6270682" cy="1779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75AAB266-FA74-4AB4-A2F4-DA2A4683DC8B}"/>
              </a:ext>
            </a:extLst>
          </p:cNvPr>
          <p:cNvSpPr/>
          <p:nvPr/>
        </p:nvSpPr>
        <p:spPr bwMode="auto">
          <a:xfrm rot="21389717">
            <a:off x="5384199" y="3992039"/>
            <a:ext cx="1514475" cy="390526"/>
          </a:xfrm>
          <a:prstGeom prst="ellipse">
            <a:avLst/>
          </a:prstGeom>
          <a:noFill/>
          <a:ln w="28575">
            <a:solidFill>
              <a:schemeClr val="bg2"/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FB3997-88CA-4B2A-B8A6-A67C1D30EE3F}"/>
              </a:ext>
            </a:extLst>
          </p:cNvPr>
          <p:cNvSpPr/>
          <p:nvPr/>
        </p:nvSpPr>
        <p:spPr bwMode="auto">
          <a:xfrm>
            <a:off x="2817567" y="2787263"/>
            <a:ext cx="6174998" cy="896428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78D454-A03F-4BE5-B798-8A4CAB54DD40}"/>
              </a:ext>
            </a:extLst>
          </p:cNvPr>
          <p:cNvSpPr/>
          <p:nvPr/>
        </p:nvSpPr>
        <p:spPr bwMode="auto">
          <a:xfrm>
            <a:off x="2747584" y="3655521"/>
            <a:ext cx="2626095" cy="247192"/>
          </a:xfrm>
          <a:prstGeom prst="rect">
            <a:avLst/>
          </a:prstGeom>
          <a:solidFill>
            <a:srgbClr val="FFFFFF">
              <a:alpha val="81961"/>
            </a:srgb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5FD83702-B2E7-42C7-83F4-823393E40C53}"/>
              </a:ext>
            </a:extLst>
          </p:cNvPr>
          <p:cNvSpPr txBox="1">
            <a:spLocks/>
          </p:cNvSpPr>
          <p:nvPr/>
        </p:nvSpPr>
        <p:spPr>
          <a:xfrm>
            <a:off x="6581383" y="1967206"/>
            <a:ext cx="2348023" cy="522113"/>
          </a:xfrm>
          <a:prstGeom prst="rect">
            <a:avLst/>
          </a:prstGeom>
        </p:spPr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b="1">
                <a:solidFill>
                  <a:schemeClr val="accent5"/>
                </a:solidFill>
              </a:rPr>
              <a:t>One-sided</a:t>
            </a:r>
          </a:p>
          <a:p>
            <a:pPr marL="0" indent="0" algn="ctr">
              <a:buFont typeface="Arial" pitchFamily="34" charset="0"/>
              <a:buNone/>
            </a:pPr>
            <a:endParaRPr lang="en-GB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830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build="p"/>
      <p:bldP spid="2" grpId="1" build="p"/>
      <p:bldP spid="17" grpId="0" animBg="1"/>
      <p:bldP spid="18" grpId="0" animBg="1"/>
      <p:bldP spid="15" grpId="0" animBg="1"/>
      <p:bldP spid="19" grpId="0" build="p"/>
      <p:bldP spid="19" grpI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56DEF6-4798-4DA7-8EB6-90594B13E411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 rotWithShape="1">
          <a:blip r:embed="rId3"/>
          <a:srcRect t="27441"/>
          <a:stretch/>
        </p:blipFill>
        <p:spPr>
          <a:xfrm>
            <a:off x="0" y="1199412"/>
            <a:ext cx="8423275" cy="163634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6A747-4053-4536-964C-DCF72C80D2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97B40F-22E3-4A11-90D2-F2F85F5F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Interpreting the results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1064-C345-40BD-98EC-57380CFB25C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23DAD-9469-46DC-B261-F2AC7505CE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07EBBA-428E-48B3-8292-DAE0B9DD7FC8}"/>
              </a:ext>
            </a:extLst>
          </p:cNvPr>
          <p:cNvSpPr/>
          <p:nvPr/>
        </p:nvSpPr>
        <p:spPr>
          <a:xfrm>
            <a:off x="358775" y="4342225"/>
            <a:ext cx="9115425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800">
                <a:hlinkClick r:id="rId4"/>
              </a:rPr>
              <a:t>GSK announces results evaluating its investigational monoclonal antibody, otilimab, for the treatment of hospitalised adult patients with COVID-19 | GSK</a:t>
            </a:r>
            <a:endParaRPr lang="en-GB" sz="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097E6A-1A9C-476B-9E46-8713547628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75" y="2304106"/>
            <a:ext cx="8545027" cy="189178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E68497-378A-453E-95AC-7B8F2B4147C7}"/>
              </a:ext>
            </a:extLst>
          </p:cNvPr>
          <p:cNvSpPr/>
          <p:nvPr/>
        </p:nvSpPr>
        <p:spPr bwMode="auto">
          <a:xfrm>
            <a:off x="495300" y="3533775"/>
            <a:ext cx="7927976" cy="323850"/>
          </a:xfrm>
          <a:prstGeom prst="rect">
            <a:avLst/>
          </a:prstGeom>
          <a:solidFill>
            <a:schemeClr val="bg2">
              <a:alpha val="32157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15AA6B-6630-4672-A50E-9FA359E0CE63}"/>
              </a:ext>
            </a:extLst>
          </p:cNvPr>
          <p:cNvSpPr/>
          <p:nvPr/>
        </p:nvSpPr>
        <p:spPr bwMode="auto">
          <a:xfrm>
            <a:off x="487361" y="3857625"/>
            <a:ext cx="1265239" cy="323850"/>
          </a:xfrm>
          <a:prstGeom prst="rect">
            <a:avLst/>
          </a:prstGeom>
          <a:solidFill>
            <a:schemeClr val="bg2">
              <a:alpha val="32157"/>
            </a:schemeClr>
          </a:solidFill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975" indent="-180975" algn="ctr" eaLnBrk="0" fontAlgn="auto" hangingPunct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itchFamily="34" charset="0"/>
              <a:buChar char="–"/>
            </a:pPr>
            <a:endParaRPr lang="en-GB" sz="1200" b="1" kern="0" err="1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1046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A31C4DC-A591-47DE-9C96-52E036878D2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662693048"/>
              </p:ext>
            </p:extLst>
          </p:nvPr>
        </p:nvGraphicFramePr>
        <p:xfrm>
          <a:off x="445725" y="1539012"/>
          <a:ext cx="6650400" cy="2393950"/>
        </p:xfrm>
        <a:graphic>
          <a:graphicData uri="http://schemas.openxmlformats.org/drawingml/2006/table">
            <a:tbl>
              <a:tblPr firstRow="1" firstCol="1" bandRow="1"/>
              <a:tblGrid>
                <a:gridCol w="4001015">
                  <a:extLst>
                    <a:ext uri="{9D8B030D-6E8A-4147-A177-3AD203B41FA5}">
                      <a16:colId xmlns:a16="http://schemas.microsoft.com/office/drawing/2014/main" val="3151129762"/>
                    </a:ext>
                  </a:extLst>
                </a:gridCol>
                <a:gridCol w="1309041">
                  <a:extLst>
                    <a:ext uri="{9D8B030D-6E8A-4147-A177-3AD203B41FA5}">
                      <a16:colId xmlns:a16="http://schemas.microsoft.com/office/drawing/2014/main" val="3977060239"/>
                    </a:ext>
                  </a:extLst>
                </a:gridCol>
                <a:gridCol w="1340344">
                  <a:extLst>
                    <a:ext uri="{9D8B030D-6E8A-4147-A177-3AD203B41FA5}">
                      <a16:colId xmlns:a16="http://schemas.microsoft.com/office/drawing/2014/main" val="3429334236"/>
                    </a:ext>
                  </a:extLst>
                </a:gridCol>
              </a:tblGrid>
              <a:tr h="226299"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Placebo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(N=xx)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Otilimab 90mg 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(N=xx)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140361"/>
                  </a:ext>
                </a:extLst>
              </a:tr>
              <a:tr h="80821"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572309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Number of Subjects with Non-Missing Data at Timepoint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xx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xx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381444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49863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Alive and Free of Respiratory Failure, n (%) </a:t>
                      </a:r>
                    </a:p>
                  </a:txBody>
                  <a:tcPr marL="52365" marR="5236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xx (xx%) 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xx (xx%)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946080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728310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Model Adjusted Proportions 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059493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Otilimab vs. Placebo (Model Adjusted)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342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  Difference in Proportions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5.3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268117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  95% Confidence Interval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(-0.8, 11.4)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92966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  p-value 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0.03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227936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654638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480C8-6E4F-459B-B89E-1AFAA4BF4F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Mock output (based on Press Release)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051CDC-2508-432E-AA95-F7742023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the p-value?</a:t>
            </a:r>
            <a:endParaRPr lang="en-GB">
              <a:solidFill>
                <a:schemeClr val="accent3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6DC27-31F8-4B29-A246-FA924A2C167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72067-5829-4795-94C6-87898F480D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FA63E3F-F991-49C8-A3C4-A236EC796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47" y="1195653"/>
            <a:ext cx="775614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altLang="en-US" sz="100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Summary and Analysis of Proportion of Participants Alive and Free of Respiratory Failure</a:t>
            </a:r>
            <a:endParaRPr kumimoji="0" lang="en-GB" altLang="en-US" sz="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B3C77-BE30-4B5E-B019-81E5DA1E3D2F}"/>
              </a:ext>
            </a:extLst>
          </p:cNvPr>
          <p:cNvSpPr/>
          <p:nvPr/>
        </p:nvSpPr>
        <p:spPr>
          <a:xfrm>
            <a:off x="279228" y="4365447"/>
            <a:ext cx="775614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</a:pPr>
            <a:r>
              <a:rPr lang="en-GB" altLang="en-US" sz="800">
                <a:solidFill>
                  <a:srgbClr val="544F4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Note: Analysis performed using logistic regression adjusting for treatment, age group and clinical status at baseline</a:t>
            </a:r>
            <a:endParaRPr lang="en-US" altLang="en-US" sz="1050">
              <a:solidFill>
                <a:srgbClr val="544F4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AACC1CC8-FBCD-497D-AB33-EFF2B4D308C0}"/>
              </a:ext>
            </a:extLst>
          </p:cNvPr>
          <p:cNvSpPr txBox="1">
            <a:spLocks/>
          </p:cNvSpPr>
          <p:nvPr/>
        </p:nvSpPr>
        <p:spPr>
          <a:xfrm>
            <a:off x="3524250" y="1141627"/>
            <a:ext cx="5419725" cy="191458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/>
          <a:lstStyle>
            <a:lvl1pPr marL="2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163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1088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5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2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0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7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40000" indent="-27000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1400" b="1">
                <a:solidFill>
                  <a:schemeClr val="accent5"/>
                </a:solidFill>
              </a:rPr>
              <a:t>  Can we determine what the p-value represents here?</a:t>
            </a:r>
          </a:p>
          <a:p>
            <a:pPr marL="268163" lvl="1" indent="0">
              <a:buNone/>
            </a:pPr>
            <a:r>
              <a:rPr lang="en-GB" sz="1200" b="1">
                <a:solidFill>
                  <a:schemeClr val="accent5"/>
                </a:solidFill>
              </a:rPr>
              <a:t>One-sided</a:t>
            </a:r>
            <a:endParaRPr lang="en-GB" sz="1200">
              <a:solidFill>
                <a:schemeClr val="accent5"/>
              </a:solidFill>
            </a:endParaRPr>
          </a:p>
          <a:p>
            <a:pPr marL="268163" lvl="1" indent="0">
              <a:buNone/>
            </a:pPr>
            <a:r>
              <a:rPr lang="en-GB" sz="1200">
                <a:solidFill>
                  <a:schemeClr val="accent5"/>
                </a:solidFill>
              </a:rPr>
              <a:t>probability of observing a difference </a:t>
            </a:r>
            <a:r>
              <a:rPr lang="en-GB" sz="1200" b="1">
                <a:solidFill>
                  <a:schemeClr val="accent5"/>
                </a:solidFill>
              </a:rPr>
              <a:t>≥ 5.3% </a:t>
            </a:r>
            <a:r>
              <a:rPr lang="en-GB" sz="1200">
                <a:solidFill>
                  <a:schemeClr val="accent5"/>
                </a:solidFill>
              </a:rPr>
              <a:t>(assuming there is no difference between the groups)</a:t>
            </a:r>
          </a:p>
          <a:p>
            <a:pPr marL="268163" lvl="1" indent="0">
              <a:buNone/>
            </a:pPr>
            <a:r>
              <a:rPr lang="en-GB" sz="1200" b="1">
                <a:solidFill>
                  <a:schemeClr val="accent5"/>
                </a:solidFill>
              </a:rPr>
              <a:t>Two-sided</a:t>
            </a:r>
            <a:endParaRPr lang="en-GB" sz="1200">
              <a:solidFill>
                <a:schemeClr val="accent5"/>
              </a:solidFill>
            </a:endParaRPr>
          </a:p>
          <a:p>
            <a:pPr marL="268163" lvl="1" indent="0">
              <a:buNone/>
            </a:pPr>
            <a:r>
              <a:rPr lang="en-GB" sz="1200">
                <a:solidFill>
                  <a:schemeClr val="accent5"/>
                </a:solidFill>
              </a:rPr>
              <a:t>probability of observing a difference </a:t>
            </a:r>
            <a:r>
              <a:rPr lang="en-GB" sz="1200" b="1">
                <a:solidFill>
                  <a:schemeClr val="accent5"/>
                </a:solidFill>
              </a:rPr>
              <a:t>≥ 5.3% </a:t>
            </a:r>
            <a:r>
              <a:rPr lang="en-GB" sz="1200">
                <a:solidFill>
                  <a:schemeClr val="accent5"/>
                </a:solidFill>
              </a:rPr>
              <a:t>or</a:t>
            </a:r>
            <a:r>
              <a:rPr lang="en-GB" sz="1200" b="1">
                <a:solidFill>
                  <a:schemeClr val="accent5"/>
                </a:solidFill>
              </a:rPr>
              <a:t> ≤ -5.3%</a:t>
            </a:r>
            <a:r>
              <a:rPr lang="en-GB" sz="1200">
                <a:solidFill>
                  <a:schemeClr val="accent5"/>
                </a:solidFill>
              </a:rPr>
              <a:t> (assuming there is no difference between the groups)</a:t>
            </a:r>
          </a:p>
          <a:p>
            <a:pPr marL="611063" lvl="1" indent="-342900">
              <a:buFont typeface="Arial" pitchFamily="34" charset="0"/>
              <a:buAutoNum type="alphaLcParenR"/>
            </a:pPr>
            <a:endParaRPr lang="en-GB" sz="1200">
              <a:solidFill>
                <a:schemeClr val="accent5"/>
              </a:solidFill>
            </a:endParaRPr>
          </a:p>
          <a:p>
            <a:pPr marL="342900" indent="-342900">
              <a:buFont typeface="Arial" pitchFamily="34" charset="0"/>
              <a:buAutoNum type="alphaLcParenR"/>
            </a:pPr>
            <a:endParaRPr lang="en-GB" sz="1400">
              <a:solidFill>
                <a:schemeClr val="accent5"/>
              </a:solidFill>
            </a:endParaRPr>
          </a:p>
          <a:p>
            <a:pPr marL="342900" indent="-342900">
              <a:buFont typeface="Arial" pitchFamily="34" charset="0"/>
              <a:buAutoNum type="alphaLcParenR"/>
            </a:pPr>
            <a:endParaRPr lang="en-GB" sz="1400">
              <a:solidFill>
                <a:schemeClr val="accent5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 sz="1400">
              <a:solidFill>
                <a:schemeClr val="accent5"/>
              </a:solidFill>
            </a:endParaRPr>
          </a:p>
          <a:p>
            <a:pPr marL="0" indent="0">
              <a:buFont typeface="Arial" pitchFamily="34" charset="0"/>
              <a:buNone/>
            </a:pPr>
            <a:endParaRPr lang="en-GB" sz="14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94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A31C4DC-A591-47DE-9C96-52E036878D2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191275864"/>
              </p:ext>
            </p:extLst>
          </p:nvPr>
        </p:nvGraphicFramePr>
        <p:xfrm>
          <a:off x="445725" y="1539012"/>
          <a:ext cx="6650400" cy="2393950"/>
        </p:xfrm>
        <a:graphic>
          <a:graphicData uri="http://schemas.openxmlformats.org/drawingml/2006/table">
            <a:tbl>
              <a:tblPr firstRow="1" firstCol="1" bandRow="1"/>
              <a:tblGrid>
                <a:gridCol w="4001015">
                  <a:extLst>
                    <a:ext uri="{9D8B030D-6E8A-4147-A177-3AD203B41FA5}">
                      <a16:colId xmlns:a16="http://schemas.microsoft.com/office/drawing/2014/main" val="3151129762"/>
                    </a:ext>
                  </a:extLst>
                </a:gridCol>
                <a:gridCol w="1309041">
                  <a:extLst>
                    <a:ext uri="{9D8B030D-6E8A-4147-A177-3AD203B41FA5}">
                      <a16:colId xmlns:a16="http://schemas.microsoft.com/office/drawing/2014/main" val="3977060239"/>
                    </a:ext>
                  </a:extLst>
                </a:gridCol>
                <a:gridCol w="1340344">
                  <a:extLst>
                    <a:ext uri="{9D8B030D-6E8A-4147-A177-3AD203B41FA5}">
                      <a16:colId xmlns:a16="http://schemas.microsoft.com/office/drawing/2014/main" val="3429334236"/>
                    </a:ext>
                  </a:extLst>
                </a:gridCol>
              </a:tblGrid>
              <a:tr h="226299"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Placebo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(N=xx)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Otilimab 90mg </a:t>
                      </a:r>
                      <a:b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</a:b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(N=xx)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9140361"/>
                  </a:ext>
                </a:extLst>
              </a:tr>
              <a:tr h="80821"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0572309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Number of Subjects with Non-Missing Data at Timepoint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xx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xx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381444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549863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Alive and Free of Respiratory Failure, n (%) </a:t>
                      </a:r>
                    </a:p>
                  </a:txBody>
                  <a:tcPr marL="52365" marR="5236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xx (xx%) 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xx (xx%)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5946080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728310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Model Adjusted Proportions 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 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8059493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Otilimab vs. Placebo (Model Adjusted)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1342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  Difference in Proportions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5.3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7268117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  95% Confidence Interval</a:t>
                      </a:r>
                      <a:endParaRPr lang="en-GB" sz="100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(-0.8, 11.4)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92966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  p-value (one-sided)</a:t>
                      </a:r>
                      <a:endParaRPr lang="en-GB" sz="10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0.03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0227936"/>
                  </a:ext>
                </a:extLst>
              </a:tr>
              <a:tr h="108435">
                <a:tc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    p-value (two-sided)</a:t>
                      </a:r>
                      <a:endParaRPr lang="en-GB" sz="1000" b="1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GB" sz="1000" b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  <a:ea typeface="Calibri" panose="020F0502020204030204" pitchFamily="34" charset="0"/>
                          <a:cs typeface="Courier New" panose="02070309020205020404" pitchFamily="49" charset="0"/>
                        </a:rPr>
                        <a:t>0.06</a:t>
                      </a: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ts val="14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en-GB" sz="900"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Calibri" panose="020F0502020204030204" pitchFamily="34" charset="0"/>
                        <a:cs typeface="Courier New" panose="02070309020205020404" pitchFamily="49" charset="0"/>
                      </a:endParaRPr>
                    </a:p>
                  </a:txBody>
                  <a:tcPr marL="52365" marR="52365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654638"/>
                  </a:ext>
                </a:extLst>
              </a:tr>
            </a:tbl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480C8-6E4F-459B-B89E-1AFAA4BF4F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Mock output (based on Press Release)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051CDC-2508-432E-AA95-F77420231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the p-value?</a:t>
            </a:r>
            <a:endParaRPr lang="en-GB">
              <a:solidFill>
                <a:schemeClr val="accent3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6DC27-31F8-4B29-A246-FA924A2C167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72067-5829-4795-94C6-87898F480D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FA63E3F-F991-49C8-A3C4-A236EC796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647" y="1195653"/>
            <a:ext cx="775614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GB" altLang="en-US" sz="100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Summary and Analysis of Proportion of Participants Alive and Free of Respiratory Failure</a:t>
            </a:r>
            <a:endParaRPr kumimoji="0" lang="en-GB" altLang="en-US" sz="6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5B3C77-BE30-4B5E-B019-81E5DA1E3D2F}"/>
              </a:ext>
            </a:extLst>
          </p:cNvPr>
          <p:cNvSpPr/>
          <p:nvPr/>
        </p:nvSpPr>
        <p:spPr>
          <a:xfrm>
            <a:off x="279228" y="4365447"/>
            <a:ext cx="7756148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731838" algn="l"/>
              </a:tabLst>
            </a:pPr>
            <a:r>
              <a:rPr lang="en-GB" altLang="en-US" sz="800">
                <a:solidFill>
                  <a:srgbClr val="544F4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Note: Analysis performed using logistic regression adjusting for treatment, age group and clinical status at baseline</a:t>
            </a:r>
            <a:endParaRPr lang="en-US" altLang="en-US" sz="1050">
              <a:solidFill>
                <a:srgbClr val="544F4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4F1459-E711-466A-9FA3-61992C8F0332}"/>
              </a:ext>
            </a:extLst>
          </p:cNvPr>
          <p:cNvSpPr/>
          <p:nvPr/>
        </p:nvSpPr>
        <p:spPr>
          <a:xfrm>
            <a:off x="6409428" y="2889046"/>
            <a:ext cx="256312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>
                <a:solidFill>
                  <a:schemeClr val="accent5"/>
                </a:solidFill>
              </a:rPr>
              <a:t>The result is </a:t>
            </a:r>
            <a:r>
              <a:rPr lang="en-GB" sz="1600" b="1">
                <a:solidFill>
                  <a:schemeClr val="accent5"/>
                </a:solidFill>
              </a:rPr>
              <a:t>not</a:t>
            </a:r>
            <a:r>
              <a:rPr lang="en-GB" sz="1600">
                <a:solidFill>
                  <a:schemeClr val="accent5"/>
                </a:solidFill>
              </a:rPr>
              <a:t> statistically significant as the one-sided p-value is above the set significance level of 2.5%</a:t>
            </a: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350491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FFE950-E10B-482E-9EC0-03C694F77685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 lIns="0" tIns="45720" rIns="91440" bIns="45720" anchor="t"/>
          <a:lstStyle/>
          <a:p>
            <a:pPr algn="ctr">
              <a:buFont typeface="Arial" panose="020B0604020202020204" pitchFamily="34" charset="0"/>
              <a:buChar char="‒"/>
            </a:pPr>
            <a:r>
              <a:rPr lang="en-GB"/>
              <a:t>A GSK trial was designed to test a new GSK treatment against the standard of care (using two-sided 5% level). The trial reported it had achieved </a:t>
            </a:r>
            <a:r>
              <a:rPr lang="en-GB" b="1"/>
              <a:t>a statistically significant result for its primary analysis</a:t>
            </a:r>
            <a:r>
              <a:rPr lang="en-GB"/>
              <a:t>, with </a:t>
            </a:r>
            <a:r>
              <a:rPr lang="en-GB" b="1"/>
              <a:t>p=0.02</a:t>
            </a:r>
            <a:r>
              <a:rPr lang="en-GB"/>
              <a:t>.</a:t>
            </a:r>
          </a:p>
          <a:p>
            <a:pPr marL="0" indent="0">
              <a:buNone/>
            </a:pPr>
            <a:endParaRPr lang="en-GB"/>
          </a:p>
          <a:p>
            <a:pPr marL="268163" lvl="1" indent="0">
              <a:buNone/>
            </a:pPr>
            <a:r>
              <a:rPr lang="en-GB" sz="1600"/>
              <a:t>What do we know?</a:t>
            </a:r>
          </a:p>
          <a:p>
            <a:pPr marL="611063" lvl="1" indent="-342900">
              <a:buAutoNum type="alphaLcParenR"/>
            </a:pPr>
            <a:r>
              <a:rPr lang="en-GB"/>
              <a:t>GSK treatment is superior to standard of care</a:t>
            </a:r>
          </a:p>
          <a:p>
            <a:pPr marL="611063" lvl="1" indent="-342900">
              <a:buAutoNum type="alphaLcParenR"/>
            </a:pPr>
            <a:r>
              <a:rPr lang="en-GB"/>
              <a:t>There is no difference between the two treatment groups</a:t>
            </a:r>
          </a:p>
          <a:p>
            <a:pPr marL="611063" lvl="1" indent="-342900">
              <a:buAutoNum type="alphaLcParenR"/>
            </a:pPr>
            <a:r>
              <a:rPr lang="en-GB"/>
              <a:t>The observed data is very unlikely, if the null hypothesis (no difference between the groups) is true</a:t>
            </a:r>
          </a:p>
          <a:p>
            <a:pPr marL="611063" lvl="1" indent="-342900">
              <a:buAutoNum type="alphaLcParenR"/>
            </a:pPr>
            <a:r>
              <a:rPr lang="en-GB"/>
              <a:t>We cannot say anything</a:t>
            </a:r>
          </a:p>
          <a:p>
            <a:pPr marL="342900" indent="-342900">
              <a:buAutoNum type="alphaLcParenR"/>
            </a:pPr>
            <a:endParaRPr lang="en-GB"/>
          </a:p>
          <a:p>
            <a:pPr marL="342900" indent="-342900">
              <a:buAutoNum type="alphaLcParenR"/>
            </a:pPr>
            <a:endParaRPr lang="en-GB"/>
          </a:p>
          <a:p>
            <a:pPr marL="342900" indent="-342900">
              <a:buAutoNum type="alphaLcParenR"/>
            </a:pPr>
            <a:endParaRPr lang="en-GB"/>
          </a:p>
          <a:p>
            <a:pPr marL="342900" indent="-342900">
              <a:buFont typeface="+mj-lt"/>
              <a:buAutoNum type="alphaLcParenR"/>
            </a:pP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F6997F-F6A6-472D-B4BB-579D5C7281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What does the p-value tell us?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BB58B7-C4B4-42BD-A90E-B9C5B5CB4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Knowledge Check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C22746F-12BA-403C-8EEC-A6A2385332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3F8999-6AFB-47EA-8B09-6BB237B89F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14</a:t>
            </a:fld>
            <a:endParaRPr lang="en-GB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571B4DA4-6AA3-4B52-BAB6-8A10A260B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5003" y="232497"/>
            <a:ext cx="789392" cy="78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14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6" dur="indefinite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40488D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AB7DE-E2BB-48E1-AAB5-967BC190F7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44B79AE-8C09-440E-92CE-7EFFC801E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Key Messages</a:t>
            </a:r>
            <a:endParaRPr lang="en-GB" b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E57B26B4-D971-4D1F-ADB3-CC66B892AEEE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3287759901"/>
              </p:ext>
            </p:extLst>
          </p:nvPr>
        </p:nvGraphicFramePr>
        <p:xfrm>
          <a:off x="358775" y="1192213"/>
          <a:ext cx="8423275" cy="3257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974FA-778B-4016-A204-325106B3D89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985247" y="4704001"/>
            <a:ext cx="3164730" cy="273844"/>
          </a:xfrm>
          <a:prstGeom prst="rect">
            <a:avLst/>
          </a:prstGeom>
        </p:spPr>
        <p:txBody>
          <a:bodyPr vert="horz" lIns="72000" tIns="0" rIns="72000" bIns="0" rtlCol="0" anchor="t" anchorCtr="1"/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FoS: Medical Affairs training 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BE4B5A-99EB-445A-AF60-AD8615714D4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953029" y="4704001"/>
            <a:ext cx="830123" cy="273844"/>
          </a:xfrm>
          <a:prstGeom prst="rect">
            <a:avLst/>
          </a:prstGeom>
        </p:spPr>
        <p:txBody>
          <a:bodyPr vert="horz" lIns="7200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F9F533D-B52E-4A2F-BF72-0ADD2D94BD75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5962429"/>
      </p:ext>
    </p:extLst>
  </p:cSld>
  <p:clrMapOvr>
    <a:masterClrMapping/>
  </p:clrMapOvr>
</p:sld>
</file>

<file path=ppt/theme/theme1.xml><?xml version="1.0" encoding="utf-8"?>
<a:theme xmlns:a="http://schemas.openxmlformats.org/drawingml/2006/main" name="GSK ">
  <a:themeElements>
    <a:clrScheme name="GSK 2017 4">
      <a:dk1>
        <a:srgbClr val="544F40"/>
      </a:dk1>
      <a:lt1>
        <a:srgbClr val="FFFFFF"/>
      </a:lt1>
      <a:dk2>
        <a:srgbClr val="15717D"/>
      </a:dk2>
      <a:lt2>
        <a:srgbClr val="F36633"/>
      </a:lt2>
      <a:accent1>
        <a:srgbClr val="F36633"/>
      </a:accent1>
      <a:accent2>
        <a:srgbClr val="544F40"/>
      </a:accent2>
      <a:accent3>
        <a:srgbClr val="008A00"/>
      </a:accent3>
      <a:accent4>
        <a:srgbClr val="BC1077"/>
      </a:accent4>
      <a:accent5>
        <a:srgbClr val="40488D"/>
      </a:accent5>
      <a:accent6>
        <a:srgbClr val="ED003C"/>
      </a:accent6>
      <a:hlink>
        <a:srgbClr val="F36633"/>
      </a:hlink>
      <a:folHlink>
        <a:srgbClr val="F36633"/>
      </a:folHlink>
    </a:clrScheme>
    <a:fontScheme name="GS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  <a:headEnd/>
          <a:tailEnd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marL="180975" indent="-180975" eaLnBrk="0" fontAlgn="auto" hangingPunct="0">
          <a:spcBef>
            <a:spcPts val="0"/>
          </a:spcBef>
          <a:spcAft>
            <a:spcPts val="0"/>
          </a:spcAft>
          <a:buClr>
            <a:schemeClr val="bg1"/>
          </a:buClr>
          <a:buFont typeface="Arial" pitchFamily="34" charset="0"/>
          <a:buChar char="–"/>
          <a:defRPr sz="1200" b="1" kern="0" dirty="0" err="1" smtClean="0">
            <a:solidFill>
              <a:srgbClr val="FFFFFF"/>
            </a:solidFill>
            <a:latin typeface="Arial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marL="171450" indent="-171450">
          <a:buClr>
            <a:schemeClr val="tx1"/>
          </a:buClr>
          <a:buFont typeface="Arial" pitchFamily="34" charset="0"/>
          <a:buChar char="–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GSK_16x9 PowerPoint_V1_20170629" id="{B8F049B3-8A91-4FD3-B156-B44F80C0BC27}" vid="{B103CDC2-14D8-4A5C-86DD-96EA2A18BF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2f27799-0169-4b70-93d7-49e0001469b7">
      <UserInfo>
        <DisplayName>Raj Sharma</DisplayName>
        <AccountId>32</AccountId>
        <AccountType/>
      </UserInfo>
      <UserInfo>
        <DisplayName>David Leather</DisplayName>
        <AccountId>24</AccountId>
        <AccountType/>
      </UserInfo>
      <UserInfo>
        <DisplayName>Jon Robertson</DisplayName>
        <AccountId>10</AccountId>
        <AccountType/>
      </UserInfo>
      <UserInfo>
        <DisplayName>Nigel Dallow</DisplayName>
        <AccountId>20</AccountId>
        <AccountType/>
      </UserInfo>
      <UserInfo>
        <DisplayName>Emily Jarvis</DisplayName>
        <AccountId>13</AccountId>
        <AccountType/>
      </UserInfo>
      <UserInfo>
        <DisplayName>Agne Zarankaite</DisplayName>
        <AccountId>21</AccountId>
        <AccountType/>
      </UserInfo>
      <UserInfo>
        <DisplayName>Dawn Midwinter</DisplayName>
        <AccountId>25</AccountId>
        <AccountType/>
      </UserInfo>
      <UserInfo>
        <DisplayName>Zelie Bailes</DisplayName>
        <AccountId>33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E2C101F8FE24EAE9C8B3E64B68458" ma:contentTypeVersion="8" ma:contentTypeDescription="Create a new document." ma:contentTypeScope="" ma:versionID="f13d9be91b28acf62ccaa10e213e4c8a">
  <xsd:schema xmlns:xsd="http://www.w3.org/2001/XMLSchema" xmlns:xs="http://www.w3.org/2001/XMLSchema" xmlns:p="http://schemas.microsoft.com/office/2006/metadata/properties" xmlns:ns2="b065ee36-be87-4344-8b29-f2acbb5bc7a3" xmlns:ns3="d2f27799-0169-4b70-93d7-49e0001469b7" targetNamespace="http://schemas.microsoft.com/office/2006/metadata/properties" ma:root="true" ma:fieldsID="cdeb94149ca64a908789746a34144e05" ns2:_="" ns3:_="">
    <xsd:import namespace="b065ee36-be87-4344-8b29-f2acbb5bc7a3"/>
    <xsd:import namespace="d2f27799-0169-4b70-93d7-49e000146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65ee36-be87-4344-8b29-f2acbb5bc7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27799-0169-4b70-93d7-49e0001469b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7F6992-6940-4143-AC62-96142C4EF750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d2f27799-0169-4b70-93d7-49e0001469b7"/>
    <ds:schemaRef ds:uri="b065ee36-be87-4344-8b29-f2acbb5bc7a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3FF14A3-0B79-4250-A823-8E178C64B25C}">
  <ds:schemaRefs>
    <ds:schemaRef ds:uri="b065ee36-be87-4344-8b29-f2acbb5bc7a3"/>
    <ds:schemaRef ds:uri="d2f27799-0169-4b70-93d7-49e0001469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AD869F-BABB-40CE-B3FC-3DDCF75BCD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1220</Words>
  <Application>Microsoft Office PowerPoint</Application>
  <PresentationFormat>On-screen Show (16:9)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Courier New</vt:lpstr>
      <vt:lpstr>Times New Roman</vt:lpstr>
      <vt:lpstr>GSK </vt:lpstr>
      <vt:lpstr>PowerPoint Presentation</vt:lpstr>
      <vt:lpstr>What does a p-value mean to you?</vt:lpstr>
      <vt:lpstr>P-values &amp; Hypothesis Testing</vt:lpstr>
      <vt:lpstr>Interpreting the strength against the null</vt:lpstr>
      <vt:lpstr>Significance level </vt:lpstr>
      <vt:lpstr>Knowledge Check</vt:lpstr>
      <vt:lpstr>P-values (two-sided)</vt:lpstr>
      <vt:lpstr>P-values (two-sided)</vt:lpstr>
      <vt:lpstr>P-values (one-sided)</vt:lpstr>
      <vt:lpstr>OSCAR Trial (COVID-19)</vt:lpstr>
      <vt:lpstr>Interpreting the results</vt:lpstr>
      <vt:lpstr>What is the p-value?</vt:lpstr>
      <vt:lpstr>What is the p-value?</vt:lpstr>
      <vt:lpstr>Knowledge Check</vt:lpstr>
      <vt:lpstr>Key Messages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Affairs Statistical Training</dc:title>
  <dc:creator>Zelie Bailes</dc:creator>
  <cp:lastModifiedBy>Steve Mallett</cp:lastModifiedBy>
  <cp:revision>5</cp:revision>
  <cp:lastPrinted>2022-01-06T16:10:08Z</cp:lastPrinted>
  <dcterms:created xsi:type="dcterms:W3CDTF">2021-08-16T16:14:15Z</dcterms:created>
  <dcterms:modified xsi:type="dcterms:W3CDTF">2025-11-27T15:19:35Z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0x0101001BDE2C101F8FE24EAE9C8B3E64B68458</vt:lpwstr>
  </property>
</Properties>
</file>